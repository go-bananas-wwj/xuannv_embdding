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F3756"/>
                </a:solidFill>
                <a:latin typeface="Microsoft YaHei"/>
              </a:defRPr>
            </a:pPr>
            <a:r>
              <a:t>玄女遥感嵌入模型阶段进展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A5A5A"/>
                </a:solidFill>
                <a:latin typeface="Microsoft YaHei"/>
              </a:defRPr>
            </a:pPr>
            <a:r>
              <a:t>汇报重点：哈尔滨新区、海淀区 embedding 模型训练验证与当前效果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87552"/>
            <a:ext cx="11384280" cy="18288"/>
          </a:xfrm>
          <a:prstGeom prst="rect">
            <a:avLst/>
          </a:prstGeom>
          <a:solidFill>
            <a:srgbClr val="D2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1463040" cy="256032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总体进展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5440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20">
                <a:solidFill>
                  <a:srgbClr val="2D2D2D"/>
                </a:solidFill>
                <a:latin typeface="Microsoft YaHei"/>
              </a:defRPr>
            </a:pPr>
            <a:r>
              <a:t>已完成多轮 embedding 模型训练与对比，当前以 P2A 版本作为阶段性底座。</a:t>
            </a:r>
          </a:p>
          <a:p>
            <a:pPr>
              <a:spcAft>
                <a:spcPts val="500"/>
              </a:spcAft>
              <a:defRPr sz="1220">
                <a:solidFill>
                  <a:srgbClr val="2D2D2D"/>
                </a:solidFill>
                <a:latin typeface="Microsoft YaHei"/>
              </a:defRPr>
            </a:pPr>
            <a:r>
              <a:t>已在哈尔滨新区、海淀区数据上生成多时相 embedding，并完成变化检测、建筑提取、道路提取等下游验证。</a:t>
            </a:r>
          </a:p>
          <a:p>
            <a:pPr>
              <a:spcAft>
                <a:spcPts val="500"/>
              </a:spcAft>
              <a:defRPr sz="1220">
                <a:solidFill>
                  <a:srgbClr val="2D2D2D"/>
                </a:solidFill>
                <a:latin typeface="Microsoft YaHei"/>
              </a:defRPr>
            </a:pPr>
            <a:r>
              <a:t>从结果看，模型已经具备一定遥感语义表达能力，但继续提升主要受训练量和标签量限制。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33856"/>
            <a:ext cx="1691640" cy="932688"/>
          </a:xfrm>
          <a:prstGeom prst="roundRect">
            <a:avLst/>
          </a:prstGeom>
          <a:solidFill>
            <a:srgbClr val="F5F7FA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050" b="1">
                <a:solidFill>
                  <a:srgbClr val="1F3756"/>
                </a:solidFill>
                <a:latin typeface="Microsoft YaHei"/>
              </a:defRPr>
            </a:pPr>
            <a:r>
              <a:t>变化检测 AUC</a:t>
            </a:r>
          </a:p>
          <a:p>
            <a:pPr>
              <a:defRPr sz="2100" b="1">
                <a:solidFill>
                  <a:srgbClr val="4C8C60"/>
                </a:solidFill>
                <a:latin typeface="Microsoft YaHei"/>
              </a:defRPr>
            </a:pPr>
            <a:r>
              <a:t>0.935</a:t>
            </a:r>
          </a:p>
          <a:p>
            <a:pPr>
              <a:defRPr sz="900">
                <a:solidFill>
                  <a:srgbClr val="5A5A5A"/>
                </a:solidFill>
                <a:latin typeface="Microsoft YaHei"/>
              </a:defRPr>
            </a:pPr>
            <a:r>
              <a:t>AEF：0.785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133856"/>
            <a:ext cx="1691640" cy="932688"/>
          </a:xfrm>
          <a:prstGeom prst="roundRect">
            <a:avLst/>
          </a:prstGeom>
          <a:solidFill>
            <a:srgbClr val="F5F7FA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050" b="1">
                <a:solidFill>
                  <a:srgbClr val="1F3756"/>
                </a:solidFill>
                <a:latin typeface="Microsoft YaHei"/>
              </a:defRPr>
            </a:pPr>
            <a:r>
              <a:t>变化检测 F1</a:t>
            </a:r>
          </a:p>
          <a:p>
            <a:pPr>
              <a:defRPr sz="2100" b="1">
                <a:solidFill>
                  <a:srgbClr val="4C8C60"/>
                </a:solidFill>
                <a:latin typeface="Microsoft YaHei"/>
              </a:defRPr>
            </a:pPr>
            <a:r>
              <a:t>0.339</a:t>
            </a:r>
          </a:p>
          <a:p>
            <a:pPr>
              <a:defRPr sz="900">
                <a:solidFill>
                  <a:srgbClr val="5A5A5A"/>
                </a:solidFill>
                <a:latin typeface="Microsoft YaHei"/>
              </a:defRPr>
            </a:pPr>
            <a:r>
              <a:t>AEF：0.131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1133856"/>
            <a:ext cx="1691640" cy="932688"/>
          </a:xfrm>
          <a:prstGeom prst="roundRect">
            <a:avLst/>
          </a:prstGeom>
          <a:solidFill>
            <a:srgbClr val="F5F7FA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1050" b="1">
                <a:solidFill>
                  <a:srgbClr val="1F3756"/>
                </a:solidFill>
                <a:latin typeface="Microsoft YaHei"/>
              </a:defRPr>
            </a:pPr>
            <a:r>
              <a:t>下游验证</a:t>
            </a:r>
          </a:p>
          <a:p>
            <a:pPr>
              <a:defRPr sz="2100" b="1">
                <a:solidFill>
                  <a:srgbClr val="2F75B5"/>
                </a:solidFill>
                <a:latin typeface="Microsoft YaHei"/>
              </a:defRPr>
            </a:pPr>
            <a:r>
              <a:t>4 类+</a:t>
            </a:r>
          </a:p>
          <a:p>
            <a:pPr>
              <a:defRPr sz="900">
                <a:solidFill>
                  <a:srgbClr val="5A5A5A"/>
                </a:solidFill>
                <a:latin typeface="Microsoft YaHei"/>
              </a:defRPr>
            </a:pPr>
            <a:r>
              <a:t>建筑/道路/施工等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61488"/>
            <a:ext cx="1463040" cy="256032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效果展示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71216"/>
            <a:ext cx="5532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1F3756"/>
                </a:solidFill>
                <a:latin typeface="Microsoft YaHei"/>
              </a:defRPr>
            </a:pPr>
            <a:r>
              <a:t>变化检测：建筑变化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127248"/>
            <a:ext cx="5532120" cy="877824"/>
          </a:xfrm>
          <a:prstGeom prst="rect">
            <a:avLst/>
          </a:prstGeom>
          <a:solidFill>
            <a:srgbClr val="FFFFFF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uilding_change_patch_000306_outpu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3154680"/>
            <a:ext cx="5477256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63640" y="2871216"/>
            <a:ext cx="5532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1F3756"/>
                </a:solidFill>
                <a:latin typeface="Microsoft YaHei"/>
              </a:defRPr>
            </a:pPr>
            <a:r>
              <a:t>变化检测：施工变化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3127248"/>
            <a:ext cx="5532120" cy="877824"/>
          </a:xfrm>
          <a:prstGeom prst="rect">
            <a:avLst/>
          </a:prstGeom>
          <a:solidFill>
            <a:srgbClr val="FFFFFF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nstruction_patch_000154_output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3154680"/>
            <a:ext cx="5477256" cy="822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920" y="4453128"/>
            <a:ext cx="5532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1F3756"/>
                </a:solidFill>
                <a:latin typeface="Microsoft YaHei"/>
              </a:defRPr>
            </a:pPr>
            <a:r>
              <a:t>海淀区：建筑提取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709160"/>
            <a:ext cx="5532120" cy="786384"/>
          </a:xfrm>
          <a:prstGeom prst="rect">
            <a:avLst/>
          </a:prstGeom>
          <a:solidFill>
            <a:srgbClr val="FFFFFF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haidian_building_osm_patch_000049_osm_diagno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4736592"/>
            <a:ext cx="5477256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63640" y="4453128"/>
            <a:ext cx="5532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1F3756"/>
                </a:solidFill>
                <a:latin typeface="Microsoft YaHei"/>
              </a:defRPr>
            </a:pPr>
            <a:r>
              <a:t>海淀区：道路提取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709160"/>
            <a:ext cx="5532120" cy="786384"/>
          </a:xfrm>
          <a:prstGeom prst="rect">
            <a:avLst/>
          </a:prstGeom>
          <a:solidFill>
            <a:srgbClr val="FFFFFF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haidian_road_osm_patch_000096_osm_diagnost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4736592"/>
            <a:ext cx="5477256" cy="731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583387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5A5A"/>
                </a:solidFill>
                <a:latin typeface="Microsoft YaHei"/>
              </a:defRPr>
            </a:pPr>
            <a:r>
              <a:t>注：图中展示前后时相影像、embedding 可视化、模型预测和真实标签对比；指标为当前快速评估结果，后续需随训练量和标签量增加继续复核。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F3756"/>
                </a:solidFill>
                <a:latin typeface="Microsoft YaHei"/>
              </a:defRPr>
            </a:pPr>
            <a:r>
              <a:t>下一步计划与当前问题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A5A5A"/>
                </a:solidFill>
                <a:latin typeface="Microsoft YaHei"/>
              </a:defRPr>
            </a:pPr>
            <a:r>
              <a:t>原则：先把训练量和标签量补上，稳步提升模型效果，不做过度承诺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87552"/>
            <a:ext cx="11384280" cy="18288"/>
          </a:xfrm>
          <a:prstGeom prst="rect">
            <a:avLst/>
          </a:prstGeom>
          <a:solidFill>
            <a:srgbClr val="D2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1508760" cy="256032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下一步计划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2120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增加训练量：继续扩大哈尔滨新区、海淀区的训练轮次和训练样本覆盖，先验证“训练更充分后效果能否稳定提升”。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增加标签量：优先补建筑、道路、施工变化等已有任务的有效标签，减少 OSM/弱标注噪声对结果判断的影响。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稳健迭代模型：暂不大幅扩展复杂方向，先围绕当前 P2A 底座做小步优化和复测。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保留典型案例：每轮训练后固定输出指标和可视化案例，方便向领导和专家解释模型变化。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188720"/>
            <a:ext cx="1508760" cy="256032"/>
          </a:xfrm>
          <a:prstGeom prst="roundRect">
            <a:avLst/>
          </a:prstGeom>
          <a:solidFill>
            <a:srgbClr val="BE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主要问题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600200"/>
            <a:ext cx="50749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训练量不足：当前模型已有阶段性效果，但训练还不充分，继续提升空间主要依赖更多训练。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标签量不足：有效标注样本偏少，建筑、道路、土地利用等任务仍存在标签噪声和覆盖不足。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数据覆盖不足：目前主要集中在哈尔滨新区和海淀区，跨区域稳定性还需要更多样本验证。</a:t>
            </a:r>
          </a:p>
          <a:p>
            <a:pPr>
              <a:spcAft>
                <a:spcPts val="500"/>
              </a:spcAft>
              <a:defRPr sz="1300">
                <a:solidFill>
                  <a:srgbClr val="2D2D2D"/>
                </a:solidFill>
                <a:latin typeface="Microsoft YaHei"/>
              </a:defRPr>
            </a:pPr>
            <a:r>
              <a:t>算力需要持续保障：多时相 embedding 训练和导出成本较高，后续增加训练量需要稳定算力。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69080"/>
            <a:ext cx="1874519" cy="256032"/>
          </a:xfrm>
          <a:prstGeom prst="round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近期执行安排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480560"/>
            <a:ext cx="2542032" cy="960120"/>
          </a:xfrm>
          <a:prstGeom prst="roundRect">
            <a:avLst/>
          </a:prstGeom>
          <a:solidFill>
            <a:srgbClr val="F5F7FA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ctr">
              <a:defRPr sz="1200" b="1">
                <a:solidFill>
                  <a:srgbClr val="2F75B5"/>
                </a:solidFill>
                <a:latin typeface="Microsoft YaHei"/>
              </a:defRPr>
            </a:pPr>
            <a:r>
              <a:t>第 1 步</a:t>
            </a:r>
          </a:p>
          <a:p>
            <a:pPr>
              <a:defRPr sz="1030">
                <a:solidFill>
                  <a:srgbClr val="2D2D2D"/>
                </a:solidFill>
                <a:latin typeface="Microsoft YaHei"/>
              </a:defRPr>
            </a:pPr>
            <a:r>
              <a:t>整理现有训练样本与标签清单，确认哪些区域、哪些任务最缺标签。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4480560"/>
            <a:ext cx="2542032" cy="960120"/>
          </a:xfrm>
          <a:prstGeom prst="roundRect">
            <a:avLst/>
          </a:prstGeom>
          <a:solidFill>
            <a:srgbClr val="F5F7FA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ctr">
              <a:defRPr sz="1200" b="1">
                <a:solidFill>
                  <a:srgbClr val="2F75B5"/>
                </a:solidFill>
                <a:latin typeface="Microsoft YaHei"/>
              </a:defRPr>
            </a:pPr>
            <a:r>
              <a:t>第 2 步</a:t>
            </a:r>
          </a:p>
          <a:p>
            <a:pPr>
              <a:defRPr sz="1030">
                <a:solidFill>
                  <a:srgbClr val="2D2D2D"/>
                </a:solidFill>
                <a:latin typeface="Microsoft YaHei"/>
              </a:defRPr>
            </a:pPr>
            <a:r>
              <a:t>在现有 P2A 底座上增加训练量，优先看变化检测、建筑提取、道路提取是否稳定提升。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4480560"/>
            <a:ext cx="2542032" cy="960120"/>
          </a:xfrm>
          <a:prstGeom prst="roundRect">
            <a:avLst/>
          </a:prstGeom>
          <a:solidFill>
            <a:srgbClr val="F5F7FA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ctr">
              <a:defRPr sz="1200" b="1">
                <a:solidFill>
                  <a:srgbClr val="2F75B5"/>
                </a:solidFill>
                <a:latin typeface="Microsoft YaHei"/>
              </a:defRPr>
            </a:pPr>
            <a:r>
              <a:t>第 3 步</a:t>
            </a:r>
          </a:p>
          <a:p>
            <a:pPr>
              <a:defRPr sz="1030">
                <a:solidFill>
                  <a:srgbClr val="2D2D2D"/>
                </a:solidFill>
                <a:latin typeface="Microsoft YaHei"/>
              </a:defRPr>
            </a:pPr>
            <a:r>
              <a:t>补充一批高质量标签或人工抽检样本，用于校验模型是否真的变好。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3" y="4480560"/>
            <a:ext cx="2542032" cy="960120"/>
          </a:xfrm>
          <a:prstGeom prst="roundRect">
            <a:avLst/>
          </a:prstGeom>
          <a:solidFill>
            <a:srgbClr val="F5F7FA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ctr">
              <a:defRPr sz="1200" b="1">
                <a:solidFill>
                  <a:srgbClr val="2F75B5"/>
                </a:solidFill>
                <a:latin typeface="Microsoft YaHei"/>
              </a:defRPr>
            </a:pPr>
            <a:r>
              <a:t>第 4 步</a:t>
            </a:r>
          </a:p>
          <a:p>
            <a:pPr>
              <a:defRPr sz="1030">
                <a:solidFill>
                  <a:srgbClr val="2D2D2D"/>
                </a:solidFill>
                <a:latin typeface="Microsoft YaHei"/>
              </a:defRPr>
            </a:pPr>
            <a:r>
              <a:t>输出一版简洁评估材料：指标表 + 典型效果图 + 问题样例。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797296"/>
            <a:ext cx="11155680" cy="420624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F3756"/>
                </a:solidFill>
                <a:latin typeface="Microsoft YaHei"/>
              </a:defRPr>
            </a:pPr>
            <a:r>
              <a:t>阶段目标：不把目标提得过高，先通过“增加训练量 + 增加标签量”把现有模型效果做稳，再决定是否扩展更多区域和任务。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