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756"/>
                </a:solidFill>
                <a:latin typeface="Microsoft YaHei"/>
              </a:defRPr>
            </a:pPr>
            <a:r>
              <a:t>玄女遥感嵌入模型阶段进展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  <a:latin typeface="Microsoft YaHei"/>
              </a:defRPr>
            </a:pPr>
            <a:r>
              <a:t>汇报重点：哈尔滨新区、海淀区 embedding 模型训练验证与当前效果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13842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463040" cy="256032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总体进展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2D2D2D"/>
                </a:solidFill>
                <a:latin typeface="Microsoft YaHei"/>
              </a:defRPr>
            </a:pPr>
            <a:r>
              <a:t>已完成多轮 embedding 模型训练与对比，当前以 P2A 版本作为阶段性底座。</a:t>
            </a:r>
          </a:p>
          <a:p>
            <a:pPr>
              <a:spcAft>
                <a:spcPts val="600"/>
              </a:spcAft>
              <a:defRPr sz="1220">
                <a:solidFill>
                  <a:srgbClr val="2D2D2D"/>
                </a:solidFill>
                <a:latin typeface="Microsoft YaHei"/>
              </a:defRPr>
            </a:pPr>
            <a:r>
              <a:t>已在哈尔滨新区、海淀区数据上生成多时相 embedding，并完成变化检测、建筑提取、道路提取等下游验证。</a:t>
            </a:r>
          </a:p>
          <a:p>
            <a:pPr>
              <a:spcAft>
                <a:spcPts val="600"/>
              </a:spcAft>
              <a:defRPr sz="1220">
                <a:solidFill>
                  <a:srgbClr val="2D2D2D"/>
                </a:solidFill>
                <a:latin typeface="Microsoft YaHei"/>
              </a:defRPr>
            </a:pPr>
            <a:r>
              <a:t>从结果看，模型已经具备一定遥感语义表达能力，但继续提升主要受训练量和标签量限制。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33856"/>
            <a:ext cx="1691640" cy="932688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1F3756"/>
                </a:solidFill>
                <a:latin typeface="Microsoft YaHei"/>
              </a:defRPr>
            </a:pPr>
            <a:r>
              <a:t>变化检测 AUC</a:t>
            </a:r>
          </a:p>
          <a:p>
            <a:pPr>
              <a:defRPr sz="2100" b="1">
                <a:solidFill>
                  <a:srgbClr val="4C8C60"/>
                </a:solidFill>
                <a:latin typeface="Microsoft YaHei"/>
              </a:defRPr>
            </a:pPr>
            <a:r>
              <a:t>0.935</a:t>
            </a:r>
          </a:p>
          <a:p>
            <a:pPr>
              <a:defRPr sz="900">
                <a:solidFill>
                  <a:srgbClr val="5A5A5A"/>
                </a:solidFill>
                <a:latin typeface="Microsoft YaHei"/>
              </a:defRPr>
            </a:pPr>
            <a:r>
              <a:t>AEF：0.785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133856"/>
            <a:ext cx="1691640" cy="932688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1F3756"/>
                </a:solidFill>
                <a:latin typeface="Microsoft YaHei"/>
              </a:defRPr>
            </a:pPr>
            <a:r>
              <a:t>变化检测 F1</a:t>
            </a:r>
          </a:p>
          <a:p>
            <a:pPr>
              <a:defRPr sz="2100" b="1">
                <a:solidFill>
                  <a:srgbClr val="4C8C60"/>
                </a:solidFill>
                <a:latin typeface="Microsoft YaHei"/>
              </a:defRPr>
            </a:pPr>
            <a:r>
              <a:t>0.339</a:t>
            </a:r>
          </a:p>
          <a:p>
            <a:pPr>
              <a:defRPr sz="900">
                <a:solidFill>
                  <a:srgbClr val="5A5A5A"/>
                </a:solidFill>
                <a:latin typeface="Microsoft YaHei"/>
              </a:defRPr>
            </a:pPr>
            <a:r>
              <a:t>AEF：0.131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133856"/>
            <a:ext cx="1691640" cy="932688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1F3756"/>
                </a:solidFill>
                <a:latin typeface="Microsoft YaHei"/>
              </a:defRPr>
            </a:pPr>
            <a:r>
              <a:t>下游验证</a:t>
            </a:r>
          </a:p>
          <a:p>
            <a:pPr>
              <a:defRPr sz="2100" b="1">
                <a:solidFill>
                  <a:srgbClr val="2F75B5"/>
                </a:solidFill>
                <a:latin typeface="Microsoft YaHei"/>
              </a:defRPr>
            </a:pPr>
            <a:r>
              <a:t>4 类+</a:t>
            </a:r>
          </a:p>
          <a:p>
            <a:pPr>
              <a:defRPr sz="900">
                <a:solidFill>
                  <a:srgbClr val="5A5A5A"/>
                </a:solidFill>
                <a:latin typeface="Microsoft YaHei"/>
              </a:defRPr>
            </a:pPr>
            <a:r>
              <a:t>建筑/道路/施工等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61488"/>
            <a:ext cx="1463040" cy="256032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效果展示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71216"/>
            <a:ext cx="5532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F3756"/>
                </a:solidFill>
                <a:latin typeface="Microsoft YaHei"/>
              </a:defRPr>
            </a:pPr>
            <a:r>
              <a:t>变化检测：建筑变化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27248"/>
            <a:ext cx="553212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uilding_change_patch_000306_outpu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154680"/>
            <a:ext cx="5477256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2871216"/>
            <a:ext cx="5532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F3756"/>
                </a:solidFill>
                <a:latin typeface="Microsoft YaHei"/>
              </a:defRPr>
            </a:pPr>
            <a:r>
              <a:t>变化检测：施工变化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127248"/>
            <a:ext cx="553212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nstruction_patch_000154_output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154680"/>
            <a:ext cx="5477256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" y="4453128"/>
            <a:ext cx="5532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F3756"/>
                </a:solidFill>
                <a:latin typeface="Microsoft YaHei"/>
              </a:defRPr>
            </a:pPr>
            <a:r>
              <a:t>海淀区：建筑提取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709160"/>
            <a:ext cx="5532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haidian_building_osm_patch_000049_osm_diagnos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736592"/>
            <a:ext cx="5477256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63640" y="4453128"/>
            <a:ext cx="5532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F3756"/>
                </a:solidFill>
                <a:latin typeface="Microsoft YaHei"/>
              </a:defRPr>
            </a:pPr>
            <a:r>
              <a:t>海淀区：道路提取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709160"/>
            <a:ext cx="5532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aidian_road_osm_patch_000096_osm_diagnost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4736592"/>
            <a:ext cx="5477256" cy="731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5833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5A5A"/>
                </a:solidFill>
                <a:latin typeface="Microsoft YaHei"/>
              </a:defRPr>
            </a:pPr>
            <a:r>
              <a:t>注：图中展示前后时相影像、embedding 可视化、模型预测和真实标签对比；指标为当前快速评估结果，后续需随训练量和标签量增加继续复核。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756"/>
                </a:solidFill>
                <a:latin typeface="Microsoft YaHei"/>
              </a:defRPr>
            </a:pPr>
            <a:r>
              <a:t>下一步计划与当前问题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  <a:latin typeface="Microsoft YaHei"/>
              </a:defRPr>
            </a:pPr>
            <a:r>
              <a:t>原则：围绕现有模型稳步补训练、补标签、做复核，不设过高目标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113842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554480" cy="256032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下一步计划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5257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适当增加训练量，优先让当前 P2A 底座训练得更充分。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继续补充有效标签，重点先放在已有任务和已有区域。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保持小步迭代，每轮只做有限改动，方便判断效果变化。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保留少量典型效果图和指标，用于阶段性汇报和复核。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1554480" cy="256032"/>
          </a:xfrm>
          <a:prstGeom prst="round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当前问题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5074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训练量还不够，模型效果仍有波动，继续提升需要更多训练。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标签量还不够，部分标签来自弱标注，质量和覆盖范围还需要补。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跨区域验证还不充分，目前主要集中在哈尔滨新区和海淀区。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Microsoft YaHei"/>
              </a:defRPr>
            </a:pPr>
            <a:r>
              <a:t>训练和导出 embedding 对算力有一定依赖，需要稳定计算资源。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526280"/>
            <a:ext cx="1737360" cy="256032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近期重点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956048"/>
            <a:ext cx="32461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>
              <a:defRPr sz="1400" b="1">
                <a:solidFill>
                  <a:srgbClr val="2F75B5"/>
                </a:solidFill>
                <a:latin typeface="Microsoft YaHei"/>
              </a:defRPr>
            </a:pPr>
            <a:r>
              <a:t>补训练</a:t>
            </a:r>
          </a:p>
          <a:p>
            <a:pPr>
              <a:defRPr sz="1150">
                <a:solidFill>
                  <a:srgbClr val="2D2D2D"/>
                </a:solidFill>
                <a:latin typeface="Microsoft YaHei"/>
              </a:defRPr>
            </a:pPr>
            <a:r>
              <a:t>在现有数据和模型基础上增加训练量，先观察效果是否稳定变好。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956048"/>
            <a:ext cx="32461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>
              <a:defRPr sz="1400" b="1">
                <a:solidFill>
                  <a:srgbClr val="2F75B5"/>
                </a:solidFill>
                <a:latin typeface="Microsoft YaHei"/>
              </a:defRPr>
            </a:pPr>
            <a:r>
              <a:t>补标签</a:t>
            </a:r>
          </a:p>
          <a:p>
            <a:pPr>
              <a:defRPr sz="1150">
                <a:solidFill>
                  <a:srgbClr val="2D2D2D"/>
                </a:solidFill>
                <a:latin typeface="Microsoft YaHei"/>
              </a:defRPr>
            </a:pPr>
            <a:r>
              <a:t>优先补当前任务需要的标签，减少标签不足对模型判断的影响。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4956048"/>
            <a:ext cx="32461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/>
          <a:lstStyle/>
          <a:p>
            <a:pPr algn="ctr">
              <a:defRPr sz="1400" b="1">
                <a:solidFill>
                  <a:srgbClr val="2F75B5"/>
                </a:solidFill>
                <a:latin typeface="Microsoft YaHei"/>
              </a:defRPr>
            </a:pPr>
            <a:r>
              <a:t>做复核</a:t>
            </a:r>
          </a:p>
          <a:p>
            <a:pPr>
              <a:defRPr sz="1150">
                <a:solidFill>
                  <a:srgbClr val="2D2D2D"/>
                </a:solidFill>
                <a:latin typeface="Microsoft YaHei"/>
              </a:defRPr>
            </a:pPr>
            <a:r>
              <a:t>每次更新后保留简洁指标和典型图，避免只看单个样例下结论。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053328"/>
            <a:ext cx="10972800" cy="38404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756"/>
                </a:solidFill>
                <a:latin typeface="Microsoft YaHei"/>
              </a:defRPr>
            </a:pPr>
            <a:r>
              <a:t>阶段目标：先把现有模型做稳，把训练量和标签量补上，再根据实际效果决定后续扩展。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