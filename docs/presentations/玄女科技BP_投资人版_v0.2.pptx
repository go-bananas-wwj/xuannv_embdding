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o_embedding_cover_pas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0"/>
            <a:ext cx="740664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694944"/>
            <a:ext cx="1664208" cy="310896"/>
          </a:xfrm>
          <a:prstGeom prst="roundRect">
            <a:avLst/>
          </a:prstGeom>
          <a:solidFill>
            <a:srgbClr val="F0F7F4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749808"/>
            <a:ext cx="151790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4A7968"/>
                </a:solidFill>
                <a:latin typeface="Microsoft YaHei"/>
              </a:rPr>
              <a:t>商业计划书 · 投资人版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3840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243339"/>
                </a:solidFill>
                <a:latin typeface="Microsoft YaHei"/>
              </a:rPr>
              <a:t>玄女科技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65960"/>
            <a:ext cx="512064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4A7968"/>
                </a:solidFill>
                <a:latin typeface="Microsoft YaHei"/>
              </a:rPr>
              <a:t>中国地球空间智能底座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44805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66767D"/>
                </a:solidFill>
                <a:latin typeface="Microsoft YaHei"/>
              </a:rPr>
              <a:t>用地理嵌入赋能遥感智能应用。
一次生成地球表征，多任务复用。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870448"/>
            <a:ext cx="63093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6767D"/>
                </a:solidFill>
                <a:latin typeface="Microsoft YaHei"/>
              </a:rPr>
              <a:t>融资需求：5000 万元｜用于样板城市、模型工程化、任务库与商业交付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217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4A7968"/>
                </a:solidFill>
                <a:latin typeface="Microsoft YaHei"/>
              </a:rPr>
              <a:t>01｜客户场景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996696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243339"/>
                </a:solidFill>
                <a:latin typeface="Microsoft YaHei"/>
              </a:rPr>
              <a:t>一个新区每月都要知道：哪里在施工、哪里占地、哪里发生变化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0584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6767D"/>
                </a:solidFill>
                <a:latin typeface="Microsoft YaHei"/>
              </a:rPr>
              <a:t>传统遥感项目并不缺数据，真正缺的是把海量影像快速变成可核查变化线索的能力。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3200400" cy="950976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09928"/>
            <a:ext cx="290779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1">
                <a:solidFill>
                  <a:srgbClr val="8BB4CA"/>
                </a:solidFill>
                <a:latin typeface="Microsoft YaHei"/>
              </a:rPr>
              <a:t>每类任务重跑一次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075688"/>
            <a:ext cx="290779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43339"/>
                </a:solidFill>
                <a:latin typeface="Microsoft YaHei"/>
              </a:rPr>
              <a:t>传统项目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76856"/>
            <a:ext cx="290779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找数据、预处理、标注、训练、核查、出报告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00400" cy="950976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09928"/>
            <a:ext cx="290779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1">
                <a:solidFill>
                  <a:srgbClr val="89B7A4"/>
                </a:solidFill>
                <a:latin typeface="Microsoft YaHei"/>
              </a:rPr>
              <a:t>一个底座，多任务复用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075688"/>
            <a:ext cx="290779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43339"/>
                </a:solidFill>
                <a:latin typeface="Microsoft YaHei"/>
              </a:rPr>
              <a:t>玄女方案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276856"/>
            <a:ext cx="290779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先生成区域地理嵌入，再调用施工、农用地、建筑等任务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00200"/>
            <a:ext cx="3200400" cy="950976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09928"/>
            <a:ext cx="290779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1">
                <a:solidFill>
                  <a:srgbClr val="B4AAD2"/>
                </a:solidFill>
                <a:latin typeface="Microsoft YaHei"/>
              </a:rPr>
              <a:t>先筛候选，再人工核查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075688"/>
            <a:ext cx="290779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43339"/>
                </a:solidFill>
                <a:latin typeface="Microsoft YaHei"/>
              </a:rPr>
              <a:t>客户价值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276856"/>
            <a:ext cx="290779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把人从全量盯图转到高优先级变化证据链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29000"/>
            <a:ext cx="13716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核心问题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803904"/>
            <a:ext cx="1014984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243339"/>
                </a:solidFill>
                <a:latin typeface="Microsoft YaHei"/>
              </a:rPr>
              <a:t>如何把海量地球观测数据压缩成可复用的地理嵌入，让变化检测、分类、预测和问答不再每个任务重做一遍？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5394960"/>
            <a:ext cx="1810512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5559552"/>
            <a:ext cx="17007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海量观测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5577840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90672" y="5394960"/>
            <a:ext cx="1810512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5559552"/>
            <a:ext cx="17007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地理嵌入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9471" y="5577840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38344" y="5394960"/>
            <a:ext cx="1810512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3207" y="5559552"/>
            <a:ext cx="17007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多任务候选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67144" y="5577840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86016" y="5394960"/>
            <a:ext cx="1810512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79" y="5559552"/>
            <a:ext cx="17007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人工核查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14815" y="5577840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33688" y="5394960"/>
            <a:ext cx="1810512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88552" y="5559552"/>
            <a:ext cx="17007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业务闭环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528816"/>
            <a:ext cx="5486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玄女科技商业计划书 v0.2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67D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217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4A7968"/>
                </a:solidFill>
                <a:latin typeface="Microsoft YaHei"/>
              </a:rPr>
              <a:t>02｜为什么现在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996696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243339"/>
                </a:solidFill>
                <a:latin typeface="Microsoft YaHei"/>
              </a:rPr>
              <a:t>现在是窗口期：商业航天让“看见”变便宜，地理智能决定“理解”效率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0584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6767D"/>
                </a:solidFill>
                <a:latin typeface="Microsoft YaHei"/>
              </a:rPr>
              <a:t>以下数字代表广义产业基础、上游数据供给和地理空间分析大盘，不等同于玄女可直接获得市场。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536192"/>
            <a:ext cx="3127248" cy="950976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19"/>
            <a:ext cx="28346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1">
                <a:solidFill>
                  <a:srgbClr val="89B7A4"/>
                </a:solidFill>
                <a:latin typeface="Microsoft YaHei"/>
              </a:rPr>
              <a:t>8501 亿元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8346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43339"/>
                </a:solidFill>
                <a:latin typeface="Microsoft YaHei"/>
              </a:rPr>
              <a:t>中国地理信息产业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28346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2024 年总产值，广义产业基础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36192"/>
            <a:ext cx="3127248" cy="950976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645919"/>
            <a:ext cx="28346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1">
                <a:solidFill>
                  <a:srgbClr val="8BB4CA"/>
                </a:solidFill>
                <a:latin typeface="Microsoft YaHei"/>
              </a:rPr>
              <a:t>26.4→55.2 亿美元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011680"/>
            <a:ext cx="28346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43339"/>
                </a:solidFill>
                <a:latin typeface="Microsoft YaHei"/>
              </a:rPr>
              <a:t>地球观测小卫星市场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212848"/>
            <a:ext cx="28346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2025-2030，上游数据供给市场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36192"/>
            <a:ext cx="3127248" cy="950976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645919"/>
            <a:ext cx="28346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1">
                <a:solidFill>
                  <a:srgbClr val="B4AAD2"/>
                </a:solidFill>
                <a:latin typeface="Microsoft YaHei"/>
              </a:rPr>
              <a:t>1027→2340 亿美元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011680"/>
            <a:ext cx="28346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43339"/>
                </a:solidFill>
                <a:latin typeface="Microsoft YaHei"/>
              </a:rPr>
              <a:t>全球地理空间分析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212848"/>
            <a:ext cx="28346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2025-2033，广义分析市场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999232"/>
            <a:ext cx="50749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2999232"/>
            <a:ext cx="73152" cy="1572768"/>
          </a:xfrm>
          <a:prstGeom prst="rect">
            <a:avLst/>
          </a:prstGeom>
          <a:solidFill>
            <a:srgbClr val="8B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163824"/>
            <a:ext cx="4672583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美国对标给出的信号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3566160"/>
            <a:ext cx="4672583" cy="8869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Planet、BlackSky、Maxar 证明遥感数据和实时监测存在持续需求；Esri 证明地理平台能进入政企核心工作流；Google 卫星嵌入证明地理表征层正在出现。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2999232"/>
            <a:ext cx="50749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8" y="2999232"/>
            <a:ext cx="73152" cy="1572768"/>
          </a:xfrm>
          <a:prstGeom prst="rect">
            <a:avLst/>
          </a:prstGeom>
          <a:solidFill>
            <a:srgbClr val="89B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3163824"/>
            <a:ext cx="4672583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中国需要自己的底座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3566160"/>
            <a:ext cx="4672583" cy="8869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中国数据、政企流程、国产算力和安全合规要求不同；玄女借鉴的是地理表征层趋势，不复制美国公司的资产结构。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321808"/>
            <a:ext cx="100584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4A7968"/>
                </a:solidFill>
                <a:latin typeface="Microsoft YaHei"/>
              </a:rPr>
              <a:t>投资判断：未来竞争不只是谁拥有影像，而是谁能把影像持续变成可调用的地球智能。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28816"/>
            <a:ext cx="5486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玄女科技商业计划书 v0.2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67D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217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4A7968"/>
                </a:solidFill>
                <a:latin typeface="Microsoft YaHei"/>
              </a:rPr>
              <a:t>03｜行业痛点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996696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243339"/>
                </a:solidFill>
                <a:latin typeface="Microsoft YaHei"/>
              </a:rPr>
              <a:t>行业不是没有需求，而是需求越多，传统交付方式越重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0584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6767D"/>
                </a:solidFill>
                <a:latin typeface="Microsoft YaHei"/>
              </a:rPr>
              <a:t>今天遥感公司主要靠项目、人力和数据交付赚钱；换区域、换任务、换传感器，就要重做样本和模型。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577339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B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810512"/>
            <a:ext cx="146761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找数据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0027" y="1828800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28900" y="1645920"/>
            <a:ext cx="1577339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B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83764" y="1810512"/>
            <a:ext cx="146761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预处理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7" y="1828800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1577339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B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1810512"/>
            <a:ext cx="146761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标注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9027" y="1828800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7899" y="1645920"/>
            <a:ext cx="1577339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B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12763" y="1810512"/>
            <a:ext cx="146761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训练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7" y="1828800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645920"/>
            <a:ext cx="1577339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B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4" y="1810512"/>
            <a:ext cx="146761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核查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8028" y="1828800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86899" y="1645920"/>
            <a:ext cx="1577339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B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41763" y="1810512"/>
            <a:ext cx="146761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交付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2743200"/>
            <a:ext cx="312724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2743200"/>
            <a:ext cx="73152" cy="1325880"/>
          </a:xfrm>
          <a:prstGeom prst="rect">
            <a:avLst/>
          </a:prstGeom>
          <a:solidFill>
            <a:srgbClr val="89B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2907792"/>
            <a:ext cx="2724912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收入方式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3310128"/>
            <a:ext cx="2724912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数据销售、项目交付、遥感/GIS 平台授权、专业服务、少量订阅或接口。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2743200"/>
            <a:ext cx="312724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2743200"/>
            <a:ext cx="73152" cy="1325880"/>
          </a:xfrm>
          <a:prstGeom prst="rect">
            <a:avLst/>
          </a:prstGeom>
          <a:solidFill>
            <a:srgbClr val="8B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54296" y="2907792"/>
            <a:ext cx="2724912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天花板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4296" y="3310128"/>
            <a:ext cx="2724912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项目越多，人力越多；标注、质检、调参和交付吃掉毛利。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2" y="2743200"/>
            <a:ext cx="312724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19872" y="2743200"/>
            <a:ext cx="73152" cy="1325880"/>
          </a:xfrm>
          <a:prstGeom prst="rect">
            <a:avLst/>
          </a:prstGeom>
          <a:solidFill>
            <a:srgbClr val="B4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8" y="2907792"/>
            <a:ext cx="2724912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真实证据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3310128"/>
            <a:ext cx="2724912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天津遥感建筑半自动标注案例：AI 辅助让标注效率提升 80%，年均节省人力成本超 200 万元。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5010912"/>
            <a:ext cx="1005840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4A7968"/>
                </a:solidFill>
                <a:latin typeface="Microsoft YaHei"/>
              </a:rPr>
              <a:t>该案例证明遥感标注环节存在明确降本空间；玄女要验证的是把这种效率提升从单点任务扩展到多任务复用。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528816"/>
            <a:ext cx="5486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案例来源：国家数据局天津市测绘院遥感建筑半自动标注案例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67D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217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4A7968"/>
                </a:solidFill>
                <a:latin typeface="Microsoft YaHei"/>
              </a:rPr>
              <a:t>04｜天使用户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996696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243339"/>
                </a:solidFill>
                <a:latin typeface="Microsoft YaHei"/>
              </a:rPr>
              <a:t>四类天使用户的痛点，本质上都是“每个任务重做一遍”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0584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6767D"/>
                </a:solidFill>
                <a:latin typeface="Microsoft YaHei"/>
              </a:rPr>
              <a:t>玄女优先服务有预算、有数据、有反复任务的客户，而不是泛泛做遥感平台。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572768"/>
            <a:ext cx="260604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572768"/>
            <a:ext cx="73152" cy="1572768"/>
          </a:xfrm>
          <a:prstGeom prst="rect">
            <a:avLst/>
          </a:prstGeom>
          <a:solidFill>
            <a:srgbClr val="89B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20370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B 端遥感项目公司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39696"/>
            <a:ext cx="2203704" cy="8869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不缺项目，缺可复用能力。多项目并行时，标注、质检、跨区域迁移和交付成本压低毛利。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572768"/>
            <a:ext cx="260604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2152" y="1572768"/>
            <a:ext cx="73152" cy="1572768"/>
          </a:xfrm>
          <a:prstGeom prst="rect">
            <a:avLst/>
          </a:prstGeom>
          <a:solidFill>
            <a:srgbClr val="8B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1737360"/>
            <a:ext cx="220370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政府/新区管委会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139696"/>
            <a:ext cx="2203704" cy="8869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不缺卫星图，缺能进入流程的变化证据链：图斑优先级、历史过程、冲突提示、外业核查闭环。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72768"/>
            <a:ext cx="260604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572768"/>
            <a:ext cx="73152" cy="1572768"/>
          </a:xfrm>
          <a:prstGeom prst="rect">
            <a:avLst/>
          </a:prstGeom>
          <a:solidFill>
            <a:srgbClr val="B4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1737360"/>
            <a:ext cx="220370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准 C 端地块用户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139696"/>
            <a:ext cx="2203704" cy="8869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农场、园区、能源走廊、土地业主不想学遥感，只想知道地块有没有异常、风险在哪里。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16568" y="1572768"/>
            <a:ext cx="260604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16568" y="1572768"/>
            <a:ext cx="73152" cy="1572768"/>
          </a:xfrm>
          <a:prstGeom prst="rect">
            <a:avLst/>
          </a:prstGeom>
          <a:solidFill>
            <a:srgbClr val="89B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6024" y="1737360"/>
            <a:ext cx="220370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学校科研端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2139696"/>
            <a:ext cx="2203704" cy="8869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每个课题重复下载数据、做标签、训模型；真正需要的是可复用数据底座和快速任务验证。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078224"/>
            <a:ext cx="10104120" cy="6035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>
                <a:solidFill>
                  <a:srgbClr val="243339"/>
                </a:solidFill>
                <a:latin typeface="Microsoft YaHei"/>
              </a:rPr>
              <a:t>共同需求：把遥感数据处理、标注、模型适配和变化候选生成变成一层统一能力，而不是每个专项项目从零开始。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5358384"/>
            <a:ext cx="1865376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6424" y="5522976"/>
            <a:ext cx="17556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采购触发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5224" y="5541264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54096" y="5358384"/>
            <a:ext cx="1865376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5522976"/>
            <a:ext cx="17556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试点区域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5541264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56631" y="5358384"/>
            <a:ext cx="1865376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11495" y="5522976"/>
            <a:ext cx="17556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多任务验证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0295" y="5541264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59168" y="5358384"/>
            <a:ext cx="1865376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4032" y="5522976"/>
            <a:ext cx="17556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年度服务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2832" y="5541264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61704" y="5358384"/>
            <a:ext cx="1865376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16568" y="5522976"/>
            <a:ext cx="17556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平台接口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528816"/>
            <a:ext cx="5486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玄女科技商业计划书 v0.2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67D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217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4A7968"/>
                </a:solidFill>
                <a:latin typeface="Microsoft YaHei"/>
              </a:rPr>
              <a:t>05｜场景账本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996696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243339"/>
                </a:solidFill>
                <a:latin typeface="Microsoft YaHei"/>
              </a:rPr>
              <a:t>以哈尔滨新区为例：传统变化检测是一条多人协同的项目流水线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0584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6767D"/>
                </a:solidFill>
                <a:latin typeface="Microsoft YaHei"/>
              </a:rPr>
              <a:t>区长/管委会要看施工工地、农用地、建筑变化等任务，下属需要协调数据、标注、模型和核查。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64208"/>
            <a:ext cx="1436914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B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828800"/>
            <a:ext cx="132718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接到任务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8434" y="1847088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7306" y="1664208"/>
            <a:ext cx="1436914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B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42170" y="1828800"/>
            <a:ext cx="132718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协调人员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2508" y="1847088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61380" y="1664208"/>
            <a:ext cx="1436914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B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6244" y="1828800"/>
            <a:ext cx="132718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下载多源数据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6582" y="1847088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35454" y="1664208"/>
            <a:ext cx="1436914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B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0318" y="1828800"/>
            <a:ext cx="132718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标注样本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0657" y="1847088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09529" y="1664208"/>
            <a:ext cx="1436914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B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64393" y="1828800"/>
            <a:ext cx="132718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训练/调参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4731" y="1847088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83603" y="1664208"/>
            <a:ext cx="1436914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B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8467" y="1828800"/>
            <a:ext cx="132718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人工核查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38805" y="1847088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57677" y="1664208"/>
            <a:ext cx="1436914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B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12541" y="1828800"/>
            <a:ext cx="132718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出报告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" y="2852928"/>
            <a:ext cx="324612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" y="2852928"/>
            <a:ext cx="73152" cy="1261872"/>
          </a:xfrm>
          <a:prstGeom prst="rect">
            <a:avLst/>
          </a:prstGeom>
          <a:solidFill>
            <a:srgbClr val="8B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3017520"/>
            <a:ext cx="284378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时间消耗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3419856"/>
            <a:ext cx="2843784" cy="57607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等数据、等标注、等训练、等质检；不同任务并行时排队更明显。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62272" y="2852928"/>
            <a:ext cx="324612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62272" y="2852928"/>
            <a:ext cx="73152" cy="1261872"/>
          </a:xfrm>
          <a:prstGeom prst="rect">
            <a:avLst/>
          </a:prstGeom>
          <a:solidFill>
            <a:srgbClr val="89B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3017520"/>
            <a:ext cx="284378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空间消耗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3419856"/>
            <a:ext cx="2843784" cy="57607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原始影像、中间栅格、标注版本、模型输出重复存储，很难在下一个任务里直接复用。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9872" y="2852928"/>
            <a:ext cx="324612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19872" y="2852928"/>
            <a:ext cx="73152" cy="1261872"/>
          </a:xfrm>
          <a:prstGeom prst="rect">
            <a:avLst/>
          </a:prstGeom>
          <a:solidFill>
            <a:srgbClr val="B4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8" y="3017520"/>
            <a:ext cx="284378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算力消耗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3419856"/>
            <a:ext cx="2843784" cy="57607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每个任务独立训练或调参，重复跑编码器和预处理，GPU/NPU 时间沉淀不成公共资产。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074920"/>
            <a:ext cx="996696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4A7968"/>
                </a:solidFill>
                <a:latin typeface="Microsoft YaHei"/>
              </a:rPr>
              <a:t>玄女切入点：先把区域底座做好，再让每个任务只新增轻量适配和核查，不再从零开始。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28816"/>
            <a:ext cx="5486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玄女科技商业计划书 v0.2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67D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217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4A7968"/>
                </a:solidFill>
                <a:latin typeface="Microsoft YaHei"/>
              </a:rPr>
              <a:t>06｜解决方案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996696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243339"/>
                </a:solidFill>
                <a:latin typeface="Microsoft YaHei"/>
              </a:rPr>
              <a:t>玄女方法：先为区域生成地理嵌入，再在同一底座上调用多任务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0584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6767D"/>
                </a:solidFill>
                <a:latin typeface="Microsoft YaHei"/>
              </a:rPr>
              <a:t>一次生成地球表征，多任务复用；把重复的人力、存储和算力消耗前置成可沉淀的模型资产。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09344"/>
            <a:ext cx="1638300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73936"/>
            <a:ext cx="152857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多源观测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7836" y="1792224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16708" y="1609344"/>
            <a:ext cx="1638300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1572" y="1773936"/>
            <a:ext cx="152857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统一地理嵌入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3296" y="1792224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2168" y="1609344"/>
            <a:ext cx="1638300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7032" y="1773936"/>
            <a:ext cx="152857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任务头/少样本适配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8756" y="1792224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7628" y="1609344"/>
            <a:ext cx="1638300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2492" y="1773936"/>
            <a:ext cx="152857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变化候选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4216" y="1792224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088" y="1609344"/>
            <a:ext cx="1638300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97952" y="1773936"/>
            <a:ext cx="152857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人工核查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9676" y="1792224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18548" y="1609344"/>
            <a:ext cx="1638300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3412" y="1773936"/>
            <a:ext cx="152857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闭环沉淀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880360"/>
            <a:ext cx="100584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66767D"/>
                </a:solidFill>
                <a:latin typeface="Microsoft YaHei"/>
              </a:rPr>
              <a:t>传统成本 = 每个任务 ×（数据 + 标注 + 训练 + 核查 + 交付）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456432"/>
            <a:ext cx="100584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200" b="1">
                <a:solidFill>
                  <a:srgbClr val="4A7968"/>
                </a:solidFill>
                <a:latin typeface="Microsoft YaHei"/>
              </a:rPr>
              <a:t>玄女成本 = 区域底座一次生成 + 多任务轻量适配 + 重点核查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4370832"/>
            <a:ext cx="257860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" y="4370832"/>
            <a:ext cx="73152" cy="1078992"/>
          </a:xfrm>
          <a:prstGeom prst="rect">
            <a:avLst/>
          </a:prstGeom>
          <a:solidFill>
            <a:srgbClr val="89B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4535424"/>
            <a:ext cx="2176272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时间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4937760"/>
            <a:ext cx="2176272" cy="3931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从“每个任务从零开始”变成“任务库调用 + 少样本适配”。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84448" y="4370832"/>
            <a:ext cx="257860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84448" y="4370832"/>
            <a:ext cx="73152" cy="1078992"/>
          </a:xfrm>
          <a:prstGeom prst="rect">
            <a:avLst/>
          </a:prstGeom>
          <a:solidFill>
            <a:srgbClr val="8B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03904" y="4535424"/>
            <a:ext cx="2176272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空间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03904" y="4937760"/>
            <a:ext cx="2176272" cy="3931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嵌入成为公共资产，减少重复中间成果和重复特征存储。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64224" y="4370832"/>
            <a:ext cx="257860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64224" y="4370832"/>
            <a:ext cx="73152" cy="1078992"/>
          </a:xfrm>
          <a:prstGeom prst="rect">
            <a:avLst/>
          </a:prstGeom>
          <a:solidFill>
            <a:srgbClr val="B4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535424"/>
            <a:ext cx="2176272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算力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937760"/>
            <a:ext cx="2176272" cy="3931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编码器复用，任务头轻量化；后续重点在候选筛查和人机协同。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4370832"/>
            <a:ext cx="257860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0" y="4370832"/>
            <a:ext cx="73152" cy="1078992"/>
          </a:xfrm>
          <a:prstGeom prst="rect">
            <a:avLst/>
          </a:prstGeom>
          <a:solidFill>
            <a:srgbClr val="89B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63456" y="4535424"/>
            <a:ext cx="2176272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人力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3456" y="4937760"/>
            <a:ext cx="2176272" cy="3931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人不再盯全量影像，而是核查模型给出的高优先级变化。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528816"/>
            <a:ext cx="5486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玄女科技商业计划书 v0.2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67D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217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4A7968"/>
                </a:solidFill>
                <a:latin typeface="Microsoft YaHei"/>
              </a:rPr>
              <a:t>07｜核心类比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996696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243339"/>
                </a:solidFill>
                <a:latin typeface="Microsoft YaHei"/>
              </a:rPr>
              <a:t>地理嵌入，是遥感行业进入智能应用前的“词元层”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0584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6767D"/>
                </a:solidFill>
                <a:latin typeface="Microsoft YaHei"/>
              </a:rPr>
              <a:t>类比不是说遥感等于大语言模型，而是说：先有统一表征，才有可组合、可迁移、可调用的下游任务。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828800"/>
            <a:ext cx="4389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828800"/>
            <a:ext cx="73152" cy="1417320"/>
          </a:xfrm>
          <a:prstGeom prst="rect">
            <a:avLst/>
          </a:prstGeom>
          <a:solidFill>
            <a:srgbClr val="8B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986783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大语言模型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2395728"/>
            <a:ext cx="3986783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文本 → 词元 → 理解 / 检索 / 生成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28800"/>
            <a:ext cx="4389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1828800"/>
            <a:ext cx="73152" cy="1417320"/>
          </a:xfrm>
          <a:prstGeom prst="rect">
            <a:avLst/>
          </a:prstGeom>
          <a:solidFill>
            <a:srgbClr val="89B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5976" y="1993392"/>
            <a:ext cx="3986783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玄女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2395728"/>
            <a:ext cx="3986783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地球观测 → 地理嵌入 → 变化检测 / 分类 / 预测 / 问答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13632"/>
            <a:ext cx="99669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200" b="1">
                <a:solidFill>
                  <a:srgbClr val="243339"/>
                </a:solidFill>
                <a:latin typeface="Microsoft YaHei"/>
              </a:rPr>
              <a:t>GPT 先把文本转成词元，才能进行理解、检索、生成；玄女先把地球观测转成地理嵌入，才能进行变化检测、分类、预测和问答。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376672"/>
            <a:ext cx="1591056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83664" y="5541264"/>
            <a:ext cx="14813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多源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5559552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57016" y="5376672"/>
            <a:ext cx="1591056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5541264"/>
            <a:ext cx="14813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时序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5559552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85232" y="5376672"/>
            <a:ext cx="1591056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0096" y="5541264"/>
            <a:ext cx="14813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空间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5559552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13448" y="5376672"/>
            <a:ext cx="1591056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68312" y="5541264"/>
            <a:ext cx="14813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语义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5559552"/>
            <a:ext cx="109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6767D"/>
                </a:solidFill>
                <a:latin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41664" y="5376672"/>
            <a:ext cx="1591056" cy="594360"/>
          </a:xfrm>
          <a:prstGeom prst="roundRect">
            <a:avLst/>
          </a:prstGeom>
          <a:solidFill>
            <a:srgbClr val="F5FAF8"/>
          </a:solidFill>
          <a:ln w="10160">
            <a:solidFill>
              <a:srgbClr val="89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5541264"/>
            <a:ext cx="14813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43339"/>
                </a:solidFill>
                <a:latin typeface="Microsoft YaHei"/>
              </a:rPr>
              <a:t>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528816"/>
            <a:ext cx="5486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参考趋势：Google Earth Engine 卫星嵌入 V1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67D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217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4A7968"/>
                </a:solidFill>
                <a:latin typeface="Microsoft YaHei"/>
              </a:rPr>
              <a:t>08｜产品形态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996696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243339"/>
                </a:solidFill>
                <a:latin typeface="Microsoft YaHei"/>
              </a:rPr>
              <a:t>产品不是单点模型，而是地理嵌入底座 + 任务库 + 行业交付层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0584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6767D"/>
                </a:solidFill>
                <a:latin typeface="Microsoft YaHei"/>
              </a:rPr>
              <a:t>先把区域数据资产化，再把任务从项目交付逐步产品化。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292608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572768"/>
            <a:ext cx="73152" cy="1554480"/>
          </a:xfrm>
          <a:prstGeom prst="rect">
            <a:avLst/>
          </a:prstGeom>
          <a:solidFill>
            <a:srgbClr val="89B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737360"/>
            <a:ext cx="252374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底座层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139696"/>
            <a:ext cx="2523744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多源遥感数据接入、时空对齐、月度/区域地理嵌入生成、国产算力适配。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572768"/>
            <a:ext cx="292608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572768"/>
            <a:ext cx="73152" cy="1554480"/>
          </a:xfrm>
          <a:prstGeom prst="rect">
            <a:avLst/>
          </a:prstGeom>
          <a:solidFill>
            <a:srgbClr val="8B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37176" y="1737360"/>
            <a:ext cx="252374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任务层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2139696"/>
            <a:ext cx="2523744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施工工地、农用地变化、建筑变化、裸地/垃圾堆放、灾害扰动、水体变化等任务头。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72768"/>
            <a:ext cx="292608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572768"/>
            <a:ext cx="73152" cy="1554480"/>
          </a:xfrm>
          <a:prstGeom prst="rect">
            <a:avLst/>
          </a:prstGeom>
          <a:solidFill>
            <a:srgbClr val="B4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1737360"/>
            <a:ext cx="252374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交付层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2139696"/>
            <a:ext cx="2523744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图斑候选、证据链、接口、私有化部署、年度监测服务、人工核查闭环。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14800"/>
            <a:ext cx="98755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243339"/>
                </a:solidFill>
                <a:latin typeface="Microsoft YaHei"/>
              </a:rPr>
              <a:t>短期：样板城市 + 项目交付验证价值
中期：任务库 + 私有化 / 年度服务提高复购
长期：区域地理嵌入接口 / 订阅，进入政企数据栈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28816"/>
            <a:ext cx="5486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玄女科技商业计划书 v0.2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67D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217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4A7968"/>
                </a:solidFill>
                <a:latin typeface="Microsoft YaHei"/>
              </a:rPr>
              <a:t>09｜样板验证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996696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243339"/>
                </a:solidFill>
                <a:latin typeface="Microsoft YaHei"/>
              </a:rPr>
              <a:t>哈尔滨新区样板：同一区域底座，支撑多源输入与变化候选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0584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6767D"/>
                </a:solidFill>
                <a:latin typeface="Microsoft YaHei"/>
              </a:rPr>
              <a:t>样板目标是形成可核查候选和成本账本，不把模型输出包装成自动执法结论。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389888"/>
            <a:ext cx="1645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1">
                <a:solidFill>
                  <a:srgbClr val="66767D"/>
                </a:solidFill>
                <a:latin typeface="Microsoft YaHei"/>
              </a:rPr>
              <a:t>S2 影像</a:t>
            </a:r>
          </a:p>
        </p:txBody>
      </p:sp>
      <p:pic>
        <p:nvPicPr>
          <p:cNvPr id="6" name="Picture 5" descr="harbin_s2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72768"/>
            <a:ext cx="1572768" cy="15727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79191" y="1389888"/>
            <a:ext cx="1645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1">
                <a:solidFill>
                  <a:srgbClr val="66767D"/>
                </a:solidFill>
                <a:latin typeface="Microsoft YaHei"/>
              </a:rPr>
              <a:t>高分光学</a:t>
            </a:r>
          </a:p>
        </p:txBody>
      </p:sp>
      <p:pic>
        <p:nvPicPr>
          <p:cNvPr id="8" name="Picture 7" descr="harbin_highres_opt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191" y="1572768"/>
            <a:ext cx="1572768" cy="1572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53712" y="1389888"/>
            <a:ext cx="1645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1">
                <a:solidFill>
                  <a:srgbClr val="66767D"/>
                </a:solidFill>
                <a:latin typeface="Microsoft YaHei"/>
              </a:rPr>
              <a:t>SAR/S1</a:t>
            </a:r>
          </a:p>
        </p:txBody>
      </p:sp>
      <p:pic>
        <p:nvPicPr>
          <p:cNvPr id="10" name="Picture 9" descr="harbin_s1_s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1572768"/>
            <a:ext cx="1572768" cy="1572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" y="3236976"/>
            <a:ext cx="1645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1">
                <a:solidFill>
                  <a:srgbClr val="66767D"/>
                </a:solidFill>
                <a:latin typeface="Microsoft YaHei"/>
              </a:rPr>
              <a:t>土地覆盖</a:t>
            </a:r>
          </a:p>
        </p:txBody>
      </p:sp>
      <p:pic>
        <p:nvPicPr>
          <p:cNvPr id="12" name="Picture 11" descr="harbin_worldco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419856"/>
            <a:ext cx="1572768" cy="15727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79191" y="3236976"/>
            <a:ext cx="1645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1">
                <a:solidFill>
                  <a:srgbClr val="66767D"/>
                </a:solidFill>
                <a:latin typeface="Microsoft YaHei"/>
              </a:rPr>
              <a:t>地理嵌入</a:t>
            </a:r>
          </a:p>
        </p:txBody>
      </p:sp>
      <p:pic>
        <p:nvPicPr>
          <p:cNvPr id="14" name="Picture 13" descr="harbin_embedding_pc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9191" y="3419856"/>
            <a:ext cx="1572768" cy="15727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53712" y="3236976"/>
            <a:ext cx="1645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1">
                <a:solidFill>
                  <a:srgbClr val="66767D"/>
                </a:solidFill>
                <a:latin typeface="Microsoft YaHei"/>
              </a:rPr>
              <a:t>预测概率</a:t>
            </a:r>
          </a:p>
        </p:txBody>
      </p:sp>
      <p:pic>
        <p:nvPicPr>
          <p:cNvPr id="16" name="Picture 15" descr="harbin_predic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3712" y="3419856"/>
            <a:ext cx="1572768" cy="157276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629400" y="1572768"/>
            <a:ext cx="4370832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1572768"/>
            <a:ext cx="73152" cy="3429000"/>
          </a:xfrm>
          <a:prstGeom prst="rect">
            <a:avLst/>
          </a:prstGeom>
          <a:solidFill>
            <a:srgbClr val="89B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8856" y="1737360"/>
            <a:ext cx="3968496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样板验证逻辑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8856" y="2139696"/>
            <a:ext cx="3968496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传统方式：每类任务重新组织数据、标注和模型。
玄女方式：一次生成地理嵌入，施工、农用地、建筑变化等任务复用。
交付定位：变化候选、优先级排序、证据链，而非替代最终判定。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5285232"/>
            <a:ext cx="40690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4A7968"/>
                </a:solidFill>
                <a:latin typeface="Microsoft YaHei"/>
              </a:rPr>
              <a:t>定位：不是直接替代最终判定，而是让基层先看到最值得核查的变化。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28816"/>
            <a:ext cx="5486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玄女科技商业计划书 v0.2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67D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217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4A7968"/>
                </a:solidFill>
                <a:latin typeface="Microsoft YaHei"/>
              </a:rPr>
              <a:t>10｜竞争与替代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996696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243339"/>
                </a:solidFill>
                <a:latin typeface="Microsoft YaHei"/>
              </a:rPr>
              <a:t>我们不和影像公司抢卫星，而是做任务复用的地理智能底座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0584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6767D"/>
                </a:solidFill>
                <a:latin typeface="Microsoft YaHei"/>
              </a:rPr>
              <a:t>客户今天的替代方案各有价值，但很少同时解决多源时序、跨任务复用和私有化工作流。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149840" cy="621792"/>
          </a:xfrm>
          <a:prstGeom prst="rect">
            <a:avLst/>
          </a:prstGeom>
          <a:solidFill>
            <a:srgbClr val="F1F8F6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682495"/>
            <a:ext cx="13533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43339"/>
                </a:solidFill>
                <a:latin typeface="Microsoft YaHei"/>
              </a:rPr>
              <a:t>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82495"/>
            <a:ext cx="2221991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43339"/>
                </a:solidFill>
                <a:latin typeface="Microsoft YaHei"/>
              </a:rPr>
              <a:t>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682495"/>
            <a:ext cx="27249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43339"/>
                </a:solidFill>
                <a:latin typeface="Microsoft YaHei"/>
              </a:rPr>
              <a:t>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682495"/>
            <a:ext cx="34107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43339"/>
                </a:solidFill>
                <a:latin typeface="Microsoft YaHei"/>
              </a:rPr>
              <a:t>玄女定位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231136"/>
            <a:ext cx="101498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340864"/>
            <a:ext cx="13533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>
                <a:solidFill>
                  <a:srgbClr val="66767D"/>
                </a:solidFill>
                <a:latin typeface="Microsoft YaHei"/>
              </a:rPr>
              <a:t>传统项目制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340864"/>
            <a:ext cx="2221991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熟悉流程、可交付报告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40864"/>
            <a:ext cx="27249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每个任务重做，人力重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340864"/>
            <a:ext cx="34107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把重复劳动资产化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89504"/>
            <a:ext cx="101498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999232"/>
            <a:ext cx="13533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>
                <a:solidFill>
                  <a:srgbClr val="66767D"/>
                </a:solidFill>
                <a:latin typeface="Microsoft YaHei"/>
              </a:rPr>
              <a:t>影像/底图平台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999232"/>
            <a:ext cx="2221991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数据覆盖强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99232"/>
            <a:ext cx="27249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偏数据供给，应用仍需二次开发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99232"/>
            <a:ext cx="34107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连接上游数据与下游任务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547872"/>
            <a:ext cx="101498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3657600"/>
            <a:ext cx="13533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>
                <a:solidFill>
                  <a:srgbClr val="66767D"/>
                </a:solidFill>
                <a:latin typeface="Microsoft YaHei"/>
              </a:rPr>
              <a:t>遥感/GIS 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657600"/>
            <a:ext cx="2221991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进入政企流程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657600"/>
            <a:ext cx="27249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模型和任务复用不足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657600"/>
            <a:ext cx="34107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补上 AI 表征和任务库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206240"/>
            <a:ext cx="101498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4315968"/>
            <a:ext cx="13533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>
                <a:solidFill>
                  <a:srgbClr val="66767D"/>
                </a:solidFill>
                <a:latin typeface="Microsoft YaHei"/>
              </a:rPr>
              <a:t>通用遥感模型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315968"/>
            <a:ext cx="2221991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研发速度快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315968"/>
            <a:ext cx="27249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本土数据、私有化、交付闭环不足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315968"/>
            <a:ext cx="34107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面向中国场景工程化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40680"/>
            <a:ext cx="10241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4A7968"/>
                </a:solidFill>
                <a:latin typeface="Microsoft YaHei"/>
              </a:rPr>
              <a:t>壁垒来自三件事：区域级多源数据组织、可复用地理嵌入、进入客户核查流程的任务库。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28816"/>
            <a:ext cx="5486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玄女科技商业计划书 v0.2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67D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217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4A7968"/>
                </a:solidFill>
                <a:latin typeface="Microsoft YaHei"/>
              </a:rPr>
              <a:t>11｜商业化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996696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243339"/>
                </a:solidFill>
                <a:latin typeface="Microsoft YaHei"/>
              </a:rPr>
              <a:t>商业模式：先用样板交付拿信任，再用任务库和年度服务提高复购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0584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6767D"/>
                </a:solidFill>
                <a:latin typeface="Microsoft YaHei"/>
              </a:rPr>
              <a:t>以下为融资阶段的商业假设框架，单价和毛利需要随真实试点继续校准。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600200"/>
            <a:ext cx="324612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600200"/>
            <a:ext cx="73152" cy="1261872"/>
          </a:xfrm>
          <a:prstGeom prst="rect">
            <a:avLst/>
          </a:prstGeom>
          <a:solidFill>
            <a:srgbClr val="89B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764792"/>
            <a:ext cx="284378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近期：样板项目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167128"/>
            <a:ext cx="2843784" cy="57607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城市/新区/园区样板，按区域、任务数量和交付周期收费；收入来自现有项目或平台升级预算。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600200"/>
            <a:ext cx="324612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2272" y="1600200"/>
            <a:ext cx="73152" cy="1261872"/>
          </a:xfrm>
          <a:prstGeom prst="rect">
            <a:avLst/>
          </a:prstGeom>
          <a:solidFill>
            <a:srgbClr val="8B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764792"/>
            <a:ext cx="284378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中期：私有化 + 年度服务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167128"/>
            <a:ext cx="2843784" cy="57607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为遥感公司、政府部门和高校提供工具链、任务库、年度监测和技术服务。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600200"/>
            <a:ext cx="324612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74736" y="1600200"/>
            <a:ext cx="73152" cy="1261872"/>
          </a:xfrm>
          <a:prstGeom prst="rect">
            <a:avLst/>
          </a:prstGeom>
          <a:solidFill>
            <a:srgbClr val="B4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764792"/>
            <a:ext cx="284378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长期：接口/订阅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167128"/>
            <a:ext cx="2843784" cy="57607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区域地理嵌入、任务结果、样本检索和变化候选以接口或订阅进入政企数据栈。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57600"/>
            <a:ext cx="3063240" cy="950976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767328"/>
            <a:ext cx="277063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1">
                <a:solidFill>
                  <a:srgbClr val="89B7A4"/>
                </a:solidFill>
                <a:latin typeface="Microsoft YaHei"/>
              </a:rPr>
              <a:t>2-3 个样板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133087"/>
            <a:ext cx="277063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43339"/>
                </a:solidFill>
                <a:latin typeface="Microsoft YaHei"/>
              </a:rPr>
              <a:t>18 个月商业目标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334256"/>
            <a:ext cx="27706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形成可披露案例和成本账本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657600"/>
            <a:ext cx="3063240" cy="950976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3767328"/>
            <a:ext cx="277063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1">
                <a:solidFill>
                  <a:srgbClr val="8BB4CA"/>
                </a:solidFill>
                <a:latin typeface="Microsoft YaHei"/>
              </a:rPr>
              <a:t>5-10 类高频任务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872" y="4133087"/>
            <a:ext cx="277063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43339"/>
                </a:solidFill>
                <a:latin typeface="Microsoft YaHei"/>
              </a:rPr>
              <a:t>任务库目标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4334256"/>
            <a:ext cx="27706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施工、农用地、建筑、灾害等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657600"/>
            <a:ext cx="3063240" cy="950976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3767328"/>
            <a:ext cx="277063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1">
                <a:solidFill>
                  <a:srgbClr val="B4AAD2"/>
                </a:solidFill>
                <a:latin typeface="Microsoft YaHei"/>
              </a:rPr>
              <a:t>项目 + 年服 + 接口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133087"/>
            <a:ext cx="277063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43339"/>
                </a:solidFill>
                <a:latin typeface="Microsoft YaHei"/>
              </a:rPr>
              <a:t>收入模型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334256"/>
            <a:ext cx="27706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从交付收入走向复购收入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28816"/>
            <a:ext cx="5486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玄女科技商业计划书 v0.2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67D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217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4A7968"/>
                </a:solidFill>
                <a:latin typeface="Microsoft YaHei"/>
              </a:rPr>
              <a:t>12｜团队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996696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243339"/>
                </a:solidFill>
                <a:latin typeface="Microsoft YaHei"/>
              </a:rPr>
              <a:t>团队与资源：同时理解遥感 AI、国产算力和政企交付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0584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6767D"/>
                </a:solidFill>
                <a:latin typeface="Microsoft YaHei"/>
              </a:rPr>
              <a:t>核心团队将以遥感 AI、模型工程化、数据组织和政企交付资源形成复合能力。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73152" cy="1417320"/>
          </a:xfrm>
          <a:prstGeom prst="rect">
            <a:avLst/>
          </a:prstGeom>
          <a:solidFill>
            <a:srgbClr val="89B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764792"/>
            <a:ext cx="284378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算法与工程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167128"/>
            <a:ext cx="2843784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多源时序遥感、地理嵌入、下游变化检测、模型工程化和国产 NPU 适配能力。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600200"/>
            <a:ext cx="73152" cy="1417320"/>
          </a:xfrm>
          <a:prstGeom prst="rect">
            <a:avLst/>
          </a:prstGeom>
          <a:solidFill>
            <a:srgbClr val="8B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1764792"/>
            <a:ext cx="284378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数据与场景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167128"/>
            <a:ext cx="2843784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已围绕哈尔滨、海淀等区域组织多源数据与研发验证，具备样板城市扩展基础。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00200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00200"/>
            <a:ext cx="73152" cy="1417320"/>
          </a:xfrm>
          <a:prstGeom prst="rect">
            <a:avLst/>
          </a:prstGeom>
          <a:solidFill>
            <a:srgbClr val="B4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764792"/>
            <a:ext cx="284378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商业与交付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167128"/>
            <a:ext cx="2843784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目标客户明确：遥感项目公司、政府/新区管委会、科研机构和行业地块用户。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1005840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200" b="1">
                <a:solidFill>
                  <a:srgbClr val="243339"/>
                </a:solidFill>
                <a:latin typeface="Microsoft YaHei"/>
              </a:rPr>
              <a:t>需要补强为投资人最终版的信息：创始人履历、团队人数、核心论文/专利/项目、客户资源和顾问背书。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28816"/>
            <a:ext cx="5486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玄女科技商业计划书 v0.2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67D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217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4A7968"/>
                </a:solidFill>
                <a:latin typeface="Microsoft YaHei"/>
              </a:rPr>
              <a:t>13｜融资计划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996696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243339"/>
                </a:solidFill>
                <a:latin typeface="Microsoft YaHei"/>
              </a:rPr>
              <a:t>融资 5000 万：把地理嵌入从研发验证推到可复制样板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0584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6767D"/>
                </a:solidFill>
                <a:latin typeface="Microsoft YaHei"/>
              </a:rPr>
              <a:t>资金重点投向样板闭环、模型工程化、任务库产品化和商业交付能力。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3063240" cy="950976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682495"/>
            <a:ext cx="277063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1">
                <a:solidFill>
                  <a:srgbClr val="89B7A4"/>
                </a:solidFill>
                <a:latin typeface="Microsoft YaHei"/>
              </a:rPr>
              <a:t>5000 万元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048256"/>
            <a:ext cx="277063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43339"/>
                </a:solidFill>
                <a:latin typeface="Microsoft YaHei"/>
              </a:rPr>
              <a:t>融资金额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49424"/>
            <a:ext cx="27706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轮次与估值待最终确认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572768"/>
            <a:ext cx="3063240" cy="950976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682495"/>
            <a:ext cx="277063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1">
                <a:solidFill>
                  <a:srgbClr val="8BB4CA"/>
                </a:solidFill>
                <a:latin typeface="Microsoft YaHei"/>
              </a:rPr>
              <a:t>18 个月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048256"/>
            <a:ext cx="277063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43339"/>
                </a:solidFill>
                <a:latin typeface="Microsoft YaHei"/>
              </a:rPr>
              <a:t>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249424"/>
            <a:ext cx="27706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从样板验证到可复制交付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72768"/>
            <a:ext cx="3063240" cy="950976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1682495"/>
            <a:ext cx="277063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1">
                <a:solidFill>
                  <a:srgbClr val="B4AAD2"/>
                </a:solidFill>
                <a:latin typeface="Microsoft YaHei"/>
              </a:rPr>
              <a:t>3 个样板 + 10 个任务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048256"/>
            <a:ext cx="277063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43339"/>
                </a:solidFill>
                <a:latin typeface="Microsoft YaHei"/>
              </a:rPr>
              <a:t>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249424"/>
            <a:ext cx="27706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用真实账本证明商业价值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063240"/>
            <a:ext cx="489204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063240"/>
            <a:ext cx="73152" cy="1463040"/>
          </a:xfrm>
          <a:prstGeom prst="rect">
            <a:avLst/>
          </a:prstGeom>
          <a:solidFill>
            <a:srgbClr val="89B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3227832"/>
            <a:ext cx="4489703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资金用途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" y="3630168"/>
            <a:ext cx="4489703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模型工程化与国产算力适配｜样板城市数据和标注｜产品化任务库｜销售与交付团队｜合规和数据采购。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063240"/>
            <a:ext cx="489204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063240"/>
            <a:ext cx="73152" cy="1463040"/>
          </a:xfrm>
          <a:prstGeom prst="rect">
            <a:avLst/>
          </a:prstGeom>
          <a:solidFill>
            <a:srgbClr val="8B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3227832"/>
            <a:ext cx="4489703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18 个月里程碑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3630168"/>
            <a:ext cx="4489703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拿下 2-3 个可披露样板；形成哈尔滨/海淀/雅江案例；沉淀 5-10 个高频任务；完成年度服务或私有化首单。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21808"/>
            <a:ext cx="101498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243339"/>
                </a:solidFill>
                <a:latin typeface="Microsoft YaHei"/>
              </a:rPr>
              <a:t>最终要让投资人相信：这笔钱不是买更多实验，而是买“样板闭环 + 可复用资产 + 商业化入口”。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28816"/>
            <a:ext cx="5486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玄女科技商业计划书 v0.2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67D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217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4A7968"/>
                </a:solidFill>
                <a:latin typeface="Microsoft YaHei"/>
              </a:rPr>
              <a:t>14｜附录 · 能力边界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996696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243339"/>
                </a:solidFill>
                <a:latin typeface="Microsoft YaHei"/>
              </a:rPr>
              <a:t>附录：研发验证显示已有候选排序信号，但仍需样板数据提升可交付精度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0584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6767D"/>
                </a:solidFill>
                <a:latin typeface="Microsoft YaHei"/>
              </a:rPr>
              <a:t>对稀疏变化检测，AUC 说明排序信号；最佳 F1 和平均交并比仍低，当前定位为候选生成与优先级筛查。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64208"/>
            <a:ext cx="19202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66767D"/>
                </a:solidFill>
                <a:latin typeface="Microsoft YaHei"/>
              </a:rPr>
              <a:t>高分光学</a:t>
            </a:r>
          </a:p>
        </p:txBody>
      </p:sp>
      <p:pic>
        <p:nvPicPr>
          <p:cNvPr id="6" name="Picture 5" descr="harbin_highres_op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01952"/>
            <a:ext cx="1874519" cy="18745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35808" y="1664208"/>
            <a:ext cx="19202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66767D"/>
                </a:solidFill>
                <a:latin typeface="Microsoft YaHei"/>
              </a:rPr>
              <a:t>地理嵌入 PCA</a:t>
            </a:r>
          </a:p>
        </p:txBody>
      </p:sp>
      <p:pic>
        <p:nvPicPr>
          <p:cNvPr id="8" name="Picture 7" descr="harbin_embedding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1901952"/>
            <a:ext cx="1874519" cy="18745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48656" y="1664208"/>
            <a:ext cx="19202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66767D"/>
                </a:solidFill>
                <a:latin typeface="Microsoft YaHei"/>
              </a:rPr>
              <a:t>预测概率</a:t>
            </a:r>
          </a:p>
        </p:txBody>
      </p:sp>
      <p:pic>
        <p:nvPicPr>
          <p:cNvPr id="10" name="Picture 9" descr="harbin_predi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656" y="1901952"/>
            <a:ext cx="1874519" cy="187451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726679" y="1737360"/>
            <a:ext cx="34290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1737360"/>
            <a:ext cx="73152" cy="1143000"/>
          </a:xfrm>
          <a:prstGeom prst="rect">
            <a:avLst/>
          </a:prstGeom>
          <a:solidFill>
            <a:srgbClr val="89B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1901952"/>
            <a:ext cx="302666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研发信号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2304288"/>
            <a:ext cx="3026664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哈尔滨研发集 5 折验证显示多个任务存在候选排序信号，AUC 约 0.75-0.89。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315468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3154680"/>
            <a:ext cx="73152" cy="1600200"/>
          </a:xfrm>
          <a:prstGeom prst="rect">
            <a:avLst/>
          </a:prstGeom>
          <a:solidFill>
            <a:srgbClr val="8B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46136" y="3319272"/>
            <a:ext cx="302666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表达边界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46136" y="3721608"/>
            <a:ext cx="3026664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最佳 F1、固定阈值 F1 和平均交并比仍低；当前不作为自动判定或执法级结果，只做候选生成、人机核查和样板验证。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28816"/>
            <a:ext cx="5486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玄女科技商业计划书 v0.2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67D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217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4A7968"/>
                </a:solidFill>
                <a:latin typeface="Microsoft YaHei"/>
              </a:rPr>
              <a:t>15｜附录 · 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996696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243339"/>
                </a:solidFill>
                <a:latin typeface="Microsoft YaHei"/>
              </a:rPr>
              <a:t>附录：关键数据来源与口径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0584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6767D"/>
                </a:solidFill>
                <a:latin typeface="Microsoft YaHei"/>
              </a:rPr>
              <a:t>用于投资人尽调追溯；正式路演可把详细链接放在资料包中。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444752"/>
            <a:ext cx="51663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444752"/>
            <a:ext cx="73152" cy="2057400"/>
          </a:xfrm>
          <a:prstGeom prst="rect">
            <a:avLst/>
          </a:prstGeom>
          <a:solidFill>
            <a:srgbClr val="8B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609344"/>
            <a:ext cx="476402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海外对标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11680"/>
            <a:ext cx="4764024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Planet FY2026：收入 3.077 亿美元、经常性 ACV 98%
BlackSky FY2025：收入 1.066 亿美元
Maxar/Advent：交易估值约 64 亿美元
Esri Fact Sheet：数十万组织、50% Fortune 500、多数国家政府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444752"/>
            <a:ext cx="51663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73152" cy="2057400"/>
          </a:xfrm>
          <a:prstGeom prst="rect">
            <a:avLst/>
          </a:prstGeom>
          <a:solidFill>
            <a:srgbClr val="89B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9344"/>
            <a:ext cx="476402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43339"/>
                </a:solidFill>
                <a:latin typeface="Microsoft YaHei"/>
              </a:rPr>
              <a:t>市场与技术趋势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764024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6767D"/>
                </a:solidFill>
                <a:latin typeface="Microsoft YaHei"/>
              </a:rPr>
              <a:t>Google Earth Engine 卫星嵌入 V1：全球 10 米、64 维、2017-2024
MarketsandMarkets：EO 小卫星市场 2025-2030 CAGR 15.9%
Grand View Research：地理空间分析市场 2025-2033 CAGR 10.4%
国家数据局：天津遥感建筑半自动标注案例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87952"/>
            <a:ext cx="103327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66767D"/>
                </a:solidFill>
                <a:latin typeface="Microsoft YaHei"/>
              </a:rPr>
              <a:t>完整链接：Planet、BlackSky、Maxar/Advent、Esri、Google Earth Engine、MarketsandMarkets、Grand View Research、国家数据局天津案例已记录在项目文档中。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10149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4A7968"/>
                </a:solidFill>
                <a:latin typeface="Microsoft YaHei"/>
              </a:rPr>
              <a:t>口径提醒：广义产业和市场规模用于说明机会窗口，不等同于玄女可直接获得收入；玄女直接市场需结合样板客户、年度服务和接口订阅另行测算。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28816"/>
            <a:ext cx="5486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6767D"/>
                </a:solidFill>
                <a:latin typeface="Microsoft YaHei"/>
              </a:rPr>
              <a:t>玄女科技商业计划书 v0.2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67D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