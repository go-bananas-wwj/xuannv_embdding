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o_embedding_cover_pas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0"/>
            <a:ext cx="749807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1115568"/>
            <a:ext cx="4389120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223035"/>
                </a:solidFill>
                <a:latin typeface="Microsoft YaHei"/>
              </a:rPr>
              <a:t>玄女科技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19072"/>
            <a:ext cx="530352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700" b="1">
                <a:solidFill>
                  <a:srgbClr val="487967"/>
                </a:solidFill>
                <a:latin typeface="Microsoft YaHei"/>
              </a:rPr>
              <a:t>用地理嵌入赋能遥感智能应用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761488"/>
            <a:ext cx="466344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626F75"/>
                </a:solidFill>
                <a:latin typeface="Microsoft YaHei"/>
              </a:rPr>
              <a:t>一次生成地球表征，多任务复用。
让中国拥有自己的地理智能底座。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5897880"/>
            <a:ext cx="43891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26F75"/>
                </a:solidFill>
                <a:latin typeface="Microsoft YaHei"/>
              </a:rPr>
              <a:t>商业计划书｜融资需求 5000 万元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美国已经证明：地理智能可以长成大公司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9784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26F75"/>
                </a:solidFill>
                <a:latin typeface="Microsoft YaHei"/>
              </a:rPr>
              <a:t>不同标杆证明不同环节：数据、监测、平台、地理嵌入趋势。</a:t>
            </a:r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078992"/>
            <a:ext cx="3337560" cy="1874519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68680" y="1417320"/>
            <a:ext cx="1417320" cy="1417320"/>
          </a:xfrm>
          <a:prstGeom prst="ellipse">
            <a:avLst/>
          </a:prstGeom>
          <a:solidFill>
            <a:srgbClr val="84B5A0"/>
          </a:solidFill>
          <a:ln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0862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64 亿美元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11019"/>
            <a:ext cx="12710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Maxar
收购估值</a:t>
            </a:r>
          </a:p>
        </p:txBody>
      </p:sp>
      <p:sp>
        <p:nvSpPr>
          <p:cNvPr id="9" name="Oval 8"/>
          <p:cNvSpPr/>
          <p:nvPr/>
        </p:nvSpPr>
        <p:spPr>
          <a:xfrm>
            <a:off x="2606040" y="1234440"/>
            <a:ext cx="1691640" cy="1691640"/>
          </a:xfrm>
          <a:prstGeom prst="ellipse">
            <a:avLst/>
          </a:prstGeom>
          <a:solidFill>
            <a:srgbClr val="88B5CD"/>
          </a:solidFill>
          <a:ln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775764"/>
            <a:ext cx="16916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2.444 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181758"/>
            <a:ext cx="15453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Planet
FY2025 收入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1572768"/>
            <a:ext cx="1234440" cy="1234440"/>
          </a:xfrm>
          <a:prstGeom prst="ellipse">
            <a:avLst/>
          </a:prstGeom>
          <a:solidFill>
            <a:srgbClr val="B4ABD2"/>
          </a:solidFill>
          <a:ln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67788"/>
            <a:ext cx="1234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1.021 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264054"/>
            <a:ext cx="10881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BlackSky
2024 收入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4873752"/>
            <a:ext cx="5303520" cy="0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457960" y="4105656"/>
            <a:ext cx="589279" cy="768096"/>
          </a:xfrm>
          <a:prstGeom prst="rect">
            <a:avLst/>
          </a:prstGeom>
          <a:solidFill>
            <a:srgbClr val="84B5A0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3368" y="3877056"/>
            <a:ext cx="918463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1927" y="4965192"/>
            <a:ext cx="110134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数据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36519" y="4297680"/>
            <a:ext cx="589279" cy="576072"/>
          </a:xfrm>
          <a:prstGeom prst="rect">
            <a:avLst/>
          </a:prstGeom>
          <a:solidFill>
            <a:srgbClr val="88B5CD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71927" y="4069080"/>
            <a:ext cx="918463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80487" y="4965192"/>
            <a:ext cx="110134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监测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5079" y="3913632"/>
            <a:ext cx="589279" cy="960120"/>
          </a:xfrm>
          <a:prstGeom prst="rect">
            <a:avLst/>
          </a:prstGeom>
          <a:solidFill>
            <a:srgbClr val="B4ABD2"/>
          </a:solidFill>
          <a:ln w="10160"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0487" y="3685032"/>
            <a:ext cx="918463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9047" y="4965192"/>
            <a:ext cx="110134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平台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93639" y="4489704"/>
            <a:ext cx="589279" cy="384048"/>
          </a:xfrm>
          <a:prstGeom prst="rect">
            <a:avLst/>
          </a:prstGeom>
          <a:solidFill>
            <a:srgbClr val="EEE5D1"/>
          </a:solidFill>
          <a:ln w="10160">
            <a:solidFill>
              <a:srgbClr val="EE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9048" y="4261104"/>
            <a:ext cx="918463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7607" y="4965192"/>
            <a:ext cx="110134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嵌入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3456432"/>
            <a:ext cx="5212080" cy="448056"/>
          </a:xfrm>
          <a:prstGeom prst="rect">
            <a:avLst/>
          </a:prstGeom>
          <a:solidFill>
            <a:srgbClr val="F2F9F5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4264" y="3547872"/>
            <a:ext cx="20574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23035"/>
                </a:solidFill>
                <a:latin typeface="Microsoft YaHei"/>
              </a:rPr>
              <a:t>标杆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33104" y="3547872"/>
            <a:ext cx="2971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23035"/>
                </a:solidFill>
                <a:latin typeface="Microsoft YaHei"/>
              </a:rPr>
              <a:t>证明什么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3931920"/>
            <a:ext cx="5212080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84264" y="4023359"/>
            <a:ext cx="20574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Maxar / Planet / BlackSky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33104" y="4023359"/>
            <a:ext cx="2971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影像与实时监测存在持续需求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9400" y="4407408"/>
            <a:ext cx="5212080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84264" y="4498848"/>
            <a:ext cx="20574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Esri / CARTO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4498848"/>
            <a:ext cx="2971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地理平台可以进入政企工作流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4882896"/>
            <a:ext cx="5212080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84264" y="4974336"/>
            <a:ext cx="20574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Google 卫星嵌入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33104" y="4974336"/>
            <a:ext cx="29718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表征层正在成为下一代入口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487967"/>
                </a:solidFill>
                <a:latin typeface="Microsoft YaHei"/>
              </a:rPr>
              <a:t>玄女借鉴的是“AI 可用地理表征层”，不是复制任何一家美国公司的资产结构。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行业正在从“卖影像”走向“卖可调用的地球智能”</a:t>
            </a:r>
          </a:p>
        </p:txBody>
      </p:sp>
      <p:pic>
        <p:nvPicPr>
          <p:cNvPr id="4" name="Picture 3" descr="space_data_to_intelli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70432"/>
            <a:ext cx="4800600" cy="33832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" y="1828800"/>
            <a:ext cx="1115568" cy="1115568"/>
          </a:xfrm>
          <a:prstGeom prst="roundRect">
            <a:avLst/>
          </a:prstGeom>
          <a:solidFill>
            <a:srgbClr val="EEE5D1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70432" y="1938528"/>
            <a:ext cx="292608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84B5A0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3127248"/>
            <a:ext cx="1234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223035"/>
                </a:solidFill>
                <a:latin typeface="Microsoft YaHei"/>
              </a:rPr>
              <a:t>影像时代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56432"/>
            <a:ext cx="1417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卖原始影像
底图 / 授权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92807" y="2395728"/>
            <a:ext cx="301753" cy="0"/>
          </a:xfrm>
          <a:prstGeom prst="line">
            <a:avLst/>
          </a:prstGeom>
          <a:ln w="2032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94560" y="1828800"/>
            <a:ext cx="1115568" cy="1115568"/>
          </a:xfrm>
          <a:prstGeom prst="roundRect">
            <a:avLst/>
          </a:prstGeom>
          <a:solidFill>
            <a:srgbClr val="F1F8FB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7752" y="1938528"/>
            <a:ext cx="292608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88B5CD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27248"/>
            <a:ext cx="1234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223035"/>
                </a:solidFill>
                <a:latin typeface="Microsoft YaHei"/>
              </a:rPr>
              <a:t>监测时代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456432"/>
            <a:ext cx="1417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卖变化监测
目标识别 / 预警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10128" y="2395728"/>
            <a:ext cx="301752" cy="0"/>
          </a:xfrm>
          <a:prstGeom prst="line">
            <a:avLst/>
          </a:prstGeom>
          <a:ln w="2032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11880" y="1828800"/>
            <a:ext cx="1115568" cy="1115568"/>
          </a:xfrm>
          <a:prstGeom prst="roundRect">
            <a:avLst/>
          </a:prstGeom>
          <a:solidFill>
            <a:srgbClr val="F2F9F5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1938528"/>
            <a:ext cx="292608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84B5A0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27248"/>
            <a:ext cx="1234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223035"/>
                </a:solidFill>
                <a:latin typeface="Microsoft YaHei"/>
              </a:rPr>
              <a:t>平台时代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456432"/>
            <a:ext cx="1417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卖 GIS / 云平台
接口 / 工作流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27448" y="2395728"/>
            <a:ext cx="301752" cy="0"/>
          </a:xfrm>
          <a:prstGeom prst="line">
            <a:avLst/>
          </a:prstGeom>
          <a:ln w="2032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29200" y="1828800"/>
            <a:ext cx="1115568" cy="1115568"/>
          </a:xfrm>
          <a:prstGeom prst="roundRect">
            <a:avLst/>
          </a:prstGeom>
          <a:solidFill>
            <a:srgbClr val="F7F5FB"/>
          </a:solidFill>
          <a:ln w="10160"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22392" y="1938528"/>
            <a:ext cx="292608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B4ABD2"/>
                </a:solidFill>
                <a:latin typeface="Microsoft YaHe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127248"/>
            <a:ext cx="12344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>
                <a:solidFill>
                  <a:srgbClr val="223035"/>
                </a:solidFill>
                <a:latin typeface="Microsoft YaHei"/>
              </a:rPr>
              <a:t>嵌入时代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456432"/>
            <a:ext cx="1417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卖可复用表征
分类 / 检测 / 问答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828032"/>
            <a:ext cx="52578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828032"/>
            <a:ext cx="64008" cy="868680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4974336"/>
            <a:ext cx="49103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玄女的位置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" y="5330952"/>
            <a:ext cx="4910328" cy="2651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不再只交付影像或单点分析，而是切入更靠近应用价值的 AI 可用地理表征层。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中国也到了这个窗口：商业航天解决“看见”，地理智能解决“理解”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868680"/>
            <a:ext cx="978408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626F75"/>
                </a:solidFill>
                <a:latin typeface="Microsoft YaHei"/>
              </a:rPr>
              <a:t>市场数字为广义产业和上游供给口径，不等同于玄女直接可获得收入。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481328"/>
            <a:ext cx="1737360" cy="1737360"/>
          </a:xfrm>
          <a:prstGeom prst="ellipse">
            <a:avLst/>
          </a:prstGeom>
          <a:solidFill>
            <a:srgbClr val="84B5A0"/>
          </a:solidFill>
          <a:ln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37283"/>
            <a:ext cx="17373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8501 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454249"/>
            <a:ext cx="159105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中国地理信息产业
广义基础</a:t>
            </a:r>
          </a:p>
        </p:txBody>
      </p:sp>
      <p:sp>
        <p:nvSpPr>
          <p:cNvPr id="8" name="Oval 7"/>
          <p:cNvSpPr/>
          <p:nvPr/>
        </p:nvSpPr>
        <p:spPr>
          <a:xfrm>
            <a:off x="3154680" y="1389888"/>
            <a:ext cx="1874519" cy="1874519"/>
          </a:xfrm>
          <a:prstGeom prst="ellipse">
            <a:avLst/>
          </a:prstGeom>
          <a:solidFill>
            <a:srgbClr val="88B5CD"/>
          </a:solidFill>
          <a:ln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1989734"/>
            <a:ext cx="1874519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55.2 亿美元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2439619"/>
            <a:ext cx="17282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EO 小卫星
上游供给</a:t>
            </a:r>
          </a:p>
        </p:txBody>
      </p:sp>
      <p:sp>
        <p:nvSpPr>
          <p:cNvPr id="11" name="Oval 10"/>
          <p:cNvSpPr/>
          <p:nvPr/>
        </p:nvSpPr>
        <p:spPr>
          <a:xfrm>
            <a:off x="5577840" y="1234440"/>
            <a:ext cx="2148840" cy="2148840"/>
          </a:xfrm>
          <a:prstGeom prst="ellipse">
            <a:avLst/>
          </a:prstGeom>
          <a:solidFill>
            <a:srgbClr val="B4ABD2"/>
          </a:solidFill>
          <a:ln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922068"/>
            <a:ext cx="2148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2340 亿美元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437790"/>
            <a:ext cx="2002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地理空间分析
广义大盘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549640" y="2880360"/>
            <a:ext cx="2331719" cy="0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015984" y="2224377"/>
            <a:ext cx="466344" cy="655982"/>
          </a:xfrm>
          <a:prstGeom prst="rect">
            <a:avLst/>
          </a:prstGeom>
          <a:solidFill>
            <a:srgbClr val="84B5A0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1995777"/>
            <a:ext cx="79552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26.4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9952" y="2971800"/>
            <a:ext cx="9784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48672" y="1508760"/>
            <a:ext cx="466344" cy="1371600"/>
          </a:xfrm>
          <a:prstGeom prst="rect">
            <a:avLst/>
          </a:prstGeom>
          <a:solidFill>
            <a:srgbClr val="88B5CD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1280160"/>
            <a:ext cx="79552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55.2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2971800"/>
            <a:ext cx="978408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2030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182112"/>
            <a:ext cx="25603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0">
                <a:solidFill>
                  <a:srgbClr val="626F75"/>
                </a:solidFill>
                <a:latin typeface="Microsoft YaHei"/>
              </a:rPr>
              <a:t>EO 小卫星市场增长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3886200"/>
            <a:ext cx="3246120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886200"/>
            <a:ext cx="64008" cy="1133856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032504"/>
            <a:ext cx="28986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数据供给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4389120"/>
            <a:ext cx="289864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商业航天、高分光学、SAR、无人机与北斗持续增长。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3886200"/>
            <a:ext cx="3246120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53128" y="3886200"/>
            <a:ext cx="64008" cy="1133856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4032504"/>
            <a:ext cx="28986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场景密集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4296" y="4389120"/>
            <a:ext cx="289864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自然资源、应急、农业、水利、能源、重大工程都要监测。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3886200"/>
            <a:ext cx="3246120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56448" y="3886200"/>
            <a:ext cx="64008" cy="1133856"/>
          </a:xfrm>
          <a:prstGeom prst="rect">
            <a:avLst/>
          </a:prstGeom>
          <a:solidFill>
            <a:srgbClr val="B4A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57616" y="4032504"/>
            <a:ext cx="28986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支付基础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57616" y="4389120"/>
            <a:ext cx="2898648" cy="5303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已有政企采购和项目交付基础，需要更高复用效率。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715000"/>
            <a:ext cx="100584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487967"/>
                </a:solidFill>
                <a:latin typeface="Microsoft YaHei"/>
              </a:rPr>
              <a:t>中国的机会不是再多一批影像，而是把影像变成可复用的地理智能。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今天的遥感公司，主要还是靠项目、人力和数据交付赚钱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325880"/>
            <a:ext cx="5029200" cy="475488"/>
          </a:xfrm>
          <a:prstGeom prst="rect">
            <a:avLst/>
          </a:prstGeom>
          <a:solidFill>
            <a:srgbClr val="F2F9F5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1417320"/>
            <a:ext cx="19659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23035"/>
                </a:solidFill>
                <a:latin typeface="Microsoft YaHei"/>
              </a:rPr>
              <a:t>收入方式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0944" y="1417320"/>
            <a:ext cx="28803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23035"/>
                </a:solidFill>
                <a:latin typeface="Microsoft YaHei"/>
              </a:rPr>
              <a:t>受限点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50292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920240"/>
            <a:ext cx="19659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数据销售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80944" y="1920240"/>
            <a:ext cx="28803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价值停在数据层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331720"/>
            <a:ext cx="50292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2423160"/>
            <a:ext cx="19659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项目交付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423160"/>
            <a:ext cx="28803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项目越多人越多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2834640"/>
            <a:ext cx="50292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2926080"/>
            <a:ext cx="19659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平台授权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926080"/>
            <a:ext cx="28803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智能任务仍需定制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337560"/>
            <a:ext cx="50292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3429000"/>
            <a:ext cx="19659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专业服务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429000"/>
            <a:ext cx="28803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毛利被人力吞掉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3840480"/>
            <a:ext cx="50292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" y="3931920"/>
            <a:ext cx="19659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订阅接口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0944" y="3931920"/>
            <a:ext cx="2880360" cy="35661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行业仍在早期</a:t>
            </a:r>
          </a:p>
        </p:txBody>
      </p:sp>
      <p:sp>
        <p:nvSpPr>
          <p:cNvPr id="22" name="Pie 21"/>
          <p:cNvSpPr/>
          <p:nvPr/>
        </p:nvSpPr>
        <p:spPr>
          <a:xfrm>
            <a:off x="6583680" y="1417320"/>
            <a:ext cx="2011680" cy="2011680"/>
          </a:xfrm>
          <a:prstGeom prst="pie">
            <a:avLst>
              <a:gd name="adj1" fmla="val 0"/>
              <a:gd name="adj2" fmla="val 6400000"/>
            </a:avLst>
          </a:prstGeom>
          <a:solidFill>
            <a:srgbClr val="84B5A0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ie 22"/>
          <p:cNvSpPr/>
          <p:nvPr/>
        </p:nvSpPr>
        <p:spPr>
          <a:xfrm>
            <a:off x="6583680" y="1417320"/>
            <a:ext cx="2011680" cy="2011680"/>
          </a:xfrm>
          <a:prstGeom prst="pie">
            <a:avLst>
              <a:gd name="adj1" fmla="val 6400000"/>
              <a:gd name="adj2" fmla="val 21500000"/>
            </a:avLst>
          </a:prstGeom>
          <a:solidFill>
            <a:srgbClr val="88B5CD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ie 23"/>
          <p:cNvSpPr/>
          <p:nvPr/>
        </p:nvSpPr>
        <p:spPr>
          <a:xfrm>
            <a:off x="6583680" y="1417320"/>
            <a:ext cx="2011680" cy="2011680"/>
          </a:xfrm>
          <a:prstGeom prst="pie">
            <a:avLst>
              <a:gd name="adj1" fmla="val 21500000"/>
              <a:gd name="adj2" fmla="val 27900000"/>
            </a:avLst>
          </a:prstGeom>
          <a:solidFill>
            <a:srgbClr val="B4ABD2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ie 24"/>
          <p:cNvSpPr/>
          <p:nvPr/>
        </p:nvSpPr>
        <p:spPr>
          <a:xfrm>
            <a:off x="6583680" y="1417320"/>
            <a:ext cx="2011680" cy="2011680"/>
          </a:xfrm>
          <a:prstGeom prst="pie">
            <a:avLst>
              <a:gd name="adj1" fmla="val 27900000"/>
              <a:gd name="adj2" fmla="val 34000000"/>
            </a:avLst>
          </a:prstGeom>
          <a:solidFill>
            <a:srgbClr val="EEE5D1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Pie 25"/>
          <p:cNvSpPr/>
          <p:nvPr/>
        </p:nvSpPr>
        <p:spPr>
          <a:xfrm>
            <a:off x="6583680" y="1417320"/>
            <a:ext cx="2011680" cy="2011680"/>
          </a:xfrm>
          <a:prstGeom prst="pie">
            <a:avLst>
              <a:gd name="adj1" fmla="val 34000000"/>
              <a:gd name="adj2" fmla="val 35800000"/>
            </a:avLst>
          </a:prstGeom>
          <a:solidFill>
            <a:srgbClr val="BED4CB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227417" y="2061057"/>
            <a:ext cx="724204" cy="724204"/>
          </a:xfrm>
          <a:prstGeom prst="roundRect">
            <a:avLst/>
          </a:prstGeom>
          <a:solidFill>
            <a:srgbClr val="FAF8F1"/>
          </a:solidFill>
          <a:ln w="10160"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915400" y="1581912"/>
            <a:ext cx="146304" cy="146304"/>
          </a:xfrm>
          <a:prstGeom prst="rect">
            <a:avLst/>
          </a:prstGeom>
          <a:solidFill>
            <a:srgbClr val="84B5A0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1554480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数据销售 18%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1929384"/>
            <a:ext cx="146304" cy="146304"/>
          </a:xfrm>
          <a:prstGeom prst="rect">
            <a:avLst/>
          </a:prstGeom>
          <a:solidFill>
            <a:srgbClr val="88B5CD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25712" y="1901952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项目交付 42%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15400" y="2276856"/>
            <a:ext cx="146304" cy="146304"/>
          </a:xfrm>
          <a:prstGeom prst="rect">
            <a:avLst/>
          </a:prstGeom>
          <a:solidFill>
            <a:srgbClr val="B4ABD2"/>
          </a:solidFill>
          <a:ln w="10160"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25712" y="2249424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平台授权 18%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2624328"/>
            <a:ext cx="146304" cy="146304"/>
          </a:xfrm>
          <a:prstGeom prst="rect">
            <a:avLst/>
          </a:prstGeom>
          <a:solidFill>
            <a:srgbClr val="EEE5D1"/>
          </a:solidFill>
          <a:ln w="10160">
            <a:solidFill>
              <a:srgbClr val="EE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2596896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专业服务 17%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15400" y="2971800"/>
            <a:ext cx="146304" cy="146304"/>
          </a:xfrm>
          <a:prstGeom prst="rect">
            <a:avLst/>
          </a:prstGeom>
          <a:solidFill>
            <a:srgbClr val="BED4CB"/>
          </a:solidFill>
          <a:ln w="10160">
            <a:solidFill>
              <a:srgbClr val="BE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25712" y="2944368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订阅接口 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703320"/>
            <a:ext cx="402336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>
                <a:solidFill>
                  <a:srgbClr val="626F75"/>
                </a:solidFill>
                <a:latin typeface="Microsoft YaHei"/>
              </a:rPr>
              <a:t>示意：传统收入仍以项目和服务为主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623560"/>
            <a:ext cx="1014984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487967"/>
                </a:solidFill>
                <a:latin typeface="Microsoft YaHei"/>
              </a:rPr>
              <a:t>行业不是没有需求，而是需求越多，传统交付方式越重。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真正的瓶颈不是数据少，而是每个任务都重做一遍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1584959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1572768"/>
            <a:ext cx="14752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找数据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71928" y="158191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99943" y="1417320"/>
            <a:ext cx="1584959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4807" y="1572768"/>
            <a:ext cx="14752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预处理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3191" y="158191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1208" y="1417320"/>
            <a:ext cx="1584959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071" y="1572768"/>
            <a:ext cx="14752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标注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455" y="158191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62472" y="1417320"/>
            <a:ext cx="1584959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1572768"/>
            <a:ext cx="14752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5720" y="158191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93735" y="1417320"/>
            <a:ext cx="1584959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8599" y="1572768"/>
            <a:ext cx="14752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核查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6983" y="158191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4999" y="1417320"/>
            <a:ext cx="1584959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9863" y="1572768"/>
            <a:ext cx="14752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交付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4572000"/>
            <a:ext cx="3840480" cy="0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645919" y="4547859"/>
            <a:ext cx="548640" cy="24140"/>
          </a:xfrm>
          <a:prstGeom prst="rect">
            <a:avLst/>
          </a:prstGeom>
          <a:solidFill>
            <a:srgbClr val="84B5A0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4319259"/>
            <a:ext cx="87782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7" y="4663440"/>
            <a:ext cx="10607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标注效率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4511649"/>
            <a:ext cx="548640" cy="60350"/>
          </a:xfrm>
          <a:prstGeom prst="rect">
            <a:avLst/>
          </a:prstGeom>
          <a:solidFill>
            <a:srgbClr val="88B5CD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78608" y="4283049"/>
            <a:ext cx="87782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87168" y="4663440"/>
            <a:ext cx="10607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年省成本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79" y="3063240"/>
            <a:ext cx="548640" cy="1508760"/>
          </a:xfrm>
          <a:prstGeom prst="rect">
            <a:avLst/>
          </a:prstGeom>
          <a:solidFill>
            <a:srgbClr val="B4ABD2"/>
          </a:solidFill>
          <a:ln w="10160"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75887" y="2834640"/>
            <a:ext cx="87782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5000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7" y="4663440"/>
            <a:ext cx="1060704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三年效益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80" y="2834640"/>
            <a:ext cx="2514600" cy="84124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944368"/>
            <a:ext cx="2240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84B5A0"/>
                </a:solidFill>
                <a:latin typeface="Microsoft YaHei"/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328416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AI 辅助标注效率提升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32520" y="2834640"/>
            <a:ext cx="2514600" cy="84124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944368"/>
            <a:ext cx="224028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88B5CD"/>
                </a:solidFill>
                <a:latin typeface="Microsoft YaHei"/>
              </a:rPr>
              <a:t>200 万元+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3328416"/>
            <a:ext cx="22402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年均节省人力成本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029200"/>
            <a:ext cx="1014984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223035"/>
                </a:solidFill>
                <a:latin typeface="Microsoft YaHei"/>
              </a:rPr>
              <a:t>该案例证明标注环节有明确降本空间；玄女要把这种效率提升从单点工具扩展到多任务复用。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真实痛点 1：遥感项目公司不是缺项目，而是项目越多越像人力外包</a:t>
            </a:r>
          </a:p>
        </p:txBody>
      </p:sp>
      <p:pic>
        <p:nvPicPr>
          <p:cNvPr id="4" name="Picture 3" descr="remote_sensing_team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234440"/>
            <a:ext cx="5120640" cy="3611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99632" y="1417320"/>
            <a:ext cx="4617720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9632" y="1417320"/>
            <a:ext cx="64008" cy="877824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63624"/>
            <a:ext cx="42702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今天怎么做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270248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施工、农用地、违建、裸地等项目各开一条流程。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2560320"/>
            <a:ext cx="4617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2560320"/>
            <a:ext cx="64008" cy="969264"/>
          </a:xfrm>
          <a:prstGeom prst="rect">
            <a:avLst/>
          </a:prstGeom>
          <a:solidFill>
            <a:srgbClr val="B4A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706624"/>
            <a:ext cx="42702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真正痛点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39"/>
            <a:ext cx="427024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多项目并行、人手不够；标注和质检成本高；跨区域迁移不稳定。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94760"/>
            <a:ext cx="4617720" cy="96926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3794760"/>
            <a:ext cx="64008" cy="969264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941064"/>
            <a:ext cx="42702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玄女价值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427024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区域地理嵌入底座 + 少样本适配 + 变化候选和图斑预筛。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10515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487967"/>
                </a:solidFill>
                <a:latin typeface="Microsoft YaHei"/>
              </a:rPr>
              <a:t>玄女卖的不是一张图，而是把项目制遥感交付的重复劳动压缩成可复用的模型资产。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真实痛点 2：政府不是缺卫星图，而是缺能进入流程的变化证据链</a:t>
            </a:r>
          </a:p>
        </p:txBody>
      </p:sp>
      <p:pic>
        <p:nvPicPr>
          <p:cNvPr id="4" name="Picture 3" descr="government_change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88720"/>
            <a:ext cx="5166360" cy="3703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600200"/>
            <a:ext cx="89794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755648"/>
            <a:ext cx="7882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疑似图斑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9188" y="176479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67204" y="1600200"/>
            <a:ext cx="89794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2068" y="1755648"/>
            <a:ext cx="7882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外业核查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3433" y="176479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11449" y="1600200"/>
            <a:ext cx="89794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66313" y="1755648"/>
            <a:ext cx="7882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举证判定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7678" y="176479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55694" y="1600200"/>
            <a:ext cx="89794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10558" y="1755648"/>
            <a:ext cx="7882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整改复核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1923" y="176479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99939" y="1600200"/>
            <a:ext cx="89794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4803" y="1755648"/>
            <a:ext cx="7882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归档闭环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2880360"/>
            <a:ext cx="489204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2880360"/>
            <a:ext cx="64008" cy="896112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3026664"/>
            <a:ext cx="4544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痛点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3383280"/>
            <a:ext cx="4544568" cy="2926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图斑多、专项任务交叉、时间集中、遥感结果不能直接执法。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069080"/>
            <a:ext cx="4892040" cy="8961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4069080"/>
            <a:ext cx="64008" cy="896112"/>
          </a:xfrm>
          <a:prstGeom prst="rect">
            <a:avLst/>
          </a:prstGeom>
          <a:solidFill>
            <a:srgbClr val="B4A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4215384"/>
            <a:ext cx="4544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玄女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" y="4572000"/>
            <a:ext cx="4544568" cy="29260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图斑优先级、变化类型理解、历史过程证据链、冲突点提示。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真实痛点 3：普通地块用户不想学遥感，只想知道自己的地有没有异常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3291840" cy="84124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39" y="1527048"/>
            <a:ext cx="30175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84B5A0"/>
                </a:solidFill>
                <a:latin typeface="Microsoft YaHei"/>
              </a:rPr>
              <a:t>27%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1911095"/>
            <a:ext cx="30175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2023 年美国农场/牧场使用精准农业实践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743200"/>
            <a:ext cx="3291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2743200"/>
            <a:ext cx="64008" cy="1051560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889504"/>
            <a:ext cx="29443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今天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46120"/>
            <a:ext cx="2944368" cy="4480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人工巡查、拍照反馈、一次性报告；不会处理专业遥感图层。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743200"/>
            <a:ext cx="3291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2743200"/>
            <a:ext cx="64008" cy="1051560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889504"/>
            <a:ext cx="29443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玄女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3246120"/>
            <a:ext cx="2944368" cy="4480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圈定地块，监测硬化、堆土、棚房、道路、积水、作物异常。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2743200"/>
            <a:ext cx="32918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2743200"/>
            <a:ext cx="64008" cy="1051560"/>
          </a:xfrm>
          <a:prstGeom prst="rect">
            <a:avLst/>
          </a:prstGeom>
          <a:solidFill>
            <a:srgbClr val="B4A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2889504"/>
            <a:ext cx="29443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246120"/>
            <a:ext cx="2944368" cy="44805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不是近期主收入，但说明地理嵌入能让遥感能力普惠化。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4846320"/>
            <a:ext cx="2016252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83664" y="5001768"/>
            <a:ext cx="190652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圈地块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3339" y="501091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91356" y="4846320"/>
            <a:ext cx="2016252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6220" y="5001768"/>
            <a:ext cx="190652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自动监测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5896" y="501091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3912" y="4846320"/>
            <a:ext cx="2016252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8776" y="5001768"/>
            <a:ext cx="190652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异常提醒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8452" y="501091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6468" y="4846320"/>
            <a:ext cx="2016252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1332" y="5001768"/>
            <a:ext cx="1906524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证据包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真实痛点 4：高校和科研团队有想法，但数据工程吃掉研究周期</a:t>
            </a:r>
          </a:p>
        </p:txBody>
      </p:sp>
      <p:pic>
        <p:nvPicPr>
          <p:cNvPr id="4" name="Picture 3" descr="university_research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170432"/>
            <a:ext cx="516636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63640" y="1371600"/>
            <a:ext cx="4572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3640" y="1371600"/>
            <a:ext cx="64008" cy="1005840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64807" y="1517904"/>
            <a:ext cx="42245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今天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64807" y="1874519"/>
            <a:ext cx="422452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下载、配准、裁切、标注、转换格式、跑环境；样本制作本身就是大工程。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670048"/>
            <a:ext cx="4572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670048"/>
            <a:ext cx="64008" cy="1005840"/>
          </a:xfrm>
          <a:prstGeom prst="rect">
            <a:avLst/>
          </a:prstGeom>
          <a:solidFill>
            <a:srgbClr val="B4A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816352"/>
            <a:ext cx="42245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3172968"/>
            <a:ext cx="422452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数据准备比算法研究更耗时；小团队缺算力；跨区域复现难。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3968496"/>
            <a:ext cx="4572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3968496"/>
            <a:ext cx="64008" cy="1005840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7" y="4114800"/>
            <a:ext cx="42245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玄女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4471416"/>
            <a:ext cx="422452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现成地理嵌入、预标注、变化候选、难例检索、少样本微调。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从四类用户出发，我们的核心问题是什么？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417320"/>
            <a:ext cx="9875520" cy="3200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989320" y="1417320"/>
            <a:ext cx="0" cy="3200400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51560" y="3017520"/>
            <a:ext cx="9875520" cy="0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25880" y="1938528"/>
            <a:ext cx="4206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88B5CD"/>
                </a:solidFill>
                <a:latin typeface="Microsoft YaHei"/>
              </a:rPr>
              <a:t>B 端遥感公司
项目越多，越依赖人力交付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938528"/>
            <a:ext cx="4206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84B5A0"/>
                </a:solidFill>
                <a:latin typeface="Microsoft YaHei"/>
              </a:rPr>
              <a:t>政府部门
图斑越多，越需要证据链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493008"/>
            <a:ext cx="4206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B4ABD2"/>
                </a:solidFill>
                <a:latin typeface="Microsoft YaHei"/>
              </a:rPr>
              <a:t>地块用户
有地理问题，但不会用遥感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3493008"/>
            <a:ext cx="420624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487967"/>
                </a:solidFill>
                <a:latin typeface="Microsoft YaHei"/>
              </a:rPr>
              <a:t>科研团队
想法很多，但数据工程太重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57800"/>
            <a:ext cx="10149840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200" b="1">
                <a:solidFill>
                  <a:srgbClr val="223035"/>
                </a:solidFill>
                <a:latin typeface="Microsoft YaHei"/>
              </a:rPr>
              <a:t>如何把爆发式增长的地球观测数据转化为可复用的地理智能底座？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玄女的答案：先生成地理嵌入，再服务下游任务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98448"/>
            <a:ext cx="194035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23544" y="1453895"/>
            <a:ext cx="183062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多源观测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7324" y="1463039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5340" y="1298448"/>
            <a:ext cx="194035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0204" y="1453895"/>
            <a:ext cx="183062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地理嵌入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3985" y="1463039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42001" y="1298448"/>
            <a:ext cx="194035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96865" y="1453895"/>
            <a:ext cx="183062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任务组件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646" y="1463039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28662" y="1298448"/>
            <a:ext cx="194035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83526" y="1453895"/>
            <a:ext cx="183062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变化候选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87307" y="1463039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5323" y="1298448"/>
            <a:ext cx="194035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0187" y="1453895"/>
            <a:ext cx="183062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业务交付</a:t>
            </a:r>
          </a:p>
        </p:txBody>
      </p:sp>
      <p:sp>
        <p:nvSpPr>
          <p:cNvPr id="18" name="Oval 17"/>
          <p:cNvSpPr/>
          <p:nvPr/>
        </p:nvSpPr>
        <p:spPr>
          <a:xfrm>
            <a:off x="5212080" y="3246120"/>
            <a:ext cx="1417320" cy="1417320"/>
          </a:xfrm>
          <a:prstGeom prst="ellipse">
            <a:avLst/>
          </a:prstGeom>
          <a:solidFill>
            <a:srgbClr val="84B5A0"/>
          </a:solidFill>
          <a:ln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699662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地理嵌入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4039819"/>
            <a:ext cx="12710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统一表征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2331720" y="3246120"/>
            <a:ext cx="3593592" cy="713232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1828800" y="2743200"/>
            <a:ext cx="1005840" cy="1005840"/>
          </a:xfrm>
          <a:prstGeom prst="ellipse">
            <a:avLst/>
          </a:prstGeom>
          <a:solidFill>
            <a:srgbClr val="88B5CD"/>
          </a:solidFill>
          <a:ln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0" y="3065068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3306470"/>
            <a:ext cx="859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施工工地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749039" y="3959352"/>
            <a:ext cx="2176273" cy="978407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246120" y="4434840"/>
            <a:ext cx="1005840" cy="1005840"/>
          </a:xfrm>
          <a:prstGeom prst="ellipse">
            <a:avLst/>
          </a:prstGeom>
          <a:solidFill>
            <a:srgbClr val="B4ABD2"/>
          </a:solidFill>
          <a:ln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4756708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4998110"/>
            <a:ext cx="859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建筑变化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25312" y="3959352"/>
            <a:ext cx="1755648" cy="978407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178040" y="4434840"/>
            <a:ext cx="1005840" cy="1005840"/>
          </a:xfrm>
          <a:prstGeom prst="ellipse">
            <a:avLst/>
          </a:prstGeom>
          <a:solidFill>
            <a:srgbClr val="84B5A0"/>
          </a:solidFill>
          <a:ln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4756708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4998110"/>
            <a:ext cx="859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农用地变化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5925312" y="3246120"/>
            <a:ext cx="3172968" cy="713232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595360" y="2743200"/>
            <a:ext cx="1005840" cy="1005840"/>
          </a:xfrm>
          <a:prstGeom prst="ellipse">
            <a:avLst/>
          </a:prstGeom>
          <a:solidFill>
            <a:srgbClr val="88B5CD"/>
          </a:solidFill>
          <a:ln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3065068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68512" y="3306470"/>
            <a:ext cx="859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灾害线索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5760720" y="3959352"/>
            <a:ext cx="164592" cy="1527048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257800" y="4983480"/>
            <a:ext cx="1005840" cy="1005840"/>
          </a:xfrm>
          <a:prstGeom prst="ellipse">
            <a:avLst/>
          </a:prstGeom>
          <a:solidFill>
            <a:srgbClr val="EEE5D1"/>
          </a:solidFill>
          <a:ln>
            <a:solidFill>
              <a:srgbClr val="EE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5305348"/>
            <a:ext cx="100584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0952" y="5546750"/>
            <a:ext cx="85953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缺失补齐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97880"/>
            <a:ext cx="10241280" cy="23774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487967"/>
                </a:solidFill>
                <a:latin typeface="Microsoft YaHei"/>
              </a:rPr>
              <a:t>先把地球变成机器能复用的表示，再让所有任务调用这个表示。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地理嵌入是遥感行业的 token 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554480"/>
            <a:ext cx="42062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554480"/>
            <a:ext cx="64008" cy="1143000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98448" y="1700784"/>
            <a:ext cx="3858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文本智能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8448" y="2057400"/>
            <a:ext cx="3858768" cy="5394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文本 → token → 理解 / 检索 /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554480"/>
            <a:ext cx="42062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37960" y="1554480"/>
            <a:ext cx="64008" cy="1143000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39128" y="1700784"/>
            <a:ext cx="38587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地球智能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2057400"/>
            <a:ext cx="3858768" cy="5394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地球观测 → 地理嵌入 → 变化检测 / 分类 / 预测 / 问答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20440"/>
            <a:ext cx="101498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>
                <a:solidFill>
                  <a:srgbClr val="223035"/>
                </a:solidFill>
                <a:latin typeface="Microsoft YaHei"/>
              </a:rPr>
              <a:t>GPT 先把文本转成 token，才能进行理解、检索、生成；玄女先把地球观测转成地理嵌入，才能进行变化检测、分类、预测和问答。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102412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1">
                <a:solidFill>
                  <a:srgbClr val="487967"/>
                </a:solidFill>
                <a:latin typeface="Microsoft YaHei"/>
              </a:rPr>
              <a:t>商业航天解决“看见地球”，地理嵌入解决“理解地球”。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一次嵌入，多任务复用，改变遥感交付的成本曲线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05840" y="4754880"/>
            <a:ext cx="4800600" cy="0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05840" y="1417320"/>
            <a:ext cx="0" cy="3337560"/>
          </a:xfrm>
          <a:prstGeom prst="line">
            <a:avLst/>
          </a:prstGeom>
          <a:ln w="1270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280160" y="3520440"/>
            <a:ext cx="1453896" cy="822960"/>
          </a:xfrm>
          <a:prstGeom prst="line">
            <a:avLst/>
          </a:prstGeom>
          <a:ln w="30480">
            <a:solidFill>
              <a:srgbClr val="88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2734056" y="2697480"/>
            <a:ext cx="1536192" cy="822960"/>
          </a:xfrm>
          <a:prstGeom prst="line">
            <a:avLst/>
          </a:prstGeom>
          <a:ln w="30480">
            <a:solidFill>
              <a:srgbClr val="88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270248" y="1737360"/>
            <a:ext cx="1307592" cy="960120"/>
          </a:xfrm>
          <a:prstGeom prst="line">
            <a:avLst/>
          </a:prstGeom>
          <a:ln w="30480">
            <a:solidFill>
              <a:srgbClr val="88B5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79" y="1481328"/>
            <a:ext cx="2331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88B5CD"/>
                </a:solidFill>
                <a:latin typeface="Microsoft YaHei"/>
              </a:rPr>
              <a:t>传统：任务越多成本线性上升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280160" y="3840480"/>
            <a:ext cx="1453896" cy="274320"/>
          </a:xfrm>
          <a:prstGeom prst="line">
            <a:avLst/>
          </a:prstGeom>
          <a:ln w="30480">
            <a:solidFill>
              <a:srgbClr val="84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34056" y="3611880"/>
            <a:ext cx="1536192" cy="228600"/>
          </a:xfrm>
          <a:prstGeom prst="line">
            <a:avLst/>
          </a:prstGeom>
          <a:ln w="30480">
            <a:solidFill>
              <a:srgbClr val="84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270248" y="3429000"/>
            <a:ext cx="1307592" cy="182880"/>
          </a:xfrm>
          <a:prstGeom prst="line">
            <a:avLst/>
          </a:prstGeom>
          <a:ln w="30480">
            <a:solidFill>
              <a:srgbClr val="84B5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4679" y="3172968"/>
            <a:ext cx="233172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84B5A0"/>
                </a:solidFill>
                <a:latin typeface="Microsoft YaHei"/>
              </a:rPr>
              <a:t>玄女：底座复用后边际成本下降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882896"/>
            <a:ext cx="4572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任务数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271016"/>
            <a:ext cx="548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总成本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1536192"/>
            <a:ext cx="4480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1536192"/>
            <a:ext cx="64008" cy="914400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1682495"/>
            <a:ext cx="413308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传统模式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039112"/>
            <a:ext cx="4133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总成本 ≈ 任务数 ×（数据处理 + 标注 + 建模 + 推理 + 核查 + 报告）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697480"/>
            <a:ext cx="448056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46520" y="2697480"/>
            <a:ext cx="64008" cy="914400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2843784"/>
            <a:ext cx="413308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玄女模式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200400"/>
            <a:ext cx="413308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总成本 ≈ 区域底座成本 + 任务数 ×（少量样本 + 轻量适配 + 核查报告）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4069080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时间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4096512"/>
            <a:ext cx="2468880" cy="128016"/>
          </a:xfrm>
          <a:prstGeom prst="rect">
            <a:avLst/>
          </a:prstGeom>
          <a:solidFill>
            <a:srgbClr val="EEF2F0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096512"/>
            <a:ext cx="1851660" cy="128016"/>
          </a:xfrm>
          <a:prstGeom prst="rect">
            <a:avLst/>
          </a:prstGeom>
          <a:solidFill>
            <a:srgbClr val="84B5A0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9820" y="4050792"/>
            <a:ext cx="7315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>
                <a:solidFill>
                  <a:srgbClr val="223035"/>
                </a:solidFill>
                <a:latin typeface="Microsoft YaHei"/>
              </a:rPr>
              <a:t>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453128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存储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0" y="4480560"/>
            <a:ext cx="2468880" cy="128016"/>
          </a:xfrm>
          <a:prstGeom prst="rect">
            <a:avLst/>
          </a:prstGeom>
          <a:solidFill>
            <a:srgbClr val="EEF2F0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0" y="4480560"/>
            <a:ext cx="1481328" cy="128016"/>
          </a:xfrm>
          <a:prstGeom prst="rect">
            <a:avLst/>
          </a:prstGeom>
          <a:solidFill>
            <a:srgbClr val="88B5CD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19488" y="4434840"/>
            <a:ext cx="7315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>
                <a:solidFill>
                  <a:srgbClr val="223035"/>
                </a:solidFill>
                <a:latin typeface="Microsoft YaHei"/>
              </a:rPr>
              <a:t>60%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837176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算力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4864608"/>
            <a:ext cx="2468880" cy="128016"/>
          </a:xfrm>
          <a:prstGeom prst="rect">
            <a:avLst/>
          </a:prstGeom>
          <a:solidFill>
            <a:srgbClr val="EEF2F0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46720" y="4864608"/>
            <a:ext cx="1357884" cy="128016"/>
          </a:xfrm>
          <a:prstGeom prst="rect">
            <a:avLst/>
          </a:prstGeom>
          <a:solidFill>
            <a:srgbClr val="B4ABD2"/>
          </a:solidFill>
          <a:ln w="10160"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6044" y="4818888"/>
            <a:ext cx="7315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>
                <a:solidFill>
                  <a:srgbClr val="223035"/>
                </a:solidFill>
                <a:latin typeface="Microsoft YaHei"/>
              </a:rPr>
              <a:t>55%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221224"/>
            <a:ext cx="14173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人力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5248656"/>
            <a:ext cx="2468880" cy="128016"/>
          </a:xfrm>
          <a:prstGeom prst="rect">
            <a:avLst/>
          </a:prstGeom>
          <a:solidFill>
            <a:srgbClr val="EEF2F0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5248656"/>
            <a:ext cx="1728216" cy="128016"/>
          </a:xfrm>
          <a:prstGeom prst="rect">
            <a:avLst/>
          </a:prstGeom>
          <a:solidFill>
            <a:srgbClr val="84B5A0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66376" y="5202936"/>
            <a:ext cx="73152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1">
                <a:solidFill>
                  <a:srgbClr val="223035"/>
                </a:solidFill>
                <a:latin typeface="Microsoft YaHei"/>
              </a:rPr>
              <a:t>70%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1024128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900" b="1">
                <a:solidFill>
                  <a:srgbClr val="487967"/>
                </a:solidFill>
                <a:latin typeface="Microsoft YaHei"/>
              </a:rPr>
              <a:t>第一个任务验证价值，第二个任务开始复用；任务越多，底座越值钱。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产品形态：不是一个模型，而是城市地理智能底座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417320"/>
            <a:ext cx="5486400" cy="74980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527048"/>
            <a:ext cx="51572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23035"/>
                </a:solidFill>
                <a:latin typeface="Microsoft YaHei"/>
              </a:rPr>
              <a:t>业务交付层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7592" y="1764792"/>
            <a:ext cx="515721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图斑 / 证据链 / 报告 / 接口 / 驾驶舱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99032" y="2377440"/>
            <a:ext cx="4974336" cy="74980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63624" y="2487168"/>
            <a:ext cx="4645151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23035"/>
                </a:solidFill>
                <a:latin typeface="Microsoft YaHei"/>
              </a:rPr>
              <a:t>任务组件库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3624" y="2724912"/>
            <a:ext cx="4645151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施工 / 建筑 / 农用地 / 灾害 / 生态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55064" y="3337560"/>
            <a:ext cx="4462272" cy="74980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19656" y="3447288"/>
            <a:ext cx="4133087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23035"/>
                </a:solidFill>
                <a:latin typeface="Microsoft YaHei"/>
              </a:rPr>
              <a:t>地理嵌入底座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9656" y="3685032"/>
            <a:ext cx="4133087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按区域、按月份持续生成可复用表征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508760"/>
            <a:ext cx="4069080" cy="448056"/>
          </a:xfrm>
          <a:prstGeom prst="rect">
            <a:avLst/>
          </a:prstGeom>
          <a:solidFill>
            <a:srgbClr val="F2F9F5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600200"/>
            <a:ext cx="1371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23035"/>
                </a:solidFill>
                <a:latin typeface="Microsoft YaHei"/>
              </a:rPr>
              <a:t>客户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3104" y="1600200"/>
            <a:ext cx="2514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23035"/>
                </a:solidFill>
                <a:latin typeface="Microsoft YaHei"/>
              </a:rPr>
              <a:t>产品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984248"/>
            <a:ext cx="4069080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0064" y="2075688"/>
            <a:ext cx="1371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政府 / 新区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3104" y="2075688"/>
            <a:ext cx="2514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年度变化监测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0" y="2459736"/>
            <a:ext cx="4069080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0064" y="2551176"/>
            <a:ext cx="1371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遥感公司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3104" y="2551176"/>
            <a:ext cx="2514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任务库授权 / 接口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935224"/>
            <a:ext cx="4069080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70064" y="3026664"/>
            <a:ext cx="1371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学校科研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3104" y="3026664"/>
            <a:ext cx="2514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嵌入数据集 / 开发生态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3410712"/>
            <a:ext cx="4069080" cy="448056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0064" y="3502152"/>
            <a:ext cx="1371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地块用户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33104" y="3502152"/>
            <a:ext cx="2514600" cy="32918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异常提醒 / 证据报告</a:t>
            </a:r>
          </a:p>
        </p:txBody>
      </p:sp>
      <p:pic>
        <p:nvPicPr>
          <p:cNvPr id="28" name="Picture 27" descr="image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4160520"/>
            <a:ext cx="3566160" cy="141732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样板 1：哈尔滨新区，用于验证“一区多任务复用”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26F75"/>
                </a:solidFill>
                <a:latin typeface="Microsoft YaHei"/>
              </a:rPr>
              <a:t>S2 影像</a:t>
            </a:r>
          </a:p>
        </p:txBody>
      </p:sp>
      <p:pic>
        <p:nvPicPr>
          <p:cNvPr id="5" name="Picture 4" descr="harbin_s2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572768"/>
            <a:ext cx="160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0" y="13258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26F75"/>
                </a:solidFill>
                <a:latin typeface="Microsoft YaHei"/>
              </a:rPr>
              <a:t>高分光学</a:t>
            </a:r>
          </a:p>
        </p:txBody>
      </p:sp>
      <p:pic>
        <p:nvPicPr>
          <p:cNvPr id="7" name="Picture 6" descr="harbin_highres_opti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572768"/>
            <a:ext cx="1600200" cy="1600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17720" y="13258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26F75"/>
                </a:solidFill>
                <a:latin typeface="Microsoft YaHei"/>
              </a:rPr>
              <a:t>地理嵌入</a:t>
            </a:r>
          </a:p>
        </p:txBody>
      </p:sp>
      <p:pic>
        <p:nvPicPr>
          <p:cNvPr id="9" name="Picture 8" descr="harbin_embedding_p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572768"/>
            <a:ext cx="1600200" cy="1600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1325880"/>
            <a:ext cx="155448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26F75"/>
                </a:solidFill>
                <a:latin typeface="Microsoft YaHei"/>
              </a:rPr>
              <a:t>预测概率</a:t>
            </a:r>
          </a:p>
        </p:txBody>
      </p:sp>
      <p:pic>
        <p:nvPicPr>
          <p:cNvPr id="11" name="Picture 10" descr="harbin_predic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572768"/>
            <a:ext cx="1600200" cy="16002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549640" y="1417320"/>
            <a:ext cx="2606040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49640" y="1417320"/>
            <a:ext cx="64008" cy="1572768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8" y="1563624"/>
            <a:ext cx="22585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验证什么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1920240"/>
            <a:ext cx="2258568" cy="96926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一个区域生成月度地理嵌入；同一套表征支撑施工、建筑、农用地、垃圾/裸地等任务。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251960"/>
            <a:ext cx="185806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4407408"/>
            <a:ext cx="17483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区域底座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2188" y="441655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0204" y="4251960"/>
            <a:ext cx="185806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5068" y="4407408"/>
            <a:ext cx="17483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施工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6553" y="441655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14569" y="4251960"/>
            <a:ext cx="185806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9433" y="4407408"/>
            <a:ext cx="17483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建筑变化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0918" y="441655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18934" y="4251960"/>
            <a:ext cx="185806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3798" y="4407408"/>
            <a:ext cx="17483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农用地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5283" y="441655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23299" y="4251960"/>
            <a:ext cx="1858060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78163" y="4407408"/>
            <a:ext cx="174833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异常变化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样板 2：海淀区，用于验证复杂城市纹理和高分模态融合</a:t>
            </a:r>
          </a:p>
        </p:txBody>
      </p:sp>
      <p:pic>
        <p:nvPicPr>
          <p:cNvPr id="4" name="Picture 3" descr="harbin_highres_op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2834640" cy="2834640"/>
          </a:xfrm>
          <a:prstGeom prst="rect">
            <a:avLst/>
          </a:prstGeom>
        </p:spPr>
      </p:pic>
      <p:pic>
        <p:nvPicPr>
          <p:cNvPr id="5" name="Picture 4" descr="harbin_s1_s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417320"/>
            <a:ext cx="283464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06640" y="1481328"/>
            <a:ext cx="37033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06640" y="1481328"/>
            <a:ext cx="64008" cy="1234440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8" y="1627632"/>
            <a:ext cx="33558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验证任务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1984248"/>
            <a:ext cx="3355848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高密度城市空间、小目标、复杂边界；高分光学 / 高分 SAR 与低分时序融合。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3063240"/>
            <a:ext cx="37033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3063240"/>
            <a:ext cx="64008" cy="1234440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7808" y="3209544"/>
            <a:ext cx="335584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输出证据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3566160"/>
            <a:ext cx="3355848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高分影像、标注样本、模型输出与人工标注对比、模态增强前后差异。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21808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0">
                <a:solidFill>
                  <a:srgbClr val="626F75"/>
                </a:solidFill>
                <a:latin typeface="Microsoft YaHei"/>
              </a:rPr>
              <a:t>海淀页当前用已有高分样例占位；后续可替换为真实海淀最佳 patch。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样板 3：雅江，用于验证极端地形、灾害场景和缺失模态补齐</a:t>
            </a:r>
          </a:p>
        </p:txBody>
      </p:sp>
      <p:pic>
        <p:nvPicPr>
          <p:cNvPr id="4" name="Picture 3" descr="harbin_lands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2788920" cy="2788920"/>
          </a:xfrm>
          <a:prstGeom prst="rect">
            <a:avLst/>
          </a:prstGeom>
        </p:spPr>
      </p:pic>
      <p:pic>
        <p:nvPicPr>
          <p:cNvPr id="5" name="Picture 4" descr="harbin_s1_s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417320"/>
            <a:ext cx="2788920" cy="2788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417320"/>
            <a:ext cx="3886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417320"/>
            <a:ext cx="64008" cy="1097280"/>
          </a:xfrm>
          <a:prstGeom prst="rect">
            <a:avLst/>
          </a:prstGeom>
          <a:solidFill>
            <a:srgbClr val="B4AB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16368" y="1563624"/>
            <a:ext cx="35387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复杂性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6368" y="1920240"/>
            <a:ext cx="3538728" cy="4937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山地峡谷、河谷、灾害风险、施工扰动；光学云雾遮挡和模态缺失。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788920"/>
            <a:ext cx="3886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2788920"/>
            <a:ext cx="64008" cy="1097280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2935224"/>
            <a:ext cx="35387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验证任务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3291839"/>
            <a:ext cx="3538728" cy="4937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滑坡、崩塌、堰塞湖、施工扰动候选；光学缺失时用 SAR / 时序补齐。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160520"/>
            <a:ext cx="38862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4160520"/>
            <a:ext cx="64008" cy="1097280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4306824"/>
            <a:ext cx="353872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需要补充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4663440"/>
            <a:ext cx="3538728" cy="4937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真实雅江数据目录、云遮挡样例、缺失模态补齐结果、人工核查命中率。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能力展示：嵌入、补齐、时序、多任务迁移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691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26F75"/>
                </a:solidFill>
                <a:latin typeface="Microsoft YaHei"/>
              </a:rPr>
              <a:t>原始影像</a:t>
            </a:r>
          </a:p>
        </p:txBody>
      </p:sp>
      <p:pic>
        <p:nvPicPr>
          <p:cNvPr id="5" name="Picture 4" descr="harbin_highres_opt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169164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80360" y="1325880"/>
            <a:ext cx="1691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26F75"/>
                </a:solidFill>
                <a:latin typeface="Microsoft YaHei"/>
              </a:rPr>
              <a:t>地理嵌入</a:t>
            </a:r>
          </a:p>
        </p:txBody>
      </p:sp>
      <p:pic>
        <p:nvPicPr>
          <p:cNvPr id="7" name="Picture 6" descr="harbin_embedding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600200"/>
            <a:ext cx="1691640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37760" y="1325880"/>
            <a:ext cx="1691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26F75"/>
                </a:solidFill>
                <a:latin typeface="Microsoft YaHei"/>
              </a:rPr>
              <a:t>预测概率</a:t>
            </a:r>
          </a:p>
        </p:txBody>
      </p:sp>
      <p:pic>
        <p:nvPicPr>
          <p:cNvPr id="9" name="Picture 8" descr="harbin_pred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600200"/>
            <a:ext cx="169164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160" y="1325880"/>
            <a:ext cx="16916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>
                <a:solidFill>
                  <a:srgbClr val="626F75"/>
                </a:solidFill>
                <a:latin typeface="Microsoft YaHei"/>
              </a:rPr>
              <a:t>土地覆盖</a:t>
            </a:r>
          </a:p>
        </p:txBody>
      </p:sp>
      <p:pic>
        <p:nvPicPr>
          <p:cNvPr id="11" name="Picture 10" descr="harbin_worldcov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600200"/>
            <a:ext cx="1691640" cy="16916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14400" y="4160520"/>
            <a:ext cx="493776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160520"/>
            <a:ext cx="64008" cy="1005840"/>
          </a:xfrm>
          <a:prstGeom prst="rect">
            <a:avLst/>
          </a:prstGeom>
          <a:solidFill>
            <a:srgbClr val="84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306824"/>
            <a:ext cx="459028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四类能力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663440"/>
            <a:ext cx="459028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地理嵌入｜缺失模态补齐｜多源时序理解｜下游迁移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4160520"/>
            <a:ext cx="4663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4160520"/>
            <a:ext cx="64008" cy="1005840"/>
          </a:xfrm>
          <a:prstGeom prst="rect">
            <a:avLst/>
          </a:prstGeom>
          <a:solidFill>
            <a:srgbClr val="88B5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4306824"/>
            <a:ext cx="4315968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1">
                <a:solidFill>
                  <a:srgbClr val="223035"/>
                </a:solidFill>
                <a:latin typeface="Microsoft YaHei"/>
              </a:rPr>
              <a:t>核心判断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6248" y="4663440"/>
            <a:ext cx="43159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玄女的核心不是某个任务准确率，而是一个表征可以服务多少任务。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为什么我们能做：多源时空地理嵌入模型架构</a:t>
            </a:r>
          </a:p>
        </p:txBody>
      </p:sp>
      <p:pic>
        <p:nvPicPr>
          <p:cNvPr id="4" name="Picture 3" descr="image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61872"/>
            <a:ext cx="1874519" cy="1051560"/>
          </a:xfrm>
          <a:prstGeom prst="rect">
            <a:avLst/>
          </a:prstGeom>
        </p:spPr>
      </p:pic>
      <p:pic>
        <p:nvPicPr>
          <p:cNvPr id="5" name="Picture 4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14600"/>
            <a:ext cx="1874519" cy="960120"/>
          </a:xfrm>
          <a:prstGeom prst="rect">
            <a:avLst/>
          </a:prstGeom>
        </p:spPr>
      </p:pic>
      <p:pic>
        <p:nvPicPr>
          <p:cNvPr id="6" name="Picture 5" descr="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57600"/>
            <a:ext cx="1874519" cy="960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063240" y="1737360"/>
            <a:ext cx="143743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8104" y="1892807"/>
            <a:ext cx="132770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多源输入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8964" y="190195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6980" y="1737360"/>
            <a:ext cx="143743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1844" y="1892807"/>
            <a:ext cx="132770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时空对齐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2705" y="190195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0721" y="1737360"/>
            <a:ext cx="143743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5585" y="1892807"/>
            <a:ext cx="132770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编码器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6446" y="190195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4462" y="1737360"/>
            <a:ext cx="143743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9326" y="1892807"/>
            <a:ext cx="132770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地理嵌入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0187" y="1901952"/>
            <a:ext cx="914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98203" y="1737360"/>
            <a:ext cx="1437436" cy="530352"/>
          </a:xfrm>
          <a:prstGeom prst="roundRect">
            <a:avLst/>
          </a:prstGeom>
          <a:solidFill>
            <a:srgbClr val="F6FAF8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53067" y="1892807"/>
            <a:ext cx="132770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800" b="1">
                <a:solidFill>
                  <a:srgbClr val="223035"/>
                </a:solidFill>
                <a:latin typeface="Microsoft YaHei"/>
              </a:rPr>
              <a:t>任务头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3063240"/>
            <a:ext cx="7223760" cy="74980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2152" y="3172968"/>
            <a:ext cx="689457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23035"/>
                </a:solidFill>
                <a:latin typeface="Microsoft YaHei"/>
              </a:rPr>
              <a:t>输入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2152" y="3410712"/>
            <a:ext cx="6894576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S2 / S1 / Landsat / 高分 / SAR / DEM / 气象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93591" y="4023360"/>
            <a:ext cx="6711696" cy="74980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58183" y="4133088"/>
            <a:ext cx="63825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23035"/>
                </a:solidFill>
                <a:latin typeface="Microsoft YaHei"/>
              </a:rPr>
              <a:t>表征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8183" y="4370832"/>
            <a:ext cx="6382512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跨时间、跨传感器的稳定地物表示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9624" y="4983480"/>
            <a:ext cx="6199632" cy="74980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14215" y="5093208"/>
            <a:ext cx="5870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00" b="1">
                <a:solidFill>
                  <a:srgbClr val="223035"/>
                </a:solidFill>
                <a:latin typeface="Microsoft YaHei"/>
              </a:rPr>
              <a:t>输出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14215" y="5330952"/>
            <a:ext cx="5870448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补齐 / 检测 / 分类 / 分割 / 问答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10241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487967"/>
                </a:solidFill>
                <a:latin typeface="Microsoft YaHei"/>
              </a:rPr>
              <a:t>我们不是把多源影像简单拼接，而是让模型学习同一地点在不同时间、不同传感器下的稳定表征。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商业模式：先用标杆项目拿信任，再用底座和任务库拿复用收入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600200"/>
            <a:ext cx="1417320" cy="1417320"/>
          </a:xfrm>
          <a:prstGeom prst="ellipse">
            <a:avLst/>
          </a:prstGeom>
          <a:solidFill>
            <a:srgbClr val="84B5A0"/>
          </a:solidFill>
          <a:ln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53742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压舱石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393899"/>
            <a:ext cx="12710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政府合同</a:t>
            </a:r>
          </a:p>
        </p:txBody>
      </p:sp>
      <p:sp>
        <p:nvSpPr>
          <p:cNvPr id="7" name="Oval 6"/>
          <p:cNvSpPr/>
          <p:nvPr/>
        </p:nvSpPr>
        <p:spPr>
          <a:xfrm>
            <a:off x="3703320" y="1600200"/>
            <a:ext cx="1417320" cy="1417320"/>
          </a:xfrm>
          <a:prstGeom prst="ellipse">
            <a:avLst/>
          </a:prstGeom>
          <a:solidFill>
            <a:srgbClr val="88B5CD"/>
          </a:solidFill>
          <a:ln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053742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现金流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6472" y="2393899"/>
            <a:ext cx="12710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B 端授权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1600200"/>
            <a:ext cx="1417320" cy="1417320"/>
          </a:xfrm>
          <a:prstGeom prst="ellipse">
            <a:avLst/>
          </a:prstGeom>
          <a:solidFill>
            <a:srgbClr val="B4ABD2"/>
          </a:solidFill>
          <a:ln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053742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放大器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393899"/>
            <a:ext cx="12710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接口生态</a:t>
            </a:r>
          </a:p>
        </p:txBody>
      </p:sp>
      <p:sp>
        <p:nvSpPr>
          <p:cNvPr id="13" name="Oval 12"/>
          <p:cNvSpPr/>
          <p:nvPr/>
        </p:nvSpPr>
        <p:spPr>
          <a:xfrm>
            <a:off x="8915400" y="1600200"/>
            <a:ext cx="1417320" cy="1417320"/>
          </a:xfrm>
          <a:prstGeom prst="ellipse">
            <a:avLst/>
          </a:prstGeom>
          <a:solidFill>
            <a:srgbClr val="EEE5D1"/>
          </a:solidFill>
          <a:ln>
            <a:solidFill>
              <a:srgbClr val="EE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053742"/>
            <a:ext cx="141732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223035"/>
                </a:solidFill>
                <a:latin typeface="Microsoft YaHei"/>
              </a:rPr>
              <a:t>护城河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2393899"/>
            <a:ext cx="1271016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0">
                <a:solidFill>
                  <a:srgbClr val="626F75"/>
                </a:solidFill>
                <a:latin typeface="Microsoft YaHei"/>
              </a:rPr>
              <a:t>数据反馈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14600" y="2304288"/>
            <a:ext cx="1188720" cy="0"/>
          </a:xfrm>
          <a:prstGeom prst="line">
            <a:avLst/>
          </a:prstGeom>
          <a:ln w="1905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2304288"/>
            <a:ext cx="1188720" cy="0"/>
          </a:xfrm>
          <a:prstGeom prst="line">
            <a:avLst/>
          </a:prstGeom>
          <a:ln w="1905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26679" y="2304288"/>
            <a:ext cx="1188721" cy="0"/>
          </a:xfrm>
          <a:prstGeom prst="line">
            <a:avLst/>
          </a:prstGeom>
          <a:ln w="19050">
            <a:solidFill>
              <a:srgbClr val="DAE2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057400" y="3977639"/>
            <a:ext cx="8046720" cy="429768"/>
          </a:xfrm>
          <a:prstGeom prst="rect">
            <a:avLst/>
          </a:prstGeom>
          <a:solidFill>
            <a:srgbClr val="F2F9F5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12264" y="4069079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3035"/>
                </a:solidFill>
                <a:latin typeface="Microsoft YaHei"/>
              </a:rPr>
              <a:t>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41063" y="4069079"/>
            <a:ext cx="612648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223035"/>
                </a:solidFill>
                <a:latin typeface="Microsoft YaHei"/>
              </a:rPr>
              <a:t>收入方式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4434840"/>
            <a:ext cx="80467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12264" y="4526279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近期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41063" y="4526279"/>
            <a:ext cx="612648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标杆项目 / 年度监测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57400" y="4892040"/>
            <a:ext cx="80467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12264" y="4983479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中期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1063" y="4983479"/>
            <a:ext cx="612648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城市底座订阅 / 任务库授权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57400" y="5349240"/>
            <a:ext cx="804672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12264" y="5440679"/>
            <a:ext cx="17373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>
                <a:solidFill>
                  <a:srgbClr val="626F75"/>
                </a:solidFill>
                <a:latin typeface="Microsoft YaHei"/>
              </a:rPr>
              <a:t>长期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41063" y="5440679"/>
            <a:ext cx="612648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>
                <a:solidFill>
                  <a:srgbClr val="626F75"/>
                </a:solidFill>
                <a:latin typeface="Microsoft YaHei"/>
              </a:rPr>
              <a:t>接口调用 / 数据分成 / 应用市场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102412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487967"/>
                </a:solidFill>
                <a:latin typeface="Microsoft YaHei"/>
              </a:rPr>
              <a:t>政府合同是压舱石，B 端授权是现金流，接口和生态是放大器。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1148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487967"/>
                </a:solidFill>
                <a:latin typeface="Microsoft YaHe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310896"/>
            <a:ext cx="9875520" cy="493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300" b="1">
                <a:solidFill>
                  <a:srgbClr val="223035"/>
                </a:solidFill>
                <a:latin typeface="Microsoft YaHei"/>
              </a:rPr>
              <a:t>融资 5000 万：把技术样板推成商业样板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261872"/>
            <a:ext cx="2468880" cy="84124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39" y="1371600"/>
            <a:ext cx="21945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84B5A0"/>
                </a:solidFill>
                <a:latin typeface="Microsoft YaHei"/>
              </a:rPr>
              <a:t>5000 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39" y="1755648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融资金额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261872"/>
            <a:ext cx="2468880" cy="84124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1371600"/>
            <a:ext cx="21945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88B5CD"/>
                </a:solidFill>
                <a:latin typeface="Microsoft YaHei"/>
              </a:rPr>
              <a:t>18 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755648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样板和商业化周期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261872"/>
            <a:ext cx="2468880" cy="841248"/>
          </a:xfrm>
          <a:prstGeom prst="roundRect">
            <a:avLst/>
          </a:prstGeom>
          <a:solidFill>
            <a:srgbClr val="FDFDFA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71600"/>
            <a:ext cx="219456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B4ABD2"/>
                </a:solidFill>
                <a:latin typeface="Microsoft YaHei"/>
              </a:rPr>
              <a:t>5-8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55648"/>
            <a:ext cx="219456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可复用下游任务</a:t>
            </a:r>
          </a:p>
        </p:txBody>
      </p:sp>
      <p:sp>
        <p:nvSpPr>
          <p:cNvPr id="13" name="Pie 12"/>
          <p:cNvSpPr/>
          <p:nvPr/>
        </p:nvSpPr>
        <p:spPr>
          <a:xfrm>
            <a:off x="9189720" y="1143000"/>
            <a:ext cx="1417320" cy="1417320"/>
          </a:xfrm>
          <a:prstGeom prst="pie">
            <a:avLst>
              <a:gd name="adj1" fmla="val 0"/>
              <a:gd name="adj2" fmla="val 12600000"/>
            </a:avLst>
          </a:prstGeom>
          <a:solidFill>
            <a:srgbClr val="84B5A0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ie 13"/>
          <p:cNvSpPr/>
          <p:nvPr/>
        </p:nvSpPr>
        <p:spPr>
          <a:xfrm>
            <a:off x="9189720" y="1143000"/>
            <a:ext cx="1417320" cy="1417320"/>
          </a:xfrm>
          <a:prstGeom prst="pie">
            <a:avLst>
              <a:gd name="adj1" fmla="val 12600000"/>
              <a:gd name="adj2" fmla="val 19800000"/>
            </a:avLst>
          </a:prstGeom>
          <a:solidFill>
            <a:srgbClr val="88B5CD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e 14"/>
          <p:cNvSpPr/>
          <p:nvPr/>
        </p:nvSpPr>
        <p:spPr>
          <a:xfrm>
            <a:off x="9189720" y="1143000"/>
            <a:ext cx="1417320" cy="1417320"/>
          </a:xfrm>
          <a:prstGeom prst="pie">
            <a:avLst>
              <a:gd name="adj1" fmla="val 19800000"/>
              <a:gd name="adj2" fmla="val 27000000"/>
            </a:avLst>
          </a:prstGeom>
          <a:solidFill>
            <a:srgbClr val="B4ABD2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e 15"/>
          <p:cNvSpPr/>
          <p:nvPr/>
        </p:nvSpPr>
        <p:spPr>
          <a:xfrm>
            <a:off x="9189720" y="1143000"/>
            <a:ext cx="1417320" cy="1417320"/>
          </a:xfrm>
          <a:prstGeom prst="pie">
            <a:avLst>
              <a:gd name="adj1" fmla="val 27000000"/>
              <a:gd name="adj2" fmla="val 32400000"/>
            </a:avLst>
          </a:prstGeom>
          <a:solidFill>
            <a:srgbClr val="EEE5D1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ie 16"/>
          <p:cNvSpPr/>
          <p:nvPr/>
        </p:nvSpPr>
        <p:spPr>
          <a:xfrm>
            <a:off x="9189720" y="1143000"/>
            <a:ext cx="1417320" cy="1417320"/>
          </a:xfrm>
          <a:prstGeom prst="pie">
            <a:avLst>
              <a:gd name="adj1" fmla="val 32400000"/>
              <a:gd name="adj2" fmla="val 36000000"/>
            </a:avLst>
          </a:prstGeom>
          <a:solidFill>
            <a:srgbClr val="BED4CB"/>
          </a:solidFill>
          <a:ln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43262" y="1596542"/>
            <a:ext cx="510235" cy="510235"/>
          </a:xfrm>
          <a:prstGeom prst="roundRect">
            <a:avLst/>
          </a:prstGeom>
          <a:solidFill>
            <a:srgbClr val="FAF8F1"/>
          </a:solidFill>
          <a:ln w="10160">
            <a:solidFill>
              <a:srgbClr val="FA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27080" y="1307592"/>
            <a:ext cx="146304" cy="146304"/>
          </a:xfrm>
          <a:prstGeom prst="rect">
            <a:avLst/>
          </a:prstGeom>
          <a:solidFill>
            <a:srgbClr val="84B5A0"/>
          </a:solidFill>
          <a:ln w="10160">
            <a:solidFill>
              <a:srgbClr val="84B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37392" y="1280160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模型数据 35%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27080" y="1655064"/>
            <a:ext cx="146304" cy="146304"/>
          </a:xfrm>
          <a:prstGeom prst="rect">
            <a:avLst/>
          </a:prstGeom>
          <a:solidFill>
            <a:srgbClr val="88B5CD"/>
          </a:solidFill>
          <a:ln w="10160">
            <a:solidFill>
              <a:srgbClr val="88B5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37392" y="1627632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国产算力 20%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27080" y="2002536"/>
            <a:ext cx="146304" cy="146304"/>
          </a:xfrm>
          <a:prstGeom prst="rect">
            <a:avLst/>
          </a:prstGeom>
          <a:solidFill>
            <a:srgbClr val="B4ABD2"/>
          </a:solidFill>
          <a:ln w="10160">
            <a:solidFill>
              <a:srgbClr val="B4A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37392" y="1975104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任务库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27080" y="2350008"/>
            <a:ext cx="146304" cy="146304"/>
          </a:xfrm>
          <a:prstGeom prst="rect">
            <a:avLst/>
          </a:prstGeom>
          <a:solidFill>
            <a:srgbClr val="EEE5D1"/>
          </a:solidFill>
          <a:ln w="10160">
            <a:solidFill>
              <a:srgbClr val="EEE5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37392" y="2322576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样板交付 15%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27080" y="2697480"/>
            <a:ext cx="146304" cy="146304"/>
          </a:xfrm>
          <a:prstGeom prst="rect">
            <a:avLst/>
          </a:prstGeom>
          <a:solidFill>
            <a:srgbClr val="BED4CB"/>
          </a:solidFill>
          <a:ln w="10160">
            <a:solidFill>
              <a:srgbClr val="BE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37392" y="2670048"/>
            <a:ext cx="192024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商务团队 10%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2971800"/>
            <a:ext cx="8412480" cy="429768"/>
          </a:xfrm>
          <a:prstGeom prst="rect">
            <a:avLst/>
          </a:prstGeom>
          <a:solidFill>
            <a:srgbClr val="F2F9F5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3063240"/>
            <a:ext cx="2651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23035"/>
                </a:solidFill>
                <a:latin typeface="Microsoft YaHei"/>
              </a:rPr>
              <a:t>里程碑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12463" y="3063240"/>
            <a:ext cx="5577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223035"/>
                </a:solidFill>
                <a:latin typeface="Microsoft YaHei"/>
              </a:rPr>
              <a:t>目标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3429000"/>
            <a:ext cx="841248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" y="3520440"/>
            <a:ext cx="2651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城市级样板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2463" y="3520440"/>
            <a:ext cx="5577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哈尔滨新区多任务连续监测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" y="3886200"/>
            <a:ext cx="841248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" y="3977639"/>
            <a:ext cx="2651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补充场景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12463" y="3977639"/>
            <a:ext cx="5577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海淀复杂城市 / 雅江复杂地形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343400"/>
            <a:ext cx="841248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" y="4434840"/>
            <a:ext cx="2651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商业结果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12463" y="4434840"/>
            <a:ext cx="5577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1-2 个年度服务或 B 端授权意向 / 订单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4800600"/>
            <a:ext cx="8412480" cy="429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9264" y="4892040"/>
            <a:ext cx="26517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1">
                <a:solidFill>
                  <a:srgbClr val="626F75"/>
                </a:solidFill>
                <a:latin typeface="Microsoft YaHei"/>
              </a:rPr>
              <a:t>交付能力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3" y="4892040"/>
            <a:ext cx="557784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26F75"/>
                </a:solidFill>
                <a:latin typeface="Microsoft YaHei"/>
              </a:rPr>
              <a:t>接口、任务库、报告流程可演示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700" b="1">
                <a:solidFill>
                  <a:srgbClr val="487967"/>
                </a:solidFill>
                <a:latin typeface="Microsoft YaHei"/>
              </a:rPr>
              <a:t>这轮融资不是为了做一组模型指标，而是为了证明地理嵌入底座可以规模化交付。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28816"/>
            <a:ext cx="566928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700" b="0">
                <a:solidFill>
                  <a:srgbClr val="626F75"/>
                </a:solidFill>
                <a:latin typeface="Microsoft YaHei"/>
              </a:rPr>
              <a:t>玄女科技商业计划书 v0.4｜22 页内容稿美化版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510528"/>
            <a:ext cx="4572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26F75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