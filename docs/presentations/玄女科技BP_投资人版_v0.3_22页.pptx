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pic>
        <p:nvPicPr>
          <p:cNvPr id="2" name="Picture 1" descr="geo_embedding_cover_pastel.png"/>
          <p:cNvPicPr>
            <a:picLocks noChangeAspect="1"/>
          </p:cNvPicPr>
          <p:nvPr/>
        </p:nvPicPr>
        <p:blipFill>
          <a:blip r:embed="rId2"/>
          <a:stretch>
            <a:fillRect/>
          </a:stretch>
        </p:blipFill>
        <p:spPr>
          <a:xfrm>
            <a:off x="4709160" y="0"/>
            <a:ext cx="7498079" cy="6858000"/>
          </a:xfrm>
          <a:prstGeom prst="rect">
            <a:avLst/>
          </a:prstGeom>
        </p:spPr>
      </p:pic>
      <p:sp>
        <p:nvSpPr>
          <p:cNvPr id="3" name="TextBox 2"/>
          <p:cNvSpPr txBox="1"/>
          <p:nvPr/>
        </p:nvSpPr>
        <p:spPr>
          <a:xfrm>
            <a:off x="749808" y="1115568"/>
            <a:ext cx="4389120" cy="438912"/>
          </a:xfrm>
          <a:prstGeom prst="rect">
            <a:avLst/>
          </a:prstGeom>
          <a:noFill/>
        </p:spPr>
        <p:txBody>
          <a:bodyPr wrap="square">
            <a:normAutofit/>
          </a:bodyPr>
          <a:lstStyle/>
          <a:p>
            <a:pPr algn="l"/>
            <a:r>
              <a:rPr sz="2400" b="1">
                <a:solidFill>
                  <a:srgbClr val="223035"/>
                </a:solidFill>
                <a:latin typeface="Microsoft YaHei"/>
              </a:rPr>
              <a:t>玄女科技</a:t>
            </a:r>
          </a:p>
        </p:txBody>
      </p:sp>
      <p:sp>
        <p:nvSpPr>
          <p:cNvPr id="4" name="TextBox 3"/>
          <p:cNvSpPr txBox="1"/>
          <p:nvPr/>
        </p:nvSpPr>
        <p:spPr>
          <a:xfrm>
            <a:off x="749808" y="1719072"/>
            <a:ext cx="5303520" cy="658368"/>
          </a:xfrm>
          <a:prstGeom prst="rect">
            <a:avLst/>
          </a:prstGeom>
          <a:noFill/>
        </p:spPr>
        <p:txBody>
          <a:bodyPr wrap="square">
            <a:normAutofit/>
          </a:bodyPr>
          <a:lstStyle/>
          <a:p>
            <a:pPr algn="l"/>
            <a:r>
              <a:rPr sz="2700" b="1">
                <a:solidFill>
                  <a:srgbClr val="487967"/>
                </a:solidFill>
                <a:latin typeface="Microsoft YaHei"/>
              </a:rPr>
              <a:t>用地理嵌入赋能遥感智能应用</a:t>
            </a:r>
          </a:p>
        </p:txBody>
      </p:sp>
      <p:sp>
        <p:nvSpPr>
          <p:cNvPr id="5" name="TextBox 4"/>
          <p:cNvSpPr txBox="1"/>
          <p:nvPr/>
        </p:nvSpPr>
        <p:spPr>
          <a:xfrm>
            <a:off x="786384" y="2761488"/>
            <a:ext cx="4663440" cy="685800"/>
          </a:xfrm>
          <a:prstGeom prst="rect">
            <a:avLst/>
          </a:prstGeom>
          <a:noFill/>
        </p:spPr>
        <p:txBody>
          <a:bodyPr wrap="square">
            <a:normAutofit/>
          </a:bodyPr>
          <a:lstStyle/>
          <a:p>
            <a:pPr algn="l"/>
            <a:r>
              <a:rPr sz="1500" b="0">
                <a:solidFill>
                  <a:srgbClr val="626F75"/>
                </a:solidFill>
                <a:latin typeface="Microsoft YaHei"/>
              </a:rPr>
              <a:t>一次生成地球表征，多任务复用。
让中国拥有自己的地理智能底座。</a:t>
            </a:r>
          </a:p>
        </p:txBody>
      </p:sp>
      <p:sp>
        <p:nvSpPr>
          <p:cNvPr id="6" name="TextBox 5"/>
          <p:cNvSpPr txBox="1"/>
          <p:nvPr/>
        </p:nvSpPr>
        <p:spPr>
          <a:xfrm>
            <a:off x="786384" y="5897880"/>
            <a:ext cx="4389120" cy="228600"/>
          </a:xfrm>
          <a:prstGeom prst="rect">
            <a:avLst/>
          </a:prstGeom>
          <a:noFill/>
        </p:spPr>
        <p:txBody>
          <a:bodyPr wrap="square">
            <a:normAutofit/>
          </a:bodyPr>
          <a:lstStyle/>
          <a:p>
            <a:pPr algn="l"/>
            <a:r>
              <a:rPr sz="1000" b="0">
                <a:solidFill>
                  <a:srgbClr val="626F75"/>
                </a:solidFill>
                <a:latin typeface="Microsoft YaHei"/>
              </a:rPr>
              <a:t>商业计划书｜融资需求 5000 万元</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TextBox 1"/>
          <p:cNvSpPr txBox="1"/>
          <p:nvPr/>
        </p:nvSpPr>
        <p:spPr>
          <a:xfrm>
            <a:off x="658368" y="384048"/>
            <a:ext cx="411480" cy="201168"/>
          </a:xfrm>
          <a:prstGeom prst="rect">
            <a:avLst/>
          </a:prstGeom>
          <a:noFill/>
        </p:spPr>
        <p:txBody>
          <a:bodyPr wrap="square">
            <a:normAutofit/>
          </a:bodyPr>
          <a:lstStyle/>
          <a:p>
            <a:pPr algn="l"/>
            <a:r>
              <a:rPr sz="800" b="1">
                <a:solidFill>
                  <a:srgbClr val="487967"/>
                </a:solidFill>
                <a:latin typeface="Microsoft YaHei"/>
              </a:rPr>
              <a:t>02</a:t>
            </a:r>
          </a:p>
        </p:txBody>
      </p:sp>
      <p:sp>
        <p:nvSpPr>
          <p:cNvPr id="3" name="TextBox 2"/>
          <p:cNvSpPr txBox="1"/>
          <p:nvPr/>
        </p:nvSpPr>
        <p:spPr>
          <a:xfrm>
            <a:off x="1078992" y="310896"/>
            <a:ext cx="9875520" cy="493776"/>
          </a:xfrm>
          <a:prstGeom prst="rect">
            <a:avLst/>
          </a:prstGeom>
          <a:noFill/>
        </p:spPr>
        <p:txBody>
          <a:bodyPr wrap="square">
            <a:normAutofit/>
          </a:bodyPr>
          <a:lstStyle/>
          <a:p>
            <a:pPr algn="l"/>
            <a:r>
              <a:rPr sz="2300" b="1">
                <a:solidFill>
                  <a:srgbClr val="223035"/>
                </a:solidFill>
                <a:latin typeface="Microsoft YaHei"/>
              </a:rPr>
              <a:t>美国已经证明：地理智能可以长成大公司</a:t>
            </a:r>
          </a:p>
        </p:txBody>
      </p:sp>
      <p:sp>
        <p:nvSpPr>
          <p:cNvPr id="4" name="TextBox 3"/>
          <p:cNvSpPr txBox="1"/>
          <p:nvPr/>
        </p:nvSpPr>
        <p:spPr>
          <a:xfrm>
            <a:off x="1097280" y="868680"/>
            <a:ext cx="9784080" cy="256032"/>
          </a:xfrm>
          <a:prstGeom prst="rect">
            <a:avLst/>
          </a:prstGeom>
          <a:noFill/>
        </p:spPr>
        <p:txBody>
          <a:bodyPr wrap="square">
            <a:normAutofit/>
          </a:bodyPr>
          <a:lstStyle/>
          <a:p>
            <a:pPr algn="l"/>
            <a:r>
              <a:rPr sz="1000" b="0">
                <a:solidFill>
                  <a:srgbClr val="626F75"/>
                </a:solidFill>
                <a:latin typeface="Microsoft YaHei"/>
              </a:rPr>
              <a:t>不同标杆证明不同环节：数据、监测、平台、地理嵌入趋势。</a:t>
            </a:r>
          </a:p>
        </p:txBody>
      </p:sp>
      <p:sp>
        <p:nvSpPr>
          <p:cNvPr id="5" name="Rectangle 4"/>
          <p:cNvSpPr/>
          <p:nvPr/>
        </p:nvSpPr>
        <p:spPr>
          <a:xfrm>
            <a:off x="658368" y="1417320"/>
            <a:ext cx="10058400" cy="493775"/>
          </a:xfrm>
          <a:prstGeom prst="rect">
            <a:avLst/>
          </a:prstGeom>
          <a:solidFill>
            <a:srgbClr val="F2F9F5"/>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508760"/>
            <a:ext cx="1051560" cy="374903"/>
          </a:xfrm>
          <a:prstGeom prst="rect">
            <a:avLst/>
          </a:prstGeom>
          <a:noFill/>
        </p:spPr>
        <p:txBody>
          <a:bodyPr wrap="square">
            <a:normAutofit/>
          </a:bodyPr>
          <a:lstStyle/>
          <a:p>
            <a:pPr algn="l"/>
            <a:r>
              <a:rPr sz="700" b="1">
                <a:solidFill>
                  <a:srgbClr val="223035"/>
                </a:solidFill>
                <a:latin typeface="Microsoft YaHei"/>
              </a:rPr>
              <a:t>公司</a:t>
            </a:r>
          </a:p>
        </p:txBody>
      </p:sp>
      <p:sp>
        <p:nvSpPr>
          <p:cNvPr id="7" name="TextBox 6"/>
          <p:cNvSpPr txBox="1"/>
          <p:nvPr/>
        </p:nvSpPr>
        <p:spPr>
          <a:xfrm>
            <a:off x="1856231" y="1508760"/>
            <a:ext cx="1965960" cy="374903"/>
          </a:xfrm>
          <a:prstGeom prst="rect">
            <a:avLst/>
          </a:prstGeom>
          <a:noFill/>
        </p:spPr>
        <p:txBody>
          <a:bodyPr wrap="square">
            <a:normAutofit/>
          </a:bodyPr>
          <a:lstStyle/>
          <a:p>
            <a:pPr algn="l"/>
            <a:r>
              <a:rPr sz="700" b="1">
                <a:solidFill>
                  <a:srgbClr val="223035"/>
                </a:solidFill>
                <a:latin typeface="Microsoft YaHei"/>
              </a:rPr>
              <a:t>主营业务</a:t>
            </a:r>
          </a:p>
        </p:txBody>
      </p:sp>
      <p:sp>
        <p:nvSpPr>
          <p:cNvPr id="8" name="TextBox 7"/>
          <p:cNvSpPr txBox="1"/>
          <p:nvPr/>
        </p:nvSpPr>
        <p:spPr>
          <a:xfrm>
            <a:off x="3913631" y="1508760"/>
            <a:ext cx="2468879" cy="374903"/>
          </a:xfrm>
          <a:prstGeom prst="rect">
            <a:avLst/>
          </a:prstGeom>
          <a:noFill/>
        </p:spPr>
        <p:txBody>
          <a:bodyPr wrap="square">
            <a:normAutofit/>
          </a:bodyPr>
          <a:lstStyle/>
          <a:p>
            <a:pPr algn="l"/>
            <a:r>
              <a:rPr sz="700" b="1">
                <a:solidFill>
                  <a:srgbClr val="223035"/>
                </a:solidFill>
                <a:latin typeface="Microsoft YaHei"/>
              </a:rPr>
              <a:t>公开数据</a:t>
            </a:r>
          </a:p>
        </p:txBody>
      </p:sp>
      <p:sp>
        <p:nvSpPr>
          <p:cNvPr id="9" name="TextBox 8"/>
          <p:cNvSpPr txBox="1"/>
          <p:nvPr/>
        </p:nvSpPr>
        <p:spPr>
          <a:xfrm>
            <a:off x="6473951" y="1508760"/>
            <a:ext cx="4206240" cy="374903"/>
          </a:xfrm>
          <a:prstGeom prst="rect">
            <a:avLst/>
          </a:prstGeom>
          <a:noFill/>
        </p:spPr>
        <p:txBody>
          <a:bodyPr wrap="square">
            <a:normAutofit/>
          </a:bodyPr>
          <a:lstStyle/>
          <a:p>
            <a:pPr algn="l"/>
            <a:r>
              <a:rPr sz="700" b="1">
                <a:solidFill>
                  <a:srgbClr val="223035"/>
                </a:solidFill>
                <a:latin typeface="Microsoft YaHei"/>
              </a:rPr>
              <a:t>启发</a:t>
            </a:r>
          </a:p>
        </p:txBody>
      </p:sp>
      <p:sp>
        <p:nvSpPr>
          <p:cNvPr id="10" name="Rectangle 9"/>
          <p:cNvSpPr/>
          <p:nvPr/>
        </p:nvSpPr>
        <p:spPr>
          <a:xfrm>
            <a:off x="658368" y="1938528"/>
            <a:ext cx="10058400" cy="493775"/>
          </a:xfrm>
          <a:prstGeom prst="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029968"/>
            <a:ext cx="1051560" cy="374903"/>
          </a:xfrm>
          <a:prstGeom prst="rect">
            <a:avLst/>
          </a:prstGeom>
          <a:noFill/>
        </p:spPr>
        <p:txBody>
          <a:bodyPr wrap="square">
            <a:normAutofit/>
          </a:bodyPr>
          <a:lstStyle/>
          <a:p>
            <a:pPr algn="l"/>
            <a:r>
              <a:rPr sz="700" b="1">
                <a:solidFill>
                  <a:srgbClr val="626F75"/>
                </a:solidFill>
                <a:latin typeface="Microsoft YaHei"/>
              </a:rPr>
              <a:t>Maxar</a:t>
            </a:r>
          </a:p>
        </p:txBody>
      </p:sp>
      <p:sp>
        <p:nvSpPr>
          <p:cNvPr id="12" name="TextBox 11"/>
          <p:cNvSpPr txBox="1"/>
          <p:nvPr/>
        </p:nvSpPr>
        <p:spPr>
          <a:xfrm>
            <a:off x="1856231" y="2029968"/>
            <a:ext cx="1965960" cy="374903"/>
          </a:xfrm>
          <a:prstGeom prst="rect">
            <a:avLst/>
          </a:prstGeom>
          <a:noFill/>
        </p:spPr>
        <p:txBody>
          <a:bodyPr wrap="square">
            <a:normAutofit/>
          </a:bodyPr>
          <a:lstStyle/>
          <a:p>
            <a:pPr algn="l"/>
            <a:r>
              <a:rPr sz="700" b="0">
                <a:solidFill>
                  <a:srgbClr val="626F75"/>
                </a:solidFill>
                <a:latin typeface="Microsoft YaHei"/>
              </a:rPr>
              <a:t>高分影像 / 地理智能</a:t>
            </a:r>
          </a:p>
        </p:txBody>
      </p:sp>
      <p:sp>
        <p:nvSpPr>
          <p:cNvPr id="13" name="TextBox 12"/>
          <p:cNvSpPr txBox="1"/>
          <p:nvPr/>
        </p:nvSpPr>
        <p:spPr>
          <a:xfrm>
            <a:off x="3913631" y="2029968"/>
            <a:ext cx="2468879" cy="374903"/>
          </a:xfrm>
          <a:prstGeom prst="rect">
            <a:avLst/>
          </a:prstGeom>
          <a:noFill/>
        </p:spPr>
        <p:txBody>
          <a:bodyPr wrap="square">
            <a:normAutofit/>
          </a:bodyPr>
          <a:lstStyle/>
          <a:p>
            <a:pPr algn="l"/>
            <a:r>
              <a:rPr sz="700" b="0">
                <a:solidFill>
                  <a:srgbClr val="626F75"/>
                </a:solidFill>
                <a:latin typeface="Microsoft YaHei"/>
              </a:rPr>
              <a:t>约 64 亿美元收购</a:t>
            </a:r>
          </a:p>
        </p:txBody>
      </p:sp>
      <p:sp>
        <p:nvSpPr>
          <p:cNvPr id="14" name="TextBox 13"/>
          <p:cNvSpPr txBox="1"/>
          <p:nvPr/>
        </p:nvSpPr>
        <p:spPr>
          <a:xfrm>
            <a:off x="6473951" y="2029968"/>
            <a:ext cx="4206240" cy="374903"/>
          </a:xfrm>
          <a:prstGeom prst="rect">
            <a:avLst/>
          </a:prstGeom>
          <a:noFill/>
        </p:spPr>
        <p:txBody>
          <a:bodyPr wrap="square">
            <a:normAutofit/>
          </a:bodyPr>
          <a:lstStyle/>
          <a:p>
            <a:pPr algn="l"/>
            <a:r>
              <a:rPr sz="700" b="0">
                <a:solidFill>
                  <a:srgbClr val="626F75"/>
                </a:solidFill>
                <a:latin typeface="Microsoft YaHei"/>
              </a:rPr>
              <a:t>国家级数据基础设施</a:t>
            </a:r>
          </a:p>
        </p:txBody>
      </p:sp>
      <p:sp>
        <p:nvSpPr>
          <p:cNvPr id="15" name="Rectangle 14"/>
          <p:cNvSpPr/>
          <p:nvPr/>
        </p:nvSpPr>
        <p:spPr>
          <a:xfrm>
            <a:off x="658368" y="2459736"/>
            <a:ext cx="10058400" cy="493775"/>
          </a:xfrm>
          <a:prstGeom prst="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551176"/>
            <a:ext cx="1051560" cy="374903"/>
          </a:xfrm>
          <a:prstGeom prst="rect">
            <a:avLst/>
          </a:prstGeom>
          <a:noFill/>
        </p:spPr>
        <p:txBody>
          <a:bodyPr wrap="square">
            <a:normAutofit/>
          </a:bodyPr>
          <a:lstStyle/>
          <a:p>
            <a:pPr algn="l"/>
            <a:r>
              <a:rPr sz="700" b="1">
                <a:solidFill>
                  <a:srgbClr val="626F75"/>
                </a:solidFill>
                <a:latin typeface="Microsoft YaHei"/>
              </a:rPr>
              <a:t>Planet</a:t>
            </a:r>
          </a:p>
        </p:txBody>
      </p:sp>
      <p:sp>
        <p:nvSpPr>
          <p:cNvPr id="17" name="TextBox 16"/>
          <p:cNvSpPr txBox="1"/>
          <p:nvPr/>
        </p:nvSpPr>
        <p:spPr>
          <a:xfrm>
            <a:off x="1856231" y="2551176"/>
            <a:ext cx="1965960" cy="374903"/>
          </a:xfrm>
          <a:prstGeom prst="rect">
            <a:avLst/>
          </a:prstGeom>
          <a:noFill/>
        </p:spPr>
        <p:txBody>
          <a:bodyPr wrap="square">
            <a:normAutofit/>
          </a:bodyPr>
          <a:lstStyle/>
          <a:p>
            <a:pPr algn="l"/>
            <a:r>
              <a:rPr sz="700" b="0">
                <a:solidFill>
                  <a:srgbClr val="626F75"/>
                </a:solidFill>
                <a:latin typeface="Microsoft YaHei"/>
              </a:rPr>
              <a:t>日更影像 / 订阅分析</a:t>
            </a:r>
          </a:p>
        </p:txBody>
      </p:sp>
      <p:sp>
        <p:nvSpPr>
          <p:cNvPr id="18" name="TextBox 17"/>
          <p:cNvSpPr txBox="1"/>
          <p:nvPr/>
        </p:nvSpPr>
        <p:spPr>
          <a:xfrm>
            <a:off x="3913631" y="2551176"/>
            <a:ext cx="2468879" cy="374903"/>
          </a:xfrm>
          <a:prstGeom prst="rect">
            <a:avLst/>
          </a:prstGeom>
          <a:noFill/>
        </p:spPr>
        <p:txBody>
          <a:bodyPr wrap="square">
            <a:normAutofit/>
          </a:bodyPr>
          <a:lstStyle/>
          <a:p>
            <a:pPr algn="l"/>
            <a:r>
              <a:rPr sz="700" b="0">
                <a:solidFill>
                  <a:srgbClr val="626F75"/>
                </a:solidFill>
                <a:latin typeface="Microsoft YaHei"/>
              </a:rPr>
              <a:t>FY2025 收入 2.444 亿美元</a:t>
            </a:r>
          </a:p>
        </p:txBody>
      </p:sp>
      <p:sp>
        <p:nvSpPr>
          <p:cNvPr id="19" name="TextBox 18"/>
          <p:cNvSpPr txBox="1"/>
          <p:nvPr/>
        </p:nvSpPr>
        <p:spPr>
          <a:xfrm>
            <a:off x="6473951" y="2551176"/>
            <a:ext cx="4206240" cy="374903"/>
          </a:xfrm>
          <a:prstGeom prst="rect">
            <a:avLst/>
          </a:prstGeom>
          <a:noFill/>
        </p:spPr>
        <p:txBody>
          <a:bodyPr wrap="square">
            <a:normAutofit/>
          </a:bodyPr>
          <a:lstStyle/>
          <a:p>
            <a:pPr algn="l"/>
            <a:r>
              <a:rPr sz="700" b="0">
                <a:solidFill>
                  <a:srgbClr val="626F75"/>
                </a:solidFill>
                <a:latin typeface="Microsoft YaHei"/>
              </a:rPr>
              <a:t>高频影像可订阅</a:t>
            </a:r>
          </a:p>
        </p:txBody>
      </p:sp>
      <p:sp>
        <p:nvSpPr>
          <p:cNvPr id="20" name="Rectangle 19"/>
          <p:cNvSpPr/>
          <p:nvPr/>
        </p:nvSpPr>
        <p:spPr>
          <a:xfrm>
            <a:off x="658368" y="2980944"/>
            <a:ext cx="10058400" cy="493775"/>
          </a:xfrm>
          <a:prstGeom prst="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3072384"/>
            <a:ext cx="1051560" cy="374903"/>
          </a:xfrm>
          <a:prstGeom prst="rect">
            <a:avLst/>
          </a:prstGeom>
          <a:noFill/>
        </p:spPr>
        <p:txBody>
          <a:bodyPr wrap="square">
            <a:normAutofit/>
          </a:bodyPr>
          <a:lstStyle/>
          <a:p>
            <a:pPr algn="l"/>
            <a:r>
              <a:rPr sz="700" b="1">
                <a:solidFill>
                  <a:srgbClr val="626F75"/>
                </a:solidFill>
                <a:latin typeface="Microsoft YaHei"/>
              </a:rPr>
              <a:t>BlackSky</a:t>
            </a:r>
          </a:p>
        </p:txBody>
      </p:sp>
      <p:sp>
        <p:nvSpPr>
          <p:cNvPr id="22" name="TextBox 21"/>
          <p:cNvSpPr txBox="1"/>
          <p:nvPr/>
        </p:nvSpPr>
        <p:spPr>
          <a:xfrm>
            <a:off x="1856231" y="3072384"/>
            <a:ext cx="1965960" cy="374903"/>
          </a:xfrm>
          <a:prstGeom prst="rect">
            <a:avLst/>
          </a:prstGeom>
          <a:noFill/>
        </p:spPr>
        <p:txBody>
          <a:bodyPr wrap="square">
            <a:normAutofit/>
          </a:bodyPr>
          <a:lstStyle/>
          <a:p>
            <a:pPr algn="l"/>
            <a:r>
              <a:rPr sz="700" b="0">
                <a:solidFill>
                  <a:srgbClr val="626F75"/>
                </a:solidFill>
                <a:latin typeface="Microsoft YaHei"/>
              </a:rPr>
              <a:t>实时地理空间情报</a:t>
            </a:r>
          </a:p>
        </p:txBody>
      </p:sp>
      <p:sp>
        <p:nvSpPr>
          <p:cNvPr id="23" name="TextBox 22"/>
          <p:cNvSpPr txBox="1"/>
          <p:nvPr/>
        </p:nvSpPr>
        <p:spPr>
          <a:xfrm>
            <a:off x="3913631" y="3072384"/>
            <a:ext cx="2468879" cy="374903"/>
          </a:xfrm>
          <a:prstGeom prst="rect">
            <a:avLst/>
          </a:prstGeom>
          <a:noFill/>
        </p:spPr>
        <p:txBody>
          <a:bodyPr wrap="square">
            <a:normAutofit/>
          </a:bodyPr>
          <a:lstStyle/>
          <a:p>
            <a:pPr algn="l"/>
            <a:r>
              <a:rPr sz="700" b="0">
                <a:solidFill>
                  <a:srgbClr val="626F75"/>
                </a:solidFill>
                <a:latin typeface="Microsoft YaHei"/>
              </a:rPr>
              <a:t>2024 收入 1.021 亿美元</a:t>
            </a:r>
          </a:p>
        </p:txBody>
      </p:sp>
      <p:sp>
        <p:nvSpPr>
          <p:cNvPr id="24" name="TextBox 23"/>
          <p:cNvSpPr txBox="1"/>
          <p:nvPr/>
        </p:nvSpPr>
        <p:spPr>
          <a:xfrm>
            <a:off x="6473951" y="3072384"/>
            <a:ext cx="4206240" cy="374903"/>
          </a:xfrm>
          <a:prstGeom prst="rect">
            <a:avLst/>
          </a:prstGeom>
          <a:noFill/>
        </p:spPr>
        <p:txBody>
          <a:bodyPr wrap="square">
            <a:normAutofit/>
          </a:bodyPr>
          <a:lstStyle/>
          <a:p>
            <a:pPr algn="l"/>
            <a:r>
              <a:rPr sz="700" b="0">
                <a:solidFill>
                  <a:srgbClr val="626F75"/>
                </a:solidFill>
                <a:latin typeface="Microsoft YaHei"/>
              </a:rPr>
              <a:t>快速响应是刚需</a:t>
            </a:r>
          </a:p>
        </p:txBody>
      </p:sp>
      <p:sp>
        <p:nvSpPr>
          <p:cNvPr id="25" name="Rectangle 24"/>
          <p:cNvSpPr/>
          <p:nvPr/>
        </p:nvSpPr>
        <p:spPr>
          <a:xfrm>
            <a:off x="658368" y="3502152"/>
            <a:ext cx="10058400" cy="493775"/>
          </a:xfrm>
          <a:prstGeom prst="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3593592"/>
            <a:ext cx="1051560" cy="374903"/>
          </a:xfrm>
          <a:prstGeom prst="rect">
            <a:avLst/>
          </a:prstGeom>
          <a:noFill/>
        </p:spPr>
        <p:txBody>
          <a:bodyPr wrap="square">
            <a:normAutofit/>
          </a:bodyPr>
          <a:lstStyle/>
          <a:p>
            <a:pPr algn="l"/>
            <a:r>
              <a:rPr sz="700" b="1">
                <a:solidFill>
                  <a:srgbClr val="626F75"/>
                </a:solidFill>
                <a:latin typeface="Microsoft YaHei"/>
              </a:rPr>
              <a:t>Esri</a:t>
            </a:r>
          </a:p>
        </p:txBody>
      </p:sp>
      <p:sp>
        <p:nvSpPr>
          <p:cNvPr id="27" name="TextBox 26"/>
          <p:cNvSpPr txBox="1"/>
          <p:nvPr/>
        </p:nvSpPr>
        <p:spPr>
          <a:xfrm>
            <a:off x="1856231" y="3593592"/>
            <a:ext cx="1965960" cy="374903"/>
          </a:xfrm>
          <a:prstGeom prst="rect">
            <a:avLst/>
          </a:prstGeom>
          <a:noFill/>
        </p:spPr>
        <p:txBody>
          <a:bodyPr wrap="square">
            <a:normAutofit/>
          </a:bodyPr>
          <a:lstStyle/>
          <a:p>
            <a:pPr algn="l"/>
            <a:r>
              <a:rPr sz="700" b="0">
                <a:solidFill>
                  <a:srgbClr val="626F75"/>
                </a:solidFill>
                <a:latin typeface="Microsoft YaHei"/>
              </a:rPr>
              <a:t>GIS / 位置智能平台</a:t>
            </a:r>
          </a:p>
        </p:txBody>
      </p:sp>
      <p:sp>
        <p:nvSpPr>
          <p:cNvPr id="28" name="TextBox 27"/>
          <p:cNvSpPr txBox="1"/>
          <p:nvPr/>
        </p:nvSpPr>
        <p:spPr>
          <a:xfrm>
            <a:off x="3913631" y="3593592"/>
            <a:ext cx="2468879" cy="374903"/>
          </a:xfrm>
          <a:prstGeom prst="rect">
            <a:avLst/>
          </a:prstGeom>
          <a:noFill/>
        </p:spPr>
        <p:txBody>
          <a:bodyPr wrap="square">
            <a:normAutofit/>
          </a:bodyPr>
          <a:lstStyle/>
          <a:p>
            <a:pPr algn="l"/>
            <a:r>
              <a:rPr sz="700" b="0">
                <a:solidFill>
                  <a:srgbClr val="626F75"/>
                </a:solidFill>
                <a:latin typeface="Microsoft YaHei"/>
              </a:rPr>
              <a:t>覆盖 50% 财富 500 强</a:t>
            </a:r>
          </a:p>
        </p:txBody>
      </p:sp>
      <p:sp>
        <p:nvSpPr>
          <p:cNvPr id="29" name="TextBox 28"/>
          <p:cNvSpPr txBox="1"/>
          <p:nvPr/>
        </p:nvSpPr>
        <p:spPr>
          <a:xfrm>
            <a:off x="6473951" y="3593592"/>
            <a:ext cx="4206240" cy="374903"/>
          </a:xfrm>
          <a:prstGeom prst="rect">
            <a:avLst/>
          </a:prstGeom>
          <a:noFill/>
        </p:spPr>
        <p:txBody>
          <a:bodyPr wrap="square">
            <a:normAutofit/>
          </a:bodyPr>
          <a:lstStyle/>
          <a:p>
            <a:pPr algn="l"/>
            <a:r>
              <a:rPr sz="700" b="0">
                <a:solidFill>
                  <a:srgbClr val="626F75"/>
                </a:solidFill>
                <a:latin typeface="Microsoft YaHei"/>
              </a:rPr>
              <a:t>平台进入工作流</a:t>
            </a:r>
          </a:p>
        </p:txBody>
      </p:sp>
      <p:sp>
        <p:nvSpPr>
          <p:cNvPr id="30" name="Rectangle 29"/>
          <p:cNvSpPr/>
          <p:nvPr/>
        </p:nvSpPr>
        <p:spPr>
          <a:xfrm>
            <a:off x="658368" y="4023359"/>
            <a:ext cx="10058400" cy="493775"/>
          </a:xfrm>
          <a:prstGeom prst="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 y="4114799"/>
            <a:ext cx="1051560" cy="374903"/>
          </a:xfrm>
          <a:prstGeom prst="rect">
            <a:avLst/>
          </a:prstGeom>
          <a:noFill/>
        </p:spPr>
        <p:txBody>
          <a:bodyPr wrap="square">
            <a:normAutofit/>
          </a:bodyPr>
          <a:lstStyle/>
          <a:p>
            <a:pPr algn="l"/>
            <a:r>
              <a:rPr sz="700" b="1">
                <a:solidFill>
                  <a:srgbClr val="626F75"/>
                </a:solidFill>
                <a:latin typeface="Microsoft YaHei"/>
              </a:rPr>
              <a:t>Google</a:t>
            </a:r>
          </a:p>
        </p:txBody>
      </p:sp>
      <p:sp>
        <p:nvSpPr>
          <p:cNvPr id="32" name="TextBox 31"/>
          <p:cNvSpPr txBox="1"/>
          <p:nvPr/>
        </p:nvSpPr>
        <p:spPr>
          <a:xfrm>
            <a:off x="1856231" y="4114799"/>
            <a:ext cx="1965960" cy="374903"/>
          </a:xfrm>
          <a:prstGeom prst="rect">
            <a:avLst/>
          </a:prstGeom>
          <a:noFill/>
        </p:spPr>
        <p:txBody>
          <a:bodyPr wrap="square">
            <a:normAutofit/>
          </a:bodyPr>
          <a:lstStyle/>
          <a:p>
            <a:pPr algn="l"/>
            <a:r>
              <a:rPr sz="700" b="0">
                <a:solidFill>
                  <a:srgbClr val="626F75"/>
                </a:solidFill>
                <a:latin typeface="Microsoft YaHei"/>
              </a:rPr>
              <a:t>卫星嵌入数据集</a:t>
            </a:r>
          </a:p>
        </p:txBody>
      </p:sp>
      <p:sp>
        <p:nvSpPr>
          <p:cNvPr id="33" name="TextBox 32"/>
          <p:cNvSpPr txBox="1"/>
          <p:nvPr/>
        </p:nvSpPr>
        <p:spPr>
          <a:xfrm>
            <a:off x="3913631" y="4114799"/>
            <a:ext cx="2468879" cy="374903"/>
          </a:xfrm>
          <a:prstGeom prst="rect">
            <a:avLst/>
          </a:prstGeom>
          <a:noFill/>
        </p:spPr>
        <p:txBody>
          <a:bodyPr wrap="square">
            <a:normAutofit/>
          </a:bodyPr>
          <a:lstStyle/>
          <a:p>
            <a:pPr algn="l"/>
            <a:r>
              <a:rPr sz="700" b="0">
                <a:solidFill>
                  <a:srgbClr val="626F75"/>
                </a:solidFill>
                <a:latin typeface="Microsoft YaHei"/>
              </a:rPr>
              <a:t>10 米 / 64 维 / 2017-2024</a:t>
            </a:r>
          </a:p>
        </p:txBody>
      </p:sp>
      <p:sp>
        <p:nvSpPr>
          <p:cNvPr id="34" name="TextBox 33"/>
          <p:cNvSpPr txBox="1"/>
          <p:nvPr/>
        </p:nvSpPr>
        <p:spPr>
          <a:xfrm>
            <a:off x="6473951" y="4114799"/>
            <a:ext cx="4206240" cy="374903"/>
          </a:xfrm>
          <a:prstGeom prst="rect">
            <a:avLst/>
          </a:prstGeom>
          <a:noFill/>
        </p:spPr>
        <p:txBody>
          <a:bodyPr wrap="square">
            <a:normAutofit/>
          </a:bodyPr>
          <a:lstStyle/>
          <a:p>
            <a:pPr algn="l"/>
            <a:r>
              <a:rPr sz="700" b="0">
                <a:solidFill>
                  <a:srgbClr val="626F75"/>
                </a:solidFill>
                <a:latin typeface="Microsoft YaHei"/>
              </a:rPr>
              <a:t>嵌入层成为趋势</a:t>
            </a:r>
          </a:p>
        </p:txBody>
      </p:sp>
      <p:sp>
        <p:nvSpPr>
          <p:cNvPr id="35" name="Rounded Rectangle 34"/>
          <p:cNvSpPr/>
          <p:nvPr/>
        </p:nvSpPr>
        <p:spPr>
          <a:xfrm>
            <a:off x="822960" y="5138928"/>
            <a:ext cx="3017520" cy="841248"/>
          </a:xfrm>
          <a:prstGeom prst="roundRect">
            <a:avLst/>
          </a:prstGeom>
          <a:solidFill>
            <a:srgbClr val="FDFDFA"/>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0120" y="5248656"/>
            <a:ext cx="2743200" cy="274320"/>
          </a:xfrm>
          <a:prstGeom prst="rect">
            <a:avLst/>
          </a:prstGeom>
          <a:noFill/>
        </p:spPr>
        <p:txBody>
          <a:bodyPr wrap="square">
            <a:normAutofit/>
          </a:bodyPr>
          <a:lstStyle/>
          <a:p>
            <a:pPr algn="l"/>
            <a:r>
              <a:rPr sz="1800" b="1">
                <a:solidFill>
                  <a:srgbClr val="84B5A0"/>
                </a:solidFill>
                <a:latin typeface="Microsoft YaHei"/>
              </a:rPr>
              <a:t>数据 + 平台 + 订阅</a:t>
            </a:r>
          </a:p>
        </p:txBody>
      </p:sp>
      <p:sp>
        <p:nvSpPr>
          <p:cNvPr id="37" name="TextBox 36"/>
          <p:cNvSpPr txBox="1"/>
          <p:nvPr/>
        </p:nvSpPr>
        <p:spPr>
          <a:xfrm>
            <a:off x="960120" y="5632704"/>
            <a:ext cx="2743200" cy="201168"/>
          </a:xfrm>
          <a:prstGeom prst="rect">
            <a:avLst/>
          </a:prstGeom>
          <a:noFill/>
        </p:spPr>
        <p:txBody>
          <a:bodyPr wrap="square">
            <a:normAutofit/>
          </a:bodyPr>
          <a:lstStyle/>
          <a:p>
            <a:pPr algn="l"/>
            <a:r>
              <a:rPr sz="800" b="0">
                <a:solidFill>
                  <a:srgbClr val="626F75"/>
                </a:solidFill>
                <a:latin typeface="Microsoft YaHei"/>
              </a:rPr>
              <a:t>美国路径的共同指向</a:t>
            </a:r>
          </a:p>
        </p:txBody>
      </p:sp>
      <p:sp>
        <p:nvSpPr>
          <p:cNvPr id="38" name="Rounded Rectangle 37"/>
          <p:cNvSpPr/>
          <p:nvPr/>
        </p:nvSpPr>
        <p:spPr>
          <a:xfrm>
            <a:off x="4572000" y="5138928"/>
            <a:ext cx="3017520" cy="841248"/>
          </a:xfrm>
          <a:prstGeom prst="roundRect">
            <a:avLst/>
          </a:prstGeom>
          <a:solidFill>
            <a:srgbClr val="FDFDFA"/>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09160" y="5248656"/>
            <a:ext cx="2743200" cy="274320"/>
          </a:xfrm>
          <a:prstGeom prst="rect">
            <a:avLst/>
          </a:prstGeom>
          <a:noFill/>
        </p:spPr>
        <p:txBody>
          <a:bodyPr wrap="square">
            <a:normAutofit/>
          </a:bodyPr>
          <a:lstStyle/>
          <a:p>
            <a:pPr algn="l"/>
            <a:r>
              <a:rPr sz="1800" b="1">
                <a:solidFill>
                  <a:srgbClr val="88B5CD"/>
                </a:solidFill>
                <a:latin typeface="Microsoft YaHei"/>
              </a:rPr>
              <a:t>本土化底座</a:t>
            </a:r>
          </a:p>
        </p:txBody>
      </p:sp>
      <p:sp>
        <p:nvSpPr>
          <p:cNvPr id="40" name="TextBox 39"/>
          <p:cNvSpPr txBox="1"/>
          <p:nvPr/>
        </p:nvSpPr>
        <p:spPr>
          <a:xfrm>
            <a:off x="4709160" y="5632704"/>
            <a:ext cx="2743200" cy="201168"/>
          </a:xfrm>
          <a:prstGeom prst="rect">
            <a:avLst/>
          </a:prstGeom>
          <a:noFill/>
        </p:spPr>
        <p:txBody>
          <a:bodyPr wrap="square">
            <a:normAutofit/>
          </a:bodyPr>
          <a:lstStyle/>
          <a:p>
            <a:pPr algn="l"/>
            <a:r>
              <a:rPr sz="800" b="0">
                <a:solidFill>
                  <a:srgbClr val="626F75"/>
                </a:solidFill>
                <a:latin typeface="Microsoft YaHei"/>
              </a:rPr>
              <a:t>中国机会不等于复制美国公司</a:t>
            </a:r>
          </a:p>
        </p:txBody>
      </p:sp>
      <p:sp>
        <p:nvSpPr>
          <p:cNvPr id="41" name="Rounded Rectangle 40"/>
          <p:cNvSpPr/>
          <p:nvPr/>
        </p:nvSpPr>
        <p:spPr>
          <a:xfrm>
            <a:off x="8321040" y="5138928"/>
            <a:ext cx="3017520" cy="841248"/>
          </a:xfrm>
          <a:prstGeom prst="roundRect">
            <a:avLst/>
          </a:prstGeom>
          <a:solidFill>
            <a:srgbClr val="FDFDFA"/>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58200" y="5248656"/>
            <a:ext cx="2743200" cy="274320"/>
          </a:xfrm>
          <a:prstGeom prst="rect">
            <a:avLst/>
          </a:prstGeom>
          <a:noFill/>
        </p:spPr>
        <p:txBody>
          <a:bodyPr wrap="square">
            <a:normAutofit/>
          </a:bodyPr>
          <a:lstStyle/>
          <a:p>
            <a:pPr algn="l"/>
            <a:r>
              <a:rPr sz="1800" b="1">
                <a:solidFill>
                  <a:srgbClr val="B4ABD2"/>
                </a:solidFill>
                <a:latin typeface="Microsoft YaHei"/>
              </a:rPr>
              <a:t>AI 表征层</a:t>
            </a:r>
          </a:p>
        </p:txBody>
      </p:sp>
      <p:sp>
        <p:nvSpPr>
          <p:cNvPr id="43" name="TextBox 42"/>
          <p:cNvSpPr txBox="1"/>
          <p:nvPr/>
        </p:nvSpPr>
        <p:spPr>
          <a:xfrm>
            <a:off x="8458200" y="5632704"/>
            <a:ext cx="2743200" cy="201168"/>
          </a:xfrm>
          <a:prstGeom prst="rect">
            <a:avLst/>
          </a:prstGeom>
          <a:noFill/>
        </p:spPr>
        <p:txBody>
          <a:bodyPr wrap="square">
            <a:normAutofit/>
          </a:bodyPr>
          <a:lstStyle/>
          <a:p>
            <a:pPr algn="l"/>
            <a:r>
              <a:rPr sz="800" b="0">
                <a:solidFill>
                  <a:srgbClr val="626F75"/>
                </a:solidFill>
                <a:latin typeface="Microsoft YaHei"/>
              </a:rPr>
              <a:t>玄女切入更靠近应用价值</a:t>
            </a:r>
          </a:p>
        </p:txBody>
      </p:sp>
      <p:sp>
        <p:nvSpPr>
          <p:cNvPr id="44" name="TextBox 43"/>
          <p:cNvSpPr txBox="1"/>
          <p:nvPr/>
        </p:nvSpPr>
        <p:spPr>
          <a:xfrm>
            <a:off x="658368" y="6528816"/>
            <a:ext cx="5669280" cy="182880"/>
          </a:xfrm>
          <a:prstGeom prst="rect">
            <a:avLst/>
          </a:prstGeom>
          <a:noFill/>
        </p:spPr>
        <p:txBody>
          <a:bodyPr wrap="square">
            <a:normAutofit/>
          </a:bodyPr>
          <a:lstStyle/>
          <a:p>
            <a:pPr algn="l"/>
            <a:r>
              <a:rPr sz="700" b="0">
                <a:solidFill>
                  <a:srgbClr val="626F75"/>
                </a:solidFill>
                <a:latin typeface="Microsoft YaHei"/>
              </a:rPr>
              <a:t>玄女科技商业计划书 v0.3｜按 22 页内容稿重制</a:t>
            </a:r>
          </a:p>
        </p:txBody>
      </p:sp>
      <p:sp>
        <p:nvSpPr>
          <p:cNvPr id="45" name="TextBox 44"/>
          <p:cNvSpPr txBox="1"/>
          <p:nvPr/>
        </p:nvSpPr>
        <p:spPr>
          <a:xfrm>
            <a:off x="11018520" y="6510528"/>
            <a:ext cx="457200" cy="182880"/>
          </a:xfrm>
          <a:prstGeom prst="rect">
            <a:avLst/>
          </a:prstGeom>
          <a:noFill/>
        </p:spPr>
        <p:txBody>
          <a:bodyPr wrap="square">
            <a:normAutofit/>
          </a:bodyPr>
          <a:lstStyle/>
          <a:p>
            <a:pPr algn="r"/>
            <a:r>
              <a:rPr sz="800" b="0">
                <a:solidFill>
                  <a:srgbClr val="626F75"/>
                </a:solidFill>
                <a:latin typeface="Microsoft YaHe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TextBox 1"/>
          <p:cNvSpPr txBox="1"/>
          <p:nvPr/>
        </p:nvSpPr>
        <p:spPr>
          <a:xfrm>
            <a:off x="658368" y="384048"/>
            <a:ext cx="411480" cy="201168"/>
          </a:xfrm>
          <a:prstGeom prst="rect">
            <a:avLst/>
          </a:prstGeom>
          <a:noFill/>
        </p:spPr>
        <p:txBody>
          <a:bodyPr wrap="square">
            <a:normAutofit/>
          </a:bodyPr>
          <a:lstStyle/>
          <a:p>
            <a:pPr algn="l"/>
            <a:r>
              <a:rPr sz="800" b="1">
                <a:solidFill>
                  <a:srgbClr val="487967"/>
                </a:solidFill>
                <a:latin typeface="Microsoft YaHei"/>
              </a:rPr>
              <a:t>03</a:t>
            </a:r>
          </a:p>
        </p:txBody>
      </p:sp>
      <p:sp>
        <p:nvSpPr>
          <p:cNvPr id="3" name="TextBox 2"/>
          <p:cNvSpPr txBox="1"/>
          <p:nvPr/>
        </p:nvSpPr>
        <p:spPr>
          <a:xfrm>
            <a:off x="1078992" y="310896"/>
            <a:ext cx="9875520" cy="493776"/>
          </a:xfrm>
          <a:prstGeom prst="rect">
            <a:avLst/>
          </a:prstGeom>
          <a:noFill/>
        </p:spPr>
        <p:txBody>
          <a:bodyPr wrap="square">
            <a:normAutofit/>
          </a:bodyPr>
          <a:lstStyle/>
          <a:p>
            <a:pPr algn="l"/>
            <a:r>
              <a:rPr sz="2300" b="1">
                <a:solidFill>
                  <a:srgbClr val="223035"/>
                </a:solidFill>
                <a:latin typeface="Microsoft YaHei"/>
              </a:rPr>
              <a:t>行业正在从“卖影像”走向“卖可调用的地球智能”</a:t>
            </a:r>
          </a:p>
        </p:txBody>
      </p:sp>
      <p:pic>
        <p:nvPicPr>
          <p:cNvPr id="4" name="Picture 3" descr="space_data_to_intelligence.png"/>
          <p:cNvPicPr>
            <a:picLocks noChangeAspect="1"/>
          </p:cNvPicPr>
          <p:nvPr/>
        </p:nvPicPr>
        <p:blipFill>
          <a:blip r:embed="rId2"/>
          <a:stretch>
            <a:fillRect/>
          </a:stretch>
        </p:blipFill>
        <p:spPr>
          <a:xfrm>
            <a:off x="6400800" y="1234440"/>
            <a:ext cx="5120640" cy="3657600"/>
          </a:xfrm>
          <a:prstGeom prst="rect">
            <a:avLst/>
          </a:prstGeom>
        </p:spPr>
      </p:pic>
      <p:sp>
        <p:nvSpPr>
          <p:cNvPr id="5" name="Rounded Rectangle 4"/>
          <p:cNvSpPr/>
          <p:nvPr/>
        </p:nvSpPr>
        <p:spPr>
          <a:xfrm>
            <a:off x="822960" y="1828800"/>
            <a:ext cx="1147572"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1984248"/>
            <a:ext cx="1037843" cy="164592"/>
          </a:xfrm>
          <a:prstGeom prst="rect">
            <a:avLst/>
          </a:prstGeom>
          <a:noFill/>
        </p:spPr>
        <p:txBody>
          <a:bodyPr wrap="square">
            <a:normAutofit/>
          </a:bodyPr>
          <a:lstStyle/>
          <a:p>
            <a:pPr algn="ctr"/>
            <a:r>
              <a:rPr sz="800" b="1">
                <a:solidFill>
                  <a:srgbClr val="223035"/>
                </a:solidFill>
                <a:latin typeface="Microsoft YaHei"/>
              </a:rPr>
              <a:t>影像时代</a:t>
            </a:r>
          </a:p>
        </p:txBody>
      </p:sp>
      <p:sp>
        <p:nvSpPr>
          <p:cNvPr id="7" name="TextBox 6"/>
          <p:cNvSpPr txBox="1"/>
          <p:nvPr/>
        </p:nvSpPr>
        <p:spPr>
          <a:xfrm>
            <a:off x="1988819" y="199339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8" name="Rounded Rectangle 7"/>
          <p:cNvSpPr/>
          <p:nvPr/>
        </p:nvSpPr>
        <p:spPr>
          <a:xfrm>
            <a:off x="2116836" y="1828800"/>
            <a:ext cx="1147572"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71700" y="1984248"/>
            <a:ext cx="1037843" cy="164592"/>
          </a:xfrm>
          <a:prstGeom prst="rect">
            <a:avLst/>
          </a:prstGeom>
          <a:noFill/>
        </p:spPr>
        <p:txBody>
          <a:bodyPr wrap="square">
            <a:normAutofit/>
          </a:bodyPr>
          <a:lstStyle/>
          <a:p>
            <a:pPr algn="ctr"/>
            <a:r>
              <a:rPr sz="800" b="1">
                <a:solidFill>
                  <a:srgbClr val="223035"/>
                </a:solidFill>
                <a:latin typeface="Microsoft YaHei"/>
              </a:rPr>
              <a:t>监测时代</a:t>
            </a:r>
          </a:p>
        </p:txBody>
      </p:sp>
      <p:sp>
        <p:nvSpPr>
          <p:cNvPr id="10" name="TextBox 9"/>
          <p:cNvSpPr txBox="1"/>
          <p:nvPr/>
        </p:nvSpPr>
        <p:spPr>
          <a:xfrm>
            <a:off x="3282696" y="199339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11" name="Rounded Rectangle 10"/>
          <p:cNvSpPr/>
          <p:nvPr/>
        </p:nvSpPr>
        <p:spPr>
          <a:xfrm>
            <a:off x="3410711" y="1828800"/>
            <a:ext cx="1147572"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65575" y="1984248"/>
            <a:ext cx="1037843" cy="164592"/>
          </a:xfrm>
          <a:prstGeom prst="rect">
            <a:avLst/>
          </a:prstGeom>
          <a:noFill/>
        </p:spPr>
        <p:txBody>
          <a:bodyPr wrap="square">
            <a:normAutofit/>
          </a:bodyPr>
          <a:lstStyle/>
          <a:p>
            <a:pPr algn="ctr"/>
            <a:r>
              <a:rPr sz="800" b="1">
                <a:solidFill>
                  <a:srgbClr val="223035"/>
                </a:solidFill>
                <a:latin typeface="Microsoft YaHei"/>
              </a:rPr>
              <a:t>平台时代</a:t>
            </a:r>
          </a:p>
        </p:txBody>
      </p:sp>
      <p:sp>
        <p:nvSpPr>
          <p:cNvPr id="13" name="TextBox 12"/>
          <p:cNvSpPr txBox="1"/>
          <p:nvPr/>
        </p:nvSpPr>
        <p:spPr>
          <a:xfrm>
            <a:off x="4576571" y="199339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14" name="Rounded Rectangle 13"/>
          <p:cNvSpPr/>
          <p:nvPr/>
        </p:nvSpPr>
        <p:spPr>
          <a:xfrm>
            <a:off x="4704588" y="1828800"/>
            <a:ext cx="1147572"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9451" y="1984248"/>
            <a:ext cx="1037843" cy="164592"/>
          </a:xfrm>
          <a:prstGeom prst="rect">
            <a:avLst/>
          </a:prstGeom>
          <a:noFill/>
        </p:spPr>
        <p:txBody>
          <a:bodyPr wrap="square">
            <a:normAutofit/>
          </a:bodyPr>
          <a:lstStyle/>
          <a:p>
            <a:pPr algn="ctr"/>
            <a:r>
              <a:rPr sz="800" b="1">
                <a:solidFill>
                  <a:srgbClr val="223035"/>
                </a:solidFill>
                <a:latin typeface="Microsoft YaHei"/>
              </a:rPr>
              <a:t>嵌入时代</a:t>
            </a:r>
          </a:p>
        </p:txBody>
      </p:sp>
      <p:sp>
        <p:nvSpPr>
          <p:cNvPr id="16" name="Rounded Rectangle 15"/>
          <p:cNvSpPr/>
          <p:nvPr/>
        </p:nvSpPr>
        <p:spPr>
          <a:xfrm>
            <a:off x="868680" y="2743200"/>
            <a:ext cx="4892040" cy="96012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 y="2743200"/>
            <a:ext cx="64008" cy="960120"/>
          </a:xfrm>
          <a:prstGeom prst="rect">
            <a:avLst/>
          </a:prstGeom>
          <a:solidFill>
            <a:srgbClr val="88B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9848" y="2889504"/>
            <a:ext cx="4544568" cy="228600"/>
          </a:xfrm>
          <a:prstGeom prst="rect">
            <a:avLst/>
          </a:prstGeom>
          <a:noFill/>
        </p:spPr>
        <p:txBody>
          <a:bodyPr wrap="square">
            <a:normAutofit/>
          </a:bodyPr>
          <a:lstStyle/>
          <a:p>
            <a:pPr algn="l"/>
            <a:r>
              <a:rPr sz="1200" b="1">
                <a:solidFill>
                  <a:srgbClr val="223035"/>
                </a:solidFill>
                <a:latin typeface="Microsoft YaHei"/>
              </a:rPr>
              <a:t>玄女的位置</a:t>
            </a:r>
          </a:p>
        </p:txBody>
      </p:sp>
      <p:sp>
        <p:nvSpPr>
          <p:cNvPr id="19" name="TextBox 18"/>
          <p:cNvSpPr txBox="1"/>
          <p:nvPr/>
        </p:nvSpPr>
        <p:spPr>
          <a:xfrm>
            <a:off x="1069848" y="3246120"/>
            <a:ext cx="4544568" cy="356616"/>
          </a:xfrm>
          <a:prstGeom prst="rect">
            <a:avLst/>
          </a:prstGeom>
          <a:noFill/>
        </p:spPr>
        <p:txBody>
          <a:bodyPr wrap="square">
            <a:normAutofit/>
          </a:bodyPr>
          <a:lstStyle/>
          <a:p>
            <a:pPr algn="l"/>
            <a:r>
              <a:rPr sz="900" b="0">
                <a:solidFill>
                  <a:srgbClr val="626F75"/>
                </a:solidFill>
                <a:latin typeface="Microsoft YaHei"/>
              </a:rPr>
              <a:t>不是再造卫星公司，而是做应用价值更高的 AI 可用地理表征层。</a:t>
            </a:r>
          </a:p>
        </p:txBody>
      </p:sp>
      <p:sp>
        <p:nvSpPr>
          <p:cNvPr id="20" name="Rounded Rectangle 19"/>
          <p:cNvSpPr/>
          <p:nvPr/>
        </p:nvSpPr>
        <p:spPr>
          <a:xfrm>
            <a:off x="868680" y="3950208"/>
            <a:ext cx="4892040" cy="96012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8680" y="3950208"/>
            <a:ext cx="64008" cy="960120"/>
          </a:xfrm>
          <a:prstGeom prst="rect">
            <a:avLst/>
          </a:prstGeom>
          <a:solidFill>
            <a:srgbClr val="B4A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9848" y="4096512"/>
            <a:ext cx="4544568" cy="228600"/>
          </a:xfrm>
          <a:prstGeom prst="rect">
            <a:avLst/>
          </a:prstGeom>
          <a:noFill/>
        </p:spPr>
        <p:txBody>
          <a:bodyPr wrap="square">
            <a:normAutofit/>
          </a:bodyPr>
          <a:lstStyle/>
          <a:p>
            <a:pPr algn="l"/>
            <a:r>
              <a:rPr sz="1200" b="1">
                <a:solidFill>
                  <a:srgbClr val="223035"/>
                </a:solidFill>
                <a:latin typeface="Microsoft YaHei"/>
              </a:rPr>
              <a:t>上游 / 下游</a:t>
            </a:r>
          </a:p>
        </p:txBody>
      </p:sp>
      <p:sp>
        <p:nvSpPr>
          <p:cNvPr id="23" name="TextBox 22"/>
          <p:cNvSpPr txBox="1"/>
          <p:nvPr/>
        </p:nvSpPr>
        <p:spPr>
          <a:xfrm>
            <a:off x="1069848" y="4453128"/>
            <a:ext cx="4544568" cy="356616"/>
          </a:xfrm>
          <a:prstGeom prst="rect">
            <a:avLst/>
          </a:prstGeom>
          <a:noFill/>
        </p:spPr>
        <p:txBody>
          <a:bodyPr wrap="square">
            <a:normAutofit/>
          </a:bodyPr>
          <a:lstStyle/>
          <a:p>
            <a:pPr algn="l"/>
            <a:r>
              <a:rPr sz="900" b="0">
                <a:solidFill>
                  <a:srgbClr val="626F75"/>
                </a:solidFill>
                <a:latin typeface="Microsoft YaHei"/>
              </a:rPr>
              <a:t>上游接国产多源遥感数据；下游接城市治理、遥感公司、科研和行业任务。</a:t>
            </a:r>
          </a:p>
        </p:txBody>
      </p:sp>
      <p:sp>
        <p:nvSpPr>
          <p:cNvPr id="24" name="TextBox 23"/>
          <p:cNvSpPr txBox="1"/>
          <p:nvPr/>
        </p:nvSpPr>
        <p:spPr>
          <a:xfrm>
            <a:off x="658368" y="6528816"/>
            <a:ext cx="5669280" cy="182880"/>
          </a:xfrm>
          <a:prstGeom prst="rect">
            <a:avLst/>
          </a:prstGeom>
          <a:noFill/>
        </p:spPr>
        <p:txBody>
          <a:bodyPr wrap="square">
            <a:normAutofit/>
          </a:bodyPr>
          <a:lstStyle/>
          <a:p>
            <a:pPr algn="l"/>
            <a:r>
              <a:rPr sz="700" b="0">
                <a:solidFill>
                  <a:srgbClr val="626F75"/>
                </a:solidFill>
                <a:latin typeface="Microsoft YaHei"/>
              </a:rPr>
              <a:t>玄女科技商业计划书 v0.3｜按 22 页内容稿重制</a:t>
            </a:r>
          </a:p>
        </p:txBody>
      </p:sp>
      <p:sp>
        <p:nvSpPr>
          <p:cNvPr id="25" name="TextBox 24"/>
          <p:cNvSpPr txBox="1"/>
          <p:nvPr/>
        </p:nvSpPr>
        <p:spPr>
          <a:xfrm>
            <a:off x="11018520" y="6510528"/>
            <a:ext cx="457200" cy="182880"/>
          </a:xfrm>
          <a:prstGeom prst="rect">
            <a:avLst/>
          </a:prstGeom>
          <a:noFill/>
        </p:spPr>
        <p:txBody>
          <a:bodyPr wrap="square">
            <a:normAutofit/>
          </a:bodyPr>
          <a:lstStyle/>
          <a:p>
            <a:pPr algn="r"/>
            <a:r>
              <a:rPr sz="800" b="0">
                <a:solidFill>
                  <a:srgbClr val="626F75"/>
                </a:solidFill>
                <a:latin typeface="Microsoft YaHe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TextBox 1"/>
          <p:cNvSpPr txBox="1"/>
          <p:nvPr/>
        </p:nvSpPr>
        <p:spPr>
          <a:xfrm>
            <a:off x="658368" y="384048"/>
            <a:ext cx="411480" cy="201168"/>
          </a:xfrm>
          <a:prstGeom prst="rect">
            <a:avLst/>
          </a:prstGeom>
          <a:noFill/>
        </p:spPr>
        <p:txBody>
          <a:bodyPr wrap="square">
            <a:normAutofit/>
          </a:bodyPr>
          <a:lstStyle/>
          <a:p>
            <a:pPr algn="l"/>
            <a:r>
              <a:rPr sz="800" b="1">
                <a:solidFill>
                  <a:srgbClr val="487967"/>
                </a:solidFill>
                <a:latin typeface="Microsoft YaHei"/>
              </a:rPr>
              <a:t>04</a:t>
            </a:r>
          </a:p>
        </p:txBody>
      </p:sp>
      <p:sp>
        <p:nvSpPr>
          <p:cNvPr id="3" name="TextBox 2"/>
          <p:cNvSpPr txBox="1"/>
          <p:nvPr/>
        </p:nvSpPr>
        <p:spPr>
          <a:xfrm>
            <a:off x="1078992" y="310896"/>
            <a:ext cx="9875520" cy="493776"/>
          </a:xfrm>
          <a:prstGeom prst="rect">
            <a:avLst/>
          </a:prstGeom>
          <a:noFill/>
        </p:spPr>
        <p:txBody>
          <a:bodyPr wrap="square">
            <a:normAutofit/>
          </a:bodyPr>
          <a:lstStyle/>
          <a:p>
            <a:pPr algn="l"/>
            <a:r>
              <a:rPr sz="2300" b="1">
                <a:solidFill>
                  <a:srgbClr val="223035"/>
                </a:solidFill>
                <a:latin typeface="Microsoft YaHei"/>
              </a:rPr>
              <a:t>中国也到了这个窗口：商业航天解决“看见”，地理智能解决“理解”</a:t>
            </a:r>
          </a:p>
        </p:txBody>
      </p:sp>
      <p:sp>
        <p:nvSpPr>
          <p:cNvPr id="4" name="TextBox 3"/>
          <p:cNvSpPr txBox="1"/>
          <p:nvPr/>
        </p:nvSpPr>
        <p:spPr>
          <a:xfrm>
            <a:off x="1097280" y="868680"/>
            <a:ext cx="9784080" cy="256032"/>
          </a:xfrm>
          <a:prstGeom prst="rect">
            <a:avLst/>
          </a:prstGeom>
          <a:noFill/>
        </p:spPr>
        <p:txBody>
          <a:bodyPr wrap="square">
            <a:normAutofit/>
          </a:bodyPr>
          <a:lstStyle/>
          <a:p>
            <a:pPr algn="l"/>
            <a:r>
              <a:rPr sz="1000" b="0">
                <a:solidFill>
                  <a:srgbClr val="626F75"/>
                </a:solidFill>
                <a:latin typeface="Microsoft YaHei"/>
              </a:rPr>
              <a:t>市场数字为广义产业和上游供给口径，不等同于玄女直接可获得收入。</a:t>
            </a:r>
          </a:p>
        </p:txBody>
      </p:sp>
      <p:sp>
        <p:nvSpPr>
          <p:cNvPr id="5" name="Rounded Rectangle 4"/>
          <p:cNvSpPr/>
          <p:nvPr/>
        </p:nvSpPr>
        <p:spPr>
          <a:xfrm>
            <a:off x="868680" y="1572768"/>
            <a:ext cx="3246120" cy="841248"/>
          </a:xfrm>
          <a:prstGeom prst="roundRect">
            <a:avLst/>
          </a:prstGeom>
          <a:solidFill>
            <a:srgbClr val="FDFDFA"/>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39" y="1682495"/>
            <a:ext cx="2971800" cy="274320"/>
          </a:xfrm>
          <a:prstGeom prst="rect">
            <a:avLst/>
          </a:prstGeom>
          <a:noFill/>
        </p:spPr>
        <p:txBody>
          <a:bodyPr wrap="square">
            <a:normAutofit/>
          </a:bodyPr>
          <a:lstStyle/>
          <a:p>
            <a:pPr algn="l"/>
            <a:r>
              <a:rPr sz="1800" b="1">
                <a:solidFill>
                  <a:srgbClr val="84B5A0"/>
                </a:solidFill>
                <a:latin typeface="Microsoft YaHei"/>
              </a:rPr>
              <a:t>8501 亿元</a:t>
            </a:r>
          </a:p>
        </p:txBody>
      </p:sp>
      <p:sp>
        <p:nvSpPr>
          <p:cNvPr id="7" name="TextBox 6"/>
          <p:cNvSpPr txBox="1"/>
          <p:nvPr/>
        </p:nvSpPr>
        <p:spPr>
          <a:xfrm>
            <a:off x="1005839" y="2066543"/>
            <a:ext cx="2971800" cy="201168"/>
          </a:xfrm>
          <a:prstGeom prst="rect">
            <a:avLst/>
          </a:prstGeom>
          <a:noFill/>
        </p:spPr>
        <p:txBody>
          <a:bodyPr wrap="square">
            <a:normAutofit/>
          </a:bodyPr>
          <a:lstStyle/>
          <a:p>
            <a:pPr algn="l"/>
            <a:r>
              <a:rPr sz="800" b="0">
                <a:solidFill>
                  <a:srgbClr val="626F75"/>
                </a:solidFill>
                <a:latin typeface="Microsoft YaHei"/>
              </a:rPr>
              <a:t>中国地理信息产业 2024 总产值</a:t>
            </a:r>
          </a:p>
        </p:txBody>
      </p:sp>
      <p:sp>
        <p:nvSpPr>
          <p:cNvPr id="8" name="Rounded Rectangle 7"/>
          <p:cNvSpPr/>
          <p:nvPr/>
        </p:nvSpPr>
        <p:spPr>
          <a:xfrm>
            <a:off x="4480560" y="1572768"/>
            <a:ext cx="3246120" cy="841248"/>
          </a:xfrm>
          <a:prstGeom prst="roundRect">
            <a:avLst/>
          </a:prstGeom>
          <a:solidFill>
            <a:srgbClr val="FDFDFA"/>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682495"/>
            <a:ext cx="2971800" cy="274320"/>
          </a:xfrm>
          <a:prstGeom prst="rect">
            <a:avLst/>
          </a:prstGeom>
          <a:noFill/>
        </p:spPr>
        <p:txBody>
          <a:bodyPr wrap="square">
            <a:normAutofit/>
          </a:bodyPr>
          <a:lstStyle/>
          <a:p>
            <a:pPr algn="l"/>
            <a:r>
              <a:rPr sz="1800" b="1">
                <a:solidFill>
                  <a:srgbClr val="88B5CD"/>
                </a:solidFill>
                <a:latin typeface="Microsoft YaHei"/>
              </a:rPr>
              <a:t>26.4→55.2 亿美元</a:t>
            </a:r>
          </a:p>
        </p:txBody>
      </p:sp>
      <p:sp>
        <p:nvSpPr>
          <p:cNvPr id="10" name="TextBox 9"/>
          <p:cNvSpPr txBox="1"/>
          <p:nvPr/>
        </p:nvSpPr>
        <p:spPr>
          <a:xfrm>
            <a:off x="4617720" y="2066543"/>
            <a:ext cx="2971800" cy="201168"/>
          </a:xfrm>
          <a:prstGeom prst="rect">
            <a:avLst/>
          </a:prstGeom>
          <a:noFill/>
        </p:spPr>
        <p:txBody>
          <a:bodyPr wrap="square">
            <a:normAutofit/>
          </a:bodyPr>
          <a:lstStyle/>
          <a:p>
            <a:pPr algn="l"/>
            <a:r>
              <a:rPr sz="800" b="0">
                <a:solidFill>
                  <a:srgbClr val="626F75"/>
                </a:solidFill>
                <a:latin typeface="Microsoft YaHei"/>
              </a:rPr>
              <a:t>全球地球观测小卫星市场 2025-2030</a:t>
            </a:r>
          </a:p>
        </p:txBody>
      </p:sp>
      <p:sp>
        <p:nvSpPr>
          <p:cNvPr id="11" name="Rounded Rectangle 10"/>
          <p:cNvSpPr/>
          <p:nvPr/>
        </p:nvSpPr>
        <p:spPr>
          <a:xfrm>
            <a:off x="8092440" y="1572768"/>
            <a:ext cx="3246120" cy="841248"/>
          </a:xfrm>
          <a:prstGeom prst="roundRect">
            <a:avLst/>
          </a:prstGeom>
          <a:solidFill>
            <a:srgbClr val="FDFDFA"/>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682495"/>
            <a:ext cx="2971800" cy="274320"/>
          </a:xfrm>
          <a:prstGeom prst="rect">
            <a:avLst/>
          </a:prstGeom>
          <a:noFill/>
        </p:spPr>
        <p:txBody>
          <a:bodyPr wrap="square">
            <a:normAutofit/>
          </a:bodyPr>
          <a:lstStyle/>
          <a:p>
            <a:pPr algn="l"/>
            <a:r>
              <a:rPr sz="1800" b="1">
                <a:solidFill>
                  <a:srgbClr val="B4ABD2"/>
                </a:solidFill>
                <a:latin typeface="Microsoft YaHei"/>
              </a:rPr>
              <a:t>1027→2340 亿美元</a:t>
            </a:r>
          </a:p>
        </p:txBody>
      </p:sp>
      <p:sp>
        <p:nvSpPr>
          <p:cNvPr id="13" name="TextBox 12"/>
          <p:cNvSpPr txBox="1"/>
          <p:nvPr/>
        </p:nvSpPr>
        <p:spPr>
          <a:xfrm>
            <a:off x="8229600" y="2066543"/>
            <a:ext cx="2971800" cy="201168"/>
          </a:xfrm>
          <a:prstGeom prst="rect">
            <a:avLst/>
          </a:prstGeom>
          <a:noFill/>
        </p:spPr>
        <p:txBody>
          <a:bodyPr wrap="square">
            <a:normAutofit/>
          </a:bodyPr>
          <a:lstStyle/>
          <a:p>
            <a:pPr algn="l"/>
            <a:r>
              <a:rPr sz="800" b="0">
                <a:solidFill>
                  <a:srgbClr val="626F75"/>
                </a:solidFill>
                <a:latin typeface="Microsoft YaHei"/>
              </a:rPr>
              <a:t>全球地理空间分析市场 2025-2033</a:t>
            </a:r>
          </a:p>
        </p:txBody>
      </p:sp>
      <p:sp>
        <p:nvSpPr>
          <p:cNvPr id="14" name="Rounded Rectangle 13"/>
          <p:cNvSpPr/>
          <p:nvPr/>
        </p:nvSpPr>
        <p:spPr>
          <a:xfrm>
            <a:off x="749808" y="3429000"/>
            <a:ext cx="3246120" cy="1133856"/>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9808" y="3429000"/>
            <a:ext cx="64008" cy="1133856"/>
          </a:xfrm>
          <a:prstGeom prst="rect">
            <a:avLst/>
          </a:prstGeom>
          <a:solidFill>
            <a:srgbClr val="84B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0976" y="3575304"/>
            <a:ext cx="2898648" cy="228600"/>
          </a:xfrm>
          <a:prstGeom prst="rect">
            <a:avLst/>
          </a:prstGeom>
          <a:noFill/>
        </p:spPr>
        <p:txBody>
          <a:bodyPr wrap="square">
            <a:normAutofit/>
          </a:bodyPr>
          <a:lstStyle/>
          <a:p>
            <a:pPr algn="l"/>
            <a:r>
              <a:rPr sz="1200" b="1">
                <a:solidFill>
                  <a:srgbClr val="223035"/>
                </a:solidFill>
                <a:latin typeface="Microsoft YaHei"/>
              </a:rPr>
              <a:t>数据供给</a:t>
            </a:r>
          </a:p>
        </p:txBody>
      </p:sp>
      <p:sp>
        <p:nvSpPr>
          <p:cNvPr id="17" name="TextBox 16"/>
          <p:cNvSpPr txBox="1"/>
          <p:nvPr/>
        </p:nvSpPr>
        <p:spPr>
          <a:xfrm>
            <a:off x="950976" y="3931920"/>
            <a:ext cx="2898648" cy="530352"/>
          </a:xfrm>
          <a:prstGeom prst="rect">
            <a:avLst/>
          </a:prstGeom>
          <a:noFill/>
        </p:spPr>
        <p:txBody>
          <a:bodyPr wrap="square">
            <a:normAutofit/>
          </a:bodyPr>
          <a:lstStyle/>
          <a:p>
            <a:pPr algn="l"/>
            <a:r>
              <a:rPr sz="900" b="0">
                <a:solidFill>
                  <a:srgbClr val="626F75"/>
                </a:solidFill>
                <a:latin typeface="Microsoft YaHei"/>
              </a:rPr>
              <a:t>商业航天、高分光学、SAR、无人机与北斗持续增长。</a:t>
            </a:r>
          </a:p>
        </p:txBody>
      </p:sp>
      <p:sp>
        <p:nvSpPr>
          <p:cNvPr id="18" name="Rounded Rectangle 17"/>
          <p:cNvSpPr/>
          <p:nvPr/>
        </p:nvSpPr>
        <p:spPr>
          <a:xfrm>
            <a:off x="4453128" y="3429000"/>
            <a:ext cx="3246120" cy="1133856"/>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53128" y="3429000"/>
            <a:ext cx="64008" cy="1133856"/>
          </a:xfrm>
          <a:prstGeom prst="rect">
            <a:avLst/>
          </a:prstGeom>
          <a:solidFill>
            <a:srgbClr val="88B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54296" y="3575304"/>
            <a:ext cx="2898648" cy="228600"/>
          </a:xfrm>
          <a:prstGeom prst="rect">
            <a:avLst/>
          </a:prstGeom>
          <a:noFill/>
        </p:spPr>
        <p:txBody>
          <a:bodyPr wrap="square">
            <a:normAutofit/>
          </a:bodyPr>
          <a:lstStyle/>
          <a:p>
            <a:pPr algn="l"/>
            <a:r>
              <a:rPr sz="1200" b="1">
                <a:solidFill>
                  <a:srgbClr val="223035"/>
                </a:solidFill>
                <a:latin typeface="Microsoft YaHei"/>
              </a:rPr>
              <a:t>场景密集</a:t>
            </a:r>
          </a:p>
        </p:txBody>
      </p:sp>
      <p:sp>
        <p:nvSpPr>
          <p:cNvPr id="21" name="TextBox 20"/>
          <p:cNvSpPr txBox="1"/>
          <p:nvPr/>
        </p:nvSpPr>
        <p:spPr>
          <a:xfrm>
            <a:off x="4654296" y="3931920"/>
            <a:ext cx="2898648" cy="530352"/>
          </a:xfrm>
          <a:prstGeom prst="rect">
            <a:avLst/>
          </a:prstGeom>
          <a:noFill/>
        </p:spPr>
        <p:txBody>
          <a:bodyPr wrap="square">
            <a:normAutofit/>
          </a:bodyPr>
          <a:lstStyle/>
          <a:p>
            <a:pPr algn="l"/>
            <a:r>
              <a:rPr sz="900" b="0">
                <a:solidFill>
                  <a:srgbClr val="626F75"/>
                </a:solidFill>
                <a:latin typeface="Microsoft YaHei"/>
              </a:rPr>
              <a:t>自然资源、应急、农业、水利、能源、重大工程都要监测。</a:t>
            </a:r>
          </a:p>
        </p:txBody>
      </p:sp>
      <p:sp>
        <p:nvSpPr>
          <p:cNvPr id="22" name="Rounded Rectangle 21"/>
          <p:cNvSpPr/>
          <p:nvPr/>
        </p:nvSpPr>
        <p:spPr>
          <a:xfrm>
            <a:off x="8156448" y="3429000"/>
            <a:ext cx="3246120" cy="1133856"/>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56448" y="3429000"/>
            <a:ext cx="64008" cy="1133856"/>
          </a:xfrm>
          <a:prstGeom prst="rect">
            <a:avLst/>
          </a:prstGeom>
          <a:solidFill>
            <a:srgbClr val="B4A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57616" y="3575304"/>
            <a:ext cx="2898648" cy="228600"/>
          </a:xfrm>
          <a:prstGeom prst="rect">
            <a:avLst/>
          </a:prstGeom>
          <a:noFill/>
        </p:spPr>
        <p:txBody>
          <a:bodyPr wrap="square">
            <a:normAutofit/>
          </a:bodyPr>
          <a:lstStyle/>
          <a:p>
            <a:pPr algn="l"/>
            <a:r>
              <a:rPr sz="1200" b="1">
                <a:solidFill>
                  <a:srgbClr val="223035"/>
                </a:solidFill>
                <a:latin typeface="Microsoft YaHei"/>
              </a:rPr>
              <a:t>支付基础</a:t>
            </a:r>
          </a:p>
        </p:txBody>
      </p:sp>
      <p:sp>
        <p:nvSpPr>
          <p:cNvPr id="25" name="TextBox 24"/>
          <p:cNvSpPr txBox="1"/>
          <p:nvPr/>
        </p:nvSpPr>
        <p:spPr>
          <a:xfrm>
            <a:off x="8357616" y="3931920"/>
            <a:ext cx="2898648" cy="530352"/>
          </a:xfrm>
          <a:prstGeom prst="rect">
            <a:avLst/>
          </a:prstGeom>
          <a:noFill/>
        </p:spPr>
        <p:txBody>
          <a:bodyPr wrap="square">
            <a:normAutofit/>
          </a:bodyPr>
          <a:lstStyle/>
          <a:p>
            <a:pPr algn="l"/>
            <a:r>
              <a:rPr sz="900" b="0">
                <a:solidFill>
                  <a:srgbClr val="626F75"/>
                </a:solidFill>
                <a:latin typeface="Microsoft YaHei"/>
              </a:rPr>
              <a:t>已有政企采购和项目交付基础，需要更高复用效率。</a:t>
            </a:r>
          </a:p>
        </p:txBody>
      </p:sp>
      <p:sp>
        <p:nvSpPr>
          <p:cNvPr id="26" name="TextBox 25"/>
          <p:cNvSpPr txBox="1"/>
          <p:nvPr/>
        </p:nvSpPr>
        <p:spPr>
          <a:xfrm>
            <a:off x="914400" y="5715000"/>
            <a:ext cx="10058400" cy="320040"/>
          </a:xfrm>
          <a:prstGeom prst="rect">
            <a:avLst/>
          </a:prstGeom>
          <a:noFill/>
        </p:spPr>
        <p:txBody>
          <a:bodyPr wrap="square">
            <a:normAutofit/>
          </a:bodyPr>
          <a:lstStyle/>
          <a:p>
            <a:pPr algn="ctr"/>
            <a:r>
              <a:rPr sz="1700" b="1">
                <a:solidFill>
                  <a:srgbClr val="487967"/>
                </a:solidFill>
                <a:latin typeface="Microsoft YaHei"/>
              </a:rPr>
              <a:t>中国的机会不是再多一批影像，而是把影像变成可复用的地理智能。</a:t>
            </a:r>
          </a:p>
        </p:txBody>
      </p:sp>
      <p:sp>
        <p:nvSpPr>
          <p:cNvPr id="27" name="TextBox 26"/>
          <p:cNvSpPr txBox="1"/>
          <p:nvPr/>
        </p:nvSpPr>
        <p:spPr>
          <a:xfrm>
            <a:off x="658368" y="6528816"/>
            <a:ext cx="5669280" cy="182880"/>
          </a:xfrm>
          <a:prstGeom prst="rect">
            <a:avLst/>
          </a:prstGeom>
          <a:noFill/>
        </p:spPr>
        <p:txBody>
          <a:bodyPr wrap="square">
            <a:normAutofit/>
          </a:bodyPr>
          <a:lstStyle/>
          <a:p>
            <a:pPr algn="l"/>
            <a:r>
              <a:rPr sz="700" b="0">
                <a:solidFill>
                  <a:srgbClr val="626F75"/>
                </a:solidFill>
                <a:latin typeface="Microsoft YaHei"/>
              </a:rPr>
              <a:t>玄女科技商业计划书 v0.3｜按 22 页内容稿重制</a:t>
            </a:r>
          </a:p>
        </p:txBody>
      </p:sp>
      <p:sp>
        <p:nvSpPr>
          <p:cNvPr id="28" name="TextBox 27"/>
          <p:cNvSpPr txBox="1"/>
          <p:nvPr/>
        </p:nvSpPr>
        <p:spPr>
          <a:xfrm>
            <a:off x="11018520" y="6510528"/>
            <a:ext cx="457200" cy="182880"/>
          </a:xfrm>
          <a:prstGeom prst="rect">
            <a:avLst/>
          </a:prstGeom>
          <a:noFill/>
        </p:spPr>
        <p:txBody>
          <a:bodyPr wrap="square">
            <a:normAutofit/>
          </a:bodyPr>
          <a:lstStyle/>
          <a:p>
            <a:pPr algn="r"/>
            <a:r>
              <a:rPr sz="800" b="0">
                <a:solidFill>
                  <a:srgbClr val="626F75"/>
                </a:solidFill>
                <a:latin typeface="Microsoft YaHe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TextBox 1"/>
          <p:cNvSpPr txBox="1"/>
          <p:nvPr/>
        </p:nvSpPr>
        <p:spPr>
          <a:xfrm>
            <a:off x="658368" y="384048"/>
            <a:ext cx="411480" cy="201168"/>
          </a:xfrm>
          <a:prstGeom prst="rect">
            <a:avLst/>
          </a:prstGeom>
          <a:noFill/>
        </p:spPr>
        <p:txBody>
          <a:bodyPr wrap="square">
            <a:normAutofit/>
          </a:bodyPr>
          <a:lstStyle/>
          <a:p>
            <a:pPr algn="l"/>
            <a:r>
              <a:rPr sz="800" b="1">
                <a:solidFill>
                  <a:srgbClr val="487967"/>
                </a:solidFill>
                <a:latin typeface="Microsoft YaHei"/>
              </a:rPr>
              <a:t>05</a:t>
            </a:r>
          </a:p>
        </p:txBody>
      </p:sp>
      <p:sp>
        <p:nvSpPr>
          <p:cNvPr id="3" name="TextBox 2"/>
          <p:cNvSpPr txBox="1"/>
          <p:nvPr/>
        </p:nvSpPr>
        <p:spPr>
          <a:xfrm>
            <a:off x="1078992" y="310896"/>
            <a:ext cx="9875520" cy="493776"/>
          </a:xfrm>
          <a:prstGeom prst="rect">
            <a:avLst/>
          </a:prstGeom>
          <a:noFill/>
        </p:spPr>
        <p:txBody>
          <a:bodyPr wrap="square">
            <a:normAutofit/>
          </a:bodyPr>
          <a:lstStyle/>
          <a:p>
            <a:pPr algn="l"/>
            <a:r>
              <a:rPr sz="2300" b="1">
                <a:solidFill>
                  <a:srgbClr val="223035"/>
                </a:solidFill>
                <a:latin typeface="Microsoft YaHei"/>
              </a:rPr>
              <a:t>今天的遥感公司，主要还是靠项目、人力和数据交付赚钱</a:t>
            </a:r>
          </a:p>
        </p:txBody>
      </p:sp>
      <p:sp>
        <p:nvSpPr>
          <p:cNvPr id="4" name="Rectangle 3"/>
          <p:cNvSpPr/>
          <p:nvPr/>
        </p:nvSpPr>
        <p:spPr>
          <a:xfrm>
            <a:off x="1005840" y="1417320"/>
            <a:ext cx="9601200" cy="539496"/>
          </a:xfrm>
          <a:prstGeom prst="rect">
            <a:avLst/>
          </a:prstGeom>
          <a:solidFill>
            <a:srgbClr val="F2F9F5"/>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 y="1508760"/>
            <a:ext cx="1828800" cy="420623"/>
          </a:xfrm>
          <a:prstGeom prst="rect">
            <a:avLst/>
          </a:prstGeom>
          <a:noFill/>
        </p:spPr>
        <p:txBody>
          <a:bodyPr wrap="square">
            <a:normAutofit/>
          </a:bodyPr>
          <a:lstStyle/>
          <a:p>
            <a:pPr algn="l"/>
            <a:r>
              <a:rPr sz="800" b="1">
                <a:solidFill>
                  <a:srgbClr val="223035"/>
                </a:solidFill>
                <a:latin typeface="Microsoft YaHei"/>
              </a:rPr>
              <a:t>收入方式</a:t>
            </a:r>
          </a:p>
        </p:txBody>
      </p:sp>
      <p:sp>
        <p:nvSpPr>
          <p:cNvPr id="6" name="TextBox 5"/>
          <p:cNvSpPr txBox="1"/>
          <p:nvPr/>
        </p:nvSpPr>
        <p:spPr>
          <a:xfrm>
            <a:off x="2980944" y="1508760"/>
            <a:ext cx="3749040" cy="420623"/>
          </a:xfrm>
          <a:prstGeom prst="rect">
            <a:avLst/>
          </a:prstGeom>
          <a:noFill/>
        </p:spPr>
        <p:txBody>
          <a:bodyPr wrap="square">
            <a:normAutofit/>
          </a:bodyPr>
          <a:lstStyle/>
          <a:p>
            <a:pPr algn="l"/>
            <a:r>
              <a:rPr sz="800" b="1">
                <a:solidFill>
                  <a:srgbClr val="223035"/>
                </a:solidFill>
                <a:latin typeface="Microsoft YaHei"/>
              </a:rPr>
              <a:t>交付内容</a:t>
            </a:r>
          </a:p>
        </p:txBody>
      </p:sp>
      <p:sp>
        <p:nvSpPr>
          <p:cNvPr id="7" name="TextBox 6"/>
          <p:cNvSpPr txBox="1"/>
          <p:nvPr/>
        </p:nvSpPr>
        <p:spPr>
          <a:xfrm>
            <a:off x="6821424" y="1508760"/>
            <a:ext cx="3749040" cy="420623"/>
          </a:xfrm>
          <a:prstGeom prst="rect">
            <a:avLst/>
          </a:prstGeom>
          <a:noFill/>
        </p:spPr>
        <p:txBody>
          <a:bodyPr wrap="square">
            <a:normAutofit/>
          </a:bodyPr>
          <a:lstStyle/>
          <a:p>
            <a:pPr algn="l"/>
            <a:r>
              <a:rPr sz="800" b="1">
                <a:solidFill>
                  <a:srgbClr val="223035"/>
                </a:solidFill>
                <a:latin typeface="Microsoft YaHei"/>
              </a:rPr>
              <a:t>受限点</a:t>
            </a:r>
          </a:p>
        </p:txBody>
      </p:sp>
      <p:sp>
        <p:nvSpPr>
          <p:cNvPr id="8" name="Rectangle 7"/>
          <p:cNvSpPr/>
          <p:nvPr/>
        </p:nvSpPr>
        <p:spPr>
          <a:xfrm>
            <a:off x="1005840" y="1984248"/>
            <a:ext cx="9601200" cy="539496"/>
          </a:xfrm>
          <a:prstGeom prst="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0704" y="2075688"/>
            <a:ext cx="1828800" cy="420623"/>
          </a:xfrm>
          <a:prstGeom prst="rect">
            <a:avLst/>
          </a:prstGeom>
          <a:noFill/>
        </p:spPr>
        <p:txBody>
          <a:bodyPr wrap="square">
            <a:normAutofit/>
          </a:bodyPr>
          <a:lstStyle/>
          <a:p>
            <a:pPr algn="l"/>
            <a:r>
              <a:rPr sz="800" b="1">
                <a:solidFill>
                  <a:srgbClr val="626F75"/>
                </a:solidFill>
                <a:latin typeface="Microsoft YaHei"/>
              </a:rPr>
              <a:t>数据销售</a:t>
            </a:r>
          </a:p>
        </p:txBody>
      </p:sp>
      <p:sp>
        <p:nvSpPr>
          <p:cNvPr id="10" name="TextBox 9"/>
          <p:cNvSpPr txBox="1"/>
          <p:nvPr/>
        </p:nvSpPr>
        <p:spPr>
          <a:xfrm>
            <a:off x="2980944" y="2075688"/>
            <a:ext cx="3749040" cy="420623"/>
          </a:xfrm>
          <a:prstGeom prst="rect">
            <a:avLst/>
          </a:prstGeom>
          <a:noFill/>
        </p:spPr>
        <p:txBody>
          <a:bodyPr wrap="square">
            <a:normAutofit/>
          </a:bodyPr>
          <a:lstStyle/>
          <a:p>
            <a:pPr algn="l"/>
            <a:r>
              <a:rPr sz="800" b="0">
                <a:solidFill>
                  <a:srgbClr val="626F75"/>
                </a:solidFill>
                <a:latin typeface="Microsoft YaHei"/>
              </a:rPr>
              <a:t>影像 / 底图 / 时相</a:t>
            </a:r>
          </a:p>
        </p:txBody>
      </p:sp>
      <p:sp>
        <p:nvSpPr>
          <p:cNvPr id="11" name="TextBox 10"/>
          <p:cNvSpPr txBox="1"/>
          <p:nvPr/>
        </p:nvSpPr>
        <p:spPr>
          <a:xfrm>
            <a:off x="6821424" y="2075688"/>
            <a:ext cx="3749040" cy="420623"/>
          </a:xfrm>
          <a:prstGeom prst="rect">
            <a:avLst/>
          </a:prstGeom>
          <a:noFill/>
        </p:spPr>
        <p:txBody>
          <a:bodyPr wrap="square">
            <a:normAutofit/>
          </a:bodyPr>
          <a:lstStyle/>
          <a:p>
            <a:pPr algn="l"/>
            <a:r>
              <a:rPr sz="800" b="0">
                <a:solidFill>
                  <a:srgbClr val="626F75"/>
                </a:solidFill>
                <a:latin typeface="Microsoft YaHei"/>
              </a:rPr>
              <a:t>价值停在数据层</a:t>
            </a:r>
          </a:p>
        </p:txBody>
      </p:sp>
      <p:sp>
        <p:nvSpPr>
          <p:cNvPr id="12" name="Rectangle 11"/>
          <p:cNvSpPr/>
          <p:nvPr/>
        </p:nvSpPr>
        <p:spPr>
          <a:xfrm>
            <a:off x="1005840" y="2551176"/>
            <a:ext cx="9601200" cy="539496"/>
          </a:xfrm>
          <a:prstGeom prst="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642616"/>
            <a:ext cx="1828800" cy="420623"/>
          </a:xfrm>
          <a:prstGeom prst="rect">
            <a:avLst/>
          </a:prstGeom>
          <a:noFill/>
        </p:spPr>
        <p:txBody>
          <a:bodyPr wrap="square">
            <a:normAutofit/>
          </a:bodyPr>
          <a:lstStyle/>
          <a:p>
            <a:pPr algn="l"/>
            <a:r>
              <a:rPr sz="800" b="1">
                <a:solidFill>
                  <a:srgbClr val="626F75"/>
                </a:solidFill>
                <a:latin typeface="Microsoft YaHei"/>
              </a:rPr>
              <a:t>项目交付</a:t>
            </a:r>
          </a:p>
        </p:txBody>
      </p:sp>
      <p:sp>
        <p:nvSpPr>
          <p:cNvPr id="14" name="TextBox 13"/>
          <p:cNvSpPr txBox="1"/>
          <p:nvPr/>
        </p:nvSpPr>
        <p:spPr>
          <a:xfrm>
            <a:off x="2980944" y="2642616"/>
            <a:ext cx="3749040" cy="420623"/>
          </a:xfrm>
          <a:prstGeom prst="rect">
            <a:avLst/>
          </a:prstGeom>
          <a:noFill/>
        </p:spPr>
        <p:txBody>
          <a:bodyPr wrap="square">
            <a:normAutofit/>
          </a:bodyPr>
          <a:lstStyle/>
          <a:p>
            <a:pPr algn="l"/>
            <a:r>
              <a:rPr sz="800" b="0">
                <a:solidFill>
                  <a:srgbClr val="626F75"/>
                </a:solidFill>
                <a:latin typeface="Microsoft YaHei"/>
              </a:rPr>
              <a:t>变化检测 / 制图 / 报告</a:t>
            </a:r>
          </a:p>
        </p:txBody>
      </p:sp>
      <p:sp>
        <p:nvSpPr>
          <p:cNvPr id="15" name="TextBox 14"/>
          <p:cNvSpPr txBox="1"/>
          <p:nvPr/>
        </p:nvSpPr>
        <p:spPr>
          <a:xfrm>
            <a:off x="6821424" y="2642616"/>
            <a:ext cx="3749040" cy="420623"/>
          </a:xfrm>
          <a:prstGeom prst="rect">
            <a:avLst/>
          </a:prstGeom>
          <a:noFill/>
        </p:spPr>
        <p:txBody>
          <a:bodyPr wrap="square">
            <a:normAutofit/>
          </a:bodyPr>
          <a:lstStyle/>
          <a:p>
            <a:pPr algn="l"/>
            <a:r>
              <a:rPr sz="800" b="0">
                <a:solidFill>
                  <a:srgbClr val="626F75"/>
                </a:solidFill>
                <a:latin typeface="Microsoft YaHei"/>
              </a:rPr>
              <a:t>项目越多人越多</a:t>
            </a:r>
          </a:p>
        </p:txBody>
      </p:sp>
      <p:sp>
        <p:nvSpPr>
          <p:cNvPr id="16" name="Rectangle 15"/>
          <p:cNvSpPr/>
          <p:nvPr/>
        </p:nvSpPr>
        <p:spPr>
          <a:xfrm>
            <a:off x="1005840" y="3118104"/>
            <a:ext cx="9601200" cy="539496"/>
          </a:xfrm>
          <a:prstGeom prst="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0704" y="3209544"/>
            <a:ext cx="1828800" cy="420623"/>
          </a:xfrm>
          <a:prstGeom prst="rect">
            <a:avLst/>
          </a:prstGeom>
          <a:noFill/>
        </p:spPr>
        <p:txBody>
          <a:bodyPr wrap="square">
            <a:normAutofit/>
          </a:bodyPr>
          <a:lstStyle/>
          <a:p>
            <a:pPr algn="l"/>
            <a:r>
              <a:rPr sz="800" b="1">
                <a:solidFill>
                  <a:srgbClr val="626F75"/>
                </a:solidFill>
                <a:latin typeface="Microsoft YaHei"/>
              </a:rPr>
              <a:t>平台授权</a:t>
            </a:r>
          </a:p>
        </p:txBody>
      </p:sp>
      <p:sp>
        <p:nvSpPr>
          <p:cNvPr id="18" name="TextBox 17"/>
          <p:cNvSpPr txBox="1"/>
          <p:nvPr/>
        </p:nvSpPr>
        <p:spPr>
          <a:xfrm>
            <a:off x="2980944" y="3209544"/>
            <a:ext cx="3749040" cy="420623"/>
          </a:xfrm>
          <a:prstGeom prst="rect">
            <a:avLst/>
          </a:prstGeom>
          <a:noFill/>
        </p:spPr>
        <p:txBody>
          <a:bodyPr wrap="square">
            <a:normAutofit/>
          </a:bodyPr>
          <a:lstStyle/>
          <a:p>
            <a:pPr algn="l"/>
            <a:r>
              <a:rPr sz="800" b="0">
                <a:solidFill>
                  <a:srgbClr val="626F75"/>
                </a:solidFill>
                <a:latin typeface="Microsoft YaHei"/>
              </a:rPr>
              <a:t>软件 / 私有化部署</a:t>
            </a:r>
          </a:p>
        </p:txBody>
      </p:sp>
      <p:sp>
        <p:nvSpPr>
          <p:cNvPr id="19" name="TextBox 18"/>
          <p:cNvSpPr txBox="1"/>
          <p:nvPr/>
        </p:nvSpPr>
        <p:spPr>
          <a:xfrm>
            <a:off x="6821424" y="3209544"/>
            <a:ext cx="3749040" cy="420623"/>
          </a:xfrm>
          <a:prstGeom prst="rect">
            <a:avLst/>
          </a:prstGeom>
          <a:noFill/>
        </p:spPr>
        <p:txBody>
          <a:bodyPr wrap="square">
            <a:normAutofit/>
          </a:bodyPr>
          <a:lstStyle/>
          <a:p>
            <a:pPr algn="l"/>
            <a:r>
              <a:rPr sz="800" b="0">
                <a:solidFill>
                  <a:srgbClr val="626F75"/>
                </a:solidFill>
                <a:latin typeface="Microsoft YaHei"/>
              </a:rPr>
              <a:t>智能任务仍需定制</a:t>
            </a:r>
          </a:p>
        </p:txBody>
      </p:sp>
      <p:sp>
        <p:nvSpPr>
          <p:cNvPr id="20" name="Rectangle 19"/>
          <p:cNvSpPr/>
          <p:nvPr/>
        </p:nvSpPr>
        <p:spPr>
          <a:xfrm>
            <a:off x="1005840" y="3685032"/>
            <a:ext cx="9601200" cy="539496"/>
          </a:xfrm>
          <a:prstGeom prst="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0704" y="3776472"/>
            <a:ext cx="1828800" cy="420623"/>
          </a:xfrm>
          <a:prstGeom prst="rect">
            <a:avLst/>
          </a:prstGeom>
          <a:noFill/>
        </p:spPr>
        <p:txBody>
          <a:bodyPr wrap="square">
            <a:normAutofit/>
          </a:bodyPr>
          <a:lstStyle/>
          <a:p>
            <a:pPr algn="l"/>
            <a:r>
              <a:rPr sz="800" b="1">
                <a:solidFill>
                  <a:srgbClr val="626F75"/>
                </a:solidFill>
                <a:latin typeface="Microsoft YaHei"/>
              </a:rPr>
              <a:t>专业服务</a:t>
            </a:r>
          </a:p>
        </p:txBody>
      </p:sp>
      <p:sp>
        <p:nvSpPr>
          <p:cNvPr id="22" name="TextBox 21"/>
          <p:cNvSpPr txBox="1"/>
          <p:nvPr/>
        </p:nvSpPr>
        <p:spPr>
          <a:xfrm>
            <a:off x="2980944" y="3776472"/>
            <a:ext cx="3749040" cy="420623"/>
          </a:xfrm>
          <a:prstGeom prst="rect">
            <a:avLst/>
          </a:prstGeom>
          <a:noFill/>
        </p:spPr>
        <p:txBody>
          <a:bodyPr wrap="square">
            <a:normAutofit/>
          </a:bodyPr>
          <a:lstStyle/>
          <a:p>
            <a:pPr algn="l"/>
            <a:r>
              <a:rPr sz="800" b="0">
                <a:solidFill>
                  <a:srgbClr val="626F75"/>
                </a:solidFill>
                <a:latin typeface="Microsoft YaHei"/>
              </a:rPr>
              <a:t>人工解译 / 标注 / 核查</a:t>
            </a:r>
          </a:p>
        </p:txBody>
      </p:sp>
      <p:sp>
        <p:nvSpPr>
          <p:cNvPr id="23" name="TextBox 22"/>
          <p:cNvSpPr txBox="1"/>
          <p:nvPr/>
        </p:nvSpPr>
        <p:spPr>
          <a:xfrm>
            <a:off x="6821424" y="3776472"/>
            <a:ext cx="3749040" cy="420623"/>
          </a:xfrm>
          <a:prstGeom prst="rect">
            <a:avLst/>
          </a:prstGeom>
          <a:noFill/>
        </p:spPr>
        <p:txBody>
          <a:bodyPr wrap="square">
            <a:normAutofit/>
          </a:bodyPr>
          <a:lstStyle/>
          <a:p>
            <a:pPr algn="l"/>
            <a:r>
              <a:rPr sz="800" b="0">
                <a:solidFill>
                  <a:srgbClr val="626F75"/>
                </a:solidFill>
                <a:latin typeface="Microsoft YaHei"/>
              </a:rPr>
              <a:t>毛利被人力吞掉</a:t>
            </a:r>
          </a:p>
        </p:txBody>
      </p:sp>
      <p:sp>
        <p:nvSpPr>
          <p:cNvPr id="24" name="Rectangle 23"/>
          <p:cNvSpPr/>
          <p:nvPr/>
        </p:nvSpPr>
        <p:spPr>
          <a:xfrm>
            <a:off x="1005840" y="4251960"/>
            <a:ext cx="9601200" cy="539496"/>
          </a:xfrm>
          <a:prstGeom prst="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0704" y="4343400"/>
            <a:ext cx="1828800" cy="420623"/>
          </a:xfrm>
          <a:prstGeom prst="rect">
            <a:avLst/>
          </a:prstGeom>
          <a:noFill/>
        </p:spPr>
        <p:txBody>
          <a:bodyPr wrap="square">
            <a:normAutofit/>
          </a:bodyPr>
          <a:lstStyle/>
          <a:p>
            <a:pPr algn="l"/>
            <a:r>
              <a:rPr sz="800" b="1">
                <a:solidFill>
                  <a:srgbClr val="626F75"/>
                </a:solidFill>
                <a:latin typeface="Microsoft YaHei"/>
              </a:rPr>
              <a:t>订阅接口</a:t>
            </a:r>
          </a:p>
        </p:txBody>
      </p:sp>
      <p:sp>
        <p:nvSpPr>
          <p:cNvPr id="26" name="TextBox 25"/>
          <p:cNvSpPr txBox="1"/>
          <p:nvPr/>
        </p:nvSpPr>
        <p:spPr>
          <a:xfrm>
            <a:off x="2980944" y="4343400"/>
            <a:ext cx="3749040" cy="420623"/>
          </a:xfrm>
          <a:prstGeom prst="rect">
            <a:avLst/>
          </a:prstGeom>
          <a:noFill/>
        </p:spPr>
        <p:txBody>
          <a:bodyPr wrap="square">
            <a:normAutofit/>
          </a:bodyPr>
          <a:lstStyle/>
          <a:p>
            <a:pPr algn="l"/>
            <a:r>
              <a:rPr sz="800" b="0">
                <a:solidFill>
                  <a:srgbClr val="626F75"/>
                </a:solidFill>
                <a:latin typeface="Microsoft YaHei"/>
              </a:rPr>
              <a:t>监测服务 / 接口调用</a:t>
            </a:r>
          </a:p>
        </p:txBody>
      </p:sp>
      <p:sp>
        <p:nvSpPr>
          <p:cNvPr id="27" name="TextBox 26"/>
          <p:cNvSpPr txBox="1"/>
          <p:nvPr/>
        </p:nvSpPr>
        <p:spPr>
          <a:xfrm>
            <a:off x="6821424" y="4343400"/>
            <a:ext cx="3749040" cy="420623"/>
          </a:xfrm>
          <a:prstGeom prst="rect">
            <a:avLst/>
          </a:prstGeom>
          <a:noFill/>
        </p:spPr>
        <p:txBody>
          <a:bodyPr wrap="square">
            <a:normAutofit/>
          </a:bodyPr>
          <a:lstStyle/>
          <a:p>
            <a:pPr algn="l"/>
            <a:r>
              <a:rPr sz="800" b="0">
                <a:solidFill>
                  <a:srgbClr val="626F75"/>
                </a:solidFill>
                <a:latin typeface="Microsoft YaHei"/>
              </a:rPr>
              <a:t>行业仍在早期</a:t>
            </a:r>
          </a:p>
        </p:txBody>
      </p:sp>
      <p:sp>
        <p:nvSpPr>
          <p:cNvPr id="28" name="TextBox 27"/>
          <p:cNvSpPr txBox="1"/>
          <p:nvPr/>
        </p:nvSpPr>
        <p:spPr>
          <a:xfrm>
            <a:off x="914400" y="5623560"/>
            <a:ext cx="10149840" cy="347472"/>
          </a:xfrm>
          <a:prstGeom prst="rect">
            <a:avLst/>
          </a:prstGeom>
          <a:noFill/>
        </p:spPr>
        <p:txBody>
          <a:bodyPr wrap="square">
            <a:normAutofit/>
          </a:bodyPr>
          <a:lstStyle/>
          <a:p>
            <a:pPr algn="ctr"/>
            <a:r>
              <a:rPr sz="1900" b="1">
                <a:solidFill>
                  <a:srgbClr val="487967"/>
                </a:solidFill>
                <a:latin typeface="Microsoft YaHei"/>
              </a:rPr>
              <a:t>行业不是没有需求，而是需求越多，传统交付方式越重。</a:t>
            </a:r>
          </a:p>
        </p:txBody>
      </p:sp>
      <p:sp>
        <p:nvSpPr>
          <p:cNvPr id="29" name="TextBox 28"/>
          <p:cNvSpPr txBox="1"/>
          <p:nvPr/>
        </p:nvSpPr>
        <p:spPr>
          <a:xfrm>
            <a:off x="658368" y="6528816"/>
            <a:ext cx="5669280" cy="182880"/>
          </a:xfrm>
          <a:prstGeom prst="rect">
            <a:avLst/>
          </a:prstGeom>
          <a:noFill/>
        </p:spPr>
        <p:txBody>
          <a:bodyPr wrap="square">
            <a:normAutofit/>
          </a:bodyPr>
          <a:lstStyle/>
          <a:p>
            <a:pPr algn="l"/>
            <a:r>
              <a:rPr sz="700" b="0">
                <a:solidFill>
                  <a:srgbClr val="626F75"/>
                </a:solidFill>
                <a:latin typeface="Microsoft YaHei"/>
              </a:rPr>
              <a:t>玄女科技商业计划书 v0.3｜按 22 页内容稿重制</a:t>
            </a:r>
          </a:p>
        </p:txBody>
      </p:sp>
      <p:sp>
        <p:nvSpPr>
          <p:cNvPr id="30" name="TextBox 29"/>
          <p:cNvSpPr txBox="1"/>
          <p:nvPr/>
        </p:nvSpPr>
        <p:spPr>
          <a:xfrm>
            <a:off x="11018520" y="6510528"/>
            <a:ext cx="457200" cy="182880"/>
          </a:xfrm>
          <a:prstGeom prst="rect">
            <a:avLst/>
          </a:prstGeom>
          <a:noFill/>
        </p:spPr>
        <p:txBody>
          <a:bodyPr wrap="square">
            <a:normAutofit/>
          </a:bodyPr>
          <a:lstStyle/>
          <a:p>
            <a:pPr algn="r"/>
            <a:r>
              <a:rPr sz="800" b="0">
                <a:solidFill>
                  <a:srgbClr val="626F75"/>
                </a:solidFill>
                <a:latin typeface="Microsoft YaHe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TextBox 1"/>
          <p:cNvSpPr txBox="1"/>
          <p:nvPr/>
        </p:nvSpPr>
        <p:spPr>
          <a:xfrm>
            <a:off x="658368" y="384048"/>
            <a:ext cx="411480" cy="201168"/>
          </a:xfrm>
          <a:prstGeom prst="rect">
            <a:avLst/>
          </a:prstGeom>
          <a:noFill/>
        </p:spPr>
        <p:txBody>
          <a:bodyPr wrap="square">
            <a:normAutofit/>
          </a:bodyPr>
          <a:lstStyle/>
          <a:p>
            <a:pPr algn="l"/>
            <a:r>
              <a:rPr sz="800" b="1">
                <a:solidFill>
                  <a:srgbClr val="487967"/>
                </a:solidFill>
                <a:latin typeface="Microsoft YaHei"/>
              </a:rPr>
              <a:t>06</a:t>
            </a:r>
          </a:p>
        </p:txBody>
      </p:sp>
      <p:sp>
        <p:nvSpPr>
          <p:cNvPr id="3" name="TextBox 2"/>
          <p:cNvSpPr txBox="1"/>
          <p:nvPr/>
        </p:nvSpPr>
        <p:spPr>
          <a:xfrm>
            <a:off x="1078992" y="310896"/>
            <a:ext cx="9875520" cy="493776"/>
          </a:xfrm>
          <a:prstGeom prst="rect">
            <a:avLst/>
          </a:prstGeom>
          <a:noFill/>
        </p:spPr>
        <p:txBody>
          <a:bodyPr wrap="square">
            <a:normAutofit/>
          </a:bodyPr>
          <a:lstStyle/>
          <a:p>
            <a:pPr algn="l"/>
            <a:r>
              <a:rPr sz="2300" b="1">
                <a:solidFill>
                  <a:srgbClr val="223035"/>
                </a:solidFill>
                <a:latin typeface="Microsoft YaHei"/>
              </a:rPr>
              <a:t>真正的瓶颈不是数据少，而是每个任务都重做一遍</a:t>
            </a:r>
          </a:p>
        </p:txBody>
      </p:sp>
      <p:sp>
        <p:nvSpPr>
          <p:cNvPr id="4" name="Rounded Rectangle 3"/>
          <p:cNvSpPr/>
          <p:nvPr/>
        </p:nvSpPr>
        <p:spPr>
          <a:xfrm>
            <a:off x="1005840" y="1645920"/>
            <a:ext cx="1524000" cy="530352"/>
          </a:xfrm>
          <a:prstGeom prst="roundRect">
            <a:avLst/>
          </a:prstGeom>
          <a:solidFill>
            <a:srgbClr val="F6FAF8"/>
          </a:solidFill>
          <a:ln w="10160">
            <a:solidFill>
              <a:srgbClr val="88B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 y="1801368"/>
            <a:ext cx="1414272" cy="164592"/>
          </a:xfrm>
          <a:prstGeom prst="rect">
            <a:avLst/>
          </a:prstGeom>
          <a:noFill/>
        </p:spPr>
        <p:txBody>
          <a:bodyPr wrap="square">
            <a:normAutofit/>
          </a:bodyPr>
          <a:lstStyle/>
          <a:p>
            <a:pPr algn="ctr"/>
            <a:r>
              <a:rPr sz="800" b="1">
                <a:solidFill>
                  <a:srgbClr val="223035"/>
                </a:solidFill>
                <a:latin typeface="Microsoft YaHei"/>
              </a:rPr>
              <a:t>找数据</a:t>
            </a:r>
          </a:p>
        </p:txBody>
      </p:sp>
      <p:sp>
        <p:nvSpPr>
          <p:cNvPr id="6" name="TextBox 5"/>
          <p:cNvSpPr txBox="1"/>
          <p:nvPr/>
        </p:nvSpPr>
        <p:spPr>
          <a:xfrm>
            <a:off x="2548128" y="181051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7" name="Rounded Rectangle 6"/>
          <p:cNvSpPr/>
          <p:nvPr/>
        </p:nvSpPr>
        <p:spPr>
          <a:xfrm>
            <a:off x="2676144" y="1645920"/>
            <a:ext cx="1524000" cy="530352"/>
          </a:xfrm>
          <a:prstGeom prst="roundRect">
            <a:avLst/>
          </a:prstGeom>
          <a:solidFill>
            <a:srgbClr val="F6FAF8"/>
          </a:solidFill>
          <a:ln w="10160">
            <a:solidFill>
              <a:srgbClr val="88B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31008" y="1801368"/>
            <a:ext cx="1414272" cy="164592"/>
          </a:xfrm>
          <a:prstGeom prst="rect">
            <a:avLst/>
          </a:prstGeom>
          <a:noFill/>
        </p:spPr>
        <p:txBody>
          <a:bodyPr wrap="square">
            <a:normAutofit/>
          </a:bodyPr>
          <a:lstStyle/>
          <a:p>
            <a:pPr algn="ctr"/>
            <a:r>
              <a:rPr sz="800" b="1">
                <a:solidFill>
                  <a:srgbClr val="223035"/>
                </a:solidFill>
                <a:latin typeface="Microsoft YaHei"/>
              </a:rPr>
              <a:t>预处理</a:t>
            </a:r>
          </a:p>
        </p:txBody>
      </p:sp>
      <p:sp>
        <p:nvSpPr>
          <p:cNvPr id="9" name="TextBox 8"/>
          <p:cNvSpPr txBox="1"/>
          <p:nvPr/>
        </p:nvSpPr>
        <p:spPr>
          <a:xfrm>
            <a:off x="4218432" y="181051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10" name="Rounded Rectangle 9"/>
          <p:cNvSpPr/>
          <p:nvPr/>
        </p:nvSpPr>
        <p:spPr>
          <a:xfrm>
            <a:off x="4346448" y="1645920"/>
            <a:ext cx="1524000" cy="530352"/>
          </a:xfrm>
          <a:prstGeom prst="roundRect">
            <a:avLst/>
          </a:prstGeom>
          <a:solidFill>
            <a:srgbClr val="F6FAF8"/>
          </a:solidFill>
          <a:ln w="10160">
            <a:solidFill>
              <a:srgbClr val="88B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01312" y="1801368"/>
            <a:ext cx="1414272" cy="164592"/>
          </a:xfrm>
          <a:prstGeom prst="rect">
            <a:avLst/>
          </a:prstGeom>
          <a:noFill/>
        </p:spPr>
        <p:txBody>
          <a:bodyPr wrap="square">
            <a:normAutofit/>
          </a:bodyPr>
          <a:lstStyle/>
          <a:p>
            <a:pPr algn="ctr"/>
            <a:r>
              <a:rPr sz="800" b="1">
                <a:solidFill>
                  <a:srgbClr val="223035"/>
                </a:solidFill>
                <a:latin typeface="Microsoft YaHei"/>
              </a:rPr>
              <a:t>标注</a:t>
            </a:r>
          </a:p>
        </p:txBody>
      </p:sp>
      <p:sp>
        <p:nvSpPr>
          <p:cNvPr id="12" name="TextBox 11"/>
          <p:cNvSpPr txBox="1"/>
          <p:nvPr/>
        </p:nvSpPr>
        <p:spPr>
          <a:xfrm>
            <a:off x="5888736" y="181051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13" name="Rounded Rectangle 12"/>
          <p:cNvSpPr/>
          <p:nvPr/>
        </p:nvSpPr>
        <p:spPr>
          <a:xfrm>
            <a:off x="6016752" y="1645920"/>
            <a:ext cx="1524000" cy="530352"/>
          </a:xfrm>
          <a:prstGeom prst="roundRect">
            <a:avLst/>
          </a:prstGeom>
          <a:solidFill>
            <a:srgbClr val="F6FAF8"/>
          </a:solidFill>
          <a:ln w="10160">
            <a:solidFill>
              <a:srgbClr val="88B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71616" y="1801368"/>
            <a:ext cx="1414272" cy="164592"/>
          </a:xfrm>
          <a:prstGeom prst="rect">
            <a:avLst/>
          </a:prstGeom>
          <a:noFill/>
        </p:spPr>
        <p:txBody>
          <a:bodyPr wrap="square">
            <a:normAutofit/>
          </a:bodyPr>
          <a:lstStyle/>
          <a:p>
            <a:pPr algn="ctr"/>
            <a:r>
              <a:rPr sz="800" b="1">
                <a:solidFill>
                  <a:srgbClr val="223035"/>
                </a:solidFill>
                <a:latin typeface="Microsoft YaHei"/>
              </a:rPr>
              <a:t>训练</a:t>
            </a:r>
          </a:p>
        </p:txBody>
      </p:sp>
      <p:sp>
        <p:nvSpPr>
          <p:cNvPr id="15" name="TextBox 14"/>
          <p:cNvSpPr txBox="1"/>
          <p:nvPr/>
        </p:nvSpPr>
        <p:spPr>
          <a:xfrm>
            <a:off x="7559039" y="181051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16" name="Rounded Rectangle 15"/>
          <p:cNvSpPr/>
          <p:nvPr/>
        </p:nvSpPr>
        <p:spPr>
          <a:xfrm>
            <a:off x="7687056" y="1645920"/>
            <a:ext cx="1524000" cy="530352"/>
          </a:xfrm>
          <a:prstGeom prst="roundRect">
            <a:avLst/>
          </a:prstGeom>
          <a:solidFill>
            <a:srgbClr val="F6FAF8"/>
          </a:solidFill>
          <a:ln w="10160">
            <a:solidFill>
              <a:srgbClr val="88B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41920" y="1801368"/>
            <a:ext cx="1414272" cy="164592"/>
          </a:xfrm>
          <a:prstGeom prst="rect">
            <a:avLst/>
          </a:prstGeom>
          <a:noFill/>
        </p:spPr>
        <p:txBody>
          <a:bodyPr wrap="square">
            <a:normAutofit/>
          </a:bodyPr>
          <a:lstStyle/>
          <a:p>
            <a:pPr algn="ctr"/>
            <a:r>
              <a:rPr sz="800" b="1">
                <a:solidFill>
                  <a:srgbClr val="223035"/>
                </a:solidFill>
                <a:latin typeface="Microsoft YaHei"/>
              </a:rPr>
              <a:t>核查</a:t>
            </a:r>
          </a:p>
        </p:txBody>
      </p:sp>
      <p:sp>
        <p:nvSpPr>
          <p:cNvPr id="18" name="TextBox 17"/>
          <p:cNvSpPr txBox="1"/>
          <p:nvPr/>
        </p:nvSpPr>
        <p:spPr>
          <a:xfrm>
            <a:off x="9229343" y="181051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19" name="Rounded Rectangle 18"/>
          <p:cNvSpPr/>
          <p:nvPr/>
        </p:nvSpPr>
        <p:spPr>
          <a:xfrm>
            <a:off x="9357360" y="1645920"/>
            <a:ext cx="1524000" cy="530352"/>
          </a:xfrm>
          <a:prstGeom prst="roundRect">
            <a:avLst/>
          </a:prstGeom>
          <a:solidFill>
            <a:srgbClr val="F6FAF8"/>
          </a:solidFill>
          <a:ln w="10160">
            <a:solidFill>
              <a:srgbClr val="88B5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2224" y="1801368"/>
            <a:ext cx="1414272" cy="164592"/>
          </a:xfrm>
          <a:prstGeom prst="rect">
            <a:avLst/>
          </a:prstGeom>
          <a:noFill/>
        </p:spPr>
        <p:txBody>
          <a:bodyPr wrap="square">
            <a:normAutofit/>
          </a:bodyPr>
          <a:lstStyle/>
          <a:p>
            <a:pPr algn="ctr"/>
            <a:r>
              <a:rPr sz="800" b="1">
                <a:solidFill>
                  <a:srgbClr val="223035"/>
                </a:solidFill>
                <a:latin typeface="Microsoft YaHei"/>
              </a:rPr>
              <a:t>交付</a:t>
            </a:r>
          </a:p>
        </p:txBody>
      </p:sp>
      <p:sp>
        <p:nvSpPr>
          <p:cNvPr id="21" name="Rounded Rectangle 20"/>
          <p:cNvSpPr/>
          <p:nvPr/>
        </p:nvSpPr>
        <p:spPr>
          <a:xfrm>
            <a:off x="1051560" y="2971800"/>
            <a:ext cx="2834640" cy="841248"/>
          </a:xfrm>
          <a:prstGeom prst="roundRect">
            <a:avLst/>
          </a:prstGeom>
          <a:solidFill>
            <a:srgbClr val="FDFDFA"/>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19" y="3081528"/>
            <a:ext cx="2560320" cy="274320"/>
          </a:xfrm>
          <a:prstGeom prst="rect">
            <a:avLst/>
          </a:prstGeom>
          <a:noFill/>
        </p:spPr>
        <p:txBody>
          <a:bodyPr wrap="square">
            <a:normAutofit/>
          </a:bodyPr>
          <a:lstStyle/>
          <a:p>
            <a:pPr algn="l"/>
            <a:r>
              <a:rPr sz="1800" b="1">
                <a:solidFill>
                  <a:srgbClr val="84B5A0"/>
                </a:solidFill>
                <a:latin typeface="Microsoft YaHei"/>
              </a:rPr>
              <a:t>80%</a:t>
            </a:r>
          </a:p>
        </p:txBody>
      </p:sp>
      <p:sp>
        <p:nvSpPr>
          <p:cNvPr id="23" name="TextBox 22"/>
          <p:cNvSpPr txBox="1"/>
          <p:nvPr/>
        </p:nvSpPr>
        <p:spPr>
          <a:xfrm>
            <a:off x="1188719" y="3465576"/>
            <a:ext cx="2560320" cy="201168"/>
          </a:xfrm>
          <a:prstGeom prst="rect">
            <a:avLst/>
          </a:prstGeom>
          <a:noFill/>
        </p:spPr>
        <p:txBody>
          <a:bodyPr wrap="square">
            <a:normAutofit/>
          </a:bodyPr>
          <a:lstStyle/>
          <a:p>
            <a:pPr algn="l"/>
            <a:r>
              <a:rPr sz="800" b="0">
                <a:solidFill>
                  <a:srgbClr val="626F75"/>
                </a:solidFill>
                <a:latin typeface="Microsoft YaHei"/>
              </a:rPr>
              <a:t>天津案例：AI 辅助标注效率提升</a:t>
            </a:r>
          </a:p>
        </p:txBody>
      </p:sp>
      <p:sp>
        <p:nvSpPr>
          <p:cNvPr id="24" name="Rounded Rectangle 23"/>
          <p:cNvSpPr/>
          <p:nvPr/>
        </p:nvSpPr>
        <p:spPr>
          <a:xfrm>
            <a:off x="4663440" y="2971800"/>
            <a:ext cx="2834640" cy="841248"/>
          </a:xfrm>
          <a:prstGeom prst="roundRect">
            <a:avLst/>
          </a:prstGeom>
          <a:solidFill>
            <a:srgbClr val="FDFDFA"/>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00600" y="3081528"/>
            <a:ext cx="2560320" cy="274320"/>
          </a:xfrm>
          <a:prstGeom prst="rect">
            <a:avLst/>
          </a:prstGeom>
          <a:noFill/>
        </p:spPr>
        <p:txBody>
          <a:bodyPr wrap="square">
            <a:normAutofit/>
          </a:bodyPr>
          <a:lstStyle/>
          <a:p>
            <a:pPr algn="l"/>
            <a:r>
              <a:rPr sz="1800" b="1">
                <a:solidFill>
                  <a:srgbClr val="88B5CD"/>
                </a:solidFill>
                <a:latin typeface="Microsoft YaHei"/>
              </a:rPr>
              <a:t>200 万元+</a:t>
            </a:r>
          </a:p>
        </p:txBody>
      </p:sp>
      <p:sp>
        <p:nvSpPr>
          <p:cNvPr id="26" name="TextBox 25"/>
          <p:cNvSpPr txBox="1"/>
          <p:nvPr/>
        </p:nvSpPr>
        <p:spPr>
          <a:xfrm>
            <a:off x="4800600" y="3465576"/>
            <a:ext cx="2560320" cy="201168"/>
          </a:xfrm>
          <a:prstGeom prst="rect">
            <a:avLst/>
          </a:prstGeom>
          <a:noFill/>
        </p:spPr>
        <p:txBody>
          <a:bodyPr wrap="square">
            <a:normAutofit/>
          </a:bodyPr>
          <a:lstStyle/>
          <a:p>
            <a:pPr algn="l"/>
            <a:r>
              <a:rPr sz="800" b="0">
                <a:solidFill>
                  <a:srgbClr val="626F75"/>
                </a:solidFill>
                <a:latin typeface="Microsoft YaHei"/>
              </a:rPr>
              <a:t>年均节省人力成本</a:t>
            </a:r>
          </a:p>
        </p:txBody>
      </p:sp>
      <p:sp>
        <p:nvSpPr>
          <p:cNvPr id="27" name="Rounded Rectangle 26"/>
          <p:cNvSpPr/>
          <p:nvPr/>
        </p:nvSpPr>
        <p:spPr>
          <a:xfrm>
            <a:off x="8275320" y="2971800"/>
            <a:ext cx="2834640" cy="841248"/>
          </a:xfrm>
          <a:prstGeom prst="roundRect">
            <a:avLst/>
          </a:prstGeom>
          <a:solidFill>
            <a:srgbClr val="FDFDFA"/>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0" y="3081528"/>
            <a:ext cx="2560320" cy="274320"/>
          </a:xfrm>
          <a:prstGeom prst="rect">
            <a:avLst/>
          </a:prstGeom>
          <a:noFill/>
        </p:spPr>
        <p:txBody>
          <a:bodyPr wrap="square">
            <a:normAutofit/>
          </a:bodyPr>
          <a:lstStyle/>
          <a:p>
            <a:pPr algn="l"/>
            <a:r>
              <a:rPr sz="1800" b="1">
                <a:solidFill>
                  <a:srgbClr val="B4ABD2"/>
                </a:solidFill>
                <a:latin typeface="Microsoft YaHei"/>
              </a:rPr>
              <a:t>5000 万元</a:t>
            </a:r>
          </a:p>
        </p:txBody>
      </p:sp>
      <p:sp>
        <p:nvSpPr>
          <p:cNvPr id="29" name="TextBox 28"/>
          <p:cNvSpPr txBox="1"/>
          <p:nvPr/>
        </p:nvSpPr>
        <p:spPr>
          <a:xfrm>
            <a:off x="8412480" y="3465576"/>
            <a:ext cx="2560320" cy="201168"/>
          </a:xfrm>
          <a:prstGeom prst="rect">
            <a:avLst/>
          </a:prstGeom>
          <a:noFill/>
        </p:spPr>
        <p:txBody>
          <a:bodyPr wrap="square">
            <a:normAutofit/>
          </a:bodyPr>
          <a:lstStyle/>
          <a:p>
            <a:pPr algn="l"/>
            <a:r>
              <a:rPr sz="800" b="0">
                <a:solidFill>
                  <a:srgbClr val="626F75"/>
                </a:solidFill>
                <a:latin typeface="Microsoft YaHei"/>
              </a:rPr>
              <a:t>近三年累计经济效益</a:t>
            </a:r>
          </a:p>
        </p:txBody>
      </p:sp>
      <p:sp>
        <p:nvSpPr>
          <p:cNvPr id="30" name="TextBox 29"/>
          <p:cNvSpPr txBox="1"/>
          <p:nvPr/>
        </p:nvSpPr>
        <p:spPr>
          <a:xfrm>
            <a:off x="914400" y="5029200"/>
            <a:ext cx="10149840" cy="502920"/>
          </a:xfrm>
          <a:prstGeom prst="rect">
            <a:avLst/>
          </a:prstGeom>
          <a:noFill/>
        </p:spPr>
        <p:txBody>
          <a:bodyPr wrap="square">
            <a:normAutofit/>
          </a:bodyPr>
          <a:lstStyle/>
          <a:p>
            <a:pPr algn="ctr"/>
            <a:r>
              <a:rPr sz="1800" b="1">
                <a:solidFill>
                  <a:srgbClr val="223035"/>
                </a:solidFill>
                <a:latin typeface="Microsoft YaHei"/>
              </a:rPr>
              <a:t>该案例证明标注环节有明确降本空间；玄女要把这种效率提升从单点工具扩展到多任务复用。</a:t>
            </a:r>
          </a:p>
        </p:txBody>
      </p:sp>
      <p:sp>
        <p:nvSpPr>
          <p:cNvPr id="31" name="TextBox 30"/>
          <p:cNvSpPr txBox="1"/>
          <p:nvPr/>
        </p:nvSpPr>
        <p:spPr>
          <a:xfrm>
            <a:off x="658368" y="6528816"/>
            <a:ext cx="5669280" cy="182880"/>
          </a:xfrm>
          <a:prstGeom prst="rect">
            <a:avLst/>
          </a:prstGeom>
          <a:noFill/>
        </p:spPr>
        <p:txBody>
          <a:bodyPr wrap="square">
            <a:normAutofit/>
          </a:bodyPr>
          <a:lstStyle/>
          <a:p>
            <a:pPr algn="l"/>
            <a:r>
              <a:rPr sz="700" b="0">
                <a:solidFill>
                  <a:srgbClr val="626F75"/>
                </a:solidFill>
                <a:latin typeface="Microsoft YaHei"/>
              </a:rPr>
              <a:t>玄女科技商业计划书 v0.3｜按 22 页内容稿重制</a:t>
            </a:r>
          </a:p>
        </p:txBody>
      </p:sp>
      <p:sp>
        <p:nvSpPr>
          <p:cNvPr id="32" name="TextBox 31"/>
          <p:cNvSpPr txBox="1"/>
          <p:nvPr/>
        </p:nvSpPr>
        <p:spPr>
          <a:xfrm>
            <a:off x="11018520" y="6510528"/>
            <a:ext cx="457200" cy="182880"/>
          </a:xfrm>
          <a:prstGeom prst="rect">
            <a:avLst/>
          </a:prstGeom>
          <a:noFill/>
        </p:spPr>
        <p:txBody>
          <a:bodyPr wrap="square">
            <a:normAutofit/>
          </a:bodyPr>
          <a:lstStyle/>
          <a:p>
            <a:pPr algn="r"/>
            <a:r>
              <a:rPr sz="800" b="0">
                <a:solidFill>
                  <a:srgbClr val="626F75"/>
                </a:solidFill>
                <a:latin typeface="Microsoft YaHe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TextBox 1"/>
          <p:cNvSpPr txBox="1"/>
          <p:nvPr/>
        </p:nvSpPr>
        <p:spPr>
          <a:xfrm>
            <a:off x="658368" y="384048"/>
            <a:ext cx="411480" cy="201168"/>
          </a:xfrm>
          <a:prstGeom prst="rect">
            <a:avLst/>
          </a:prstGeom>
          <a:noFill/>
        </p:spPr>
        <p:txBody>
          <a:bodyPr wrap="square">
            <a:normAutofit/>
          </a:bodyPr>
          <a:lstStyle/>
          <a:p>
            <a:pPr algn="l"/>
            <a:r>
              <a:rPr sz="800" b="1">
                <a:solidFill>
                  <a:srgbClr val="487967"/>
                </a:solidFill>
                <a:latin typeface="Microsoft YaHei"/>
              </a:rPr>
              <a:t>07</a:t>
            </a:r>
          </a:p>
        </p:txBody>
      </p:sp>
      <p:sp>
        <p:nvSpPr>
          <p:cNvPr id="3" name="TextBox 2"/>
          <p:cNvSpPr txBox="1"/>
          <p:nvPr/>
        </p:nvSpPr>
        <p:spPr>
          <a:xfrm>
            <a:off x="1078992" y="310896"/>
            <a:ext cx="9875520" cy="493776"/>
          </a:xfrm>
          <a:prstGeom prst="rect">
            <a:avLst/>
          </a:prstGeom>
          <a:noFill/>
        </p:spPr>
        <p:txBody>
          <a:bodyPr wrap="square">
            <a:normAutofit/>
          </a:bodyPr>
          <a:lstStyle/>
          <a:p>
            <a:pPr algn="l"/>
            <a:r>
              <a:rPr sz="2300" b="1">
                <a:solidFill>
                  <a:srgbClr val="223035"/>
                </a:solidFill>
                <a:latin typeface="Microsoft YaHei"/>
              </a:rPr>
              <a:t>真实痛点 1：遥感项目公司不是缺项目，而是项目越多越像人力外包</a:t>
            </a:r>
          </a:p>
        </p:txBody>
      </p:sp>
      <p:pic>
        <p:nvPicPr>
          <p:cNvPr id="4" name="Picture 3" descr="remote_sensing_team_workflow.png"/>
          <p:cNvPicPr>
            <a:picLocks noChangeAspect="1"/>
          </p:cNvPicPr>
          <p:nvPr/>
        </p:nvPicPr>
        <p:blipFill>
          <a:blip r:embed="rId2"/>
          <a:stretch>
            <a:fillRect/>
          </a:stretch>
        </p:blipFill>
        <p:spPr>
          <a:xfrm>
            <a:off x="713232" y="1234440"/>
            <a:ext cx="5120640" cy="3611880"/>
          </a:xfrm>
          <a:prstGeom prst="rect">
            <a:avLst/>
          </a:prstGeom>
        </p:spPr>
      </p:pic>
      <p:sp>
        <p:nvSpPr>
          <p:cNvPr id="5" name="Rounded Rectangle 4"/>
          <p:cNvSpPr/>
          <p:nvPr/>
        </p:nvSpPr>
        <p:spPr>
          <a:xfrm>
            <a:off x="6199632" y="1417320"/>
            <a:ext cx="4617720" cy="877824"/>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99632" y="1417320"/>
            <a:ext cx="64008" cy="877824"/>
          </a:xfrm>
          <a:prstGeom prst="rect">
            <a:avLst/>
          </a:prstGeom>
          <a:solidFill>
            <a:srgbClr val="88B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63624"/>
            <a:ext cx="4270248" cy="228600"/>
          </a:xfrm>
          <a:prstGeom prst="rect">
            <a:avLst/>
          </a:prstGeom>
          <a:noFill/>
        </p:spPr>
        <p:txBody>
          <a:bodyPr wrap="square">
            <a:normAutofit/>
          </a:bodyPr>
          <a:lstStyle/>
          <a:p>
            <a:pPr algn="l"/>
            <a:r>
              <a:rPr sz="1200" b="1">
                <a:solidFill>
                  <a:srgbClr val="223035"/>
                </a:solidFill>
                <a:latin typeface="Microsoft YaHei"/>
              </a:rPr>
              <a:t>今天怎么做</a:t>
            </a:r>
          </a:p>
        </p:txBody>
      </p:sp>
      <p:sp>
        <p:nvSpPr>
          <p:cNvPr id="8" name="TextBox 7"/>
          <p:cNvSpPr txBox="1"/>
          <p:nvPr/>
        </p:nvSpPr>
        <p:spPr>
          <a:xfrm>
            <a:off x="6400800" y="1920240"/>
            <a:ext cx="4270248" cy="274319"/>
          </a:xfrm>
          <a:prstGeom prst="rect">
            <a:avLst/>
          </a:prstGeom>
          <a:noFill/>
        </p:spPr>
        <p:txBody>
          <a:bodyPr wrap="square">
            <a:normAutofit/>
          </a:bodyPr>
          <a:lstStyle/>
          <a:p>
            <a:pPr algn="l"/>
            <a:r>
              <a:rPr sz="900" b="0">
                <a:solidFill>
                  <a:srgbClr val="626F75"/>
                </a:solidFill>
                <a:latin typeface="Microsoft YaHei"/>
              </a:rPr>
              <a:t>施工、农用地、违建、裸地等项目各开一条流程。</a:t>
            </a:r>
          </a:p>
        </p:txBody>
      </p:sp>
      <p:sp>
        <p:nvSpPr>
          <p:cNvPr id="9" name="Rounded Rectangle 8"/>
          <p:cNvSpPr/>
          <p:nvPr/>
        </p:nvSpPr>
        <p:spPr>
          <a:xfrm>
            <a:off x="6199632" y="2560320"/>
            <a:ext cx="4617720" cy="969264"/>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9632" y="2560320"/>
            <a:ext cx="64008" cy="969264"/>
          </a:xfrm>
          <a:prstGeom prst="rect">
            <a:avLst/>
          </a:prstGeom>
          <a:solidFill>
            <a:srgbClr val="B4A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706624"/>
            <a:ext cx="4270248" cy="228600"/>
          </a:xfrm>
          <a:prstGeom prst="rect">
            <a:avLst/>
          </a:prstGeom>
          <a:noFill/>
        </p:spPr>
        <p:txBody>
          <a:bodyPr wrap="square">
            <a:normAutofit/>
          </a:bodyPr>
          <a:lstStyle/>
          <a:p>
            <a:pPr algn="l"/>
            <a:r>
              <a:rPr sz="1200" b="1">
                <a:solidFill>
                  <a:srgbClr val="223035"/>
                </a:solidFill>
                <a:latin typeface="Microsoft YaHei"/>
              </a:rPr>
              <a:t>真正痛点</a:t>
            </a:r>
          </a:p>
        </p:txBody>
      </p:sp>
      <p:sp>
        <p:nvSpPr>
          <p:cNvPr id="12" name="TextBox 11"/>
          <p:cNvSpPr txBox="1"/>
          <p:nvPr/>
        </p:nvSpPr>
        <p:spPr>
          <a:xfrm>
            <a:off x="6400800" y="3063239"/>
            <a:ext cx="4270248" cy="365760"/>
          </a:xfrm>
          <a:prstGeom prst="rect">
            <a:avLst/>
          </a:prstGeom>
          <a:noFill/>
        </p:spPr>
        <p:txBody>
          <a:bodyPr wrap="square">
            <a:normAutofit/>
          </a:bodyPr>
          <a:lstStyle/>
          <a:p>
            <a:pPr algn="l"/>
            <a:r>
              <a:rPr sz="900" b="0">
                <a:solidFill>
                  <a:srgbClr val="626F75"/>
                </a:solidFill>
                <a:latin typeface="Microsoft YaHei"/>
              </a:rPr>
              <a:t>多项目并行、人手不够；标注和质检成本高；跨区域迁移不稳定。</a:t>
            </a:r>
          </a:p>
        </p:txBody>
      </p:sp>
      <p:sp>
        <p:nvSpPr>
          <p:cNvPr id="13" name="Rounded Rectangle 12"/>
          <p:cNvSpPr/>
          <p:nvPr/>
        </p:nvSpPr>
        <p:spPr>
          <a:xfrm>
            <a:off x="6199632" y="3794760"/>
            <a:ext cx="4617720" cy="969264"/>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3794760"/>
            <a:ext cx="64008" cy="969264"/>
          </a:xfrm>
          <a:prstGeom prst="rect">
            <a:avLst/>
          </a:prstGeom>
          <a:solidFill>
            <a:srgbClr val="84B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941064"/>
            <a:ext cx="4270248" cy="228600"/>
          </a:xfrm>
          <a:prstGeom prst="rect">
            <a:avLst/>
          </a:prstGeom>
          <a:noFill/>
        </p:spPr>
        <p:txBody>
          <a:bodyPr wrap="square">
            <a:normAutofit/>
          </a:bodyPr>
          <a:lstStyle/>
          <a:p>
            <a:pPr algn="l"/>
            <a:r>
              <a:rPr sz="1200" b="1">
                <a:solidFill>
                  <a:srgbClr val="223035"/>
                </a:solidFill>
                <a:latin typeface="Microsoft YaHei"/>
              </a:rPr>
              <a:t>玄女价值</a:t>
            </a:r>
          </a:p>
        </p:txBody>
      </p:sp>
      <p:sp>
        <p:nvSpPr>
          <p:cNvPr id="16" name="TextBox 15"/>
          <p:cNvSpPr txBox="1"/>
          <p:nvPr/>
        </p:nvSpPr>
        <p:spPr>
          <a:xfrm>
            <a:off x="6400800" y="4297680"/>
            <a:ext cx="4270248" cy="365760"/>
          </a:xfrm>
          <a:prstGeom prst="rect">
            <a:avLst/>
          </a:prstGeom>
          <a:noFill/>
        </p:spPr>
        <p:txBody>
          <a:bodyPr wrap="square">
            <a:normAutofit/>
          </a:bodyPr>
          <a:lstStyle/>
          <a:p>
            <a:pPr algn="l"/>
            <a:r>
              <a:rPr sz="900" b="0">
                <a:solidFill>
                  <a:srgbClr val="626F75"/>
                </a:solidFill>
                <a:latin typeface="Microsoft YaHei"/>
              </a:rPr>
              <a:t>区域地理嵌入底座 + 少样本适配 + 变化候选和图斑预筛。</a:t>
            </a:r>
          </a:p>
        </p:txBody>
      </p:sp>
      <p:sp>
        <p:nvSpPr>
          <p:cNvPr id="17" name="TextBox 16"/>
          <p:cNvSpPr txBox="1"/>
          <p:nvPr/>
        </p:nvSpPr>
        <p:spPr>
          <a:xfrm>
            <a:off x="868680" y="5596128"/>
            <a:ext cx="10515600" cy="320040"/>
          </a:xfrm>
          <a:prstGeom prst="rect">
            <a:avLst/>
          </a:prstGeom>
          <a:noFill/>
        </p:spPr>
        <p:txBody>
          <a:bodyPr wrap="square">
            <a:normAutofit/>
          </a:bodyPr>
          <a:lstStyle/>
          <a:p>
            <a:pPr algn="ctr"/>
            <a:r>
              <a:rPr sz="1600" b="1">
                <a:solidFill>
                  <a:srgbClr val="487967"/>
                </a:solidFill>
                <a:latin typeface="Microsoft YaHei"/>
              </a:rPr>
              <a:t>玄女卖的不是一张图，而是把项目制遥感交付的重复劳动压缩成可复用的模型资产。</a:t>
            </a:r>
          </a:p>
        </p:txBody>
      </p:sp>
      <p:sp>
        <p:nvSpPr>
          <p:cNvPr id="18" name="TextBox 17"/>
          <p:cNvSpPr txBox="1"/>
          <p:nvPr/>
        </p:nvSpPr>
        <p:spPr>
          <a:xfrm>
            <a:off x="658368" y="6528816"/>
            <a:ext cx="5669280" cy="182880"/>
          </a:xfrm>
          <a:prstGeom prst="rect">
            <a:avLst/>
          </a:prstGeom>
          <a:noFill/>
        </p:spPr>
        <p:txBody>
          <a:bodyPr wrap="square">
            <a:normAutofit/>
          </a:bodyPr>
          <a:lstStyle/>
          <a:p>
            <a:pPr algn="l"/>
            <a:r>
              <a:rPr sz="700" b="0">
                <a:solidFill>
                  <a:srgbClr val="626F75"/>
                </a:solidFill>
                <a:latin typeface="Microsoft YaHei"/>
              </a:rPr>
              <a:t>玄女科技商业计划书 v0.3｜按 22 页内容稿重制</a:t>
            </a:r>
          </a:p>
        </p:txBody>
      </p:sp>
      <p:sp>
        <p:nvSpPr>
          <p:cNvPr id="19" name="TextBox 18"/>
          <p:cNvSpPr txBox="1"/>
          <p:nvPr/>
        </p:nvSpPr>
        <p:spPr>
          <a:xfrm>
            <a:off x="11018520" y="6510528"/>
            <a:ext cx="457200" cy="182880"/>
          </a:xfrm>
          <a:prstGeom prst="rect">
            <a:avLst/>
          </a:prstGeom>
          <a:noFill/>
        </p:spPr>
        <p:txBody>
          <a:bodyPr wrap="square">
            <a:normAutofit/>
          </a:bodyPr>
          <a:lstStyle/>
          <a:p>
            <a:pPr algn="r"/>
            <a:r>
              <a:rPr sz="800" b="0">
                <a:solidFill>
                  <a:srgbClr val="626F75"/>
                </a:solidFill>
                <a:latin typeface="Microsoft YaHe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TextBox 1"/>
          <p:cNvSpPr txBox="1"/>
          <p:nvPr/>
        </p:nvSpPr>
        <p:spPr>
          <a:xfrm>
            <a:off x="658368" y="384048"/>
            <a:ext cx="411480" cy="201168"/>
          </a:xfrm>
          <a:prstGeom prst="rect">
            <a:avLst/>
          </a:prstGeom>
          <a:noFill/>
        </p:spPr>
        <p:txBody>
          <a:bodyPr wrap="square">
            <a:normAutofit/>
          </a:bodyPr>
          <a:lstStyle/>
          <a:p>
            <a:pPr algn="l"/>
            <a:r>
              <a:rPr sz="800" b="1">
                <a:solidFill>
                  <a:srgbClr val="487967"/>
                </a:solidFill>
                <a:latin typeface="Microsoft YaHei"/>
              </a:rPr>
              <a:t>08</a:t>
            </a:r>
          </a:p>
        </p:txBody>
      </p:sp>
      <p:sp>
        <p:nvSpPr>
          <p:cNvPr id="3" name="TextBox 2"/>
          <p:cNvSpPr txBox="1"/>
          <p:nvPr/>
        </p:nvSpPr>
        <p:spPr>
          <a:xfrm>
            <a:off x="1078992" y="310896"/>
            <a:ext cx="9875520" cy="493776"/>
          </a:xfrm>
          <a:prstGeom prst="rect">
            <a:avLst/>
          </a:prstGeom>
          <a:noFill/>
        </p:spPr>
        <p:txBody>
          <a:bodyPr wrap="square">
            <a:normAutofit/>
          </a:bodyPr>
          <a:lstStyle/>
          <a:p>
            <a:pPr algn="l"/>
            <a:r>
              <a:rPr sz="2300" b="1">
                <a:solidFill>
                  <a:srgbClr val="223035"/>
                </a:solidFill>
                <a:latin typeface="Microsoft YaHei"/>
              </a:rPr>
              <a:t>真实痛点 2：政府不是缺卫星图，而是缺能进入流程的变化证据链</a:t>
            </a:r>
          </a:p>
        </p:txBody>
      </p:sp>
      <p:pic>
        <p:nvPicPr>
          <p:cNvPr id="4" name="Picture 3" descr="government_change_review.png"/>
          <p:cNvPicPr>
            <a:picLocks noChangeAspect="1"/>
          </p:cNvPicPr>
          <p:nvPr/>
        </p:nvPicPr>
        <p:blipFill>
          <a:blip r:embed="rId2"/>
          <a:stretch>
            <a:fillRect/>
          </a:stretch>
        </p:blipFill>
        <p:spPr>
          <a:xfrm>
            <a:off x="6263640" y="1188720"/>
            <a:ext cx="5166360" cy="3703320"/>
          </a:xfrm>
          <a:prstGeom prst="rect">
            <a:avLst/>
          </a:prstGeom>
        </p:spPr>
      </p:pic>
      <p:sp>
        <p:nvSpPr>
          <p:cNvPr id="5" name="Rounded Rectangle 4"/>
          <p:cNvSpPr/>
          <p:nvPr/>
        </p:nvSpPr>
        <p:spPr>
          <a:xfrm>
            <a:off x="822960" y="1600200"/>
            <a:ext cx="897940"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1755648"/>
            <a:ext cx="788212" cy="164592"/>
          </a:xfrm>
          <a:prstGeom prst="rect">
            <a:avLst/>
          </a:prstGeom>
          <a:noFill/>
        </p:spPr>
        <p:txBody>
          <a:bodyPr wrap="square">
            <a:normAutofit/>
          </a:bodyPr>
          <a:lstStyle/>
          <a:p>
            <a:pPr algn="ctr"/>
            <a:r>
              <a:rPr sz="800" b="1">
                <a:solidFill>
                  <a:srgbClr val="223035"/>
                </a:solidFill>
                <a:latin typeface="Microsoft YaHei"/>
              </a:rPr>
              <a:t>疑似图斑</a:t>
            </a:r>
          </a:p>
        </p:txBody>
      </p:sp>
      <p:sp>
        <p:nvSpPr>
          <p:cNvPr id="7" name="TextBox 6"/>
          <p:cNvSpPr txBox="1"/>
          <p:nvPr/>
        </p:nvSpPr>
        <p:spPr>
          <a:xfrm>
            <a:off x="1739188" y="176479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8" name="Rounded Rectangle 7"/>
          <p:cNvSpPr/>
          <p:nvPr/>
        </p:nvSpPr>
        <p:spPr>
          <a:xfrm>
            <a:off x="1867204" y="1600200"/>
            <a:ext cx="897940"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22068" y="1755648"/>
            <a:ext cx="788212" cy="164592"/>
          </a:xfrm>
          <a:prstGeom prst="rect">
            <a:avLst/>
          </a:prstGeom>
          <a:noFill/>
        </p:spPr>
        <p:txBody>
          <a:bodyPr wrap="square">
            <a:normAutofit/>
          </a:bodyPr>
          <a:lstStyle/>
          <a:p>
            <a:pPr algn="ctr"/>
            <a:r>
              <a:rPr sz="800" b="1">
                <a:solidFill>
                  <a:srgbClr val="223035"/>
                </a:solidFill>
                <a:latin typeface="Microsoft YaHei"/>
              </a:rPr>
              <a:t>外业核查</a:t>
            </a:r>
          </a:p>
        </p:txBody>
      </p:sp>
      <p:sp>
        <p:nvSpPr>
          <p:cNvPr id="10" name="TextBox 9"/>
          <p:cNvSpPr txBox="1"/>
          <p:nvPr/>
        </p:nvSpPr>
        <p:spPr>
          <a:xfrm>
            <a:off x="2783433" y="176479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11" name="Rounded Rectangle 10"/>
          <p:cNvSpPr/>
          <p:nvPr/>
        </p:nvSpPr>
        <p:spPr>
          <a:xfrm>
            <a:off x="2911449" y="1600200"/>
            <a:ext cx="897940"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66313" y="1755648"/>
            <a:ext cx="788212" cy="164592"/>
          </a:xfrm>
          <a:prstGeom prst="rect">
            <a:avLst/>
          </a:prstGeom>
          <a:noFill/>
        </p:spPr>
        <p:txBody>
          <a:bodyPr wrap="square">
            <a:normAutofit/>
          </a:bodyPr>
          <a:lstStyle/>
          <a:p>
            <a:pPr algn="ctr"/>
            <a:r>
              <a:rPr sz="800" b="1">
                <a:solidFill>
                  <a:srgbClr val="223035"/>
                </a:solidFill>
                <a:latin typeface="Microsoft YaHei"/>
              </a:rPr>
              <a:t>举证判定</a:t>
            </a:r>
          </a:p>
        </p:txBody>
      </p:sp>
      <p:sp>
        <p:nvSpPr>
          <p:cNvPr id="13" name="TextBox 12"/>
          <p:cNvSpPr txBox="1"/>
          <p:nvPr/>
        </p:nvSpPr>
        <p:spPr>
          <a:xfrm>
            <a:off x="3827678" y="176479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14" name="Rounded Rectangle 13"/>
          <p:cNvSpPr/>
          <p:nvPr/>
        </p:nvSpPr>
        <p:spPr>
          <a:xfrm>
            <a:off x="3955694" y="1600200"/>
            <a:ext cx="897940"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10558" y="1755648"/>
            <a:ext cx="788212" cy="164592"/>
          </a:xfrm>
          <a:prstGeom prst="rect">
            <a:avLst/>
          </a:prstGeom>
          <a:noFill/>
        </p:spPr>
        <p:txBody>
          <a:bodyPr wrap="square">
            <a:normAutofit/>
          </a:bodyPr>
          <a:lstStyle/>
          <a:p>
            <a:pPr algn="ctr"/>
            <a:r>
              <a:rPr sz="800" b="1">
                <a:solidFill>
                  <a:srgbClr val="223035"/>
                </a:solidFill>
                <a:latin typeface="Microsoft YaHei"/>
              </a:rPr>
              <a:t>整改复核</a:t>
            </a:r>
          </a:p>
        </p:txBody>
      </p:sp>
      <p:sp>
        <p:nvSpPr>
          <p:cNvPr id="16" name="TextBox 15"/>
          <p:cNvSpPr txBox="1"/>
          <p:nvPr/>
        </p:nvSpPr>
        <p:spPr>
          <a:xfrm>
            <a:off x="4871923" y="176479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17" name="Rounded Rectangle 16"/>
          <p:cNvSpPr/>
          <p:nvPr/>
        </p:nvSpPr>
        <p:spPr>
          <a:xfrm>
            <a:off x="4999939" y="1600200"/>
            <a:ext cx="897940"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54803" y="1755648"/>
            <a:ext cx="788212" cy="164592"/>
          </a:xfrm>
          <a:prstGeom prst="rect">
            <a:avLst/>
          </a:prstGeom>
          <a:noFill/>
        </p:spPr>
        <p:txBody>
          <a:bodyPr wrap="square">
            <a:normAutofit/>
          </a:bodyPr>
          <a:lstStyle/>
          <a:p>
            <a:pPr algn="ctr"/>
            <a:r>
              <a:rPr sz="800" b="1">
                <a:solidFill>
                  <a:srgbClr val="223035"/>
                </a:solidFill>
                <a:latin typeface="Microsoft YaHei"/>
              </a:rPr>
              <a:t>归档闭环</a:t>
            </a:r>
          </a:p>
        </p:txBody>
      </p:sp>
      <p:sp>
        <p:nvSpPr>
          <p:cNvPr id="19" name="Rounded Rectangle 18"/>
          <p:cNvSpPr/>
          <p:nvPr/>
        </p:nvSpPr>
        <p:spPr>
          <a:xfrm>
            <a:off x="868680" y="2880360"/>
            <a:ext cx="4892040" cy="896112"/>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68680" y="2880360"/>
            <a:ext cx="64008" cy="896112"/>
          </a:xfrm>
          <a:prstGeom prst="rect">
            <a:avLst/>
          </a:prstGeom>
          <a:solidFill>
            <a:srgbClr val="88B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9848" y="3026664"/>
            <a:ext cx="4544568" cy="228600"/>
          </a:xfrm>
          <a:prstGeom prst="rect">
            <a:avLst/>
          </a:prstGeom>
          <a:noFill/>
        </p:spPr>
        <p:txBody>
          <a:bodyPr wrap="square">
            <a:normAutofit/>
          </a:bodyPr>
          <a:lstStyle/>
          <a:p>
            <a:pPr algn="l"/>
            <a:r>
              <a:rPr sz="1200" b="1">
                <a:solidFill>
                  <a:srgbClr val="223035"/>
                </a:solidFill>
                <a:latin typeface="Microsoft YaHei"/>
              </a:rPr>
              <a:t>痛点</a:t>
            </a:r>
          </a:p>
        </p:txBody>
      </p:sp>
      <p:sp>
        <p:nvSpPr>
          <p:cNvPr id="22" name="TextBox 21"/>
          <p:cNvSpPr txBox="1"/>
          <p:nvPr/>
        </p:nvSpPr>
        <p:spPr>
          <a:xfrm>
            <a:off x="1069848" y="3383280"/>
            <a:ext cx="4544568" cy="292607"/>
          </a:xfrm>
          <a:prstGeom prst="rect">
            <a:avLst/>
          </a:prstGeom>
          <a:noFill/>
        </p:spPr>
        <p:txBody>
          <a:bodyPr wrap="square">
            <a:normAutofit/>
          </a:bodyPr>
          <a:lstStyle/>
          <a:p>
            <a:pPr algn="l"/>
            <a:r>
              <a:rPr sz="900" b="0">
                <a:solidFill>
                  <a:srgbClr val="626F75"/>
                </a:solidFill>
                <a:latin typeface="Microsoft YaHei"/>
              </a:rPr>
              <a:t>图斑多、专项任务交叉、时间集中、遥感结果不能直接执法。</a:t>
            </a:r>
          </a:p>
        </p:txBody>
      </p:sp>
      <p:sp>
        <p:nvSpPr>
          <p:cNvPr id="23" name="Rounded Rectangle 22"/>
          <p:cNvSpPr/>
          <p:nvPr/>
        </p:nvSpPr>
        <p:spPr>
          <a:xfrm>
            <a:off x="868680" y="4069080"/>
            <a:ext cx="4892040" cy="896112"/>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8680" y="4069080"/>
            <a:ext cx="64008" cy="896112"/>
          </a:xfrm>
          <a:prstGeom prst="rect">
            <a:avLst/>
          </a:prstGeom>
          <a:solidFill>
            <a:srgbClr val="B4A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9848" y="4215384"/>
            <a:ext cx="4544568" cy="228600"/>
          </a:xfrm>
          <a:prstGeom prst="rect">
            <a:avLst/>
          </a:prstGeom>
          <a:noFill/>
        </p:spPr>
        <p:txBody>
          <a:bodyPr wrap="square">
            <a:normAutofit/>
          </a:bodyPr>
          <a:lstStyle/>
          <a:p>
            <a:pPr algn="l"/>
            <a:r>
              <a:rPr sz="1200" b="1">
                <a:solidFill>
                  <a:srgbClr val="223035"/>
                </a:solidFill>
                <a:latin typeface="Microsoft YaHei"/>
              </a:rPr>
              <a:t>玄女</a:t>
            </a:r>
          </a:p>
        </p:txBody>
      </p:sp>
      <p:sp>
        <p:nvSpPr>
          <p:cNvPr id="26" name="TextBox 25"/>
          <p:cNvSpPr txBox="1"/>
          <p:nvPr/>
        </p:nvSpPr>
        <p:spPr>
          <a:xfrm>
            <a:off x="1069848" y="4572000"/>
            <a:ext cx="4544568" cy="292607"/>
          </a:xfrm>
          <a:prstGeom prst="rect">
            <a:avLst/>
          </a:prstGeom>
          <a:noFill/>
        </p:spPr>
        <p:txBody>
          <a:bodyPr wrap="square">
            <a:normAutofit/>
          </a:bodyPr>
          <a:lstStyle/>
          <a:p>
            <a:pPr algn="l"/>
            <a:r>
              <a:rPr sz="900" b="0">
                <a:solidFill>
                  <a:srgbClr val="626F75"/>
                </a:solidFill>
                <a:latin typeface="Microsoft YaHei"/>
              </a:rPr>
              <a:t>图斑优先级、变化类型理解、历史过程证据链、冲突点提示。</a:t>
            </a:r>
          </a:p>
        </p:txBody>
      </p:sp>
      <p:sp>
        <p:nvSpPr>
          <p:cNvPr id="27" name="TextBox 26"/>
          <p:cNvSpPr txBox="1"/>
          <p:nvPr/>
        </p:nvSpPr>
        <p:spPr>
          <a:xfrm>
            <a:off x="658368" y="6528816"/>
            <a:ext cx="5669280" cy="182880"/>
          </a:xfrm>
          <a:prstGeom prst="rect">
            <a:avLst/>
          </a:prstGeom>
          <a:noFill/>
        </p:spPr>
        <p:txBody>
          <a:bodyPr wrap="square">
            <a:normAutofit/>
          </a:bodyPr>
          <a:lstStyle/>
          <a:p>
            <a:pPr algn="l"/>
            <a:r>
              <a:rPr sz="700" b="0">
                <a:solidFill>
                  <a:srgbClr val="626F75"/>
                </a:solidFill>
                <a:latin typeface="Microsoft YaHei"/>
              </a:rPr>
              <a:t>玄女科技商业计划书 v0.3｜按 22 页内容稿重制</a:t>
            </a:r>
          </a:p>
        </p:txBody>
      </p:sp>
      <p:sp>
        <p:nvSpPr>
          <p:cNvPr id="28" name="TextBox 27"/>
          <p:cNvSpPr txBox="1"/>
          <p:nvPr/>
        </p:nvSpPr>
        <p:spPr>
          <a:xfrm>
            <a:off x="11018520" y="6510528"/>
            <a:ext cx="457200" cy="182880"/>
          </a:xfrm>
          <a:prstGeom prst="rect">
            <a:avLst/>
          </a:prstGeom>
          <a:noFill/>
        </p:spPr>
        <p:txBody>
          <a:bodyPr wrap="square">
            <a:normAutofit/>
          </a:bodyPr>
          <a:lstStyle/>
          <a:p>
            <a:pPr algn="r"/>
            <a:r>
              <a:rPr sz="800" b="0">
                <a:solidFill>
                  <a:srgbClr val="626F75"/>
                </a:solidFill>
                <a:latin typeface="Microsoft YaHe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TextBox 1"/>
          <p:cNvSpPr txBox="1"/>
          <p:nvPr/>
        </p:nvSpPr>
        <p:spPr>
          <a:xfrm>
            <a:off x="658368" y="384048"/>
            <a:ext cx="411480" cy="201168"/>
          </a:xfrm>
          <a:prstGeom prst="rect">
            <a:avLst/>
          </a:prstGeom>
          <a:noFill/>
        </p:spPr>
        <p:txBody>
          <a:bodyPr wrap="square">
            <a:normAutofit/>
          </a:bodyPr>
          <a:lstStyle/>
          <a:p>
            <a:pPr algn="l"/>
            <a:r>
              <a:rPr sz="800" b="1">
                <a:solidFill>
                  <a:srgbClr val="487967"/>
                </a:solidFill>
                <a:latin typeface="Microsoft YaHei"/>
              </a:rPr>
              <a:t>09</a:t>
            </a:r>
          </a:p>
        </p:txBody>
      </p:sp>
      <p:sp>
        <p:nvSpPr>
          <p:cNvPr id="3" name="TextBox 2"/>
          <p:cNvSpPr txBox="1"/>
          <p:nvPr/>
        </p:nvSpPr>
        <p:spPr>
          <a:xfrm>
            <a:off x="1078992" y="310896"/>
            <a:ext cx="9875520" cy="493776"/>
          </a:xfrm>
          <a:prstGeom prst="rect">
            <a:avLst/>
          </a:prstGeom>
          <a:noFill/>
        </p:spPr>
        <p:txBody>
          <a:bodyPr wrap="square">
            <a:normAutofit/>
          </a:bodyPr>
          <a:lstStyle/>
          <a:p>
            <a:pPr algn="l"/>
            <a:r>
              <a:rPr sz="2300" b="1">
                <a:solidFill>
                  <a:srgbClr val="223035"/>
                </a:solidFill>
                <a:latin typeface="Microsoft YaHei"/>
              </a:rPr>
              <a:t>真实痛点 3：普通地块用户不想学遥感，只想知道自己的地有没有异常</a:t>
            </a:r>
          </a:p>
        </p:txBody>
      </p:sp>
      <p:sp>
        <p:nvSpPr>
          <p:cNvPr id="4" name="Rounded Rectangle 3"/>
          <p:cNvSpPr/>
          <p:nvPr/>
        </p:nvSpPr>
        <p:spPr>
          <a:xfrm>
            <a:off x="868680" y="1417320"/>
            <a:ext cx="3291840" cy="841248"/>
          </a:xfrm>
          <a:prstGeom prst="roundRect">
            <a:avLst/>
          </a:prstGeom>
          <a:solidFill>
            <a:srgbClr val="FDFDFA"/>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39" y="1527048"/>
            <a:ext cx="3017520" cy="274320"/>
          </a:xfrm>
          <a:prstGeom prst="rect">
            <a:avLst/>
          </a:prstGeom>
          <a:noFill/>
        </p:spPr>
        <p:txBody>
          <a:bodyPr wrap="square">
            <a:normAutofit/>
          </a:bodyPr>
          <a:lstStyle/>
          <a:p>
            <a:pPr algn="l"/>
            <a:r>
              <a:rPr sz="1800" b="1">
                <a:solidFill>
                  <a:srgbClr val="84B5A0"/>
                </a:solidFill>
                <a:latin typeface="Microsoft YaHei"/>
              </a:rPr>
              <a:t>27%</a:t>
            </a:r>
          </a:p>
        </p:txBody>
      </p:sp>
      <p:sp>
        <p:nvSpPr>
          <p:cNvPr id="6" name="TextBox 5"/>
          <p:cNvSpPr txBox="1"/>
          <p:nvPr/>
        </p:nvSpPr>
        <p:spPr>
          <a:xfrm>
            <a:off x="1005839" y="1911095"/>
            <a:ext cx="3017520" cy="201168"/>
          </a:xfrm>
          <a:prstGeom prst="rect">
            <a:avLst/>
          </a:prstGeom>
          <a:noFill/>
        </p:spPr>
        <p:txBody>
          <a:bodyPr wrap="square">
            <a:normAutofit/>
          </a:bodyPr>
          <a:lstStyle/>
          <a:p>
            <a:pPr algn="l"/>
            <a:r>
              <a:rPr sz="800" b="0">
                <a:solidFill>
                  <a:srgbClr val="626F75"/>
                </a:solidFill>
                <a:latin typeface="Microsoft YaHei"/>
              </a:rPr>
              <a:t>2023 年美国农场/牧场使用精准农业实践</a:t>
            </a:r>
          </a:p>
        </p:txBody>
      </p:sp>
      <p:sp>
        <p:nvSpPr>
          <p:cNvPr id="7" name="Rounded Rectangle 6"/>
          <p:cNvSpPr/>
          <p:nvPr/>
        </p:nvSpPr>
        <p:spPr>
          <a:xfrm>
            <a:off x="868680" y="2743200"/>
            <a:ext cx="3291840" cy="105156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8680" y="2743200"/>
            <a:ext cx="64008" cy="1051560"/>
          </a:xfrm>
          <a:prstGeom prst="rect">
            <a:avLst/>
          </a:prstGeom>
          <a:solidFill>
            <a:srgbClr val="88B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9848" y="2889504"/>
            <a:ext cx="2944368" cy="228600"/>
          </a:xfrm>
          <a:prstGeom prst="rect">
            <a:avLst/>
          </a:prstGeom>
          <a:noFill/>
        </p:spPr>
        <p:txBody>
          <a:bodyPr wrap="square">
            <a:normAutofit/>
          </a:bodyPr>
          <a:lstStyle/>
          <a:p>
            <a:pPr algn="l"/>
            <a:r>
              <a:rPr sz="1200" b="1">
                <a:solidFill>
                  <a:srgbClr val="223035"/>
                </a:solidFill>
                <a:latin typeface="Microsoft YaHei"/>
              </a:rPr>
              <a:t>今天</a:t>
            </a:r>
          </a:p>
        </p:txBody>
      </p:sp>
      <p:sp>
        <p:nvSpPr>
          <p:cNvPr id="10" name="TextBox 9"/>
          <p:cNvSpPr txBox="1"/>
          <p:nvPr/>
        </p:nvSpPr>
        <p:spPr>
          <a:xfrm>
            <a:off x="1069848" y="3246120"/>
            <a:ext cx="2944368" cy="448055"/>
          </a:xfrm>
          <a:prstGeom prst="rect">
            <a:avLst/>
          </a:prstGeom>
          <a:noFill/>
        </p:spPr>
        <p:txBody>
          <a:bodyPr wrap="square">
            <a:normAutofit/>
          </a:bodyPr>
          <a:lstStyle/>
          <a:p>
            <a:pPr algn="l"/>
            <a:r>
              <a:rPr sz="900" b="0">
                <a:solidFill>
                  <a:srgbClr val="626F75"/>
                </a:solidFill>
                <a:latin typeface="Microsoft YaHei"/>
              </a:rPr>
              <a:t>人工巡查、拍照反馈、一次性报告；不会处理专业遥感图层。</a:t>
            </a:r>
          </a:p>
        </p:txBody>
      </p:sp>
      <p:sp>
        <p:nvSpPr>
          <p:cNvPr id="11" name="Rounded Rectangle 10"/>
          <p:cNvSpPr/>
          <p:nvPr/>
        </p:nvSpPr>
        <p:spPr>
          <a:xfrm>
            <a:off x="4526280" y="2743200"/>
            <a:ext cx="3291840" cy="105156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26280" y="2743200"/>
            <a:ext cx="64008" cy="1051560"/>
          </a:xfrm>
          <a:prstGeom prst="rect">
            <a:avLst/>
          </a:prstGeom>
          <a:solidFill>
            <a:srgbClr val="84B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27448" y="2889504"/>
            <a:ext cx="2944368" cy="228600"/>
          </a:xfrm>
          <a:prstGeom prst="rect">
            <a:avLst/>
          </a:prstGeom>
          <a:noFill/>
        </p:spPr>
        <p:txBody>
          <a:bodyPr wrap="square">
            <a:normAutofit/>
          </a:bodyPr>
          <a:lstStyle/>
          <a:p>
            <a:pPr algn="l"/>
            <a:r>
              <a:rPr sz="1200" b="1">
                <a:solidFill>
                  <a:srgbClr val="223035"/>
                </a:solidFill>
                <a:latin typeface="Microsoft YaHei"/>
              </a:rPr>
              <a:t>玄女</a:t>
            </a:r>
          </a:p>
        </p:txBody>
      </p:sp>
      <p:sp>
        <p:nvSpPr>
          <p:cNvPr id="14" name="TextBox 13"/>
          <p:cNvSpPr txBox="1"/>
          <p:nvPr/>
        </p:nvSpPr>
        <p:spPr>
          <a:xfrm>
            <a:off x="4727448" y="3246120"/>
            <a:ext cx="2944368" cy="448055"/>
          </a:xfrm>
          <a:prstGeom prst="rect">
            <a:avLst/>
          </a:prstGeom>
          <a:noFill/>
        </p:spPr>
        <p:txBody>
          <a:bodyPr wrap="square">
            <a:normAutofit/>
          </a:bodyPr>
          <a:lstStyle/>
          <a:p>
            <a:pPr algn="l"/>
            <a:r>
              <a:rPr sz="900" b="0">
                <a:solidFill>
                  <a:srgbClr val="626F75"/>
                </a:solidFill>
                <a:latin typeface="Microsoft YaHei"/>
              </a:rPr>
              <a:t>圈定地块，监测硬化、堆土、棚房、道路、积水、作物异常。</a:t>
            </a:r>
          </a:p>
        </p:txBody>
      </p:sp>
      <p:sp>
        <p:nvSpPr>
          <p:cNvPr id="15" name="Rounded Rectangle 14"/>
          <p:cNvSpPr/>
          <p:nvPr/>
        </p:nvSpPr>
        <p:spPr>
          <a:xfrm>
            <a:off x="8183879" y="2743200"/>
            <a:ext cx="3291840" cy="105156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83879" y="2743200"/>
            <a:ext cx="64008" cy="1051560"/>
          </a:xfrm>
          <a:prstGeom prst="rect">
            <a:avLst/>
          </a:prstGeom>
          <a:solidFill>
            <a:srgbClr val="B4A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5048" y="2889504"/>
            <a:ext cx="2944368" cy="228600"/>
          </a:xfrm>
          <a:prstGeom prst="rect">
            <a:avLst/>
          </a:prstGeom>
          <a:noFill/>
        </p:spPr>
        <p:txBody>
          <a:bodyPr wrap="square">
            <a:normAutofit/>
          </a:bodyPr>
          <a:lstStyle/>
          <a:p>
            <a:pPr algn="l"/>
            <a:r>
              <a:rPr sz="1200" b="1">
                <a:solidFill>
                  <a:srgbClr val="223035"/>
                </a:solidFill>
                <a:latin typeface="Microsoft YaHei"/>
              </a:rPr>
              <a:t>定位</a:t>
            </a:r>
          </a:p>
        </p:txBody>
      </p:sp>
      <p:sp>
        <p:nvSpPr>
          <p:cNvPr id="18" name="TextBox 17"/>
          <p:cNvSpPr txBox="1"/>
          <p:nvPr/>
        </p:nvSpPr>
        <p:spPr>
          <a:xfrm>
            <a:off x="8385048" y="3246120"/>
            <a:ext cx="2944368" cy="448055"/>
          </a:xfrm>
          <a:prstGeom prst="rect">
            <a:avLst/>
          </a:prstGeom>
          <a:noFill/>
        </p:spPr>
        <p:txBody>
          <a:bodyPr wrap="square">
            <a:normAutofit/>
          </a:bodyPr>
          <a:lstStyle/>
          <a:p>
            <a:pPr algn="l"/>
            <a:r>
              <a:rPr sz="900" b="0">
                <a:solidFill>
                  <a:srgbClr val="626F75"/>
                </a:solidFill>
                <a:latin typeface="Microsoft YaHei"/>
              </a:rPr>
              <a:t>不是近期主收入，但说明地理嵌入能让遥感能力普惠化。</a:t>
            </a:r>
          </a:p>
        </p:txBody>
      </p:sp>
      <p:sp>
        <p:nvSpPr>
          <p:cNvPr id="19" name="Rounded Rectangle 18"/>
          <p:cNvSpPr/>
          <p:nvPr/>
        </p:nvSpPr>
        <p:spPr>
          <a:xfrm>
            <a:off x="1828800" y="4846320"/>
            <a:ext cx="2016252"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83664" y="5001768"/>
            <a:ext cx="1906524" cy="164592"/>
          </a:xfrm>
          <a:prstGeom prst="rect">
            <a:avLst/>
          </a:prstGeom>
          <a:noFill/>
        </p:spPr>
        <p:txBody>
          <a:bodyPr wrap="square">
            <a:normAutofit/>
          </a:bodyPr>
          <a:lstStyle/>
          <a:p>
            <a:pPr algn="ctr"/>
            <a:r>
              <a:rPr sz="800" b="1">
                <a:solidFill>
                  <a:srgbClr val="223035"/>
                </a:solidFill>
                <a:latin typeface="Microsoft YaHei"/>
              </a:rPr>
              <a:t>圈地块</a:t>
            </a:r>
          </a:p>
        </p:txBody>
      </p:sp>
      <p:sp>
        <p:nvSpPr>
          <p:cNvPr id="21" name="TextBox 20"/>
          <p:cNvSpPr txBox="1"/>
          <p:nvPr/>
        </p:nvSpPr>
        <p:spPr>
          <a:xfrm>
            <a:off x="3863339" y="501091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22" name="Rounded Rectangle 21"/>
          <p:cNvSpPr/>
          <p:nvPr/>
        </p:nvSpPr>
        <p:spPr>
          <a:xfrm>
            <a:off x="3991356" y="4846320"/>
            <a:ext cx="2016252"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46220" y="5001768"/>
            <a:ext cx="1906524" cy="164592"/>
          </a:xfrm>
          <a:prstGeom prst="rect">
            <a:avLst/>
          </a:prstGeom>
          <a:noFill/>
        </p:spPr>
        <p:txBody>
          <a:bodyPr wrap="square">
            <a:normAutofit/>
          </a:bodyPr>
          <a:lstStyle/>
          <a:p>
            <a:pPr algn="ctr"/>
            <a:r>
              <a:rPr sz="800" b="1">
                <a:solidFill>
                  <a:srgbClr val="223035"/>
                </a:solidFill>
                <a:latin typeface="Microsoft YaHei"/>
              </a:rPr>
              <a:t>自动监测</a:t>
            </a:r>
          </a:p>
        </p:txBody>
      </p:sp>
      <p:sp>
        <p:nvSpPr>
          <p:cNvPr id="24" name="TextBox 23"/>
          <p:cNvSpPr txBox="1"/>
          <p:nvPr/>
        </p:nvSpPr>
        <p:spPr>
          <a:xfrm>
            <a:off x="6025896" y="501091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25" name="Rounded Rectangle 24"/>
          <p:cNvSpPr/>
          <p:nvPr/>
        </p:nvSpPr>
        <p:spPr>
          <a:xfrm>
            <a:off x="6153912" y="4846320"/>
            <a:ext cx="2016252"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08776" y="5001768"/>
            <a:ext cx="1906524" cy="164592"/>
          </a:xfrm>
          <a:prstGeom prst="rect">
            <a:avLst/>
          </a:prstGeom>
          <a:noFill/>
        </p:spPr>
        <p:txBody>
          <a:bodyPr wrap="square">
            <a:normAutofit/>
          </a:bodyPr>
          <a:lstStyle/>
          <a:p>
            <a:pPr algn="ctr"/>
            <a:r>
              <a:rPr sz="800" b="1">
                <a:solidFill>
                  <a:srgbClr val="223035"/>
                </a:solidFill>
                <a:latin typeface="Microsoft YaHei"/>
              </a:rPr>
              <a:t>异常提醒</a:t>
            </a:r>
          </a:p>
        </p:txBody>
      </p:sp>
      <p:sp>
        <p:nvSpPr>
          <p:cNvPr id="27" name="TextBox 26"/>
          <p:cNvSpPr txBox="1"/>
          <p:nvPr/>
        </p:nvSpPr>
        <p:spPr>
          <a:xfrm>
            <a:off x="8188452" y="501091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28" name="Rounded Rectangle 27"/>
          <p:cNvSpPr/>
          <p:nvPr/>
        </p:nvSpPr>
        <p:spPr>
          <a:xfrm>
            <a:off x="8316468" y="4846320"/>
            <a:ext cx="2016252"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71332" y="5001768"/>
            <a:ext cx="1906524" cy="164592"/>
          </a:xfrm>
          <a:prstGeom prst="rect">
            <a:avLst/>
          </a:prstGeom>
          <a:noFill/>
        </p:spPr>
        <p:txBody>
          <a:bodyPr wrap="square">
            <a:normAutofit/>
          </a:bodyPr>
          <a:lstStyle/>
          <a:p>
            <a:pPr algn="ctr"/>
            <a:r>
              <a:rPr sz="800" b="1">
                <a:solidFill>
                  <a:srgbClr val="223035"/>
                </a:solidFill>
                <a:latin typeface="Microsoft YaHei"/>
              </a:rPr>
              <a:t>证据包</a:t>
            </a:r>
          </a:p>
        </p:txBody>
      </p:sp>
      <p:sp>
        <p:nvSpPr>
          <p:cNvPr id="30" name="TextBox 29"/>
          <p:cNvSpPr txBox="1"/>
          <p:nvPr/>
        </p:nvSpPr>
        <p:spPr>
          <a:xfrm>
            <a:off x="658368" y="6528816"/>
            <a:ext cx="5669280" cy="182880"/>
          </a:xfrm>
          <a:prstGeom prst="rect">
            <a:avLst/>
          </a:prstGeom>
          <a:noFill/>
        </p:spPr>
        <p:txBody>
          <a:bodyPr wrap="square">
            <a:normAutofit/>
          </a:bodyPr>
          <a:lstStyle/>
          <a:p>
            <a:pPr algn="l"/>
            <a:r>
              <a:rPr sz="700" b="0">
                <a:solidFill>
                  <a:srgbClr val="626F75"/>
                </a:solidFill>
                <a:latin typeface="Microsoft YaHei"/>
              </a:rPr>
              <a:t>玄女科技商业计划书 v0.3｜按 22 页内容稿重制</a:t>
            </a:r>
          </a:p>
        </p:txBody>
      </p:sp>
      <p:sp>
        <p:nvSpPr>
          <p:cNvPr id="31" name="TextBox 30"/>
          <p:cNvSpPr txBox="1"/>
          <p:nvPr/>
        </p:nvSpPr>
        <p:spPr>
          <a:xfrm>
            <a:off x="11018520" y="6510528"/>
            <a:ext cx="457200" cy="182880"/>
          </a:xfrm>
          <a:prstGeom prst="rect">
            <a:avLst/>
          </a:prstGeom>
          <a:noFill/>
        </p:spPr>
        <p:txBody>
          <a:bodyPr wrap="square">
            <a:normAutofit/>
          </a:bodyPr>
          <a:lstStyle/>
          <a:p>
            <a:pPr algn="r"/>
            <a:r>
              <a:rPr sz="800" b="0">
                <a:solidFill>
                  <a:srgbClr val="626F75"/>
                </a:solidFill>
                <a:latin typeface="Microsoft YaHe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TextBox 1"/>
          <p:cNvSpPr txBox="1"/>
          <p:nvPr/>
        </p:nvSpPr>
        <p:spPr>
          <a:xfrm>
            <a:off x="658368" y="384048"/>
            <a:ext cx="411480" cy="201168"/>
          </a:xfrm>
          <a:prstGeom prst="rect">
            <a:avLst/>
          </a:prstGeom>
          <a:noFill/>
        </p:spPr>
        <p:txBody>
          <a:bodyPr wrap="square">
            <a:normAutofit/>
          </a:bodyPr>
          <a:lstStyle/>
          <a:p>
            <a:pPr algn="l"/>
            <a:r>
              <a:rPr sz="800" b="1">
                <a:solidFill>
                  <a:srgbClr val="487967"/>
                </a:solidFill>
                <a:latin typeface="Microsoft YaHei"/>
              </a:rPr>
              <a:t>10</a:t>
            </a:r>
          </a:p>
        </p:txBody>
      </p:sp>
      <p:sp>
        <p:nvSpPr>
          <p:cNvPr id="3" name="TextBox 2"/>
          <p:cNvSpPr txBox="1"/>
          <p:nvPr/>
        </p:nvSpPr>
        <p:spPr>
          <a:xfrm>
            <a:off x="1078992" y="310896"/>
            <a:ext cx="9875520" cy="493776"/>
          </a:xfrm>
          <a:prstGeom prst="rect">
            <a:avLst/>
          </a:prstGeom>
          <a:noFill/>
        </p:spPr>
        <p:txBody>
          <a:bodyPr wrap="square">
            <a:normAutofit/>
          </a:bodyPr>
          <a:lstStyle/>
          <a:p>
            <a:pPr algn="l"/>
            <a:r>
              <a:rPr sz="2300" b="1">
                <a:solidFill>
                  <a:srgbClr val="223035"/>
                </a:solidFill>
                <a:latin typeface="Microsoft YaHei"/>
              </a:rPr>
              <a:t>真实痛点 4：高校和科研团队有想法，但数据工程吃掉研究周期</a:t>
            </a:r>
          </a:p>
        </p:txBody>
      </p:sp>
      <p:pic>
        <p:nvPicPr>
          <p:cNvPr id="4" name="Picture 3" descr="university_research_lab.png"/>
          <p:cNvPicPr>
            <a:picLocks noChangeAspect="1"/>
          </p:cNvPicPr>
          <p:nvPr/>
        </p:nvPicPr>
        <p:blipFill>
          <a:blip r:embed="rId2"/>
          <a:stretch>
            <a:fillRect/>
          </a:stretch>
        </p:blipFill>
        <p:spPr>
          <a:xfrm>
            <a:off x="749808" y="1170432"/>
            <a:ext cx="5166360" cy="3657600"/>
          </a:xfrm>
          <a:prstGeom prst="rect">
            <a:avLst/>
          </a:prstGeom>
        </p:spPr>
      </p:pic>
      <p:sp>
        <p:nvSpPr>
          <p:cNvPr id="5" name="Rounded Rectangle 4"/>
          <p:cNvSpPr/>
          <p:nvPr/>
        </p:nvSpPr>
        <p:spPr>
          <a:xfrm>
            <a:off x="6263640" y="1371600"/>
            <a:ext cx="4572000" cy="100584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63640" y="1371600"/>
            <a:ext cx="64008" cy="1005840"/>
          </a:xfrm>
          <a:prstGeom prst="rect">
            <a:avLst/>
          </a:prstGeom>
          <a:solidFill>
            <a:srgbClr val="88B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7" y="1517904"/>
            <a:ext cx="4224528" cy="228600"/>
          </a:xfrm>
          <a:prstGeom prst="rect">
            <a:avLst/>
          </a:prstGeom>
          <a:noFill/>
        </p:spPr>
        <p:txBody>
          <a:bodyPr wrap="square">
            <a:normAutofit/>
          </a:bodyPr>
          <a:lstStyle/>
          <a:p>
            <a:pPr algn="l"/>
            <a:r>
              <a:rPr sz="1200" b="1">
                <a:solidFill>
                  <a:srgbClr val="223035"/>
                </a:solidFill>
                <a:latin typeface="Microsoft YaHei"/>
              </a:rPr>
              <a:t>今天</a:t>
            </a:r>
          </a:p>
        </p:txBody>
      </p:sp>
      <p:sp>
        <p:nvSpPr>
          <p:cNvPr id="8" name="TextBox 7"/>
          <p:cNvSpPr txBox="1"/>
          <p:nvPr/>
        </p:nvSpPr>
        <p:spPr>
          <a:xfrm>
            <a:off x="6464807" y="1874519"/>
            <a:ext cx="4224528" cy="402336"/>
          </a:xfrm>
          <a:prstGeom prst="rect">
            <a:avLst/>
          </a:prstGeom>
          <a:noFill/>
        </p:spPr>
        <p:txBody>
          <a:bodyPr wrap="square">
            <a:normAutofit/>
          </a:bodyPr>
          <a:lstStyle/>
          <a:p>
            <a:pPr algn="l"/>
            <a:r>
              <a:rPr sz="900" b="0">
                <a:solidFill>
                  <a:srgbClr val="626F75"/>
                </a:solidFill>
                <a:latin typeface="Microsoft YaHei"/>
              </a:rPr>
              <a:t>下载、配准、裁切、标注、转换格式、跑环境；样本制作本身就是大工程。</a:t>
            </a:r>
          </a:p>
        </p:txBody>
      </p:sp>
      <p:sp>
        <p:nvSpPr>
          <p:cNvPr id="9" name="Rounded Rectangle 8"/>
          <p:cNvSpPr/>
          <p:nvPr/>
        </p:nvSpPr>
        <p:spPr>
          <a:xfrm>
            <a:off x="6263640" y="2670048"/>
            <a:ext cx="4572000" cy="100584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2670048"/>
            <a:ext cx="64008" cy="1005840"/>
          </a:xfrm>
          <a:prstGeom prst="rect">
            <a:avLst/>
          </a:prstGeom>
          <a:solidFill>
            <a:srgbClr val="B4A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7" y="2816352"/>
            <a:ext cx="4224528" cy="228600"/>
          </a:xfrm>
          <a:prstGeom prst="rect">
            <a:avLst/>
          </a:prstGeom>
          <a:noFill/>
        </p:spPr>
        <p:txBody>
          <a:bodyPr wrap="square">
            <a:normAutofit/>
          </a:bodyPr>
          <a:lstStyle/>
          <a:p>
            <a:pPr algn="l"/>
            <a:r>
              <a:rPr sz="1200" b="1">
                <a:solidFill>
                  <a:srgbClr val="223035"/>
                </a:solidFill>
                <a:latin typeface="Microsoft YaHei"/>
              </a:rPr>
              <a:t>痛点</a:t>
            </a:r>
          </a:p>
        </p:txBody>
      </p:sp>
      <p:sp>
        <p:nvSpPr>
          <p:cNvPr id="12" name="TextBox 11"/>
          <p:cNvSpPr txBox="1"/>
          <p:nvPr/>
        </p:nvSpPr>
        <p:spPr>
          <a:xfrm>
            <a:off x="6464807" y="3172968"/>
            <a:ext cx="4224528" cy="402336"/>
          </a:xfrm>
          <a:prstGeom prst="rect">
            <a:avLst/>
          </a:prstGeom>
          <a:noFill/>
        </p:spPr>
        <p:txBody>
          <a:bodyPr wrap="square">
            <a:normAutofit/>
          </a:bodyPr>
          <a:lstStyle/>
          <a:p>
            <a:pPr algn="l"/>
            <a:r>
              <a:rPr sz="900" b="0">
                <a:solidFill>
                  <a:srgbClr val="626F75"/>
                </a:solidFill>
                <a:latin typeface="Microsoft YaHei"/>
              </a:rPr>
              <a:t>数据准备比算法研究更耗时；小团队缺算力；跨区域复现难。</a:t>
            </a:r>
          </a:p>
        </p:txBody>
      </p:sp>
      <p:sp>
        <p:nvSpPr>
          <p:cNvPr id="13" name="Rounded Rectangle 12"/>
          <p:cNvSpPr/>
          <p:nvPr/>
        </p:nvSpPr>
        <p:spPr>
          <a:xfrm>
            <a:off x="6263640" y="3968496"/>
            <a:ext cx="4572000" cy="100584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3968496"/>
            <a:ext cx="64008" cy="1005840"/>
          </a:xfrm>
          <a:prstGeom prst="rect">
            <a:avLst/>
          </a:prstGeom>
          <a:solidFill>
            <a:srgbClr val="84B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4807" y="4114800"/>
            <a:ext cx="4224528" cy="228600"/>
          </a:xfrm>
          <a:prstGeom prst="rect">
            <a:avLst/>
          </a:prstGeom>
          <a:noFill/>
        </p:spPr>
        <p:txBody>
          <a:bodyPr wrap="square">
            <a:normAutofit/>
          </a:bodyPr>
          <a:lstStyle/>
          <a:p>
            <a:pPr algn="l"/>
            <a:r>
              <a:rPr sz="1200" b="1">
                <a:solidFill>
                  <a:srgbClr val="223035"/>
                </a:solidFill>
                <a:latin typeface="Microsoft YaHei"/>
              </a:rPr>
              <a:t>玄女</a:t>
            </a:r>
          </a:p>
        </p:txBody>
      </p:sp>
      <p:sp>
        <p:nvSpPr>
          <p:cNvPr id="16" name="TextBox 15"/>
          <p:cNvSpPr txBox="1"/>
          <p:nvPr/>
        </p:nvSpPr>
        <p:spPr>
          <a:xfrm>
            <a:off x="6464807" y="4471416"/>
            <a:ext cx="4224528" cy="402336"/>
          </a:xfrm>
          <a:prstGeom prst="rect">
            <a:avLst/>
          </a:prstGeom>
          <a:noFill/>
        </p:spPr>
        <p:txBody>
          <a:bodyPr wrap="square">
            <a:normAutofit/>
          </a:bodyPr>
          <a:lstStyle/>
          <a:p>
            <a:pPr algn="l"/>
            <a:r>
              <a:rPr sz="900" b="0">
                <a:solidFill>
                  <a:srgbClr val="626F75"/>
                </a:solidFill>
                <a:latin typeface="Microsoft YaHei"/>
              </a:rPr>
              <a:t>现成地理嵌入、预标注、变化候选、难例检索、少样本微调。</a:t>
            </a:r>
          </a:p>
        </p:txBody>
      </p:sp>
      <p:sp>
        <p:nvSpPr>
          <p:cNvPr id="17" name="TextBox 16"/>
          <p:cNvSpPr txBox="1"/>
          <p:nvPr/>
        </p:nvSpPr>
        <p:spPr>
          <a:xfrm>
            <a:off x="658368" y="6528816"/>
            <a:ext cx="5669280" cy="182880"/>
          </a:xfrm>
          <a:prstGeom prst="rect">
            <a:avLst/>
          </a:prstGeom>
          <a:noFill/>
        </p:spPr>
        <p:txBody>
          <a:bodyPr wrap="square">
            <a:normAutofit/>
          </a:bodyPr>
          <a:lstStyle/>
          <a:p>
            <a:pPr algn="l"/>
            <a:r>
              <a:rPr sz="700" b="0">
                <a:solidFill>
                  <a:srgbClr val="626F75"/>
                </a:solidFill>
                <a:latin typeface="Microsoft YaHei"/>
              </a:rPr>
              <a:t>玄女科技商业计划书 v0.3｜按 22 页内容稿重制</a:t>
            </a:r>
          </a:p>
        </p:txBody>
      </p:sp>
      <p:sp>
        <p:nvSpPr>
          <p:cNvPr id="18" name="TextBox 17"/>
          <p:cNvSpPr txBox="1"/>
          <p:nvPr/>
        </p:nvSpPr>
        <p:spPr>
          <a:xfrm>
            <a:off x="11018520" y="6510528"/>
            <a:ext cx="457200" cy="182880"/>
          </a:xfrm>
          <a:prstGeom prst="rect">
            <a:avLst/>
          </a:prstGeom>
          <a:noFill/>
        </p:spPr>
        <p:txBody>
          <a:bodyPr wrap="square">
            <a:normAutofit/>
          </a:bodyPr>
          <a:lstStyle/>
          <a:p>
            <a:pPr algn="r"/>
            <a:r>
              <a:rPr sz="800" b="0">
                <a:solidFill>
                  <a:srgbClr val="626F75"/>
                </a:solidFill>
                <a:latin typeface="Microsoft YaHe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TextBox 1"/>
          <p:cNvSpPr txBox="1"/>
          <p:nvPr/>
        </p:nvSpPr>
        <p:spPr>
          <a:xfrm>
            <a:off x="658368" y="384048"/>
            <a:ext cx="411480" cy="201168"/>
          </a:xfrm>
          <a:prstGeom prst="rect">
            <a:avLst/>
          </a:prstGeom>
          <a:noFill/>
        </p:spPr>
        <p:txBody>
          <a:bodyPr wrap="square">
            <a:normAutofit/>
          </a:bodyPr>
          <a:lstStyle/>
          <a:p>
            <a:pPr algn="l"/>
            <a:r>
              <a:rPr sz="800" b="1">
                <a:solidFill>
                  <a:srgbClr val="487967"/>
                </a:solidFill>
                <a:latin typeface="Microsoft YaHei"/>
              </a:rPr>
              <a:t>11</a:t>
            </a:r>
          </a:p>
        </p:txBody>
      </p:sp>
      <p:sp>
        <p:nvSpPr>
          <p:cNvPr id="3" name="TextBox 2"/>
          <p:cNvSpPr txBox="1"/>
          <p:nvPr/>
        </p:nvSpPr>
        <p:spPr>
          <a:xfrm>
            <a:off x="1078992" y="310896"/>
            <a:ext cx="9875520" cy="493776"/>
          </a:xfrm>
          <a:prstGeom prst="rect">
            <a:avLst/>
          </a:prstGeom>
          <a:noFill/>
        </p:spPr>
        <p:txBody>
          <a:bodyPr wrap="square">
            <a:normAutofit/>
          </a:bodyPr>
          <a:lstStyle/>
          <a:p>
            <a:pPr algn="l"/>
            <a:r>
              <a:rPr sz="2300" b="1">
                <a:solidFill>
                  <a:srgbClr val="223035"/>
                </a:solidFill>
                <a:latin typeface="Microsoft YaHei"/>
              </a:rPr>
              <a:t>从四类用户出发，我们的核心问题是什么？</a:t>
            </a:r>
          </a:p>
        </p:txBody>
      </p:sp>
      <p:sp>
        <p:nvSpPr>
          <p:cNvPr id="4" name="Rounded Rectangle 3"/>
          <p:cNvSpPr/>
          <p:nvPr/>
        </p:nvSpPr>
        <p:spPr>
          <a:xfrm>
            <a:off x="749808" y="1508760"/>
            <a:ext cx="3246120" cy="1133856"/>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1508760"/>
            <a:ext cx="64008" cy="1133856"/>
          </a:xfrm>
          <a:prstGeom prst="rect">
            <a:avLst/>
          </a:prstGeom>
          <a:solidFill>
            <a:srgbClr val="84B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1655063"/>
            <a:ext cx="2898648" cy="228600"/>
          </a:xfrm>
          <a:prstGeom prst="rect">
            <a:avLst/>
          </a:prstGeom>
          <a:noFill/>
        </p:spPr>
        <p:txBody>
          <a:bodyPr wrap="square">
            <a:normAutofit/>
          </a:bodyPr>
          <a:lstStyle/>
          <a:p>
            <a:pPr algn="l"/>
            <a:r>
              <a:rPr sz="1200" b="1">
                <a:solidFill>
                  <a:srgbClr val="223035"/>
                </a:solidFill>
                <a:latin typeface="Microsoft YaHei"/>
              </a:rPr>
              <a:t>B 端</a:t>
            </a:r>
          </a:p>
        </p:txBody>
      </p:sp>
      <p:sp>
        <p:nvSpPr>
          <p:cNvPr id="7" name="TextBox 6"/>
          <p:cNvSpPr txBox="1"/>
          <p:nvPr/>
        </p:nvSpPr>
        <p:spPr>
          <a:xfrm>
            <a:off x="950976" y="2011680"/>
            <a:ext cx="2898648" cy="530352"/>
          </a:xfrm>
          <a:prstGeom prst="rect">
            <a:avLst/>
          </a:prstGeom>
          <a:noFill/>
        </p:spPr>
        <p:txBody>
          <a:bodyPr wrap="square">
            <a:normAutofit/>
          </a:bodyPr>
          <a:lstStyle/>
          <a:p>
            <a:pPr algn="l"/>
            <a:r>
              <a:rPr sz="900" b="0">
                <a:solidFill>
                  <a:srgbClr val="626F75"/>
                </a:solidFill>
                <a:latin typeface="Microsoft YaHei"/>
              </a:rPr>
              <a:t>项目越多，越依赖人力交付。</a:t>
            </a:r>
          </a:p>
        </p:txBody>
      </p:sp>
      <p:sp>
        <p:nvSpPr>
          <p:cNvPr id="8" name="Rounded Rectangle 7"/>
          <p:cNvSpPr/>
          <p:nvPr/>
        </p:nvSpPr>
        <p:spPr>
          <a:xfrm>
            <a:off x="4453128" y="1508760"/>
            <a:ext cx="3246120" cy="1133856"/>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53128" y="1508760"/>
            <a:ext cx="64008" cy="1133856"/>
          </a:xfrm>
          <a:prstGeom prst="rect">
            <a:avLst/>
          </a:prstGeom>
          <a:solidFill>
            <a:srgbClr val="88B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54296" y="1655063"/>
            <a:ext cx="2898648" cy="228600"/>
          </a:xfrm>
          <a:prstGeom prst="rect">
            <a:avLst/>
          </a:prstGeom>
          <a:noFill/>
        </p:spPr>
        <p:txBody>
          <a:bodyPr wrap="square">
            <a:normAutofit/>
          </a:bodyPr>
          <a:lstStyle/>
          <a:p>
            <a:pPr algn="l"/>
            <a:r>
              <a:rPr sz="1200" b="1">
                <a:solidFill>
                  <a:srgbClr val="223035"/>
                </a:solidFill>
                <a:latin typeface="Microsoft YaHei"/>
              </a:rPr>
              <a:t>政府</a:t>
            </a:r>
          </a:p>
        </p:txBody>
      </p:sp>
      <p:sp>
        <p:nvSpPr>
          <p:cNvPr id="11" name="TextBox 10"/>
          <p:cNvSpPr txBox="1"/>
          <p:nvPr/>
        </p:nvSpPr>
        <p:spPr>
          <a:xfrm>
            <a:off x="4654296" y="2011680"/>
            <a:ext cx="2898648" cy="530352"/>
          </a:xfrm>
          <a:prstGeom prst="rect">
            <a:avLst/>
          </a:prstGeom>
          <a:noFill/>
        </p:spPr>
        <p:txBody>
          <a:bodyPr wrap="square">
            <a:normAutofit/>
          </a:bodyPr>
          <a:lstStyle/>
          <a:p>
            <a:pPr algn="l"/>
            <a:r>
              <a:rPr sz="900" b="0">
                <a:solidFill>
                  <a:srgbClr val="626F75"/>
                </a:solidFill>
                <a:latin typeface="Microsoft YaHei"/>
              </a:rPr>
              <a:t>图斑越多，越需要证据链。</a:t>
            </a:r>
          </a:p>
        </p:txBody>
      </p:sp>
      <p:sp>
        <p:nvSpPr>
          <p:cNvPr id="12" name="Rounded Rectangle 11"/>
          <p:cNvSpPr/>
          <p:nvPr/>
        </p:nvSpPr>
        <p:spPr>
          <a:xfrm>
            <a:off x="8156448" y="1508760"/>
            <a:ext cx="3246120" cy="1133856"/>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56448" y="1508760"/>
            <a:ext cx="64008" cy="1133856"/>
          </a:xfrm>
          <a:prstGeom prst="rect">
            <a:avLst/>
          </a:prstGeom>
          <a:solidFill>
            <a:srgbClr val="B4A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57616" y="1655063"/>
            <a:ext cx="2898648" cy="228600"/>
          </a:xfrm>
          <a:prstGeom prst="rect">
            <a:avLst/>
          </a:prstGeom>
          <a:noFill/>
        </p:spPr>
        <p:txBody>
          <a:bodyPr wrap="square">
            <a:normAutofit/>
          </a:bodyPr>
          <a:lstStyle/>
          <a:p>
            <a:pPr algn="l"/>
            <a:r>
              <a:rPr sz="1200" b="1">
                <a:solidFill>
                  <a:srgbClr val="223035"/>
                </a:solidFill>
                <a:latin typeface="Microsoft YaHei"/>
              </a:rPr>
              <a:t>科研 / 地块</a:t>
            </a:r>
          </a:p>
        </p:txBody>
      </p:sp>
      <p:sp>
        <p:nvSpPr>
          <p:cNvPr id="15" name="TextBox 14"/>
          <p:cNvSpPr txBox="1"/>
          <p:nvPr/>
        </p:nvSpPr>
        <p:spPr>
          <a:xfrm>
            <a:off x="8357616" y="2011680"/>
            <a:ext cx="2898648" cy="530352"/>
          </a:xfrm>
          <a:prstGeom prst="rect">
            <a:avLst/>
          </a:prstGeom>
          <a:noFill/>
        </p:spPr>
        <p:txBody>
          <a:bodyPr wrap="square">
            <a:normAutofit/>
          </a:bodyPr>
          <a:lstStyle/>
          <a:p>
            <a:pPr algn="l"/>
            <a:r>
              <a:rPr sz="900" b="0">
                <a:solidFill>
                  <a:srgbClr val="626F75"/>
                </a:solidFill>
                <a:latin typeface="Microsoft YaHei"/>
              </a:rPr>
              <a:t>想用遥感，但数据工程太重。</a:t>
            </a:r>
          </a:p>
        </p:txBody>
      </p:sp>
      <p:sp>
        <p:nvSpPr>
          <p:cNvPr id="16" name="TextBox 15"/>
          <p:cNvSpPr txBox="1"/>
          <p:nvPr/>
        </p:nvSpPr>
        <p:spPr>
          <a:xfrm>
            <a:off x="914400" y="3931920"/>
            <a:ext cx="10149840" cy="960120"/>
          </a:xfrm>
          <a:prstGeom prst="rect">
            <a:avLst/>
          </a:prstGeom>
          <a:noFill/>
        </p:spPr>
        <p:txBody>
          <a:bodyPr wrap="square">
            <a:normAutofit/>
          </a:bodyPr>
          <a:lstStyle/>
          <a:p>
            <a:pPr algn="ctr"/>
            <a:r>
              <a:rPr sz="2700" b="1">
                <a:solidFill>
                  <a:srgbClr val="223035"/>
                </a:solidFill>
                <a:latin typeface="Microsoft YaHei"/>
              </a:rPr>
              <a:t>我们如何把爆发式增长的地球观测数据转化为可复用的地理智能底座，让不同用户不再为每个遥感任务重复采购、标注、建模和计算？</a:t>
            </a:r>
          </a:p>
        </p:txBody>
      </p:sp>
      <p:sp>
        <p:nvSpPr>
          <p:cNvPr id="17" name="TextBox 16"/>
          <p:cNvSpPr txBox="1"/>
          <p:nvPr/>
        </p:nvSpPr>
        <p:spPr>
          <a:xfrm>
            <a:off x="658368" y="6528816"/>
            <a:ext cx="5669280" cy="182880"/>
          </a:xfrm>
          <a:prstGeom prst="rect">
            <a:avLst/>
          </a:prstGeom>
          <a:noFill/>
        </p:spPr>
        <p:txBody>
          <a:bodyPr wrap="square">
            <a:normAutofit/>
          </a:bodyPr>
          <a:lstStyle/>
          <a:p>
            <a:pPr algn="l"/>
            <a:r>
              <a:rPr sz="700" b="0">
                <a:solidFill>
                  <a:srgbClr val="626F75"/>
                </a:solidFill>
                <a:latin typeface="Microsoft YaHei"/>
              </a:rPr>
              <a:t>玄女科技商业计划书 v0.3｜按 22 页内容稿重制</a:t>
            </a:r>
          </a:p>
        </p:txBody>
      </p:sp>
      <p:sp>
        <p:nvSpPr>
          <p:cNvPr id="18" name="TextBox 17"/>
          <p:cNvSpPr txBox="1"/>
          <p:nvPr/>
        </p:nvSpPr>
        <p:spPr>
          <a:xfrm>
            <a:off x="11018520" y="6510528"/>
            <a:ext cx="457200" cy="182880"/>
          </a:xfrm>
          <a:prstGeom prst="rect">
            <a:avLst/>
          </a:prstGeom>
          <a:noFill/>
        </p:spPr>
        <p:txBody>
          <a:bodyPr wrap="square">
            <a:normAutofit/>
          </a:bodyPr>
          <a:lstStyle/>
          <a:p>
            <a:pPr algn="r"/>
            <a:r>
              <a:rPr sz="800" b="0">
                <a:solidFill>
                  <a:srgbClr val="626F75"/>
                </a:solidFill>
                <a:latin typeface="Microsoft YaHe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TextBox 1"/>
          <p:cNvSpPr txBox="1"/>
          <p:nvPr/>
        </p:nvSpPr>
        <p:spPr>
          <a:xfrm>
            <a:off x="658368" y="384048"/>
            <a:ext cx="411480" cy="201168"/>
          </a:xfrm>
          <a:prstGeom prst="rect">
            <a:avLst/>
          </a:prstGeom>
          <a:noFill/>
        </p:spPr>
        <p:txBody>
          <a:bodyPr wrap="square">
            <a:normAutofit/>
          </a:bodyPr>
          <a:lstStyle/>
          <a:p>
            <a:pPr algn="l"/>
            <a:r>
              <a:rPr sz="800" b="1">
                <a:solidFill>
                  <a:srgbClr val="487967"/>
                </a:solidFill>
                <a:latin typeface="Microsoft YaHei"/>
              </a:rPr>
              <a:t>12</a:t>
            </a:r>
          </a:p>
        </p:txBody>
      </p:sp>
      <p:sp>
        <p:nvSpPr>
          <p:cNvPr id="3" name="TextBox 2"/>
          <p:cNvSpPr txBox="1"/>
          <p:nvPr/>
        </p:nvSpPr>
        <p:spPr>
          <a:xfrm>
            <a:off x="1078992" y="310896"/>
            <a:ext cx="9875520" cy="493776"/>
          </a:xfrm>
          <a:prstGeom prst="rect">
            <a:avLst/>
          </a:prstGeom>
          <a:noFill/>
        </p:spPr>
        <p:txBody>
          <a:bodyPr wrap="square">
            <a:normAutofit/>
          </a:bodyPr>
          <a:lstStyle/>
          <a:p>
            <a:pPr algn="l"/>
            <a:r>
              <a:rPr sz="2300" b="1">
                <a:solidFill>
                  <a:srgbClr val="223035"/>
                </a:solidFill>
                <a:latin typeface="Microsoft YaHei"/>
              </a:rPr>
              <a:t>玄女的答案：先生成地理嵌入，再服务下游任务</a:t>
            </a:r>
          </a:p>
        </p:txBody>
      </p:sp>
      <p:sp>
        <p:nvSpPr>
          <p:cNvPr id="4" name="Rounded Rectangle 3"/>
          <p:cNvSpPr/>
          <p:nvPr/>
        </p:nvSpPr>
        <p:spPr>
          <a:xfrm>
            <a:off x="914400" y="1481328"/>
            <a:ext cx="1912924"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636776"/>
            <a:ext cx="1803196" cy="164592"/>
          </a:xfrm>
          <a:prstGeom prst="rect">
            <a:avLst/>
          </a:prstGeom>
          <a:noFill/>
        </p:spPr>
        <p:txBody>
          <a:bodyPr wrap="square">
            <a:normAutofit/>
          </a:bodyPr>
          <a:lstStyle/>
          <a:p>
            <a:pPr algn="ctr"/>
            <a:r>
              <a:rPr sz="800" b="1">
                <a:solidFill>
                  <a:srgbClr val="223035"/>
                </a:solidFill>
                <a:latin typeface="Microsoft YaHei"/>
              </a:rPr>
              <a:t>多源观测</a:t>
            </a:r>
          </a:p>
        </p:txBody>
      </p:sp>
      <p:sp>
        <p:nvSpPr>
          <p:cNvPr id="6" name="TextBox 5"/>
          <p:cNvSpPr txBox="1"/>
          <p:nvPr/>
        </p:nvSpPr>
        <p:spPr>
          <a:xfrm>
            <a:off x="2845612" y="1645920"/>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7" name="Rounded Rectangle 6"/>
          <p:cNvSpPr/>
          <p:nvPr/>
        </p:nvSpPr>
        <p:spPr>
          <a:xfrm>
            <a:off x="2973628" y="1481328"/>
            <a:ext cx="1912924"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28492" y="1636776"/>
            <a:ext cx="1803196" cy="164592"/>
          </a:xfrm>
          <a:prstGeom prst="rect">
            <a:avLst/>
          </a:prstGeom>
          <a:noFill/>
        </p:spPr>
        <p:txBody>
          <a:bodyPr wrap="square">
            <a:normAutofit/>
          </a:bodyPr>
          <a:lstStyle/>
          <a:p>
            <a:pPr algn="ctr"/>
            <a:r>
              <a:rPr sz="800" b="1">
                <a:solidFill>
                  <a:srgbClr val="223035"/>
                </a:solidFill>
                <a:latin typeface="Microsoft YaHei"/>
              </a:rPr>
              <a:t>地理嵌入</a:t>
            </a:r>
          </a:p>
        </p:txBody>
      </p:sp>
      <p:sp>
        <p:nvSpPr>
          <p:cNvPr id="9" name="TextBox 8"/>
          <p:cNvSpPr txBox="1"/>
          <p:nvPr/>
        </p:nvSpPr>
        <p:spPr>
          <a:xfrm>
            <a:off x="4904841" y="1645920"/>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10" name="Rounded Rectangle 9"/>
          <p:cNvSpPr/>
          <p:nvPr/>
        </p:nvSpPr>
        <p:spPr>
          <a:xfrm>
            <a:off x="5032857" y="1481328"/>
            <a:ext cx="1912924"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87721" y="1636776"/>
            <a:ext cx="1803196" cy="164592"/>
          </a:xfrm>
          <a:prstGeom prst="rect">
            <a:avLst/>
          </a:prstGeom>
          <a:noFill/>
        </p:spPr>
        <p:txBody>
          <a:bodyPr wrap="square">
            <a:normAutofit/>
          </a:bodyPr>
          <a:lstStyle/>
          <a:p>
            <a:pPr algn="ctr"/>
            <a:r>
              <a:rPr sz="800" b="1">
                <a:solidFill>
                  <a:srgbClr val="223035"/>
                </a:solidFill>
                <a:latin typeface="Microsoft YaHei"/>
              </a:rPr>
              <a:t>任务组件</a:t>
            </a:r>
          </a:p>
        </p:txBody>
      </p:sp>
      <p:sp>
        <p:nvSpPr>
          <p:cNvPr id="12" name="TextBox 11"/>
          <p:cNvSpPr txBox="1"/>
          <p:nvPr/>
        </p:nvSpPr>
        <p:spPr>
          <a:xfrm>
            <a:off x="6964070" y="1645920"/>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13" name="Rounded Rectangle 12"/>
          <p:cNvSpPr/>
          <p:nvPr/>
        </p:nvSpPr>
        <p:spPr>
          <a:xfrm>
            <a:off x="7092086" y="1481328"/>
            <a:ext cx="1912924"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46950" y="1636776"/>
            <a:ext cx="1803196" cy="164592"/>
          </a:xfrm>
          <a:prstGeom prst="rect">
            <a:avLst/>
          </a:prstGeom>
          <a:noFill/>
        </p:spPr>
        <p:txBody>
          <a:bodyPr wrap="square">
            <a:normAutofit/>
          </a:bodyPr>
          <a:lstStyle/>
          <a:p>
            <a:pPr algn="ctr"/>
            <a:r>
              <a:rPr sz="800" b="1">
                <a:solidFill>
                  <a:srgbClr val="223035"/>
                </a:solidFill>
                <a:latin typeface="Microsoft YaHei"/>
              </a:rPr>
              <a:t>变化候选</a:t>
            </a:r>
          </a:p>
        </p:txBody>
      </p:sp>
      <p:sp>
        <p:nvSpPr>
          <p:cNvPr id="15" name="TextBox 14"/>
          <p:cNvSpPr txBox="1"/>
          <p:nvPr/>
        </p:nvSpPr>
        <p:spPr>
          <a:xfrm>
            <a:off x="9023299" y="1645920"/>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16" name="Rounded Rectangle 15"/>
          <p:cNvSpPr/>
          <p:nvPr/>
        </p:nvSpPr>
        <p:spPr>
          <a:xfrm>
            <a:off x="9151315" y="1481328"/>
            <a:ext cx="1912924"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06179" y="1636776"/>
            <a:ext cx="1803196" cy="164592"/>
          </a:xfrm>
          <a:prstGeom prst="rect">
            <a:avLst/>
          </a:prstGeom>
          <a:noFill/>
        </p:spPr>
        <p:txBody>
          <a:bodyPr wrap="square">
            <a:normAutofit/>
          </a:bodyPr>
          <a:lstStyle/>
          <a:p>
            <a:pPr algn="ctr"/>
            <a:r>
              <a:rPr sz="800" b="1">
                <a:solidFill>
                  <a:srgbClr val="223035"/>
                </a:solidFill>
                <a:latin typeface="Microsoft YaHei"/>
              </a:rPr>
              <a:t>业务交付</a:t>
            </a:r>
          </a:p>
        </p:txBody>
      </p:sp>
      <p:sp>
        <p:nvSpPr>
          <p:cNvPr id="18" name="Rectangle 17"/>
          <p:cNvSpPr/>
          <p:nvPr/>
        </p:nvSpPr>
        <p:spPr>
          <a:xfrm>
            <a:off x="1874519" y="2743200"/>
            <a:ext cx="8229600" cy="576072"/>
          </a:xfrm>
          <a:prstGeom prst="rect">
            <a:avLst/>
          </a:prstGeom>
          <a:solidFill>
            <a:srgbClr val="F2F9F5"/>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29384" y="2834640"/>
            <a:ext cx="4023360" cy="457200"/>
          </a:xfrm>
          <a:prstGeom prst="rect">
            <a:avLst/>
          </a:prstGeom>
          <a:noFill/>
        </p:spPr>
        <p:txBody>
          <a:bodyPr wrap="square">
            <a:normAutofit/>
          </a:bodyPr>
          <a:lstStyle/>
          <a:p>
            <a:pPr algn="l"/>
            <a:r>
              <a:rPr sz="1000" b="1">
                <a:solidFill>
                  <a:srgbClr val="223035"/>
                </a:solidFill>
                <a:latin typeface="Microsoft YaHei"/>
              </a:rPr>
              <a:t>近期任务</a:t>
            </a:r>
          </a:p>
        </p:txBody>
      </p:sp>
      <p:sp>
        <p:nvSpPr>
          <p:cNvPr id="20" name="TextBox 19"/>
          <p:cNvSpPr txBox="1"/>
          <p:nvPr/>
        </p:nvSpPr>
        <p:spPr>
          <a:xfrm>
            <a:off x="6044183" y="2834640"/>
            <a:ext cx="4023360" cy="457200"/>
          </a:xfrm>
          <a:prstGeom prst="rect">
            <a:avLst/>
          </a:prstGeom>
          <a:noFill/>
        </p:spPr>
        <p:txBody>
          <a:bodyPr wrap="square">
            <a:normAutofit/>
          </a:bodyPr>
          <a:lstStyle/>
          <a:p>
            <a:pPr algn="l"/>
            <a:r>
              <a:rPr sz="1000" b="1">
                <a:solidFill>
                  <a:srgbClr val="223035"/>
                </a:solidFill>
                <a:latin typeface="Microsoft YaHei"/>
              </a:rPr>
              <a:t>扩展能力</a:t>
            </a:r>
          </a:p>
        </p:txBody>
      </p:sp>
      <p:sp>
        <p:nvSpPr>
          <p:cNvPr id="21" name="Rectangle 20"/>
          <p:cNvSpPr/>
          <p:nvPr/>
        </p:nvSpPr>
        <p:spPr>
          <a:xfrm>
            <a:off x="1874519" y="3346704"/>
            <a:ext cx="8229600" cy="576072"/>
          </a:xfrm>
          <a:prstGeom prst="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29384" y="3438144"/>
            <a:ext cx="4023360" cy="457200"/>
          </a:xfrm>
          <a:prstGeom prst="rect">
            <a:avLst/>
          </a:prstGeom>
          <a:noFill/>
        </p:spPr>
        <p:txBody>
          <a:bodyPr wrap="square">
            <a:normAutofit/>
          </a:bodyPr>
          <a:lstStyle/>
          <a:p>
            <a:pPr algn="l"/>
            <a:r>
              <a:rPr sz="1000" b="1">
                <a:solidFill>
                  <a:srgbClr val="626F75"/>
                </a:solidFill>
                <a:latin typeface="Microsoft YaHei"/>
              </a:rPr>
              <a:t>施工工地 / 建筑变化</a:t>
            </a:r>
          </a:p>
        </p:txBody>
      </p:sp>
      <p:sp>
        <p:nvSpPr>
          <p:cNvPr id="23" name="TextBox 22"/>
          <p:cNvSpPr txBox="1"/>
          <p:nvPr/>
        </p:nvSpPr>
        <p:spPr>
          <a:xfrm>
            <a:off x="6044183" y="3438144"/>
            <a:ext cx="4023360" cy="457200"/>
          </a:xfrm>
          <a:prstGeom prst="rect">
            <a:avLst/>
          </a:prstGeom>
          <a:noFill/>
        </p:spPr>
        <p:txBody>
          <a:bodyPr wrap="square">
            <a:normAutofit/>
          </a:bodyPr>
          <a:lstStyle/>
          <a:p>
            <a:pPr algn="l"/>
            <a:r>
              <a:rPr sz="1000" b="0">
                <a:solidFill>
                  <a:srgbClr val="626F75"/>
                </a:solidFill>
                <a:latin typeface="Microsoft YaHei"/>
              </a:rPr>
              <a:t>缺失模态补齐</a:t>
            </a:r>
          </a:p>
        </p:txBody>
      </p:sp>
      <p:sp>
        <p:nvSpPr>
          <p:cNvPr id="24" name="Rectangle 23"/>
          <p:cNvSpPr/>
          <p:nvPr/>
        </p:nvSpPr>
        <p:spPr>
          <a:xfrm>
            <a:off x="1874519" y="3950208"/>
            <a:ext cx="8229600" cy="576072"/>
          </a:xfrm>
          <a:prstGeom prst="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29384" y="4041648"/>
            <a:ext cx="4023360" cy="457200"/>
          </a:xfrm>
          <a:prstGeom prst="rect">
            <a:avLst/>
          </a:prstGeom>
          <a:noFill/>
        </p:spPr>
        <p:txBody>
          <a:bodyPr wrap="square">
            <a:normAutofit/>
          </a:bodyPr>
          <a:lstStyle/>
          <a:p>
            <a:pPr algn="l"/>
            <a:r>
              <a:rPr sz="1000" b="1">
                <a:solidFill>
                  <a:srgbClr val="626F75"/>
                </a:solidFill>
                <a:latin typeface="Microsoft YaHei"/>
              </a:rPr>
              <a:t>农用地 / 违法用地线索</a:t>
            </a:r>
          </a:p>
        </p:txBody>
      </p:sp>
      <p:sp>
        <p:nvSpPr>
          <p:cNvPr id="26" name="TextBox 25"/>
          <p:cNvSpPr txBox="1"/>
          <p:nvPr/>
        </p:nvSpPr>
        <p:spPr>
          <a:xfrm>
            <a:off x="6044183" y="4041648"/>
            <a:ext cx="4023360" cy="457200"/>
          </a:xfrm>
          <a:prstGeom prst="rect">
            <a:avLst/>
          </a:prstGeom>
          <a:noFill/>
        </p:spPr>
        <p:txBody>
          <a:bodyPr wrap="square">
            <a:normAutofit/>
          </a:bodyPr>
          <a:lstStyle/>
          <a:p>
            <a:pPr algn="l"/>
            <a:r>
              <a:rPr sz="1000" b="0">
                <a:solidFill>
                  <a:srgbClr val="626F75"/>
                </a:solidFill>
                <a:latin typeface="Microsoft YaHei"/>
              </a:rPr>
              <a:t>地理检索</a:t>
            </a:r>
          </a:p>
        </p:txBody>
      </p:sp>
      <p:sp>
        <p:nvSpPr>
          <p:cNvPr id="27" name="Rectangle 26"/>
          <p:cNvSpPr/>
          <p:nvPr/>
        </p:nvSpPr>
        <p:spPr>
          <a:xfrm>
            <a:off x="1874519" y="4553712"/>
            <a:ext cx="8229600" cy="576072"/>
          </a:xfrm>
          <a:prstGeom prst="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29384" y="4645152"/>
            <a:ext cx="4023360" cy="457200"/>
          </a:xfrm>
          <a:prstGeom prst="rect">
            <a:avLst/>
          </a:prstGeom>
          <a:noFill/>
        </p:spPr>
        <p:txBody>
          <a:bodyPr wrap="square">
            <a:normAutofit/>
          </a:bodyPr>
          <a:lstStyle/>
          <a:p>
            <a:pPr algn="l"/>
            <a:r>
              <a:rPr sz="1000" b="1">
                <a:solidFill>
                  <a:srgbClr val="626F75"/>
                </a:solidFill>
                <a:latin typeface="Microsoft YaHei"/>
              </a:rPr>
              <a:t>垃圾裸地 / 灾害线索</a:t>
            </a:r>
          </a:p>
        </p:txBody>
      </p:sp>
      <p:sp>
        <p:nvSpPr>
          <p:cNvPr id="29" name="TextBox 28"/>
          <p:cNvSpPr txBox="1"/>
          <p:nvPr/>
        </p:nvSpPr>
        <p:spPr>
          <a:xfrm>
            <a:off x="6044183" y="4645152"/>
            <a:ext cx="4023360" cy="457200"/>
          </a:xfrm>
          <a:prstGeom prst="rect">
            <a:avLst/>
          </a:prstGeom>
          <a:noFill/>
        </p:spPr>
        <p:txBody>
          <a:bodyPr wrap="square">
            <a:normAutofit/>
          </a:bodyPr>
          <a:lstStyle/>
          <a:p>
            <a:pPr algn="l"/>
            <a:r>
              <a:rPr sz="1000" b="0">
                <a:solidFill>
                  <a:srgbClr val="626F75"/>
                </a:solidFill>
                <a:latin typeface="Microsoft YaHei"/>
              </a:rPr>
              <a:t>地理问答</a:t>
            </a:r>
          </a:p>
        </p:txBody>
      </p:sp>
      <p:sp>
        <p:nvSpPr>
          <p:cNvPr id="30" name="TextBox 29"/>
          <p:cNvSpPr txBox="1"/>
          <p:nvPr/>
        </p:nvSpPr>
        <p:spPr>
          <a:xfrm>
            <a:off x="914400" y="5394960"/>
            <a:ext cx="10241280" cy="347472"/>
          </a:xfrm>
          <a:prstGeom prst="rect">
            <a:avLst/>
          </a:prstGeom>
          <a:noFill/>
        </p:spPr>
        <p:txBody>
          <a:bodyPr wrap="square">
            <a:normAutofit/>
          </a:bodyPr>
          <a:lstStyle/>
          <a:p>
            <a:pPr algn="ctr"/>
            <a:r>
              <a:rPr sz="2000" b="1">
                <a:solidFill>
                  <a:srgbClr val="487967"/>
                </a:solidFill>
                <a:latin typeface="Microsoft YaHei"/>
              </a:rPr>
              <a:t>先把地球变成机器能复用的表示，再让所有任务调用这个表示。</a:t>
            </a:r>
          </a:p>
        </p:txBody>
      </p:sp>
      <p:sp>
        <p:nvSpPr>
          <p:cNvPr id="31" name="TextBox 30"/>
          <p:cNvSpPr txBox="1"/>
          <p:nvPr/>
        </p:nvSpPr>
        <p:spPr>
          <a:xfrm>
            <a:off x="658368" y="6528816"/>
            <a:ext cx="5669280" cy="182880"/>
          </a:xfrm>
          <a:prstGeom prst="rect">
            <a:avLst/>
          </a:prstGeom>
          <a:noFill/>
        </p:spPr>
        <p:txBody>
          <a:bodyPr wrap="square">
            <a:normAutofit/>
          </a:bodyPr>
          <a:lstStyle/>
          <a:p>
            <a:pPr algn="l"/>
            <a:r>
              <a:rPr sz="700" b="0">
                <a:solidFill>
                  <a:srgbClr val="626F75"/>
                </a:solidFill>
                <a:latin typeface="Microsoft YaHei"/>
              </a:rPr>
              <a:t>玄女科技商业计划书 v0.3｜按 22 页内容稿重制</a:t>
            </a:r>
          </a:p>
        </p:txBody>
      </p:sp>
      <p:sp>
        <p:nvSpPr>
          <p:cNvPr id="32" name="TextBox 31"/>
          <p:cNvSpPr txBox="1"/>
          <p:nvPr/>
        </p:nvSpPr>
        <p:spPr>
          <a:xfrm>
            <a:off x="11018520" y="6510528"/>
            <a:ext cx="457200" cy="182880"/>
          </a:xfrm>
          <a:prstGeom prst="rect">
            <a:avLst/>
          </a:prstGeom>
          <a:noFill/>
        </p:spPr>
        <p:txBody>
          <a:bodyPr wrap="square">
            <a:normAutofit/>
          </a:bodyPr>
          <a:lstStyle/>
          <a:p>
            <a:pPr algn="r"/>
            <a:r>
              <a:rPr sz="800" b="0">
                <a:solidFill>
                  <a:srgbClr val="626F75"/>
                </a:solidFill>
                <a:latin typeface="Microsoft YaHe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TextBox 1"/>
          <p:cNvSpPr txBox="1"/>
          <p:nvPr/>
        </p:nvSpPr>
        <p:spPr>
          <a:xfrm>
            <a:off x="658368" y="384048"/>
            <a:ext cx="411480" cy="201168"/>
          </a:xfrm>
          <a:prstGeom prst="rect">
            <a:avLst/>
          </a:prstGeom>
          <a:noFill/>
        </p:spPr>
        <p:txBody>
          <a:bodyPr wrap="square">
            <a:normAutofit/>
          </a:bodyPr>
          <a:lstStyle/>
          <a:p>
            <a:pPr algn="l"/>
            <a:r>
              <a:rPr sz="800" b="1">
                <a:solidFill>
                  <a:srgbClr val="487967"/>
                </a:solidFill>
                <a:latin typeface="Microsoft YaHei"/>
              </a:rPr>
              <a:t>13</a:t>
            </a:r>
          </a:p>
        </p:txBody>
      </p:sp>
      <p:sp>
        <p:nvSpPr>
          <p:cNvPr id="3" name="TextBox 2"/>
          <p:cNvSpPr txBox="1"/>
          <p:nvPr/>
        </p:nvSpPr>
        <p:spPr>
          <a:xfrm>
            <a:off x="1078992" y="310896"/>
            <a:ext cx="9875520" cy="493776"/>
          </a:xfrm>
          <a:prstGeom prst="rect">
            <a:avLst/>
          </a:prstGeom>
          <a:noFill/>
        </p:spPr>
        <p:txBody>
          <a:bodyPr wrap="square">
            <a:normAutofit/>
          </a:bodyPr>
          <a:lstStyle/>
          <a:p>
            <a:pPr algn="l"/>
            <a:r>
              <a:rPr sz="2300" b="1">
                <a:solidFill>
                  <a:srgbClr val="223035"/>
                </a:solidFill>
                <a:latin typeface="Microsoft YaHei"/>
              </a:rPr>
              <a:t>地理嵌入是遥感行业的 token 层</a:t>
            </a:r>
          </a:p>
        </p:txBody>
      </p:sp>
      <p:sp>
        <p:nvSpPr>
          <p:cNvPr id="4" name="Rounded Rectangle 3"/>
          <p:cNvSpPr/>
          <p:nvPr/>
        </p:nvSpPr>
        <p:spPr>
          <a:xfrm>
            <a:off x="1097280" y="1554480"/>
            <a:ext cx="4206240" cy="114300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1554480"/>
            <a:ext cx="64008" cy="1143000"/>
          </a:xfrm>
          <a:prstGeom prst="rect">
            <a:avLst/>
          </a:prstGeom>
          <a:solidFill>
            <a:srgbClr val="88B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98448" y="1700784"/>
            <a:ext cx="3858768" cy="228600"/>
          </a:xfrm>
          <a:prstGeom prst="rect">
            <a:avLst/>
          </a:prstGeom>
          <a:noFill/>
        </p:spPr>
        <p:txBody>
          <a:bodyPr wrap="square">
            <a:normAutofit/>
          </a:bodyPr>
          <a:lstStyle/>
          <a:p>
            <a:pPr algn="l"/>
            <a:r>
              <a:rPr sz="1200" b="1">
                <a:solidFill>
                  <a:srgbClr val="223035"/>
                </a:solidFill>
                <a:latin typeface="Microsoft YaHei"/>
              </a:rPr>
              <a:t>文本智能</a:t>
            </a:r>
          </a:p>
        </p:txBody>
      </p:sp>
      <p:sp>
        <p:nvSpPr>
          <p:cNvPr id="7" name="TextBox 6"/>
          <p:cNvSpPr txBox="1"/>
          <p:nvPr/>
        </p:nvSpPr>
        <p:spPr>
          <a:xfrm>
            <a:off x="1298448" y="2057400"/>
            <a:ext cx="3858768" cy="539496"/>
          </a:xfrm>
          <a:prstGeom prst="rect">
            <a:avLst/>
          </a:prstGeom>
          <a:noFill/>
        </p:spPr>
        <p:txBody>
          <a:bodyPr wrap="square">
            <a:normAutofit/>
          </a:bodyPr>
          <a:lstStyle/>
          <a:p>
            <a:pPr algn="l"/>
            <a:r>
              <a:rPr sz="900" b="0">
                <a:solidFill>
                  <a:srgbClr val="626F75"/>
                </a:solidFill>
                <a:latin typeface="Microsoft YaHei"/>
              </a:rPr>
              <a:t>文本 → token → 理解 / 检索 / 生成</a:t>
            </a:r>
          </a:p>
        </p:txBody>
      </p:sp>
      <p:sp>
        <p:nvSpPr>
          <p:cNvPr id="8" name="Rounded Rectangle 7"/>
          <p:cNvSpPr/>
          <p:nvPr/>
        </p:nvSpPr>
        <p:spPr>
          <a:xfrm>
            <a:off x="6537960" y="1554480"/>
            <a:ext cx="4206240" cy="114300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37960" y="1554480"/>
            <a:ext cx="64008" cy="1143000"/>
          </a:xfrm>
          <a:prstGeom prst="rect">
            <a:avLst/>
          </a:prstGeom>
          <a:solidFill>
            <a:srgbClr val="84B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39128" y="1700784"/>
            <a:ext cx="3858768" cy="228600"/>
          </a:xfrm>
          <a:prstGeom prst="rect">
            <a:avLst/>
          </a:prstGeom>
          <a:noFill/>
        </p:spPr>
        <p:txBody>
          <a:bodyPr wrap="square">
            <a:normAutofit/>
          </a:bodyPr>
          <a:lstStyle/>
          <a:p>
            <a:pPr algn="l"/>
            <a:r>
              <a:rPr sz="1200" b="1">
                <a:solidFill>
                  <a:srgbClr val="223035"/>
                </a:solidFill>
                <a:latin typeface="Microsoft YaHei"/>
              </a:rPr>
              <a:t>地球智能</a:t>
            </a:r>
          </a:p>
        </p:txBody>
      </p:sp>
      <p:sp>
        <p:nvSpPr>
          <p:cNvPr id="11" name="TextBox 10"/>
          <p:cNvSpPr txBox="1"/>
          <p:nvPr/>
        </p:nvSpPr>
        <p:spPr>
          <a:xfrm>
            <a:off x="6739128" y="2057400"/>
            <a:ext cx="3858768" cy="539496"/>
          </a:xfrm>
          <a:prstGeom prst="rect">
            <a:avLst/>
          </a:prstGeom>
          <a:noFill/>
        </p:spPr>
        <p:txBody>
          <a:bodyPr wrap="square">
            <a:normAutofit/>
          </a:bodyPr>
          <a:lstStyle/>
          <a:p>
            <a:pPr algn="l"/>
            <a:r>
              <a:rPr sz="900" b="0">
                <a:solidFill>
                  <a:srgbClr val="626F75"/>
                </a:solidFill>
                <a:latin typeface="Microsoft YaHei"/>
              </a:rPr>
              <a:t>地球观测 → 地理嵌入 → 变化检测 / 分类 / 预测 / 问答</a:t>
            </a:r>
          </a:p>
        </p:txBody>
      </p:sp>
      <p:sp>
        <p:nvSpPr>
          <p:cNvPr id="12" name="TextBox 11"/>
          <p:cNvSpPr txBox="1"/>
          <p:nvPr/>
        </p:nvSpPr>
        <p:spPr>
          <a:xfrm>
            <a:off x="1051560" y="3520440"/>
            <a:ext cx="10149840" cy="822960"/>
          </a:xfrm>
          <a:prstGeom prst="rect">
            <a:avLst/>
          </a:prstGeom>
          <a:noFill/>
        </p:spPr>
        <p:txBody>
          <a:bodyPr wrap="square">
            <a:normAutofit/>
          </a:bodyPr>
          <a:lstStyle/>
          <a:p>
            <a:pPr algn="ctr"/>
            <a:r>
              <a:rPr sz="2400" b="1">
                <a:solidFill>
                  <a:srgbClr val="223035"/>
                </a:solidFill>
                <a:latin typeface="Microsoft YaHei"/>
              </a:rPr>
              <a:t>GPT 先把文本转成 token，才能进行理解、检索、生成；玄女先把地球观测转成地理嵌入，才能进行变化检测、分类、预测和问答。</a:t>
            </a:r>
          </a:p>
        </p:txBody>
      </p:sp>
      <p:sp>
        <p:nvSpPr>
          <p:cNvPr id="13" name="TextBox 12"/>
          <p:cNvSpPr txBox="1"/>
          <p:nvPr/>
        </p:nvSpPr>
        <p:spPr>
          <a:xfrm>
            <a:off x="914400" y="5303520"/>
            <a:ext cx="10241280" cy="329184"/>
          </a:xfrm>
          <a:prstGeom prst="rect">
            <a:avLst/>
          </a:prstGeom>
          <a:noFill/>
        </p:spPr>
        <p:txBody>
          <a:bodyPr wrap="square">
            <a:normAutofit/>
          </a:bodyPr>
          <a:lstStyle/>
          <a:p>
            <a:pPr algn="ctr"/>
            <a:r>
              <a:rPr sz="1800" b="1">
                <a:solidFill>
                  <a:srgbClr val="487967"/>
                </a:solidFill>
                <a:latin typeface="Microsoft YaHei"/>
              </a:rPr>
              <a:t>商业航天解决“看见地球”，地理嵌入解决“理解地球”。</a:t>
            </a:r>
          </a:p>
        </p:txBody>
      </p:sp>
      <p:sp>
        <p:nvSpPr>
          <p:cNvPr id="14" name="TextBox 13"/>
          <p:cNvSpPr txBox="1"/>
          <p:nvPr/>
        </p:nvSpPr>
        <p:spPr>
          <a:xfrm>
            <a:off x="658368" y="6528816"/>
            <a:ext cx="5669280" cy="182880"/>
          </a:xfrm>
          <a:prstGeom prst="rect">
            <a:avLst/>
          </a:prstGeom>
          <a:noFill/>
        </p:spPr>
        <p:txBody>
          <a:bodyPr wrap="square">
            <a:normAutofit/>
          </a:bodyPr>
          <a:lstStyle/>
          <a:p>
            <a:pPr algn="l"/>
            <a:r>
              <a:rPr sz="700" b="0">
                <a:solidFill>
                  <a:srgbClr val="626F75"/>
                </a:solidFill>
                <a:latin typeface="Microsoft YaHei"/>
              </a:rPr>
              <a:t>玄女科技商业计划书 v0.3｜按 22 页内容稿重制</a:t>
            </a:r>
          </a:p>
        </p:txBody>
      </p:sp>
      <p:sp>
        <p:nvSpPr>
          <p:cNvPr id="15" name="TextBox 14"/>
          <p:cNvSpPr txBox="1"/>
          <p:nvPr/>
        </p:nvSpPr>
        <p:spPr>
          <a:xfrm>
            <a:off x="11018520" y="6510528"/>
            <a:ext cx="457200" cy="182880"/>
          </a:xfrm>
          <a:prstGeom prst="rect">
            <a:avLst/>
          </a:prstGeom>
          <a:noFill/>
        </p:spPr>
        <p:txBody>
          <a:bodyPr wrap="square">
            <a:normAutofit/>
          </a:bodyPr>
          <a:lstStyle/>
          <a:p>
            <a:pPr algn="r"/>
            <a:r>
              <a:rPr sz="800" b="0">
                <a:solidFill>
                  <a:srgbClr val="626F75"/>
                </a:solidFill>
                <a:latin typeface="Microsoft YaHe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TextBox 1"/>
          <p:cNvSpPr txBox="1"/>
          <p:nvPr/>
        </p:nvSpPr>
        <p:spPr>
          <a:xfrm>
            <a:off x="658368" y="384048"/>
            <a:ext cx="411480" cy="201168"/>
          </a:xfrm>
          <a:prstGeom prst="rect">
            <a:avLst/>
          </a:prstGeom>
          <a:noFill/>
        </p:spPr>
        <p:txBody>
          <a:bodyPr wrap="square">
            <a:normAutofit/>
          </a:bodyPr>
          <a:lstStyle/>
          <a:p>
            <a:pPr algn="l"/>
            <a:r>
              <a:rPr sz="800" b="1">
                <a:solidFill>
                  <a:srgbClr val="487967"/>
                </a:solidFill>
                <a:latin typeface="Microsoft YaHei"/>
              </a:rPr>
              <a:t>14</a:t>
            </a:r>
          </a:p>
        </p:txBody>
      </p:sp>
      <p:sp>
        <p:nvSpPr>
          <p:cNvPr id="3" name="TextBox 2"/>
          <p:cNvSpPr txBox="1"/>
          <p:nvPr/>
        </p:nvSpPr>
        <p:spPr>
          <a:xfrm>
            <a:off x="1078992" y="310896"/>
            <a:ext cx="9875520" cy="493776"/>
          </a:xfrm>
          <a:prstGeom prst="rect">
            <a:avLst/>
          </a:prstGeom>
          <a:noFill/>
        </p:spPr>
        <p:txBody>
          <a:bodyPr wrap="square">
            <a:normAutofit/>
          </a:bodyPr>
          <a:lstStyle/>
          <a:p>
            <a:pPr algn="l"/>
            <a:r>
              <a:rPr sz="2300" b="1">
                <a:solidFill>
                  <a:srgbClr val="223035"/>
                </a:solidFill>
                <a:latin typeface="Microsoft YaHei"/>
              </a:rPr>
              <a:t>一次嵌入，多任务复用，改变遥感交付的成本曲线</a:t>
            </a:r>
          </a:p>
        </p:txBody>
      </p:sp>
      <p:sp>
        <p:nvSpPr>
          <p:cNvPr id="4" name="Rounded Rectangle 3"/>
          <p:cNvSpPr/>
          <p:nvPr/>
        </p:nvSpPr>
        <p:spPr>
          <a:xfrm>
            <a:off x="868680" y="1554480"/>
            <a:ext cx="4937760" cy="114300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554480"/>
            <a:ext cx="64008" cy="1143000"/>
          </a:xfrm>
          <a:prstGeom prst="rect">
            <a:avLst/>
          </a:prstGeom>
          <a:solidFill>
            <a:srgbClr val="88B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9848" y="1700784"/>
            <a:ext cx="4590288" cy="228600"/>
          </a:xfrm>
          <a:prstGeom prst="rect">
            <a:avLst/>
          </a:prstGeom>
          <a:noFill/>
        </p:spPr>
        <p:txBody>
          <a:bodyPr wrap="square">
            <a:normAutofit/>
          </a:bodyPr>
          <a:lstStyle/>
          <a:p>
            <a:pPr algn="l"/>
            <a:r>
              <a:rPr sz="1200" b="1">
                <a:solidFill>
                  <a:srgbClr val="223035"/>
                </a:solidFill>
                <a:latin typeface="Microsoft YaHei"/>
              </a:rPr>
              <a:t>传统模式</a:t>
            </a:r>
          </a:p>
        </p:txBody>
      </p:sp>
      <p:sp>
        <p:nvSpPr>
          <p:cNvPr id="7" name="TextBox 6"/>
          <p:cNvSpPr txBox="1"/>
          <p:nvPr/>
        </p:nvSpPr>
        <p:spPr>
          <a:xfrm>
            <a:off x="1069848" y="2057400"/>
            <a:ext cx="4590288" cy="539496"/>
          </a:xfrm>
          <a:prstGeom prst="rect">
            <a:avLst/>
          </a:prstGeom>
          <a:noFill/>
        </p:spPr>
        <p:txBody>
          <a:bodyPr wrap="square">
            <a:normAutofit/>
          </a:bodyPr>
          <a:lstStyle/>
          <a:p>
            <a:pPr algn="l"/>
            <a:r>
              <a:rPr sz="900" b="0">
                <a:solidFill>
                  <a:srgbClr val="626F75"/>
                </a:solidFill>
                <a:latin typeface="Microsoft YaHei"/>
              </a:rPr>
              <a:t>总成本 ≈ 任务数 ×（数据处理 + 标注 + 建模 + 推理 + 核查 + 报告）</a:t>
            </a:r>
          </a:p>
        </p:txBody>
      </p:sp>
      <p:sp>
        <p:nvSpPr>
          <p:cNvPr id="8" name="Rounded Rectangle 7"/>
          <p:cNvSpPr/>
          <p:nvPr/>
        </p:nvSpPr>
        <p:spPr>
          <a:xfrm>
            <a:off x="6355080" y="1554480"/>
            <a:ext cx="4937760" cy="114300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55080" y="1554480"/>
            <a:ext cx="64008" cy="1143000"/>
          </a:xfrm>
          <a:prstGeom prst="rect">
            <a:avLst/>
          </a:prstGeom>
          <a:solidFill>
            <a:srgbClr val="84B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56248" y="1700784"/>
            <a:ext cx="4590288" cy="228600"/>
          </a:xfrm>
          <a:prstGeom prst="rect">
            <a:avLst/>
          </a:prstGeom>
          <a:noFill/>
        </p:spPr>
        <p:txBody>
          <a:bodyPr wrap="square">
            <a:normAutofit/>
          </a:bodyPr>
          <a:lstStyle/>
          <a:p>
            <a:pPr algn="l"/>
            <a:r>
              <a:rPr sz="1200" b="1">
                <a:solidFill>
                  <a:srgbClr val="223035"/>
                </a:solidFill>
                <a:latin typeface="Microsoft YaHei"/>
              </a:rPr>
              <a:t>玄女模式</a:t>
            </a:r>
          </a:p>
        </p:txBody>
      </p:sp>
      <p:sp>
        <p:nvSpPr>
          <p:cNvPr id="11" name="TextBox 10"/>
          <p:cNvSpPr txBox="1"/>
          <p:nvPr/>
        </p:nvSpPr>
        <p:spPr>
          <a:xfrm>
            <a:off x="6556248" y="2057400"/>
            <a:ext cx="4590288" cy="539496"/>
          </a:xfrm>
          <a:prstGeom prst="rect">
            <a:avLst/>
          </a:prstGeom>
          <a:noFill/>
        </p:spPr>
        <p:txBody>
          <a:bodyPr wrap="square">
            <a:normAutofit/>
          </a:bodyPr>
          <a:lstStyle/>
          <a:p>
            <a:pPr algn="l"/>
            <a:r>
              <a:rPr sz="900" b="0">
                <a:solidFill>
                  <a:srgbClr val="626F75"/>
                </a:solidFill>
                <a:latin typeface="Microsoft YaHei"/>
              </a:rPr>
              <a:t>总成本 ≈ 区域底座成本 + 任务数 ×（少量样本 + 轻量适配 + 核查报告）</a:t>
            </a:r>
          </a:p>
        </p:txBody>
      </p:sp>
      <p:sp>
        <p:nvSpPr>
          <p:cNvPr id="12" name="Rounded Rectangle 11"/>
          <p:cNvSpPr/>
          <p:nvPr/>
        </p:nvSpPr>
        <p:spPr>
          <a:xfrm>
            <a:off x="749808" y="3383280"/>
            <a:ext cx="3246120" cy="1133856"/>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9808" y="3383280"/>
            <a:ext cx="64008" cy="1133856"/>
          </a:xfrm>
          <a:prstGeom prst="rect">
            <a:avLst/>
          </a:prstGeom>
          <a:solidFill>
            <a:srgbClr val="84B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3529584"/>
            <a:ext cx="2898648" cy="228600"/>
          </a:xfrm>
          <a:prstGeom prst="rect">
            <a:avLst/>
          </a:prstGeom>
          <a:noFill/>
        </p:spPr>
        <p:txBody>
          <a:bodyPr wrap="square">
            <a:normAutofit/>
          </a:bodyPr>
          <a:lstStyle/>
          <a:p>
            <a:pPr algn="l"/>
            <a:r>
              <a:rPr sz="1200" b="1">
                <a:solidFill>
                  <a:srgbClr val="223035"/>
                </a:solidFill>
                <a:latin typeface="Microsoft YaHei"/>
              </a:rPr>
              <a:t>时间</a:t>
            </a:r>
          </a:p>
        </p:txBody>
      </p:sp>
      <p:sp>
        <p:nvSpPr>
          <p:cNvPr id="15" name="TextBox 14"/>
          <p:cNvSpPr txBox="1"/>
          <p:nvPr/>
        </p:nvSpPr>
        <p:spPr>
          <a:xfrm>
            <a:off x="950976" y="3886200"/>
            <a:ext cx="2898648" cy="530352"/>
          </a:xfrm>
          <a:prstGeom prst="rect">
            <a:avLst/>
          </a:prstGeom>
          <a:noFill/>
        </p:spPr>
        <p:txBody>
          <a:bodyPr wrap="square">
            <a:normAutofit/>
          </a:bodyPr>
          <a:lstStyle/>
          <a:p>
            <a:pPr algn="l"/>
            <a:r>
              <a:rPr sz="900" b="0">
                <a:solidFill>
                  <a:srgbClr val="626F75"/>
                </a:solidFill>
                <a:latin typeface="Microsoft YaHei"/>
              </a:rPr>
              <a:t>跳过重复数据工程。</a:t>
            </a:r>
          </a:p>
        </p:txBody>
      </p:sp>
      <p:sp>
        <p:nvSpPr>
          <p:cNvPr id="16" name="Rounded Rectangle 15"/>
          <p:cNvSpPr/>
          <p:nvPr/>
        </p:nvSpPr>
        <p:spPr>
          <a:xfrm>
            <a:off x="4453128" y="3383280"/>
            <a:ext cx="3246120" cy="1133856"/>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53128" y="3383280"/>
            <a:ext cx="64008" cy="1133856"/>
          </a:xfrm>
          <a:prstGeom prst="rect">
            <a:avLst/>
          </a:prstGeom>
          <a:solidFill>
            <a:srgbClr val="88B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54296" y="3529584"/>
            <a:ext cx="2898648" cy="228600"/>
          </a:xfrm>
          <a:prstGeom prst="rect">
            <a:avLst/>
          </a:prstGeom>
          <a:noFill/>
        </p:spPr>
        <p:txBody>
          <a:bodyPr wrap="square">
            <a:normAutofit/>
          </a:bodyPr>
          <a:lstStyle/>
          <a:p>
            <a:pPr algn="l"/>
            <a:r>
              <a:rPr sz="1200" b="1">
                <a:solidFill>
                  <a:srgbClr val="223035"/>
                </a:solidFill>
                <a:latin typeface="Microsoft YaHei"/>
              </a:rPr>
              <a:t>算力 / 存储</a:t>
            </a:r>
          </a:p>
        </p:txBody>
      </p:sp>
      <p:sp>
        <p:nvSpPr>
          <p:cNvPr id="19" name="TextBox 18"/>
          <p:cNvSpPr txBox="1"/>
          <p:nvPr/>
        </p:nvSpPr>
        <p:spPr>
          <a:xfrm>
            <a:off x="4654296" y="3886200"/>
            <a:ext cx="2898648" cy="530352"/>
          </a:xfrm>
          <a:prstGeom prst="rect">
            <a:avLst/>
          </a:prstGeom>
          <a:noFill/>
        </p:spPr>
        <p:txBody>
          <a:bodyPr wrap="square">
            <a:normAutofit/>
          </a:bodyPr>
          <a:lstStyle/>
          <a:p>
            <a:pPr algn="l"/>
            <a:r>
              <a:rPr sz="900" b="0">
                <a:solidFill>
                  <a:srgbClr val="626F75"/>
                </a:solidFill>
                <a:latin typeface="Microsoft YaHei"/>
              </a:rPr>
              <a:t>复用底座和中间表征。</a:t>
            </a:r>
          </a:p>
        </p:txBody>
      </p:sp>
      <p:sp>
        <p:nvSpPr>
          <p:cNvPr id="20" name="Rounded Rectangle 19"/>
          <p:cNvSpPr/>
          <p:nvPr/>
        </p:nvSpPr>
        <p:spPr>
          <a:xfrm>
            <a:off x="8156448" y="3383280"/>
            <a:ext cx="3246120" cy="1133856"/>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56448" y="3383280"/>
            <a:ext cx="64008" cy="1133856"/>
          </a:xfrm>
          <a:prstGeom prst="rect">
            <a:avLst/>
          </a:prstGeom>
          <a:solidFill>
            <a:srgbClr val="B4A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57616" y="3529584"/>
            <a:ext cx="2898648" cy="228600"/>
          </a:xfrm>
          <a:prstGeom prst="rect">
            <a:avLst/>
          </a:prstGeom>
          <a:noFill/>
        </p:spPr>
        <p:txBody>
          <a:bodyPr wrap="square">
            <a:normAutofit/>
          </a:bodyPr>
          <a:lstStyle/>
          <a:p>
            <a:pPr algn="l"/>
            <a:r>
              <a:rPr sz="1200" b="1">
                <a:solidFill>
                  <a:srgbClr val="223035"/>
                </a:solidFill>
                <a:latin typeface="Microsoft YaHei"/>
              </a:rPr>
              <a:t>人力</a:t>
            </a:r>
          </a:p>
        </p:txBody>
      </p:sp>
      <p:sp>
        <p:nvSpPr>
          <p:cNvPr id="23" name="TextBox 22"/>
          <p:cNvSpPr txBox="1"/>
          <p:nvPr/>
        </p:nvSpPr>
        <p:spPr>
          <a:xfrm>
            <a:off x="8357616" y="3886200"/>
            <a:ext cx="2898648" cy="530352"/>
          </a:xfrm>
          <a:prstGeom prst="rect">
            <a:avLst/>
          </a:prstGeom>
          <a:noFill/>
        </p:spPr>
        <p:txBody>
          <a:bodyPr wrap="square">
            <a:normAutofit/>
          </a:bodyPr>
          <a:lstStyle/>
          <a:p>
            <a:pPr algn="l"/>
            <a:r>
              <a:rPr sz="900" b="0">
                <a:solidFill>
                  <a:srgbClr val="626F75"/>
                </a:solidFill>
                <a:latin typeface="Microsoft YaHei"/>
              </a:rPr>
              <a:t>从逐图解译转向重点审核。</a:t>
            </a:r>
          </a:p>
        </p:txBody>
      </p:sp>
      <p:sp>
        <p:nvSpPr>
          <p:cNvPr id="24" name="TextBox 23"/>
          <p:cNvSpPr txBox="1"/>
          <p:nvPr/>
        </p:nvSpPr>
        <p:spPr>
          <a:xfrm>
            <a:off x="914400" y="5532120"/>
            <a:ext cx="10241280" cy="329184"/>
          </a:xfrm>
          <a:prstGeom prst="rect">
            <a:avLst/>
          </a:prstGeom>
          <a:noFill/>
        </p:spPr>
        <p:txBody>
          <a:bodyPr wrap="square">
            <a:normAutofit/>
          </a:bodyPr>
          <a:lstStyle/>
          <a:p>
            <a:pPr algn="ctr"/>
            <a:r>
              <a:rPr sz="1900" b="1">
                <a:solidFill>
                  <a:srgbClr val="487967"/>
                </a:solidFill>
                <a:latin typeface="Microsoft YaHei"/>
              </a:rPr>
              <a:t>第一个任务验证价值，第二个任务开始复用；任务越多，底座越值钱。</a:t>
            </a:r>
          </a:p>
        </p:txBody>
      </p:sp>
      <p:sp>
        <p:nvSpPr>
          <p:cNvPr id="25" name="TextBox 24"/>
          <p:cNvSpPr txBox="1"/>
          <p:nvPr/>
        </p:nvSpPr>
        <p:spPr>
          <a:xfrm>
            <a:off x="658368" y="6528816"/>
            <a:ext cx="5669280" cy="182880"/>
          </a:xfrm>
          <a:prstGeom prst="rect">
            <a:avLst/>
          </a:prstGeom>
          <a:noFill/>
        </p:spPr>
        <p:txBody>
          <a:bodyPr wrap="square">
            <a:normAutofit/>
          </a:bodyPr>
          <a:lstStyle/>
          <a:p>
            <a:pPr algn="l"/>
            <a:r>
              <a:rPr sz="700" b="0">
                <a:solidFill>
                  <a:srgbClr val="626F75"/>
                </a:solidFill>
                <a:latin typeface="Microsoft YaHei"/>
              </a:rPr>
              <a:t>玄女科技商业计划书 v0.3｜按 22 页内容稿重制</a:t>
            </a:r>
          </a:p>
        </p:txBody>
      </p:sp>
      <p:sp>
        <p:nvSpPr>
          <p:cNvPr id="26" name="TextBox 25"/>
          <p:cNvSpPr txBox="1"/>
          <p:nvPr/>
        </p:nvSpPr>
        <p:spPr>
          <a:xfrm>
            <a:off x="11018520" y="6510528"/>
            <a:ext cx="457200" cy="182880"/>
          </a:xfrm>
          <a:prstGeom prst="rect">
            <a:avLst/>
          </a:prstGeom>
          <a:noFill/>
        </p:spPr>
        <p:txBody>
          <a:bodyPr wrap="square">
            <a:normAutofit/>
          </a:bodyPr>
          <a:lstStyle/>
          <a:p>
            <a:pPr algn="r"/>
            <a:r>
              <a:rPr sz="800" b="0">
                <a:solidFill>
                  <a:srgbClr val="626F75"/>
                </a:solidFill>
                <a:latin typeface="Microsoft YaHe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TextBox 1"/>
          <p:cNvSpPr txBox="1"/>
          <p:nvPr/>
        </p:nvSpPr>
        <p:spPr>
          <a:xfrm>
            <a:off x="658368" y="384048"/>
            <a:ext cx="411480" cy="201168"/>
          </a:xfrm>
          <a:prstGeom prst="rect">
            <a:avLst/>
          </a:prstGeom>
          <a:noFill/>
        </p:spPr>
        <p:txBody>
          <a:bodyPr wrap="square">
            <a:normAutofit/>
          </a:bodyPr>
          <a:lstStyle/>
          <a:p>
            <a:pPr algn="l"/>
            <a:r>
              <a:rPr sz="800" b="1">
                <a:solidFill>
                  <a:srgbClr val="487967"/>
                </a:solidFill>
                <a:latin typeface="Microsoft YaHei"/>
              </a:rPr>
              <a:t>15</a:t>
            </a:r>
          </a:p>
        </p:txBody>
      </p:sp>
      <p:sp>
        <p:nvSpPr>
          <p:cNvPr id="3" name="TextBox 2"/>
          <p:cNvSpPr txBox="1"/>
          <p:nvPr/>
        </p:nvSpPr>
        <p:spPr>
          <a:xfrm>
            <a:off x="1078992" y="310896"/>
            <a:ext cx="9875520" cy="493776"/>
          </a:xfrm>
          <a:prstGeom prst="rect">
            <a:avLst/>
          </a:prstGeom>
          <a:noFill/>
        </p:spPr>
        <p:txBody>
          <a:bodyPr wrap="square">
            <a:normAutofit/>
          </a:bodyPr>
          <a:lstStyle/>
          <a:p>
            <a:pPr algn="l"/>
            <a:r>
              <a:rPr sz="2300" b="1">
                <a:solidFill>
                  <a:srgbClr val="223035"/>
                </a:solidFill>
                <a:latin typeface="Microsoft YaHei"/>
              </a:rPr>
              <a:t>产品形态：不是一个模型，而是城市地理智能底座</a:t>
            </a:r>
          </a:p>
        </p:txBody>
      </p:sp>
      <p:sp>
        <p:nvSpPr>
          <p:cNvPr id="4" name="Rounded Rectangle 3"/>
          <p:cNvSpPr/>
          <p:nvPr/>
        </p:nvSpPr>
        <p:spPr>
          <a:xfrm>
            <a:off x="822960" y="1463040"/>
            <a:ext cx="3291840" cy="1170432"/>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463040"/>
            <a:ext cx="64008" cy="1170432"/>
          </a:xfrm>
          <a:prstGeom prst="rect">
            <a:avLst/>
          </a:prstGeom>
          <a:solidFill>
            <a:srgbClr val="84B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609344"/>
            <a:ext cx="2944368" cy="228600"/>
          </a:xfrm>
          <a:prstGeom prst="rect">
            <a:avLst/>
          </a:prstGeom>
          <a:noFill/>
        </p:spPr>
        <p:txBody>
          <a:bodyPr wrap="square">
            <a:normAutofit/>
          </a:bodyPr>
          <a:lstStyle/>
          <a:p>
            <a:pPr algn="l"/>
            <a:r>
              <a:rPr sz="1200" b="1">
                <a:solidFill>
                  <a:srgbClr val="223035"/>
                </a:solidFill>
                <a:latin typeface="Microsoft YaHei"/>
              </a:rPr>
              <a:t>地理嵌入底座</a:t>
            </a:r>
          </a:p>
        </p:txBody>
      </p:sp>
      <p:sp>
        <p:nvSpPr>
          <p:cNvPr id="7" name="TextBox 6"/>
          <p:cNvSpPr txBox="1"/>
          <p:nvPr/>
        </p:nvSpPr>
        <p:spPr>
          <a:xfrm>
            <a:off x="1024128" y="1965960"/>
            <a:ext cx="2944368" cy="566928"/>
          </a:xfrm>
          <a:prstGeom prst="rect">
            <a:avLst/>
          </a:prstGeom>
          <a:noFill/>
        </p:spPr>
        <p:txBody>
          <a:bodyPr wrap="square">
            <a:normAutofit/>
          </a:bodyPr>
          <a:lstStyle/>
          <a:p>
            <a:pPr algn="l"/>
            <a:r>
              <a:rPr sz="900" b="0">
                <a:solidFill>
                  <a:srgbClr val="626F75"/>
                </a:solidFill>
                <a:latin typeface="Microsoft YaHei"/>
              </a:rPr>
              <a:t>按区域、按月份持续生成地理嵌入。</a:t>
            </a:r>
          </a:p>
        </p:txBody>
      </p:sp>
      <p:sp>
        <p:nvSpPr>
          <p:cNvPr id="8" name="Rounded Rectangle 7"/>
          <p:cNvSpPr/>
          <p:nvPr/>
        </p:nvSpPr>
        <p:spPr>
          <a:xfrm>
            <a:off x="4480560" y="1463040"/>
            <a:ext cx="3291840" cy="1170432"/>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80560" y="1463040"/>
            <a:ext cx="64008" cy="1170432"/>
          </a:xfrm>
          <a:prstGeom prst="rect">
            <a:avLst/>
          </a:prstGeom>
          <a:solidFill>
            <a:srgbClr val="88B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81728" y="1609344"/>
            <a:ext cx="2944368" cy="228600"/>
          </a:xfrm>
          <a:prstGeom prst="rect">
            <a:avLst/>
          </a:prstGeom>
          <a:noFill/>
        </p:spPr>
        <p:txBody>
          <a:bodyPr wrap="square">
            <a:normAutofit/>
          </a:bodyPr>
          <a:lstStyle/>
          <a:p>
            <a:pPr algn="l"/>
            <a:r>
              <a:rPr sz="1200" b="1">
                <a:solidFill>
                  <a:srgbClr val="223035"/>
                </a:solidFill>
                <a:latin typeface="Microsoft YaHei"/>
              </a:rPr>
              <a:t>任务组件库</a:t>
            </a:r>
          </a:p>
        </p:txBody>
      </p:sp>
      <p:sp>
        <p:nvSpPr>
          <p:cNvPr id="11" name="TextBox 10"/>
          <p:cNvSpPr txBox="1"/>
          <p:nvPr/>
        </p:nvSpPr>
        <p:spPr>
          <a:xfrm>
            <a:off x="4681728" y="1965960"/>
            <a:ext cx="2944368" cy="566928"/>
          </a:xfrm>
          <a:prstGeom prst="rect">
            <a:avLst/>
          </a:prstGeom>
          <a:noFill/>
        </p:spPr>
        <p:txBody>
          <a:bodyPr wrap="square">
            <a:normAutofit/>
          </a:bodyPr>
          <a:lstStyle/>
          <a:p>
            <a:pPr algn="l"/>
            <a:r>
              <a:rPr sz="900" b="0">
                <a:solidFill>
                  <a:srgbClr val="626F75"/>
                </a:solidFill>
                <a:latin typeface="Microsoft YaHei"/>
              </a:rPr>
              <a:t>施工、建筑、农用地、违法用地、垃圾、灾害、生态。</a:t>
            </a:r>
          </a:p>
        </p:txBody>
      </p:sp>
      <p:sp>
        <p:nvSpPr>
          <p:cNvPr id="12" name="Rounded Rectangle 11"/>
          <p:cNvSpPr/>
          <p:nvPr/>
        </p:nvSpPr>
        <p:spPr>
          <a:xfrm>
            <a:off x="8138160" y="1463040"/>
            <a:ext cx="3291840" cy="1170432"/>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38160" y="1463040"/>
            <a:ext cx="64008" cy="1170432"/>
          </a:xfrm>
          <a:prstGeom prst="rect">
            <a:avLst/>
          </a:prstGeom>
          <a:solidFill>
            <a:srgbClr val="B4A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9328" y="1609344"/>
            <a:ext cx="2944368" cy="228600"/>
          </a:xfrm>
          <a:prstGeom prst="rect">
            <a:avLst/>
          </a:prstGeom>
          <a:noFill/>
        </p:spPr>
        <p:txBody>
          <a:bodyPr wrap="square">
            <a:normAutofit/>
          </a:bodyPr>
          <a:lstStyle/>
          <a:p>
            <a:pPr algn="l"/>
            <a:r>
              <a:rPr sz="1200" b="1">
                <a:solidFill>
                  <a:srgbClr val="223035"/>
                </a:solidFill>
                <a:latin typeface="Microsoft YaHei"/>
              </a:rPr>
              <a:t>业务交付层</a:t>
            </a:r>
          </a:p>
        </p:txBody>
      </p:sp>
      <p:sp>
        <p:nvSpPr>
          <p:cNvPr id="15" name="TextBox 14"/>
          <p:cNvSpPr txBox="1"/>
          <p:nvPr/>
        </p:nvSpPr>
        <p:spPr>
          <a:xfrm>
            <a:off x="8339328" y="1965960"/>
            <a:ext cx="2944368" cy="566928"/>
          </a:xfrm>
          <a:prstGeom prst="rect">
            <a:avLst/>
          </a:prstGeom>
          <a:noFill/>
        </p:spPr>
        <p:txBody>
          <a:bodyPr wrap="square">
            <a:normAutofit/>
          </a:bodyPr>
          <a:lstStyle/>
          <a:p>
            <a:pPr algn="l"/>
            <a:r>
              <a:rPr sz="900" b="0">
                <a:solidFill>
                  <a:srgbClr val="626F75"/>
                </a:solidFill>
                <a:latin typeface="Microsoft YaHei"/>
              </a:rPr>
              <a:t>图斑、证据链、报告、接口、驾驶舱。</a:t>
            </a:r>
          </a:p>
        </p:txBody>
      </p:sp>
      <p:sp>
        <p:nvSpPr>
          <p:cNvPr id="16" name="Rectangle 15"/>
          <p:cNvSpPr/>
          <p:nvPr/>
        </p:nvSpPr>
        <p:spPr>
          <a:xfrm>
            <a:off x="1874519" y="3246120"/>
            <a:ext cx="8046720" cy="429768"/>
          </a:xfrm>
          <a:prstGeom prst="rect">
            <a:avLst/>
          </a:prstGeom>
          <a:solidFill>
            <a:srgbClr val="F2F9F5"/>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29384" y="3337560"/>
            <a:ext cx="2834640" cy="310896"/>
          </a:xfrm>
          <a:prstGeom prst="rect">
            <a:avLst/>
          </a:prstGeom>
          <a:noFill/>
        </p:spPr>
        <p:txBody>
          <a:bodyPr wrap="square">
            <a:normAutofit/>
          </a:bodyPr>
          <a:lstStyle/>
          <a:p>
            <a:pPr algn="l"/>
            <a:r>
              <a:rPr sz="800" b="1">
                <a:solidFill>
                  <a:srgbClr val="223035"/>
                </a:solidFill>
                <a:latin typeface="Microsoft YaHei"/>
              </a:rPr>
              <a:t>客户</a:t>
            </a:r>
          </a:p>
        </p:txBody>
      </p:sp>
      <p:sp>
        <p:nvSpPr>
          <p:cNvPr id="18" name="TextBox 17"/>
          <p:cNvSpPr txBox="1"/>
          <p:nvPr/>
        </p:nvSpPr>
        <p:spPr>
          <a:xfrm>
            <a:off x="4855464" y="3337560"/>
            <a:ext cx="5029200" cy="310896"/>
          </a:xfrm>
          <a:prstGeom prst="rect">
            <a:avLst/>
          </a:prstGeom>
          <a:noFill/>
        </p:spPr>
        <p:txBody>
          <a:bodyPr wrap="square">
            <a:normAutofit/>
          </a:bodyPr>
          <a:lstStyle/>
          <a:p>
            <a:pPr algn="l"/>
            <a:r>
              <a:rPr sz="800" b="1">
                <a:solidFill>
                  <a:srgbClr val="223035"/>
                </a:solidFill>
                <a:latin typeface="Microsoft YaHei"/>
              </a:rPr>
              <a:t>产品</a:t>
            </a:r>
          </a:p>
        </p:txBody>
      </p:sp>
      <p:sp>
        <p:nvSpPr>
          <p:cNvPr id="19" name="Rectangle 18"/>
          <p:cNvSpPr/>
          <p:nvPr/>
        </p:nvSpPr>
        <p:spPr>
          <a:xfrm>
            <a:off x="1874519" y="3703320"/>
            <a:ext cx="8046720" cy="429768"/>
          </a:xfrm>
          <a:prstGeom prst="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29384" y="3794759"/>
            <a:ext cx="2834640" cy="310896"/>
          </a:xfrm>
          <a:prstGeom prst="rect">
            <a:avLst/>
          </a:prstGeom>
          <a:noFill/>
        </p:spPr>
        <p:txBody>
          <a:bodyPr wrap="square">
            <a:normAutofit/>
          </a:bodyPr>
          <a:lstStyle/>
          <a:p>
            <a:pPr algn="l"/>
            <a:r>
              <a:rPr sz="800" b="1">
                <a:solidFill>
                  <a:srgbClr val="626F75"/>
                </a:solidFill>
                <a:latin typeface="Microsoft YaHei"/>
              </a:rPr>
              <a:t>政府 / 新区</a:t>
            </a:r>
          </a:p>
        </p:txBody>
      </p:sp>
      <p:sp>
        <p:nvSpPr>
          <p:cNvPr id="21" name="TextBox 20"/>
          <p:cNvSpPr txBox="1"/>
          <p:nvPr/>
        </p:nvSpPr>
        <p:spPr>
          <a:xfrm>
            <a:off x="4855464" y="3794759"/>
            <a:ext cx="5029200" cy="310896"/>
          </a:xfrm>
          <a:prstGeom prst="rect">
            <a:avLst/>
          </a:prstGeom>
          <a:noFill/>
        </p:spPr>
        <p:txBody>
          <a:bodyPr wrap="square">
            <a:normAutofit/>
          </a:bodyPr>
          <a:lstStyle/>
          <a:p>
            <a:pPr algn="l"/>
            <a:r>
              <a:rPr sz="800" b="0">
                <a:solidFill>
                  <a:srgbClr val="626F75"/>
                </a:solidFill>
                <a:latin typeface="Microsoft YaHei"/>
              </a:rPr>
              <a:t>年度变化监测</a:t>
            </a:r>
          </a:p>
        </p:txBody>
      </p:sp>
      <p:sp>
        <p:nvSpPr>
          <p:cNvPr id="22" name="Rectangle 21"/>
          <p:cNvSpPr/>
          <p:nvPr/>
        </p:nvSpPr>
        <p:spPr>
          <a:xfrm>
            <a:off x="1874519" y="4160520"/>
            <a:ext cx="8046720" cy="429768"/>
          </a:xfrm>
          <a:prstGeom prst="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29384" y="4251959"/>
            <a:ext cx="2834640" cy="310896"/>
          </a:xfrm>
          <a:prstGeom prst="rect">
            <a:avLst/>
          </a:prstGeom>
          <a:noFill/>
        </p:spPr>
        <p:txBody>
          <a:bodyPr wrap="square">
            <a:normAutofit/>
          </a:bodyPr>
          <a:lstStyle/>
          <a:p>
            <a:pPr algn="l"/>
            <a:r>
              <a:rPr sz="800" b="1">
                <a:solidFill>
                  <a:srgbClr val="626F75"/>
                </a:solidFill>
                <a:latin typeface="Microsoft YaHei"/>
              </a:rPr>
              <a:t>遥感公司</a:t>
            </a:r>
          </a:p>
        </p:txBody>
      </p:sp>
      <p:sp>
        <p:nvSpPr>
          <p:cNvPr id="24" name="TextBox 23"/>
          <p:cNvSpPr txBox="1"/>
          <p:nvPr/>
        </p:nvSpPr>
        <p:spPr>
          <a:xfrm>
            <a:off x="4855464" y="4251959"/>
            <a:ext cx="5029200" cy="310896"/>
          </a:xfrm>
          <a:prstGeom prst="rect">
            <a:avLst/>
          </a:prstGeom>
          <a:noFill/>
        </p:spPr>
        <p:txBody>
          <a:bodyPr wrap="square">
            <a:normAutofit/>
          </a:bodyPr>
          <a:lstStyle/>
          <a:p>
            <a:pPr algn="l"/>
            <a:r>
              <a:rPr sz="800" b="0">
                <a:solidFill>
                  <a:srgbClr val="626F75"/>
                </a:solidFill>
                <a:latin typeface="Microsoft YaHei"/>
              </a:rPr>
              <a:t>任务库授权 / 接口</a:t>
            </a:r>
          </a:p>
        </p:txBody>
      </p:sp>
      <p:sp>
        <p:nvSpPr>
          <p:cNvPr id="25" name="Rectangle 24"/>
          <p:cNvSpPr/>
          <p:nvPr/>
        </p:nvSpPr>
        <p:spPr>
          <a:xfrm>
            <a:off x="1874519" y="4617720"/>
            <a:ext cx="8046720" cy="429768"/>
          </a:xfrm>
          <a:prstGeom prst="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929384" y="4709159"/>
            <a:ext cx="2834640" cy="310896"/>
          </a:xfrm>
          <a:prstGeom prst="rect">
            <a:avLst/>
          </a:prstGeom>
          <a:noFill/>
        </p:spPr>
        <p:txBody>
          <a:bodyPr wrap="square">
            <a:normAutofit/>
          </a:bodyPr>
          <a:lstStyle/>
          <a:p>
            <a:pPr algn="l"/>
            <a:r>
              <a:rPr sz="800" b="1">
                <a:solidFill>
                  <a:srgbClr val="626F75"/>
                </a:solidFill>
                <a:latin typeface="Microsoft YaHei"/>
              </a:rPr>
              <a:t>学校科研</a:t>
            </a:r>
          </a:p>
        </p:txBody>
      </p:sp>
      <p:sp>
        <p:nvSpPr>
          <p:cNvPr id="27" name="TextBox 26"/>
          <p:cNvSpPr txBox="1"/>
          <p:nvPr/>
        </p:nvSpPr>
        <p:spPr>
          <a:xfrm>
            <a:off x="4855464" y="4709159"/>
            <a:ext cx="5029200" cy="310896"/>
          </a:xfrm>
          <a:prstGeom prst="rect">
            <a:avLst/>
          </a:prstGeom>
          <a:noFill/>
        </p:spPr>
        <p:txBody>
          <a:bodyPr wrap="square">
            <a:normAutofit/>
          </a:bodyPr>
          <a:lstStyle/>
          <a:p>
            <a:pPr algn="l"/>
            <a:r>
              <a:rPr sz="800" b="0">
                <a:solidFill>
                  <a:srgbClr val="626F75"/>
                </a:solidFill>
                <a:latin typeface="Microsoft YaHei"/>
              </a:rPr>
              <a:t>嵌入数据集 / 开发生态</a:t>
            </a:r>
          </a:p>
        </p:txBody>
      </p:sp>
      <p:sp>
        <p:nvSpPr>
          <p:cNvPr id="28" name="Rectangle 27"/>
          <p:cNvSpPr/>
          <p:nvPr/>
        </p:nvSpPr>
        <p:spPr>
          <a:xfrm>
            <a:off x="1874519" y="5074920"/>
            <a:ext cx="8046720" cy="429768"/>
          </a:xfrm>
          <a:prstGeom prst="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929384" y="5166359"/>
            <a:ext cx="2834640" cy="310896"/>
          </a:xfrm>
          <a:prstGeom prst="rect">
            <a:avLst/>
          </a:prstGeom>
          <a:noFill/>
        </p:spPr>
        <p:txBody>
          <a:bodyPr wrap="square">
            <a:normAutofit/>
          </a:bodyPr>
          <a:lstStyle/>
          <a:p>
            <a:pPr algn="l"/>
            <a:r>
              <a:rPr sz="800" b="1">
                <a:solidFill>
                  <a:srgbClr val="626F75"/>
                </a:solidFill>
                <a:latin typeface="Microsoft YaHei"/>
              </a:rPr>
              <a:t>地块用户</a:t>
            </a:r>
          </a:p>
        </p:txBody>
      </p:sp>
      <p:sp>
        <p:nvSpPr>
          <p:cNvPr id="30" name="TextBox 29"/>
          <p:cNvSpPr txBox="1"/>
          <p:nvPr/>
        </p:nvSpPr>
        <p:spPr>
          <a:xfrm>
            <a:off x="4855464" y="5166359"/>
            <a:ext cx="5029200" cy="310896"/>
          </a:xfrm>
          <a:prstGeom prst="rect">
            <a:avLst/>
          </a:prstGeom>
          <a:noFill/>
        </p:spPr>
        <p:txBody>
          <a:bodyPr wrap="square">
            <a:normAutofit/>
          </a:bodyPr>
          <a:lstStyle/>
          <a:p>
            <a:pPr algn="l"/>
            <a:r>
              <a:rPr sz="800" b="0">
                <a:solidFill>
                  <a:srgbClr val="626F75"/>
                </a:solidFill>
                <a:latin typeface="Microsoft YaHei"/>
              </a:rPr>
              <a:t>异常提醒 / 证据报告</a:t>
            </a:r>
          </a:p>
        </p:txBody>
      </p:sp>
      <p:sp>
        <p:nvSpPr>
          <p:cNvPr id="31" name="TextBox 30"/>
          <p:cNvSpPr txBox="1"/>
          <p:nvPr/>
        </p:nvSpPr>
        <p:spPr>
          <a:xfrm>
            <a:off x="658368" y="6528816"/>
            <a:ext cx="5669280" cy="182880"/>
          </a:xfrm>
          <a:prstGeom prst="rect">
            <a:avLst/>
          </a:prstGeom>
          <a:noFill/>
        </p:spPr>
        <p:txBody>
          <a:bodyPr wrap="square">
            <a:normAutofit/>
          </a:bodyPr>
          <a:lstStyle/>
          <a:p>
            <a:pPr algn="l"/>
            <a:r>
              <a:rPr sz="700" b="0">
                <a:solidFill>
                  <a:srgbClr val="626F75"/>
                </a:solidFill>
                <a:latin typeface="Microsoft YaHei"/>
              </a:rPr>
              <a:t>玄女科技商业计划书 v0.3｜按 22 页内容稿重制</a:t>
            </a:r>
          </a:p>
        </p:txBody>
      </p:sp>
      <p:sp>
        <p:nvSpPr>
          <p:cNvPr id="32" name="TextBox 31"/>
          <p:cNvSpPr txBox="1"/>
          <p:nvPr/>
        </p:nvSpPr>
        <p:spPr>
          <a:xfrm>
            <a:off x="11018520" y="6510528"/>
            <a:ext cx="457200" cy="182880"/>
          </a:xfrm>
          <a:prstGeom prst="rect">
            <a:avLst/>
          </a:prstGeom>
          <a:noFill/>
        </p:spPr>
        <p:txBody>
          <a:bodyPr wrap="square">
            <a:normAutofit/>
          </a:bodyPr>
          <a:lstStyle/>
          <a:p>
            <a:pPr algn="r"/>
            <a:r>
              <a:rPr sz="800" b="0">
                <a:solidFill>
                  <a:srgbClr val="626F75"/>
                </a:solidFill>
                <a:latin typeface="Microsoft YaHe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TextBox 1"/>
          <p:cNvSpPr txBox="1"/>
          <p:nvPr/>
        </p:nvSpPr>
        <p:spPr>
          <a:xfrm>
            <a:off x="658368" y="384048"/>
            <a:ext cx="411480" cy="201168"/>
          </a:xfrm>
          <a:prstGeom prst="rect">
            <a:avLst/>
          </a:prstGeom>
          <a:noFill/>
        </p:spPr>
        <p:txBody>
          <a:bodyPr wrap="square">
            <a:normAutofit/>
          </a:bodyPr>
          <a:lstStyle/>
          <a:p>
            <a:pPr algn="l"/>
            <a:r>
              <a:rPr sz="800" b="1">
                <a:solidFill>
                  <a:srgbClr val="487967"/>
                </a:solidFill>
                <a:latin typeface="Microsoft YaHei"/>
              </a:rPr>
              <a:t>16</a:t>
            </a:r>
          </a:p>
        </p:txBody>
      </p:sp>
      <p:sp>
        <p:nvSpPr>
          <p:cNvPr id="3" name="TextBox 2"/>
          <p:cNvSpPr txBox="1"/>
          <p:nvPr/>
        </p:nvSpPr>
        <p:spPr>
          <a:xfrm>
            <a:off x="1078992" y="310896"/>
            <a:ext cx="9875520" cy="493776"/>
          </a:xfrm>
          <a:prstGeom prst="rect">
            <a:avLst/>
          </a:prstGeom>
          <a:noFill/>
        </p:spPr>
        <p:txBody>
          <a:bodyPr wrap="square">
            <a:normAutofit/>
          </a:bodyPr>
          <a:lstStyle/>
          <a:p>
            <a:pPr algn="l"/>
            <a:r>
              <a:rPr sz="2300" b="1">
                <a:solidFill>
                  <a:srgbClr val="223035"/>
                </a:solidFill>
                <a:latin typeface="Microsoft YaHei"/>
              </a:rPr>
              <a:t>样板 1：哈尔滨新区，用于验证“一区多任务复用”</a:t>
            </a:r>
          </a:p>
        </p:txBody>
      </p:sp>
      <p:sp>
        <p:nvSpPr>
          <p:cNvPr id="4" name="TextBox 3"/>
          <p:cNvSpPr txBox="1"/>
          <p:nvPr/>
        </p:nvSpPr>
        <p:spPr>
          <a:xfrm>
            <a:off x="868680" y="1325880"/>
            <a:ext cx="1554480" cy="164592"/>
          </a:xfrm>
          <a:prstGeom prst="rect">
            <a:avLst/>
          </a:prstGeom>
          <a:noFill/>
        </p:spPr>
        <p:txBody>
          <a:bodyPr wrap="square">
            <a:normAutofit/>
          </a:bodyPr>
          <a:lstStyle/>
          <a:p>
            <a:pPr algn="ctr"/>
            <a:r>
              <a:rPr sz="700" b="1">
                <a:solidFill>
                  <a:srgbClr val="626F75"/>
                </a:solidFill>
                <a:latin typeface="Microsoft YaHei"/>
              </a:rPr>
              <a:t>S2 影像</a:t>
            </a:r>
          </a:p>
        </p:txBody>
      </p:sp>
      <p:pic>
        <p:nvPicPr>
          <p:cNvPr id="5" name="Picture 4" descr="harbin_s2_rgb.png"/>
          <p:cNvPicPr>
            <a:picLocks noChangeAspect="1"/>
          </p:cNvPicPr>
          <p:nvPr/>
        </p:nvPicPr>
        <p:blipFill>
          <a:blip r:embed="rId2"/>
          <a:stretch>
            <a:fillRect/>
          </a:stretch>
        </p:blipFill>
        <p:spPr>
          <a:xfrm>
            <a:off x="868680" y="1572768"/>
            <a:ext cx="1600200" cy="1600200"/>
          </a:xfrm>
          <a:prstGeom prst="rect">
            <a:avLst/>
          </a:prstGeom>
        </p:spPr>
      </p:pic>
      <p:sp>
        <p:nvSpPr>
          <p:cNvPr id="6" name="TextBox 5"/>
          <p:cNvSpPr txBox="1"/>
          <p:nvPr/>
        </p:nvSpPr>
        <p:spPr>
          <a:xfrm>
            <a:off x="2743200" y="1325880"/>
            <a:ext cx="1554480" cy="164592"/>
          </a:xfrm>
          <a:prstGeom prst="rect">
            <a:avLst/>
          </a:prstGeom>
          <a:noFill/>
        </p:spPr>
        <p:txBody>
          <a:bodyPr wrap="square">
            <a:normAutofit/>
          </a:bodyPr>
          <a:lstStyle/>
          <a:p>
            <a:pPr algn="ctr"/>
            <a:r>
              <a:rPr sz="700" b="1">
                <a:solidFill>
                  <a:srgbClr val="626F75"/>
                </a:solidFill>
                <a:latin typeface="Microsoft YaHei"/>
              </a:rPr>
              <a:t>高分光学</a:t>
            </a:r>
          </a:p>
        </p:txBody>
      </p:sp>
      <p:pic>
        <p:nvPicPr>
          <p:cNvPr id="7" name="Picture 6" descr="harbin_highres_optical.png"/>
          <p:cNvPicPr>
            <a:picLocks noChangeAspect="1"/>
          </p:cNvPicPr>
          <p:nvPr/>
        </p:nvPicPr>
        <p:blipFill>
          <a:blip r:embed="rId3"/>
          <a:stretch>
            <a:fillRect/>
          </a:stretch>
        </p:blipFill>
        <p:spPr>
          <a:xfrm>
            <a:off x="2743200" y="1572768"/>
            <a:ext cx="1600200" cy="1600200"/>
          </a:xfrm>
          <a:prstGeom prst="rect">
            <a:avLst/>
          </a:prstGeom>
        </p:spPr>
      </p:pic>
      <p:sp>
        <p:nvSpPr>
          <p:cNvPr id="8" name="TextBox 7"/>
          <p:cNvSpPr txBox="1"/>
          <p:nvPr/>
        </p:nvSpPr>
        <p:spPr>
          <a:xfrm>
            <a:off x="4617720" y="1325880"/>
            <a:ext cx="1554480" cy="164592"/>
          </a:xfrm>
          <a:prstGeom prst="rect">
            <a:avLst/>
          </a:prstGeom>
          <a:noFill/>
        </p:spPr>
        <p:txBody>
          <a:bodyPr wrap="square">
            <a:normAutofit/>
          </a:bodyPr>
          <a:lstStyle/>
          <a:p>
            <a:pPr algn="ctr"/>
            <a:r>
              <a:rPr sz="700" b="1">
                <a:solidFill>
                  <a:srgbClr val="626F75"/>
                </a:solidFill>
                <a:latin typeface="Microsoft YaHei"/>
              </a:rPr>
              <a:t>地理嵌入</a:t>
            </a:r>
          </a:p>
        </p:txBody>
      </p:sp>
      <p:pic>
        <p:nvPicPr>
          <p:cNvPr id="9" name="Picture 8" descr="harbin_embedding_pca.png"/>
          <p:cNvPicPr>
            <a:picLocks noChangeAspect="1"/>
          </p:cNvPicPr>
          <p:nvPr/>
        </p:nvPicPr>
        <p:blipFill>
          <a:blip r:embed="rId4"/>
          <a:stretch>
            <a:fillRect/>
          </a:stretch>
        </p:blipFill>
        <p:spPr>
          <a:xfrm>
            <a:off x="4617720" y="1572768"/>
            <a:ext cx="1600200" cy="1600200"/>
          </a:xfrm>
          <a:prstGeom prst="rect">
            <a:avLst/>
          </a:prstGeom>
        </p:spPr>
      </p:pic>
      <p:sp>
        <p:nvSpPr>
          <p:cNvPr id="10" name="TextBox 9"/>
          <p:cNvSpPr txBox="1"/>
          <p:nvPr/>
        </p:nvSpPr>
        <p:spPr>
          <a:xfrm>
            <a:off x="6492240" y="1325880"/>
            <a:ext cx="1554480" cy="164592"/>
          </a:xfrm>
          <a:prstGeom prst="rect">
            <a:avLst/>
          </a:prstGeom>
          <a:noFill/>
        </p:spPr>
        <p:txBody>
          <a:bodyPr wrap="square">
            <a:normAutofit/>
          </a:bodyPr>
          <a:lstStyle/>
          <a:p>
            <a:pPr algn="ctr"/>
            <a:r>
              <a:rPr sz="700" b="1">
                <a:solidFill>
                  <a:srgbClr val="626F75"/>
                </a:solidFill>
                <a:latin typeface="Microsoft YaHei"/>
              </a:rPr>
              <a:t>预测概率</a:t>
            </a:r>
          </a:p>
        </p:txBody>
      </p:sp>
      <p:pic>
        <p:nvPicPr>
          <p:cNvPr id="11" name="Picture 10" descr="harbin_prediction.png"/>
          <p:cNvPicPr>
            <a:picLocks noChangeAspect="1"/>
          </p:cNvPicPr>
          <p:nvPr/>
        </p:nvPicPr>
        <p:blipFill>
          <a:blip r:embed="rId5"/>
          <a:stretch>
            <a:fillRect/>
          </a:stretch>
        </p:blipFill>
        <p:spPr>
          <a:xfrm>
            <a:off x="6492240" y="1572768"/>
            <a:ext cx="1600200" cy="1600200"/>
          </a:xfrm>
          <a:prstGeom prst="rect">
            <a:avLst/>
          </a:prstGeom>
        </p:spPr>
      </p:pic>
      <p:sp>
        <p:nvSpPr>
          <p:cNvPr id="12" name="Rounded Rectangle 11"/>
          <p:cNvSpPr/>
          <p:nvPr/>
        </p:nvSpPr>
        <p:spPr>
          <a:xfrm>
            <a:off x="8549640" y="1417320"/>
            <a:ext cx="2606040" cy="1572768"/>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49640" y="1417320"/>
            <a:ext cx="64008" cy="1572768"/>
          </a:xfrm>
          <a:prstGeom prst="rect">
            <a:avLst/>
          </a:prstGeom>
          <a:solidFill>
            <a:srgbClr val="84B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50808" y="1563624"/>
            <a:ext cx="2258568" cy="228600"/>
          </a:xfrm>
          <a:prstGeom prst="rect">
            <a:avLst/>
          </a:prstGeom>
          <a:noFill/>
        </p:spPr>
        <p:txBody>
          <a:bodyPr wrap="square">
            <a:normAutofit/>
          </a:bodyPr>
          <a:lstStyle/>
          <a:p>
            <a:pPr algn="l"/>
            <a:r>
              <a:rPr sz="1200" b="1">
                <a:solidFill>
                  <a:srgbClr val="223035"/>
                </a:solidFill>
                <a:latin typeface="Microsoft YaHei"/>
              </a:rPr>
              <a:t>验证什么</a:t>
            </a:r>
          </a:p>
        </p:txBody>
      </p:sp>
      <p:sp>
        <p:nvSpPr>
          <p:cNvPr id="15" name="TextBox 14"/>
          <p:cNvSpPr txBox="1"/>
          <p:nvPr/>
        </p:nvSpPr>
        <p:spPr>
          <a:xfrm>
            <a:off x="8750808" y="1920240"/>
            <a:ext cx="2258568" cy="969264"/>
          </a:xfrm>
          <a:prstGeom prst="rect">
            <a:avLst/>
          </a:prstGeom>
          <a:noFill/>
        </p:spPr>
        <p:txBody>
          <a:bodyPr wrap="square">
            <a:normAutofit/>
          </a:bodyPr>
          <a:lstStyle/>
          <a:p>
            <a:pPr algn="l"/>
            <a:r>
              <a:rPr sz="900" b="0">
                <a:solidFill>
                  <a:srgbClr val="626F75"/>
                </a:solidFill>
                <a:latin typeface="Microsoft YaHei"/>
              </a:rPr>
              <a:t>一个区域生成月度地理嵌入；同一套表征支撑施工、建筑、农用地、垃圾/裸地等任务。</a:t>
            </a:r>
          </a:p>
        </p:txBody>
      </p:sp>
      <p:sp>
        <p:nvSpPr>
          <p:cNvPr id="16" name="Rounded Rectangle 15"/>
          <p:cNvSpPr/>
          <p:nvPr/>
        </p:nvSpPr>
        <p:spPr>
          <a:xfrm>
            <a:off x="1005840" y="4251960"/>
            <a:ext cx="1858060"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0704" y="4407408"/>
            <a:ext cx="1748332" cy="164592"/>
          </a:xfrm>
          <a:prstGeom prst="rect">
            <a:avLst/>
          </a:prstGeom>
          <a:noFill/>
        </p:spPr>
        <p:txBody>
          <a:bodyPr wrap="square">
            <a:normAutofit/>
          </a:bodyPr>
          <a:lstStyle/>
          <a:p>
            <a:pPr algn="ctr"/>
            <a:r>
              <a:rPr sz="800" b="1">
                <a:solidFill>
                  <a:srgbClr val="223035"/>
                </a:solidFill>
                <a:latin typeface="Microsoft YaHei"/>
              </a:rPr>
              <a:t>区域底座</a:t>
            </a:r>
          </a:p>
        </p:txBody>
      </p:sp>
      <p:sp>
        <p:nvSpPr>
          <p:cNvPr id="18" name="TextBox 17"/>
          <p:cNvSpPr txBox="1"/>
          <p:nvPr/>
        </p:nvSpPr>
        <p:spPr>
          <a:xfrm>
            <a:off x="2882188" y="441655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19" name="Rounded Rectangle 18"/>
          <p:cNvSpPr/>
          <p:nvPr/>
        </p:nvSpPr>
        <p:spPr>
          <a:xfrm>
            <a:off x="3010204" y="4251960"/>
            <a:ext cx="1858060"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65068" y="4407408"/>
            <a:ext cx="1748332" cy="164592"/>
          </a:xfrm>
          <a:prstGeom prst="rect">
            <a:avLst/>
          </a:prstGeom>
          <a:noFill/>
        </p:spPr>
        <p:txBody>
          <a:bodyPr wrap="square">
            <a:normAutofit/>
          </a:bodyPr>
          <a:lstStyle/>
          <a:p>
            <a:pPr algn="ctr"/>
            <a:r>
              <a:rPr sz="800" b="1">
                <a:solidFill>
                  <a:srgbClr val="223035"/>
                </a:solidFill>
                <a:latin typeface="Microsoft YaHei"/>
              </a:rPr>
              <a:t>施工</a:t>
            </a:r>
          </a:p>
        </p:txBody>
      </p:sp>
      <p:sp>
        <p:nvSpPr>
          <p:cNvPr id="21" name="TextBox 20"/>
          <p:cNvSpPr txBox="1"/>
          <p:nvPr/>
        </p:nvSpPr>
        <p:spPr>
          <a:xfrm>
            <a:off x="4886553" y="441655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22" name="Rounded Rectangle 21"/>
          <p:cNvSpPr/>
          <p:nvPr/>
        </p:nvSpPr>
        <p:spPr>
          <a:xfrm>
            <a:off x="5014569" y="4251960"/>
            <a:ext cx="1858060"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69433" y="4407408"/>
            <a:ext cx="1748332" cy="164592"/>
          </a:xfrm>
          <a:prstGeom prst="rect">
            <a:avLst/>
          </a:prstGeom>
          <a:noFill/>
        </p:spPr>
        <p:txBody>
          <a:bodyPr wrap="square">
            <a:normAutofit/>
          </a:bodyPr>
          <a:lstStyle/>
          <a:p>
            <a:pPr algn="ctr"/>
            <a:r>
              <a:rPr sz="800" b="1">
                <a:solidFill>
                  <a:srgbClr val="223035"/>
                </a:solidFill>
                <a:latin typeface="Microsoft YaHei"/>
              </a:rPr>
              <a:t>建筑变化</a:t>
            </a:r>
          </a:p>
        </p:txBody>
      </p:sp>
      <p:sp>
        <p:nvSpPr>
          <p:cNvPr id="24" name="TextBox 23"/>
          <p:cNvSpPr txBox="1"/>
          <p:nvPr/>
        </p:nvSpPr>
        <p:spPr>
          <a:xfrm>
            <a:off x="6890918" y="441655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25" name="Rounded Rectangle 24"/>
          <p:cNvSpPr/>
          <p:nvPr/>
        </p:nvSpPr>
        <p:spPr>
          <a:xfrm>
            <a:off x="7018934" y="4251960"/>
            <a:ext cx="1858060"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73798" y="4407408"/>
            <a:ext cx="1748332" cy="164592"/>
          </a:xfrm>
          <a:prstGeom prst="rect">
            <a:avLst/>
          </a:prstGeom>
          <a:noFill/>
        </p:spPr>
        <p:txBody>
          <a:bodyPr wrap="square">
            <a:normAutofit/>
          </a:bodyPr>
          <a:lstStyle/>
          <a:p>
            <a:pPr algn="ctr"/>
            <a:r>
              <a:rPr sz="800" b="1">
                <a:solidFill>
                  <a:srgbClr val="223035"/>
                </a:solidFill>
                <a:latin typeface="Microsoft YaHei"/>
              </a:rPr>
              <a:t>农用地</a:t>
            </a:r>
          </a:p>
        </p:txBody>
      </p:sp>
      <p:sp>
        <p:nvSpPr>
          <p:cNvPr id="27" name="TextBox 26"/>
          <p:cNvSpPr txBox="1"/>
          <p:nvPr/>
        </p:nvSpPr>
        <p:spPr>
          <a:xfrm>
            <a:off x="8895283" y="441655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28" name="Rounded Rectangle 27"/>
          <p:cNvSpPr/>
          <p:nvPr/>
        </p:nvSpPr>
        <p:spPr>
          <a:xfrm>
            <a:off x="9023299" y="4251960"/>
            <a:ext cx="1858060"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78163" y="4407408"/>
            <a:ext cx="1748332" cy="164592"/>
          </a:xfrm>
          <a:prstGeom prst="rect">
            <a:avLst/>
          </a:prstGeom>
          <a:noFill/>
        </p:spPr>
        <p:txBody>
          <a:bodyPr wrap="square">
            <a:normAutofit/>
          </a:bodyPr>
          <a:lstStyle/>
          <a:p>
            <a:pPr algn="ctr"/>
            <a:r>
              <a:rPr sz="800" b="1">
                <a:solidFill>
                  <a:srgbClr val="223035"/>
                </a:solidFill>
                <a:latin typeface="Microsoft YaHei"/>
              </a:rPr>
              <a:t>异常变化</a:t>
            </a:r>
          </a:p>
        </p:txBody>
      </p:sp>
      <p:sp>
        <p:nvSpPr>
          <p:cNvPr id="30" name="TextBox 29"/>
          <p:cNvSpPr txBox="1"/>
          <p:nvPr/>
        </p:nvSpPr>
        <p:spPr>
          <a:xfrm>
            <a:off x="658368" y="6528816"/>
            <a:ext cx="5669280" cy="182880"/>
          </a:xfrm>
          <a:prstGeom prst="rect">
            <a:avLst/>
          </a:prstGeom>
          <a:noFill/>
        </p:spPr>
        <p:txBody>
          <a:bodyPr wrap="square">
            <a:normAutofit/>
          </a:bodyPr>
          <a:lstStyle/>
          <a:p>
            <a:pPr algn="l"/>
            <a:r>
              <a:rPr sz="700" b="0">
                <a:solidFill>
                  <a:srgbClr val="626F75"/>
                </a:solidFill>
                <a:latin typeface="Microsoft YaHei"/>
              </a:rPr>
              <a:t>玄女科技商业计划书 v0.3｜按 22 页内容稿重制</a:t>
            </a:r>
          </a:p>
        </p:txBody>
      </p:sp>
      <p:sp>
        <p:nvSpPr>
          <p:cNvPr id="31" name="TextBox 30"/>
          <p:cNvSpPr txBox="1"/>
          <p:nvPr/>
        </p:nvSpPr>
        <p:spPr>
          <a:xfrm>
            <a:off x="11018520" y="6510528"/>
            <a:ext cx="457200" cy="182880"/>
          </a:xfrm>
          <a:prstGeom prst="rect">
            <a:avLst/>
          </a:prstGeom>
          <a:noFill/>
        </p:spPr>
        <p:txBody>
          <a:bodyPr wrap="square">
            <a:normAutofit/>
          </a:bodyPr>
          <a:lstStyle/>
          <a:p>
            <a:pPr algn="r"/>
            <a:r>
              <a:rPr sz="800" b="0">
                <a:solidFill>
                  <a:srgbClr val="626F75"/>
                </a:solidFill>
                <a:latin typeface="Microsoft YaHe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TextBox 1"/>
          <p:cNvSpPr txBox="1"/>
          <p:nvPr/>
        </p:nvSpPr>
        <p:spPr>
          <a:xfrm>
            <a:off x="658368" y="384048"/>
            <a:ext cx="411480" cy="201168"/>
          </a:xfrm>
          <a:prstGeom prst="rect">
            <a:avLst/>
          </a:prstGeom>
          <a:noFill/>
        </p:spPr>
        <p:txBody>
          <a:bodyPr wrap="square">
            <a:normAutofit/>
          </a:bodyPr>
          <a:lstStyle/>
          <a:p>
            <a:pPr algn="l"/>
            <a:r>
              <a:rPr sz="800" b="1">
                <a:solidFill>
                  <a:srgbClr val="487967"/>
                </a:solidFill>
                <a:latin typeface="Microsoft YaHei"/>
              </a:rPr>
              <a:t>17</a:t>
            </a:r>
          </a:p>
        </p:txBody>
      </p:sp>
      <p:sp>
        <p:nvSpPr>
          <p:cNvPr id="3" name="TextBox 2"/>
          <p:cNvSpPr txBox="1"/>
          <p:nvPr/>
        </p:nvSpPr>
        <p:spPr>
          <a:xfrm>
            <a:off x="1078992" y="310896"/>
            <a:ext cx="9875520" cy="493776"/>
          </a:xfrm>
          <a:prstGeom prst="rect">
            <a:avLst/>
          </a:prstGeom>
          <a:noFill/>
        </p:spPr>
        <p:txBody>
          <a:bodyPr wrap="square">
            <a:normAutofit/>
          </a:bodyPr>
          <a:lstStyle/>
          <a:p>
            <a:pPr algn="l"/>
            <a:r>
              <a:rPr sz="2300" b="1">
                <a:solidFill>
                  <a:srgbClr val="223035"/>
                </a:solidFill>
                <a:latin typeface="Microsoft YaHei"/>
              </a:rPr>
              <a:t>样板 2：海淀区，用于验证复杂城市纹理和高分模态融合</a:t>
            </a:r>
          </a:p>
        </p:txBody>
      </p:sp>
      <p:pic>
        <p:nvPicPr>
          <p:cNvPr id="4" name="Picture 3" descr="harbin_highres_optical.png"/>
          <p:cNvPicPr>
            <a:picLocks noChangeAspect="1"/>
          </p:cNvPicPr>
          <p:nvPr/>
        </p:nvPicPr>
        <p:blipFill>
          <a:blip r:embed="rId2"/>
          <a:stretch>
            <a:fillRect/>
          </a:stretch>
        </p:blipFill>
        <p:spPr>
          <a:xfrm>
            <a:off x="868680" y="1417320"/>
            <a:ext cx="2834640" cy="2834640"/>
          </a:xfrm>
          <a:prstGeom prst="rect">
            <a:avLst/>
          </a:prstGeom>
        </p:spPr>
      </p:pic>
      <p:pic>
        <p:nvPicPr>
          <p:cNvPr id="5" name="Picture 4" descr="harbin_s1_sar.png"/>
          <p:cNvPicPr>
            <a:picLocks noChangeAspect="1"/>
          </p:cNvPicPr>
          <p:nvPr/>
        </p:nvPicPr>
        <p:blipFill>
          <a:blip r:embed="rId3"/>
          <a:stretch>
            <a:fillRect/>
          </a:stretch>
        </p:blipFill>
        <p:spPr>
          <a:xfrm>
            <a:off x="4069080" y="1417320"/>
            <a:ext cx="2834640" cy="2834640"/>
          </a:xfrm>
          <a:prstGeom prst="rect">
            <a:avLst/>
          </a:prstGeom>
        </p:spPr>
      </p:pic>
      <p:sp>
        <p:nvSpPr>
          <p:cNvPr id="6" name="Rounded Rectangle 5"/>
          <p:cNvSpPr/>
          <p:nvPr/>
        </p:nvSpPr>
        <p:spPr>
          <a:xfrm>
            <a:off x="7406640" y="1481328"/>
            <a:ext cx="3703320" cy="123444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06640" y="1481328"/>
            <a:ext cx="64008" cy="1234440"/>
          </a:xfrm>
          <a:prstGeom prst="rect">
            <a:avLst/>
          </a:prstGeom>
          <a:solidFill>
            <a:srgbClr val="88B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07808" y="1627632"/>
            <a:ext cx="3355848" cy="228600"/>
          </a:xfrm>
          <a:prstGeom prst="rect">
            <a:avLst/>
          </a:prstGeom>
          <a:noFill/>
        </p:spPr>
        <p:txBody>
          <a:bodyPr wrap="square">
            <a:normAutofit/>
          </a:bodyPr>
          <a:lstStyle/>
          <a:p>
            <a:pPr algn="l"/>
            <a:r>
              <a:rPr sz="1200" b="1">
                <a:solidFill>
                  <a:srgbClr val="223035"/>
                </a:solidFill>
                <a:latin typeface="Microsoft YaHei"/>
              </a:rPr>
              <a:t>验证任务</a:t>
            </a:r>
          </a:p>
        </p:txBody>
      </p:sp>
      <p:sp>
        <p:nvSpPr>
          <p:cNvPr id="9" name="TextBox 8"/>
          <p:cNvSpPr txBox="1"/>
          <p:nvPr/>
        </p:nvSpPr>
        <p:spPr>
          <a:xfrm>
            <a:off x="7607808" y="1984248"/>
            <a:ext cx="3355848" cy="630936"/>
          </a:xfrm>
          <a:prstGeom prst="rect">
            <a:avLst/>
          </a:prstGeom>
          <a:noFill/>
        </p:spPr>
        <p:txBody>
          <a:bodyPr wrap="square">
            <a:normAutofit/>
          </a:bodyPr>
          <a:lstStyle/>
          <a:p>
            <a:pPr algn="l"/>
            <a:r>
              <a:rPr sz="900" b="0">
                <a:solidFill>
                  <a:srgbClr val="626F75"/>
                </a:solidFill>
                <a:latin typeface="Microsoft YaHei"/>
              </a:rPr>
              <a:t>高密度城市空间、小目标、复杂边界；高分光学 / 高分 SAR 与低分时序融合。</a:t>
            </a:r>
          </a:p>
        </p:txBody>
      </p:sp>
      <p:sp>
        <p:nvSpPr>
          <p:cNvPr id="10" name="Rounded Rectangle 9"/>
          <p:cNvSpPr/>
          <p:nvPr/>
        </p:nvSpPr>
        <p:spPr>
          <a:xfrm>
            <a:off x="7406640" y="3063240"/>
            <a:ext cx="3703320" cy="123444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06640" y="3063240"/>
            <a:ext cx="64008" cy="1234440"/>
          </a:xfrm>
          <a:prstGeom prst="rect">
            <a:avLst/>
          </a:prstGeom>
          <a:solidFill>
            <a:srgbClr val="84B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7808" y="3209544"/>
            <a:ext cx="3355848" cy="228600"/>
          </a:xfrm>
          <a:prstGeom prst="rect">
            <a:avLst/>
          </a:prstGeom>
          <a:noFill/>
        </p:spPr>
        <p:txBody>
          <a:bodyPr wrap="square">
            <a:normAutofit/>
          </a:bodyPr>
          <a:lstStyle/>
          <a:p>
            <a:pPr algn="l"/>
            <a:r>
              <a:rPr sz="1200" b="1">
                <a:solidFill>
                  <a:srgbClr val="223035"/>
                </a:solidFill>
                <a:latin typeface="Microsoft YaHei"/>
              </a:rPr>
              <a:t>输出证据</a:t>
            </a:r>
          </a:p>
        </p:txBody>
      </p:sp>
      <p:sp>
        <p:nvSpPr>
          <p:cNvPr id="13" name="TextBox 12"/>
          <p:cNvSpPr txBox="1"/>
          <p:nvPr/>
        </p:nvSpPr>
        <p:spPr>
          <a:xfrm>
            <a:off x="7607808" y="3566160"/>
            <a:ext cx="3355848" cy="630936"/>
          </a:xfrm>
          <a:prstGeom prst="rect">
            <a:avLst/>
          </a:prstGeom>
          <a:noFill/>
        </p:spPr>
        <p:txBody>
          <a:bodyPr wrap="square">
            <a:normAutofit/>
          </a:bodyPr>
          <a:lstStyle/>
          <a:p>
            <a:pPr algn="l"/>
            <a:r>
              <a:rPr sz="900" b="0">
                <a:solidFill>
                  <a:srgbClr val="626F75"/>
                </a:solidFill>
                <a:latin typeface="Microsoft YaHei"/>
              </a:rPr>
              <a:t>高分影像、标注样本、模型输出与人工标注对比、模态增强前后差异。</a:t>
            </a:r>
          </a:p>
        </p:txBody>
      </p:sp>
      <p:sp>
        <p:nvSpPr>
          <p:cNvPr id="14" name="TextBox 13"/>
          <p:cNvSpPr txBox="1"/>
          <p:nvPr/>
        </p:nvSpPr>
        <p:spPr>
          <a:xfrm>
            <a:off x="914400" y="5321808"/>
            <a:ext cx="10241280" cy="320040"/>
          </a:xfrm>
          <a:prstGeom prst="rect">
            <a:avLst/>
          </a:prstGeom>
          <a:noFill/>
        </p:spPr>
        <p:txBody>
          <a:bodyPr wrap="square">
            <a:normAutofit/>
          </a:bodyPr>
          <a:lstStyle/>
          <a:p>
            <a:pPr algn="ctr"/>
            <a:r>
              <a:rPr sz="1300" b="0">
                <a:solidFill>
                  <a:srgbClr val="626F75"/>
                </a:solidFill>
                <a:latin typeface="Microsoft YaHei"/>
              </a:rPr>
              <a:t>海淀页当前用已有高分样例占位；后续可替换为真实海淀最佳 patch。</a:t>
            </a:r>
          </a:p>
        </p:txBody>
      </p:sp>
      <p:sp>
        <p:nvSpPr>
          <p:cNvPr id="15" name="TextBox 14"/>
          <p:cNvSpPr txBox="1"/>
          <p:nvPr/>
        </p:nvSpPr>
        <p:spPr>
          <a:xfrm>
            <a:off x="658368" y="6528816"/>
            <a:ext cx="5669280" cy="182880"/>
          </a:xfrm>
          <a:prstGeom prst="rect">
            <a:avLst/>
          </a:prstGeom>
          <a:noFill/>
        </p:spPr>
        <p:txBody>
          <a:bodyPr wrap="square">
            <a:normAutofit/>
          </a:bodyPr>
          <a:lstStyle/>
          <a:p>
            <a:pPr algn="l"/>
            <a:r>
              <a:rPr sz="700" b="0">
                <a:solidFill>
                  <a:srgbClr val="626F75"/>
                </a:solidFill>
                <a:latin typeface="Microsoft YaHei"/>
              </a:rPr>
              <a:t>玄女科技商业计划书 v0.3｜按 22 页内容稿重制</a:t>
            </a:r>
          </a:p>
        </p:txBody>
      </p:sp>
      <p:sp>
        <p:nvSpPr>
          <p:cNvPr id="16" name="TextBox 15"/>
          <p:cNvSpPr txBox="1"/>
          <p:nvPr/>
        </p:nvSpPr>
        <p:spPr>
          <a:xfrm>
            <a:off x="11018520" y="6510528"/>
            <a:ext cx="457200" cy="182880"/>
          </a:xfrm>
          <a:prstGeom prst="rect">
            <a:avLst/>
          </a:prstGeom>
          <a:noFill/>
        </p:spPr>
        <p:txBody>
          <a:bodyPr wrap="square">
            <a:normAutofit/>
          </a:bodyPr>
          <a:lstStyle/>
          <a:p>
            <a:pPr algn="r"/>
            <a:r>
              <a:rPr sz="800" b="0">
                <a:solidFill>
                  <a:srgbClr val="626F75"/>
                </a:solidFill>
                <a:latin typeface="Microsoft YaHe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TextBox 1"/>
          <p:cNvSpPr txBox="1"/>
          <p:nvPr/>
        </p:nvSpPr>
        <p:spPr>
          <a:xfrm>
            <a:off x="658368" y="384048"/>
            <a:ext cx="411480" cy="201168"/>
          </a:xfrm>
          <a:prstGeom prst="rect">
            <a:avLst/>
          </a:prstGeom>
          <a:noFill/>
        </p:spPr>
        <p:txBody>
          <a:bodyPr wrap="square">
            <a:normAutofit/>
          </a:bodyPr>
          <a:lstStyle/>
          <a:p>
            <a:pPr algn="l"/>
            <a:r>
              <a:rPr sz="800" b="1">
                <a:solidFill>
                  <a:srgbClr val="487967"/>
                </a:solidFill>
                <a:latin typeface="Microsoft YaHei"/>
              </a:rPr>
              <a:t>18</a:t>
            </a:r>
          </a:p>
        </p:txBody>
      </p:sp>
      <p:sp>
        <p:nvSpPr>
          <p:cNvPr id="3" name="TextBox 2"/>
          <p:cNvSpPr txBox="1"/>
          <p:nvPr/>
        </p:nvSpPr>
        <p:spPr>
          <a:xfrm>
            <a:off x="1078992" y="310896"/>
            <a:ext cx="9875520" cy="493776"/>
          </a:xfrm>
          <a:prstGeom prst="rect">
            <a:avLst/>
          </a:prstGeom>
          <a:noFill/>
        </p:spPr>
        <p:txBody>
          <a:bodyPr wrap="square">
            <a:normAutofit/>
          </a:bodyPr>
          <a:lstStyle/>
          <a:p>
            <a:pPr algn="l"/>
            <a:r>
              <a:rPr sz="2300" b="1">
                <a:solidFill>
                  <a:srgbClr val="223035"/>
                </a:solidFill>
                <a:latin typeface="Microsoft YaHei"/>
              </a:rPr>
              <a:t>样板 3：雅江，用于验证极端地形、灾害场景和缺失模态补齐</a:t>
            </a:r>
          </a:p>
        </p:txBody>
      </p:sp>
      <p:pic>
        <p:nvPicPr>
          <p:cNvPr id="4" name="Picture 3" descr="harbin_landsat.png"/>
          <p:cNvPicPr>
            <a:picLocks noChangeAspect="1"/>
          </p:cNvPicPr>
          <p:nvPr/>
        </p:nvPicPr>
        <p:blipFill>
          <a:blip r:embed="rId2"/>
          <a:stretch>
            <a:fillRect/>
          </a:stretch>
        </p:blipFill>
        <p:spPr>
          <a:xfrm>
            <a:off x="868680" y="1417320"/>
            <a:ext cx="2788920" cy="2788920"/>
          </a:xfrm>
          <a:prstGeom prst="rect">
            <a:avLst/>
          </a:prstGeom>
        </p:spPr>
      </p:pic>
      <p:pic>
        <p:nvPicPr>
          <p:cNvPr id="5" name="Picture 4" descr="harbin_s1_sar.png"/>
          <p:cNvPicPr>
            <a:picLocks noChangeAspect="1"/>
          </p:cNvPicPr>
          <p:nvPr/>
        </p:nvPicPr>
        <p:blipFill>
          <a:blip r:embed="rId3"/>
          <a:stretch>
            <a:fillRect/>
          </a:stretch>
        </p:blipFill>
        <p:spPr>
          <a:xfrm>
            <a:off x="3977639" y="1417320"/>
            <a:ext cx="2788920" cy="2788920"/>
          </a:xfrm>
          <a:prstGeom prst="rect">
            <a:avLst/>
          </a:prstGeom>
        </p:spPr>
      </p:pic>
      <p:sp>
        <p:nvSpPr>
          <p:cNvPr id="6" name="Rounded Rectangle 5"/>
          <p:cNvSpPr/>
          <p:nvPr/>
        </p:nvSpPr>
        <p:spPr>
          <a:xfrm>
            <a:off x="7315200" y="1417320"/>
            <a:ext cx="3886200" cy="109728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0" y="1417320"/>
            <a:ext cx="64008" cy="1097280"/>
          </a:xfrm>
          <a:prstGeom prst="rect">
            <a:avLst/>
          </a:prstGeom>
          <a:solidFill>
            <a:srgbClr val="B4A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16368" y="1563624"/>
            <a:ext cx="3538728" cy="228600"/>
          </a:xfrm>
          <a:prstGeom prst="rect">
            <a:avLst/>
          </a:prstGeom>
          <a:noFill/>
        </p:spPr>
        <p:txBody>
          <a:bodyPr wrap="square">
            <a:normAutofit/>
          </a:bodyPr>
          <a:lstStyle/>
          <a:p>
            <a:pPr algn="l"/>
            <a:r>
              <a:rPr sz="1200" b="1">
                <a:solidFill>
                  <a:srgbClr val="223035"/>
                </a:solidFill>
                <a:latin typeface="Microsoft YaHei"/>
              </a:rPr>
              <a:t>复杂性</a:t>
            </a:r>
          </a:p>
        </p:txBody>
      </p:sp>
      <p:sp>
        <p:nvSpPr>
          <p:cNvPr id="9" name="TextBox 8"/>
          <p:cNvSpPr txBox="1"/>
          <p:nvPr/>
        </p:nvSpPr>
        <p:spPr>
          <a:xfrm>
            <a:off x="7516368" y="1920240"/>
            <a:ext cx="3538728" cy="493775"/>
          </a:xfrm>
          <a:prstGeom prst="rect">
            <a:avLst/>
          </a:prstGeom>
          <a:noFill/>
        </p:spPr>
        <p:txBody>
          <a:bodyPr wrap="square">
            <a:normAutofit/>
          </a:bodyPr>
          <a:lstStyle/>
          <a:p>
            <a:pPr algn="l"/>
            <a:r>
              <a:rPr sz="900" b="0">
                <a:solidFill>
                  <a:srgbClr val="626F75"/>
                </a:solidFill>
                <a:latin typeface="Microsoft YaHei"/>
              </a:rPr>
              <a:t>山地峡谷、河谷、灾害风险、施工扰动；光学云雾遮挡和模态缺失。</a:t>
            </a:r>
          </a:p>
        </p:txBody>
      </p:sp>
      <p:sp>
        <p:nvSpPr>
          <p:cNvPr id="10" name="Rounded Rectangle 9"/>
          <p:cNvSpPr/>
          <p:nvPr/>
        </p:nvSpPr>
        <p:spPr>
          <a:xfrm>
            <a:off x="7315200" y="2788920"/>
            <a:ext cx="3886200" cy="109728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0" y="2788920"/>
            <a:ext cx="64008" cy="1097280"/>
          </a:xfrm>
          <a:prstGeom prst="rect">
            <a:avLst/>
          </a:prstGeom>
          <a:solidFill>
            <a:srgbClr val="84B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16368" y="2935224"/>
            <a:ext cx="3538728" cy="228600"/>
          </a:xfrm>
          <a:prstGeom prst="rect">
            <a:avLst/>
          </a:prstGeom>
          <a:noFill/>
        </p:spPr>
        <p:txBody>
          <a:bodyPr wrap="square">
            <a:normAutofit/>
          </a:bodyPr>
          <a:lstStyle/>
          <a:p>
            <a:pPr algn="l"/>
            <a:r>
              <a:rPr sz="1200" b="1">
                <a:solidFill>
                  <a:srgbClr val="223035"/>
                </a:solidFill>
                <a:latin typeface="Microsoft YaHei"/>
              </a:rPr>
              <a:t>验证任务</a:t>
            </a:r>
          </a:p>
        </p:txBody>
      </p:sp>
      <p:sp>
        <p:nvSpPr>
          <p:cNvPr id="13" name="TextBox 12"/>
          <p:cNvSpPr txBox="1"/>
          <p:nvPr/>
        </p:nvSpPr>
        <p:spPr>
          <a:xfrm>
            <a:off x="7516368" y="3291839"/>
            <a:ext cx="3538728" cy="493775"/>
          </a:xfrm>
          <a:prstGeom prst="rect">
            <a:avLst/>
          </a:prstGeom>
          <a:noFill/>
        </p:spPr>
        <p:txBody>
          <a:bodyPr wrap="square">
            <a:normAutofit/>
          </a:bodyPr>
          <a:lstStyle/>
          <a:p>
            <a:pPr algn="l"/>
            <a:r>
              <a:rPr sz="900" b="0">
                <a:solidFill>
                  <a:srgbClr val="626F75"/>
                </a:solidFill>
                <a:latin typeface="Microsoft YaHei"/>
              </a:rPr>
              <a:t>滑坡、崩塌、堰塞湖、施工扰动候选；光学缺失时用 SAR / 时序补齐。</a:t>
            </a:r>
          </a:p>
        </p:txBody>
      </p:sp>
      <p:sp>
        <p:nvSpPr>
          <p:cNvPr id="14" name="Rounded Rectangle 13"/>
          <p:cNvSpPr/>
          <p:nvPr/>
        </p:nvSpPr>
        <p:spPr>
          <a:xfrm>
            <a:off x="7315200" y="4160520"/>
            <a:ext cx="3886200" cy="109728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0" y="4160520"/>
            <a:ext cx="64008" cy="1097280"/>
          </a:xfrm>
          <a:prstGeom prst="rect">
            <a:avLst/>
          </a:prstGeom>
          <a:solidFill>
            <a:srgbClr val="88B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16368" y="4306824"/>
            <a:ext cx="3538728" cy="228600"/>
          </a:xfrm>
          <a:prstGeom prst="rect">
            <a:avLst/>
          </a:prstGeom>
          <a:noFill/>
        </p:spPr>
        <p:txBody>
          <a:bodyPr wrap="square">
            <a:normAutofit/>
          </a:bodyPr>
          <a:lstStyle/>
          <a:p>
            <a:pPr algn="l"/>
            <a:r>
              <a:rPr sz="1200" b="1">
                <a:solidFill>
                  <a:srgbClr val="223035"/>
                </a:solidFill>
                <a:latin typeface="Microsoft YaHei"/>
              </a:rPr>
              <a:t>需要补充</a:t>
            </a:r>
          </a:p>
        </p:txBody>
      </p:sp>
      <p:sp>
        <p:nvSpPr>
          <p:cNvPr id="17" name="TextBox 16"/>
          <p:cNvSpPr txBox="1"/>
          <p:nvPr/>
        </p:nvSpPr>
        <p:spPr>
          <a:xfrm>
            <a:off x="7516368" y="4663440"/>
            <a:ext cx="3538728" cy="493775"/>
          </a:xfrm>
          <a:prstGeom prst="rect">
            <a:avLst/>
          </a:prstGeom>
          <a:noFill/>
        </p:spPr>
        <p:txBody>
          <a:bodyPr wrap="square">
            <a:normAutofit/>
          </a:bodyPr>
          <a:lstStyle/>
          <a:p>
            <a:pPr algn="l"/>
            <a:r>
              <a:rPr sz="900" b="0">
                <a:solidFill>
                  <a:srgbClr val="626F75"/>
                </a:solidFill>
                <a:latin typeface="Microsoft YaHei"/>
              </a:rPr>
              <a:t>真实雅江数据目录、云遮挡样例、缺失模态补齐结果、人工核查命中率。</a:t>
            </a:r>
          </a:p>
        </p:txBody>
      </p:sp>
      <p:sp>
        <p:nvSpPr>
          <p:cNvPr id="18" name="TextBox 17"/>
          <p:cNvSpPr txBox="1"/>
          <p:nvPr/>
        </p:nvSpPr>
        <p:spPr>
          <a:xfrm>
            <a:off x="658368" y="6528816"/>
            <a:ext cx="5669280" cy="182880"/>
          </a:xfrm>
          <a:prstGeom prst="rect">
            <a:avLst/>
          </a:prstGeom>
          <a:noFill/>
        </p:spPr>
        <p:txBody>
          <a:bodyPr wrap="square">
            <a:normAutofit/>
          </a:bodyPr>
          <a:lstStyle/>
          <a:p>
            <a:pPr algn="l"/>
            <a:r>
              <a:rPr sz="700" b="0">
                <a:solidFill>
                  <a:srgbClr val="626F75"/>
                </a:solidFill>
                <a:latin typeface="Microsoft YaHei"/>
              </a:rPr>
              <a:t>玄女科技商业计划书 v0.3｜按 22 页内容稿重制</a:t>
            </a:r>
          </a:p>
        </p:txBody>
      </p:sp>
      <p:sp>
        <p:nvSpPr>
          <p:cNvPr id="19" name="TextBox 18"/>
          <p:cNvSpPr txBox="1"/>
          <p:nvPr/>
        </p:nvSpPr>
        <p:spPr>
          <a:xfrm>
            <a:off x="11018520" y="6510528"/>
            <a:ext cx="457200" cy="182880"/>
          </a:xfrm>
          <a:prstGeom prst="rect">
            <a:avLst/>
          </a:prstGeom>
          <a:noFill/>
        </p:spPr>
        <p:txBody>
          <a:bodyPr wrap="square">
            <a:normAutofit/>
          </a:bodyPr>
          <a:lstStyle/>
          <a:p>
            <a:pPr algn="r"/>
            <a:r>
              <a:rPr sz="800" b="0">
                <a:solidFill>
                  <a:srgbClr val="626F75"/>
                </a:solidFill>
                <a:latin typeface="Microsoft YaHe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TextBox 1"/>
          <p:cNvSpPr txBox="1"/>
          <p:nvPr/>
        </p:nvSpPr>
        <p:spPr>
          <a:xfrm>
            <a:off x="658368" y="384048"/>
            <a:ext cx="411480" cy="201168"/>
          </a:xfrm>
          <a:prstGeom prst="rect">
            <a:avLst/>
          </a:prstGeom>
          <a:noFill/>
        </p:spPr>
        <p:txBody>
          <a:bodyPr wrap="square">
            <a:normAutofit/>
          </a:bodyPr>
          <a:lstStyle/>
          <a:p>
            <a:pPr algn="l"/>
            <a:r>
              <a:rPr sz="800" b="1">
                <a:solidFill>
                  <a:srgbClr val="487967"/>
                </a:solidFill>
                <a:latin typeface="Microsoft YaHei"/>
              </a:rPr>
              <a:t>19</a:t>
            </a:r>
          </a:p>
        </p:txBody>
      </p:sp>
      <p:sp>
        <p:nvSpPr>
          <p:cNvPr id="3" name="TextBox 2"/>
          <p:cNvSpPr txBox="1"/>
          <p:nvPr/>
        </p:nvSpPr>
        <p:spPr>
          <a:xfrm>
            <a:off x="1078992" y="310896"/>
            <a:ext cx="9875520" cy="493776"/>
          </a:xfrm>
          <a:prstGeom prst="rect">
            <a:avLst/>
          </a:prstGeom>
          <a:noFill/>
        </p:spPr>
        <p:txBody>
          <a:bodyPr wrap="square">
            <a:normAutofit/>
          </a:bodyPr>
          <a:lstStyle/>
          <a:p>
            <a:pPr algn="l"/>
            <a:r>
              <a:rPr sz="2300" b="1">
                <a:solidFill>
                  <a:srgbClr val="223035"/>
                </a:solidFill>
                <a:latin typeface="Microsoft YaHei"/>
              </a:rPr>
              <a:t>能力展示：嵌入、补齐、时序、多任务迁移</a:t>
            </a:r>
          </a:p>
        </p:txBody>
      </p:sp>
      <p:sp>
        <p:nvSpPr>
          <p:cNvPr id="4" name="TextBox 3"/>
          <p:cNvSpPr txBox="1"/>
          <p:nvPr/>
        </p:nvSpPr>
        <p:spPr>
          <a:xfrm>
            <a:off x="822960" y="1325880"/>
            <a:ext cx="1691640" cy="164592"/>
          </a:xfrm>
          <a:prstGeom prst="rect">
            <a:avLst/>
          </a:prstGeom>
          <a:noFill/>
        </p:spPr>
        <p:txBody>
          <a:bodyPr wrap="square">
            <a:normAutofit/>
          </a:bodyPr>
          <a:lstStyle/>
          <a:p>
            <a:pPr algn="ctr"/>
            <a:r>
              <a:rPr sz="700" b="1">
                <a:solidFill>
                  <a:srgbClr val="626F75"/>
                </a:solidFill>
                <a:latin typeface="Microsoft YaHei"/>
              </a:rPr>
              <a:t>原始影像</a:t>
            </a:r>
          </a:p>
        </p:txBody>
      </p:sp>
      <p:pic>
        <p:nvPicPr>
          <p:cNvPr id="5" name="Picture 4" descr="harbin_highres_optical.png"/>
          <p:cNvPicPr>
            <a:picLocks noChangeAspect="1"/>
          </p:cNvPicPr>
          <p:nvPr/>
        </p:nvPicPr>
        <p:blipFill>
          <a:blip r:embed="rId2"/>
          <a:stretch>
            <a:fillRect/>
          </a:stretch>
        </p:blipFill>
        <p:spPr>
          <a:xfrm>
            <a:off x="822960" y="1600200"/>
            <a:ext cx="1691640" cy="1691640"/>
          </a:xfrm>
          <a:prstGeom prst="rect">
            <a:avLst/>
          </a:prstGeom>
        </p:spPr>
      </p:pic>
      <p:sp>
        <p:nvSpPr>
          <p:cNvPr id="6" name="TextBox 5"/>
          <p:cNvSpPr txBox="1"/>
          <p:nvPr/>
        </p:nvSpPr>
        <p:spPr>
          <a:xfrm>
            <a:off x="2880360" y="1325880"/>
            <a:ext cx="1691640" cy="164592"/>
          </a:xfrm>
          <a:prstGeom prst="rect">
            <a:avLst/>
          </a:prstGeom>
          <a:noFill/>
        </p:spPr>
        <p:txBody>
          <a:bodyPr wrap="square">
            <a:normAutofit/>
          </a:bodyPr>
          <a:lstStyle/>
          <a:p>
            <a:pPr algn="ctr"/>
            <a:r>
              <a:rPr sz="700" b="1">
                <a:solidFill>
                  <a:srgbClr val="626F75"/>
                </a:solidFill>
                <a:latin typeface="Microsoft YaHei"/>
              </a:rPr>
              <a:t>地理嵌入</a:t>
            </a:r>
          </a:p>
        </p:txBody>
      </p:sp>
      <p:pic>
        <p:nvPicPr>
          <p:cNvPr id="7" name="Picture 6" descr="harbin_embedding_pca.png"/>
          <p:cNvPicPr>
            <a:picLocks noChangeAspect="1"/>
          </p:cNvPicPr>
          <p:nvPr/>
        </p:nvPicPr>
        <p:blipFill>
          <a:blip r:embed="rId3"/>
          <a:stretch>
            <a:fillRect/>
          </a:stretch>
        </p:blipFill>
        <p:spPr>
          <a:xfrm>
            <a:off x="2880360" y="1600200"/>
            <a:ext cx="1691640" cy="1691640"/>
          </a:xfrm>
          <a:prstGeom prst="rect">
            <a:avLst/>
          </a:prstGeom>
        </p:spPr>
      </p:pic>
      <p:sp>
        <p:nvSpPr>
          <p:cNvPr id="8" name="TextBox 7"/>
          <p:cNvSpPr txBox="1"/>
          <p:nvPr/>
        </p:nvSpPr>
        <p:spPr>
          <a:xfrm>
            <a:off x="4937760" y="1325880"/>
            <a:ext cx="1691640" cy="164592"/>
          </a:xfrm>
          <a:prstGeom prst="rect">
            <a:avLst/>
          </a:prstGeom>
          <a:noFill/>
        </p:spPr>
        <p:txBody>
          <a:bodyPr wrap="square">
            <a:normAutofit/>
          </a:bodyPr>
          <a:lstStyle/>
          <a:p>
            <a:pPr algn="ctr"/>
            <a:r>
              <a:rPr sz="700" b="1">
                <a:solidFill>
                  <a:srgbClr val="626F75"/>
                </a:solidFill>
                <a:latin typeface="Microsoft YaHei"/>
              </a:rPr>
              <a:t>预测概率</a:t>
            </a:r>
          </a:p>
        </p:txBody>
      </p:sp>
      <p:pic>
        <p:nvPicPr>
          <p:cNvPr id="9" name="Picture 8" descr="harbin_prediction.png"/>
          <p:cNvPicPr>
            <a:picLocks noChangeAspect="1"/>
          </p:cNvPicPr>
          <p:nvPr/>
        </p:nvPicPr>
        <p:blipFill>
          <a:blip r:embed="rId4"/>
          <a:stretch>
            <a:fillRect/>
          </a:stretch>
        </p:blipFill>
        <p:spPr>
          <a:xfrm>
            <a:off x="4937760" y="1600200"/>
            <a:ext cx="1691640" cy="1691640"/>
          </a:xfrm>
          <a:prstGeom prst="rect">
            <a:avLst/>
          </a:prstGeom>
        </p:spPr>
      </p:pic>
      <p:sp>
        <p:nvSpPr>
          <p:cNvPr id="10" name="TextBox 9"/>
          <p:cNvSpPr txBox="1"/>
          <p:nvPr/>
        </p:nvSpPr>
        <p:spPr>
          <a:xfrm>
            <a:off x="6995160" y="1325880"/>
            <a:ext cx="1691640" cy="164592"/>
          </a:xfrm>
          <a:prstGeom prst="rect">
            <a:avLst/>
          </a:prstGeom>
          <a:noFill/>
        </p:spPr>
        <p:txBody>
          <a:bodyPr wrap="square">
            <a:normAutofit/>
          </a:bodyPr>
          <a:lstStyle/>
          <a:p>
            <a:pPr algn="ctr"/>
            <a:r>
              <a:rPr sz="700" b="1">
                <a:solidFill>
                  <a:srgbClr val="626F75"/>
                </a:solidFill>
                <a:latin typeface="Microsoft YaHei"/>
              </a:rPr>
              <a:t>土地覆盖</a:t>
            </a:r>
          </a:p>
        </p:txBody>
      </p:sp>
      <p:pic>
        <p:nvPicPr>
          <p:cNvPr id="11" name="Picture 10" descr="harbin_worldcover.png"/>
          <p:cNvPicPr>
            <a:picLocks noChangeAspect="1"/>
          </p:cNvPicPr>
          <p:nvPr/>
        </p:nvPicPr>
        <p:blipFill>
          <a:blip r:embed="rId5"/>
          <a:stretch>
            <a:fillRect/>
          </a:stretch>
        </p:blipFill>
        <p:spPr>
          <a:xfrm>
            <a:off x="6995160" y="1600200"/>
            <a:ext cx="1691640" cy="1691640"/>
          </a:xfrm>
          <a:prstGeom prst="rect">
            <a:avLst/>
          </a:prstGeom>
        </p:spPr>
      </p:pic>
      <p:sp>
        <p:nvSpPr>
          <p:cNvPr id="12" name="Rounded Rectangle 11"/>
          <p:cNvSpPr/>
          <p:nvPr/>
        </p:nvSpPr>
        <p:spPr>
          <a:xfrm>
            <a:off x="914400" y="4160520"/>
            <a:ext cx="4937760" cy="100584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4160520"/>
            <a:ext cx="64008" cy="1005840"/>
          </a:xfrm>
          <a:prstGeom prst="rect">
            <a:avLst/>
          </a:prstGeom>
          <a:solidFill>
            <a:srgbClr val="84B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15568" y="4306824"/>
            <a:ext cx="4590288" cy="228600"/>
          </a:xfrm>
          <a:prstGeom prst="rect">
            <a:avLst/>
          </a:prstGeom>
          <a:noFill/>
        </p:spPr>
        <p:txBody>
          <a:bodyPr wrap="square">
            <a:normAutofit/>
          </a:bodyPr>
          <a:lstStyle/>
          <a:p>
            <a:pPr algn="l"/>
            <a:r>
              <a:rPr sz="1200" b="1">
                <a:solidFill>
                  <a:srgbClr val="223035"/>
                </a:solidFill>
                <a:latin typeface="Microsoft YaHei"/>
              </a:rPr>
              <a:t>四类能力</a:t>
            </a:r>
          </a:p>
        </p:txBody>
      </p:sp>
      <p:sp>
        <p:nvSpPr>
          <p:cNvPr id="15" name="TextBox 14"/>
          <p:cNvSpPr txBox="1"/>
          <p:nvPr/>
        </p:nvSpPr>
        <p:spPr>
          <a:xfrm>
            <a:off x="1115568" y="4663440"/>
            <a:ext cx="4590288" cy="402336"/>
          </a:xfrm>
          <a:prstGeom prst="rect">
            <a:avLst/>
          </a:prstGeom>
          <a:noFill/>
        </p:spPr>
        <p:txBody>
          <a:bodyPr wrap="square">
            <a:normAutofit/>
          </a:bodyPr>
          <a:lstStyle/>
          <a:p>
            <a:pPr algn="l"/>
            <a:r>
              <a:rPr sz="900" b="0">
                <a:solidFill>
                  <a:srgbClr val="626F75"/>
                </a:solidFill>
                <a:latin typeface="Microsoft YaHei"/>
              </a:rPr>
              <a:t>地理嵌入｜缺失模态补齐｜多源时序理解｜下游迁移</a:t>
            </a:r>
          </a:p>
        </p:txBody>
      </p:sp>
      <p:sp>
        <p:nvSpPr>
          <p:cNvPr id="16" name="Rounded Rectangle 15"/>
          <p:cNvSpPr/>
          <p:nvPr/>
        </p:nvSpPr>
        <p:spPr>
          <a:xfrm>
            <a:off x="6355080" y="4160520"/>
            <a:ext cx="4663440" cy="100584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4160520"/>
            <a:ext cx="64008" cy="1005840"/>
          </a:xfrm>
          <a:prstGeom prst="rect">
            <a:avLst/>
          </a:prstGeom>
          <a:solidFill>
            <a:srgbClr val="88B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56248" y="4306824"/>
            <a:ext cx="4315968" cy="228600"/>
          </a:xfrm>
          <a:prstGeom prst="rect">
            <a:avLst/>
          </a:prstGeom>
          <a:noFill/>
        </p:spPr>
        <p:txBody>
          <a:bodyPr wrap="square">
            <a:normAutofit/>
          </a:bodyPr>
          <a:lstStyle/>
          <a:p>
            <a:pPr algn="l"/>
            <a:r>
              <a:rPr sz="1200" b="1">
                <a:solidFill>
                  <a:srgbClr val="223035"/>
                </a:solidFill>
                <a:latin typeface="Microsoft YaHei"/>
              </a:rPr>
              <a:t>核心判断</a:t>
            </a:r>
          </a:p>
        </p:txBody>
      </p:sp>
      <p:sp>
        <p:nvSpPr>
          <p:cNvPr id="19" name="TextBox 18"/>
          <p:cNvSpPr txBox="1"/>
          <p:nvPr/>
        </p:nvSpPr>
        <p:spPr>
          <a:xfrm>
            <a:off x="6556248" y="4663440"/>
            <a:ext cx="4315968" cy="402336"/>
          </a:xfrm>
          <a:prstGeom prst="rect">
            <a:avLst/>
          </a:prstGeom>
          <a:noFill/>
        </p:spPr>
        <p:txBody>
          <a:bodyPr wrap="square">
            <a:normAutofit/>
          </a:bodyPr>
          <a:lstStyle/>
          <a:p>
            <a:pPr algn="l"/>
            <a:r>
              <a:rPr sz="900" b="0">
                <a:solidFill>
                  <a:srgbClr val="626F75"/>
                </a:solidFill>
                <a:latin typeface="Microsoft YaHei"/>
              </a:rPr>
              <a:t>玄女的核心不是某个任务准确率，而是一个表征可以服务多少任务。</a:t>
            </a:r>
          </a:p>
        </p:txBody>
      </p:sp>
      <p:sp>
        <p:nvSpPr>
          <p:cNvPr id="20" name="TextBox 19"/>
          <p:cNvSpPr txBox="1"/>
          <p:nvPr/>
        </p:nvSpPr>
        <p:spPr>
          <a:xfrm>
            <a:off x="658368" y="6528816"/>
            <a:ext cx="5669280" cy="182880"/>
          </a:xfrm>
          <a:prstGeom prst="rect">
            <a:avLst/>
          </a:prstGeom>
          <a:noFill/>
        </p:spPr>
        <p:txBody>
          <a:bodyPr wrap="square">
            <a:normAutofit/>
          </a:bodyPr>
          <a:lstStyle/>
          <a:p>
            <a:pPr algn="l"/>
            <a:r>
              <a:rPr sz="700" b="0">
                <a:solidFill>
                  <a:srgbClr val="626F75"/>
                </a:solidFill>
                <a:latin typeface="Microsoft YaHei"/>
              </a:rPr>
              <a:t>玄女科技商业计划书 v0.3｜按 22 页内容稿重制</a:t>
            </a:r>
          </a:p>
        </p:txBody>
      </p:sp>
      <p:sp>
        <p:nvSpPr>
          <p:cNvPr id="21" name="TextBox 20"/>
          <p:cNvSpPr txBox="1"/>
          <p:nvPr/>
        </p:nvSpPr>
        <p:spPr>
          <a:xfrm>
            <a:off x="11018520" y="6510528"/>
            <a:ext cx="457200" cy="182880"/>
          </a:xfrm>
          <a:prstGeom prst="rect">
            <a:avLst/>
          </a:prstGeom>
          <a:noFill/>
        </p:spPr>
        <p:txBody>
          <a:bodyPr wrap="square">
            <a:normAutofit/>
          </a:bodyPr>
          <a:lstStyle/>
          <a:p>
            <a:pPr algn="r"/>
            <a:r>
              <a:rPr sz="800" b="0">
                <a:solidFill>
                  <a:srgbClr val="626F75"/>
                </a:solidFill>
                <a:latin typeface="Microsoft YaHe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TextBox 1"/>
          <p:cNvSpPr txBox="1"/>
          <p:nvPr/>
        </p:nvSpPr>
        <p:spPr>
          <a:xfrm>
            <a:off x="658368" y="384048"/>
            <a:ext cx="411480" cy="201168"/>
          </a:xfrm>
          <a:prstGeom prst="rect">
            <a:avLst/>
          </a:prstGeom>
          <a:noFill/>
        </p:spPr>
        <p:txBody>
          <a:bodyPr wrap="square">
            <a:normAutofit/>
          </a:bodyPr>
          <a:lstStyle/>
          <a:p>
            <a:pPr algn="l"/>
            <a:r>
              <a:rPr sz="800" b="1">
                <a:solidFill>
                  <a:srgbClr val="487967"/>
                </a:solidFill>
                <a:latin typeface="Microsoft YaHei"/>
              </a:rPr>
              <a:t>20</a:t>
            </a:r>
          </a:p>
        </p:txBody>
      </p:sp>
      <p:sp>
        <p:nvSpPr>
          <p:cNvPr id="3" name="TextBox 2"/>
          <p:cNvSpPr txBox="1"/>
          <p:nvPr/>
        </p:nvSpPr>
        <p:spPr>
          <a:xfrm>
            <a:off x="1078992" y="310896"/>
            <a:ext cx="9875520" cy="493776"/>
          </a:xfrm>
          <a:prstGeom prst="rect">
            <a:avLst/>
          </a:prstGeom>
          <a:noFill/>
        </p:spPr>
        <p:txBody>
          <a:bodyPr wrap="square">
            <a:normAutofit/>
          </a:bodyPr>
          <a:lstStyle/>
          <a:p>
            <a:pPr algn="l"/>
            <a:r>
              <a:rPr sz="2300" b="1">
                <a:solidFill>
                  <a:srgbClr val="223035"/>
                </a:solidFill>
                <a:latin typeface="Microsoft YaHei"/>
              </a:rPr>
              <a:t>为什么我们能做：多源时空地理嵌入模型架构</a:t>
            </a:r>
          </a:p>
        </p:txBody>
      </p:sp>
      <p:sp>
        <p:nvSpPr>
          <p:cNvPr id="4" name="Rounded Rectangle 3"/>
          <p:cNvSpPr/>
          <p:nvPr/>
        </p:nvSpPr>
        <p:spPr>
          <a:xfrm>
            <a:off x="914400" y="1554480"/>
            <a:ext cx="1912924"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709928"/>
            <a:ext cx="1803196" cy="164592"/>
          </a:xfrm>
          <a:prstGeom prst="rect">
            <a:avLst/>
          </a:prstGeom>
          <a:noFill/>
        </p:spPr>
        <p:txBody>
          <a:bodyPr wrap="square">
            <a:normAutofit/>
          </a:bodyPr>
          <a:lstStyle/>
          <a:p>
            <a:pPr algn="ctr"/>
            <a:r>
              <a:rPr sz="800" b="1">
                <a:solidFill>
                  <a:srgbClr val="223035"/>
                </a:solidFill>
                <a:latin typeface="Microsoft YaHei"/>
              </a:rPr>
              <a:t>多源输入</a:t>
            </a:r>
          </a:p>
        </p:txBody>
      </p:sp>
      <p:sp>
        <p:nvSpPr>
          <p:cNvPr id="6" name="TextBox 5"/>
          <p:cNvSpPr txBox="1"/>
          <p:nvPr/>
        </p:nvSpPr>
        <p:spPr>
          <a:xfrm>
            <a:off x="2845612" y="171907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7" name="Rounded Rectangle 6"/>
          <p:cNvSpPr/>
          <p:nvPr/>
        </p:nvSpPr>
        <p:spPr>
          <a:xfrm>
            <a:off x="2973628" y="1554480"/>
            <a:ext cx="1912924"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28492" y="1709928"/>
            <a:ext cx="1803196" cy="164592"/>
          </a:xfrm>
          <a:prstGeom prst="rect">
            <a:avLst/>
          </a:prstGeom>
          <a:noFill/>
        </p:spPr>
        <p:txBody>
          <a:bodyPr wrap="square">
            <a:normAutofit/>
          </a:bodyPr>
          <a:lstStyle/>
          <a:p>
            <a:pPr algn="ctr"/>
            <a:r>
              <a:rPr sz="800" b="1">
                <a:solidFill>
                  <a:srgbClr val="223035"/>
                </a:solidFill>
                <a:latin typeface="Microsoft YaHei"/>
              </a:rPr>
              <a:t>时空对齐</a:t>
            </a:r>
          </a:p>
        </p:txBody>
      </p:sp>
      <p:sp>
        <p:nvSpPr>
          <p:cNvPr id="9" name="TextBox 8"/>
          <p:cNvSpPr txBox="1"/>
          <p:nvPr/>
        </p:nvSpPr>
        <p:spPr>
          <a:xfrm>
            <a:off x="4904841" y="171907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10" name="Rounded Rectangle 9"/>
          <p:cNvSpPr/>
          <p:nvPr/>
        </p:nvSpPr>
        <p:spPr>
          <a:xfrm>
            <a:off x="5032857" y="1554480"/>
            <a:ext cx="1912924"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87721" y="1709928"/>
            <a:ext cx="1803196" cy="164592"/>
          </a:xfrm>
          <a:prstGeom prst="rect">
            <a:avLst/>
          </a:prstGeom>
          <a:noFill/>
        </p:spPr>
        <p:txBody>
          <a:bodyPr wrap="square">
            <a:normAutofit/>
          </a:bodyPr>
          <a:lstStyle/>
          <a:p>
            <a:pPr algn="ctr"/>
            <a:r>
              <a:rPr sz="800" b="1">
                <a:solidFill>
                  <a:srgbClr val="223035"/>
                </a:solidFill>
                <a:latin typeface="Microsoft YaHei"/>
              </a:rPr>
              <a:t>编码器</a:t>
            </a:r>
          </a:p>
        </p:txBody>
      </p:sp>
      <p:sp>
        <p:nvSpPr>
          <p:cNvPr id="12" name="TextBox 11"/>
          <p:cNvSpPr txBox="1"/>
          <p:nvPr/>
        </p:nvSpPr>
        <p:spPr>
          <a:xfrm>
            <a:off x="6964070" y="171907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13" name="Rounded Rectangle 12"/>
          <p:cNvSpPr/>
          <p:nvPr/>
        </p:nvSpPr>
        <p:spPr>
          <a:xfrm>
            <a:off x="7092086" y="1554480"/>
            <a:ext cx="1912924"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46950" y="1709928"/>
            <a:ext cx="1803196" cy="164592"/>
          </a:xfrm>
          <a:prstGeom prst="rect">
            <a:avLst/>
          </a:prstGeom>
          <a:noFill/>
        </p:spPr>
        <p:txBody>
          <a:bodyPr wrap="square">
            <a:normAutofit/>
          </a:bodyPr>
          <a:lstStyle/>
          <a:p>
            <a:pPr algn="ctr"/>
            <a:r>
              <a:rPr sz="800" b="1">
                <a:solidFill>
                  <a:srgbClr val="223035"/>
                </a:solidFill>
                <a:latin typeface="Microsoft YaHei"/>
              </a:rPr>
              <a:t>地理嵌入</a:t>
            </a:r>
          </a:p>
        </p:txBody>
      </p:sp>
      <p:sp>
        <p:nvSpPr>
          <p:cNvPr id="15" name="TextBox 14"/>
          <p:cNvSpPr txBox="1"/>
          <p:nvPr/>
        </p:nvSpPr>
        <p:spPr>
          <a:xfrm>
            <a:off x="9023299" y="1719072"/>
            <a:ext cx="91440" cy="164592"/>
          </a:xfrm>
          <a:prstGeom prst="rect">
            <a:avLst/>
          </a:prstGeom>
          <a:noFill/>
        </p:spPr>
        <p:txBody>
          <a:bodyPr wrap="square">
            <a:normAutofit/>
          </a:bodyPr>
          <a:lstStyle/>
          <a:p>
            <a:pPr algn="l"/>
            <a:r>
              <a:rPr sz="900" b="1">
                <a:solidFill>
                  <a:srgbClr val="626F75"/>
                </a:solidFill>
                <a:latin typeface="Microsoft YaHei"/>
              </a:rPr>
              <a:t>→</a:t>
            </a:r>
          </a:p>
        </p:txBody>
      </p:sp>
      <p:sp>
        <p:nvSpPr>
          <p:cNvPr id="16" name="Rounded Rectangle 15"/>
          <p:cNvSpPr/>
          <p:nvPr/>
        </p:nvSpPr>
        <p:spPr>
          <a:xfrm>
            <a:off x="9151315" y="1554480"/>
            <a:ext cx="1912924" cy="530352"/>
          </a:xfrm>
          <a:prstGeom prst="roundRect">
            <a:avLst/>
          </a:prstGeom>
          <a:solidFill>
            <a:srgbClr val="F6FAF8"/>
          </a:solidFill>
          <a:ln w="10160">
            <a:solidFill>
              <a:srgbClr val="84B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06179" y="1709928"/>
            <a:ext cx="1803196" cy="164592"/>
          </a:xfrm>
          <a:prstGeom prst="rect">
            <a:avLst/>
          </a:prstGeom>
          <a:noFill/>
        </p:spPr>
        <p:txBody>
          <a:bodyPr wrap="square">
            <a:normAutofit/>
          </a:bodyPr>
          <a:lstStyle/>
          <a:p>
            <a:pPr algn="ctr"/>
            <a:r>
              <a:rPr sz="800" b="1">
                <a:solidFill>
                  <a:srgbClr val="223035"/>
                </a:solidFill>
                <a:latin typeface="Microsoft YaHei"/>
              </a:rPr>
              <a:t>任务头</a:t>
            </a:r>
          </a:p>
        </p:txBody>
      </p:sp>
      <p:sp>
        <p:nvSpPr>
          <p:cNvPr id="18" name="Rounded Rectangle 17"/>
          <p:cNvSpPr/>
          <p:nvPr/>
        </p:nvSpPr>
        <p:spPr>
          <a:xfrm>
            <a:off x="749808" y="2834640"/>
            <a:ext cx="3246120" cy="1133856"/>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8" y="2834640"/>
            <a:ext cx="64008" cy="1133856"/>
          </a:xfrm>
          <a:prstGeom prst="rect">
            <a:avLst/>
          </a:prstGeom>
          <a:solidFill>
            <a:srgbClr val="84B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2980944"/>
            <a:ext cx="2898648" cy="228600"/>
          </a:xfrm>
          <a:prstGeom prst="rect">
            <a:avLst/>
          </a:prstGeom>
          <a:noFill/>
        </p:spPr>
        <p:txBody>
          <a:bodyPr wrap="square">
            <a:normAutofit/>
          </a:bodyPr>
          <a:lstStyle/>
          <a:p>
            <a:pPr algn="l"/>
            <a:r>
              <a:rPr sz="1200" b="1">
                <a:solidFill>
                  <a:srgbClr val="223035"/>
                </a:solidFill>
                <a:latin typeface="Microsoft YaHei"/>
              </a:rPr>
              <a:t>多源输入</a:t>
            </a:r>
          </a:p>
        </p:txBody>
      </p:sp>
      <p:sp>
        <p:nvSpPr>
          <p:cNvPr id="21" name="TextBox 20"/>
          <p:cNvSpPr txBox="1"/>
          <p:nvPr/>
        </p:nvSpPr>
        <p:spPr>
          <a:xfrm>
            <a:off x="950976" y="3337560"/>
            <a:ext cx="2898648" cy="530352"/>
          </a:xfrm>
          <a:prstGeom prst="rect">
            <a:avLst/>
          </a:prstGeom>
          <a:noFill/>
        </p:spPr>
        <p:txBody>
          <a:bodyPr wrap="square">
            <a:normAutofit/>
          </a:bodyPr>
          <a:lstStyle/>
          <a:p>
            <a:pPr algn="l"/>
            <a:r>
              <a:rPr sz="900" b="0">
                <a:solidFill>
                  <a:srgbClr val="626F75"/>
                </a:solidFill>
                <a:latin typeface="Microsoft YaHei"/>
              </a:rPr>
              <a:t>S2、S1、Landsat、高分光学、高分 SAR、DEM、气象。</a:t>
            </a:r>
          </a:p>
        </p:txBody>
      </p:sp>
      <p:sp>
        <p:nvSpPr>
          <p:cNvPr id="22" name="Rounded Rectangle 21"/>
          <p:cNvSpPr/>
          <p:nvPr/>
        </p:nvSpPr>
        <p:spPr>
          <a:xfrm>
            <a:off x="4453128" y="2834640"/>
            <a:ext cx="3246120" cy="1133856"/>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53128" y="2834640"/>
            <a:ext cx="64008" cy="1133856"/>
          </a:xfrm>
          <a:prstGeom prst="rect">
            <a:avLst/>
          </a:prstGeom>
          <a:solidFill>
            <a:srgbClr val="88B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54296" y="2980944"/>
            <a:ext cx="2898648" cy="228600"/>
          </a:xfrm>
          <a:prstGeom prst="rect">
            <a:avLst/>
          </a:prstGeom>
          <a:noFill/>
        </p:spPr>
        <p:txBody>
          <a:bodyPr wrap="square">
            <a:normAutofit/>
          </a:bodyPr>
          <a:lstStyle/>
          <a:p>
            <a:pPr algn="l"/>
            <a:r>
              <a:rPr sz="1200" b="1">
                <a:solidFill>
                  <a:srgbClr val="223035"/>
                </a:solidFill>
                <a:latin typeface="Microsoft YaHei"/>
              </a:rPr>
              <a:t>稳定表征</a:t>
            </a:r>
          </a:p>
        </p:txBody>
      </p:sp>
      <p:sp>
        <p:nvSpPr>
          <p:cNvPr id="25" name="TextBox 24"/>
          <p:cNvSpPr txBox="1"/>
          <p:nvPr/>
        </p:nvSpPr>
        <p:spPr>
          <a:xfrm>
            <a:off x="4654296" y="3337560"/>
            <a:ext cx="2898648" cy="530352"/>
          </a:xfrm>
          <a:prstGeom prst="rect">
            <a:avLst/>
          </a:prstGeom>
          <a:noFill/>
        </p:spPr>
        <p:txBody>
          <a:bodyPr wrap="square">
            <a:normAutofit/>
          </a:bodyPr>
          <a:lstStyle/>
          <a:p>
            <a:pPr algn="l"/>
            <a:r>
              <a:rPr sz="900" b="0">
                <a:solidFill>
                  <a:srgbClr val="626F75"/>
                </a:solidFill>
                <a:latin typeface="Microsoft YaHei"/>
              </a:rPr>
              <a:t>学习同一地点在不同时间、传感器下的地物表示。</a:t>
            </a:r>
          </a:p>
        </p:txBody>
      </p:sp>
      <p:sp>
        <p:nvSpPr>
          <p:cNvPr id="26" name="Rounded Rectangle 25"/>
          <p:cNvSpPr/>
          <p:nvPr/>
        </p:nvSpPr>
        <p:spPr>
          <a:xfrm>
            <a:off x="8156448" y="2834640"/>
            <a:ext cx="3246120" cy="1133856"/>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56448" y="2834640"/>
            <a:ext cx="64008" cy="1133856"/>
          </a:xfrm>
          <a:prstGeom prst="rect">
            <a:avLst/>
          </a:prstGeom>
          <a:solidFill>
            <a:srgbClr val="B4A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57616" y="2980944"/>
            <a:ext cx="2898648" cy="228600"/>
          </a:xfrm>
          <a:prstGeom prst="rect">
            <a:avLst/>
          </a:prstGeom>
          <a:noFill/>
        </p:spPr>
        <p:txBody>
          <a:bodyPr wrap="square">
            <a:normAutofit/>
          </a:bodyPr>
          <a:lstStyle/>
          <a:p>
            <a:pPr algn="l"/>
            <a:r>
              <a:rPr sz="1200" b="1">
                <a:solidFill>
                  <a:srgbClr val="223035"/>
                </a:solidFill>
                <a:latin typeface="Microsoft YaHei"/>
              </a:rPr>
              <a:t>下游适配</a:t>
            </a:r>
          </a:p>
        </p:txBody>
      </p:sp>
      <p:sp>
        <p:nvSpPr>
          <p:cNvPr id="29" name="TextBox 28"/>
          <p:cNvSpPr txBox="1"/>
          <p:nvPr/>
        </p:nvSpPr>
        <p:spPr>
          <a:xfrm>
            <a:off x="8357616" y="3337560"/>
            <a:ext cx="2898648" cy="530352"/>
          </a:xfrm>
          <a:prstGeom prst="rect">
            <a:avLst/>
          </a:prstGeom>
          <a:noFill/>
        </p:spPr>
        <p:txBody>
          <a:bodyPr wrap="square">
            <a:normAutofit/>
          </a:bodyPr>
          <a:lstStyle/>
          <a:p>
            <a:pPr algn="l"/>
            <a:r>
              <a:rPr sz="900" b="0">
                <a:solidFill>
                  <a:srgbClr val="626F75"/>
                </a:solidFill>
                <a:latin typeface="Microsoft YaHei"/>
              </a:rPr>
              <a:t>支持重建、补齐、变化检测、分类、分割。</a:t>
            </a:r>
          </a:p>
        </p:txBody>
      </p:sp>
      <p:sp>
        <p:nvSpPr>
          <p:cNvPr id="30" name="TextBox 29"/>
          <p:cNvSpPr txBox="1"/>
          <p:nvPr/>
        </p:nvSpPr>
        <p:spPr>
          <a:xfrm>
            <a:off x="914400" y="5440680"/>
            <a:ext cx="10241280" cy="365760"/>
          </a:xfrm>
          <a:prstGeom prst="rect">
            <a:avLst/>
          </a:prstGeom>
          <a:noFill/>
        </p:spPr>
        <p:txBody>
          <a:bodyPr wrap="square">
            <a:normAutofit/>
          </a:bodyPr>
          <a:lstStyle/>
          <a:p>
            <a:pPr algn="ctr"/>
            <a:r>
              <a:rPr sz="1700" b="1">
                <a:solidFill>
                  <a:srgbClr val="487967"/>
                </a:solidFill>
                <a:latin typeface="Microsoft YaHei"/>
              </a:rPr>
              <a:t>我们不是把多源影像简单拼接，而是让模型学习同一地点在不同时间、不同传感器下的稳定表征。</a:t>
            </a:r>
          </a:p>
        </p:txBody>
      </p:sp>
      <p:sp>
        <p:nvSpPr>
          <p:cNvPr id="31" name="TextBox 30"/>
          <p:cNvSpPr txBox="1"/>
          <p:nvPr/>
        </p:nvSpPr>
        <p:spPr>
          <a:xfrm>
            <a:off x="658368" y="6528816"/>
            <a:ext cx="5669280" cy="182880"/>
          </a:xfrm>
          <a:prstGeom prst="rect">
            <a:avLst/>
          </a:prstGeom>
          <a:noFill/>
        </p:spPr>
        <p:txBody>
          <a:bodyPr wrap="square">
            <a:normAutofit/>
          </a:bodyPr>
          <a:lstStyle/>
          <a:p>
            <a:pPr algn="l"/>
            <a:r>
              <a:rPr sz="700" b="0">
                <a:solidFill>
                  <a:srgbClr val="626F75"/>
                </a:solidFill>
                <a:latin typeface="Microsoft YaHei"/>
              </a:rPr>
              <a:t>玄女科技商业计划书 v0.3｜按 22 页内容稿重制</a:t>
            </a:r>
          </a:p>
        </p:txBody>
      </p:sp>
      <p:sp>
        <p:nvSpPr>
          <p:cNvPr id="32" name="TextBox 31"/>
          <p:cNvSpPr txBox="1"/>
          <p:nvPr/>
        </p:nvSpPr>
        <p:spPr>
          <a:xfrm>
            <a:off x="11018520" y="6510528"/>
            <a:ext cx="457200" cy="182880"/>
          </a:xfrm>
          <a:prstGeom prst="rect">
            <a:avLst/>
          </a:prstGeom>
          <a:noFill/>
        </p:spPr>
        <p:txBody>
          <a:bodyPr wrap="square">
            <a:normAutofit/>
          </a:bodyPr>
          <a:lstStyle/>
          <a:p>
            <a:pPr algn="r"/>
            <a:r>
              <a:rPr sz="800" b="0">
                <a:solidFill>
                  <a:srgbClr val="626F75"/>
                </a:solidFill>
                <a:latin typeface="Microsoft YaHe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TextBox 1"/>
          <p:cNvSpPr txBox="1"/>
          <p:nvPr/>
        </p:nvSpPr>
        <p:spPr>
          <a:xfrm>
            <a:off x="658368" y="384048"/>
            <a:ext cx="411480" cy="201168"/>
          </a:xfrm>
          <a:prstGeom prst="rect">
            <a:avLst/>
          </a:prstGeom>
          <a:noFill/>
        </p:spPr>
        <p:txBody>
          <a:bodyPr wrap="square">
            <a:normAutofit/>
          </a:bodyPr>
          <a:lstStyle/>
          <a:p>
            <a:pPr algn="l"/>
            <a:r>
              <a:rPr sz="800" b="1">
                <a:solidFill>
                  <a:srgbClr val="487967"/>
                </a:solidFill>
                <a:latin typeface="Microsoft YaHei"/>
              </a:rPr>
              <a:t>21</a:t>
            </a:r>
          </a:p>
        </p:txBody>
      </p:sp>
      <p:sp>
        <p:nvSpPr>
          <p:cNvPr id="3" name="TextBox 2"/>
          <p:cNvSpPr txBox="1"/>
          <p:nvPr/>
        </p:nvSpPr>
        <p:spPr>
          <a:xfrm>
            <a:off x="1078992" y="310896"/>
            <a:ext cx="9875520" cy="493776"/>
          </a:xfrm>
          <a:prstGeom prst="rect">
            <a:avLst/>
          </a:prstGeom>
          <a:noFill/>
        </p:spPr>
        <p:txBody>
          <a:bodyPr wrap="square">
            <a:normAutofit/>
          </a:bodyPr>
          <a:lstStyle/>
          <a:p>
            <a:pPr algn="l"/>
            <a:r>
              <a:rPr sz="2300" b="1">
                <a:solidFill>
                  <a:srgbClr val="223035"/>
                </a:solidFill>
                <a:latin typeface="Microsoft YaHei"/>
              </a:rPr>
              <a:t>商业模式：先用标杆项目拿信任，再用底座和任务库拿复用收入</a:t>
            </a:r>
          </a:p>
        </p:txBody>
      </p:sp>
      <p:sp>
        <p:nvSpPr>
          <p:cNvPr id="4" name="Rounded Rectangle 3"/>
          <p:cNvSpPr/>
          <p:nvPr/>
        </p:nvSpPr>
        <p:spPr>
          <a:xfrm>
            <a:off x="822960" y="1508760"/>
            <a:ext cx="3291840" cy="128016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508760"/>
            <a:ext cx="64008" cy="1280160"/>
          </a:xfrm>
          <a:prstGeom prst="rect">
            <a:avLst/>
          </a:prstGeom>
          <a:solidFill>
            <a:srgbClr val="84B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655063"/>
            <a:ext cx="2944368" cy="228600"/>
          </a:xfrm>
          <a:prstGeom prst="rect">
            <a:avLst/>
          </a:prstGeom>
          <a:noFill/>
        </p:spPr>
        <p:txBody>
          <a:bodyPr wrap="square">
            <a:normAutofit/>
          </a:bodyPr>
          <a:lstStyle/>
          <a:p>
            <a:pPr algn="l"/>
            <a:r>
              <a:rPr sz="1200" b="1">
                <a:solidFill>
                  <a:srgbClr val="223035"/>
                </a:solidFill>
                <a:latin typeface="Microsoft YaHei"/>
              </a:rPr>
              <a:t>近期</a:t>
            </a:r>
          </a:p>
        </p:txBody>
      </p:sp>
      <p:sp>
        <p:nvSpPr>
          <p:cNvPr id="7" name="TextBox 6"/>
          <p:cNvSpPr txBox="1"/>
          <p:nvPr/>
        </p:nvSpPr>
        <p:spPr>
          <a:xfrm>
            <a:off x="1024128" y="2011680"/>
            <a:ext cx="2944368" cy="676655"/>
          </a:xfrm>
          <a:prstGeom prst="rect">
            <a:avLst/>
          </a:prstGeom>
          <a:noFill/>
        </p:spPr>
        <p:txBody>
          <a:bodyPr wrap="square">
            <a:normAutofit/>
          </a:bodyPr>
          <a:lstStyle/>
          <a:p>
            <a:pPr algn="l"/>
            <a:r>
              <a:rPr sz="900" b="0">
                <a:solidFill>
                  <a:srgbClr val="626F75"/>
                </a:solidFill>
                <a:latin typeface="Microsoft YaHei"/>
              </a:rPr>
              <a:t>标杆项目交付：哈尔滨新区、海淀、雅江；政府/园区/重大工程年度监测。</a:t>
            </a:r>
          </a:p>
        </p:txBody>
      </p:sp>
      <p:sp>
        <p:nvSpPr>
          <p:cNvPr id="8" name="Rounded Rectangle 7"/>
          <p:cNvSpPr/>
          <p:nvPr/>
        </p:nvSpPr>
        <p:spPr>
          <a:xfrm>
            <a:off x="4480560" y="1508760"/>
            <a:ext cx="3291840" cy="128016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80560" y="1508760"/>
            <a:ext cx="64008" cy="1280160"/>
          </a:xfrm>
          <a:prstGeom prst="rect">
            <a:avLst/>
          </a:prstGeom>
          <a:solidFill>
            <a:srgbClr val="88B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81728" y="1655063"/>
            <a:ext cx="2944368" cy="228600"/>
          </a:xfrm>
          <a:prstGeom prst="rect">
            <a:avLst/>
          </a:prstGeom>
          <a:noFill/>
        </p:spPr>
        <p:txBody>
          <a:bodyPr wrap="square">
            <a:normAutofit/>
          </a:bodyPr>
          <a:lstStyle/>
          <a:p>
            <a:pPr algn="l"/>
            <a:r>
              <a:rPr sz="1200" b="1">
                <a:solidFill>
                  <a:srgbClr val="223035"/>
                </a:solidFill>
                <a:latin typeface="Microsoft YaHei"/>
              </a:rPr>
              <a:t>中期</a:t>
            </a:r>
          </a:p>
        </p:txBody>
      </p:sp>
      <p:sp>
        <p:nvSpPr>
          <p:cNvPr id="11" name="TextBox 10"/>
          <p:cNvSpPr txBox="1"/>
          <p:nvPr/>
        </p:nvSpPr>
        <p:spPr>
          <a:xfrm>
            <a:off x="4681728" y="2011680"/>
            <a:ext cx="2944368" cy="676655"/>
          </a:xfrm>
          <a:prstGeom prst="rect">
            <a:avLst/>
          </a:prstGeom>
          <a:noFill/>
        </p:spPr>
        <p:txBody>
          <a:bodyPr wrap="square">
            <a:normAutofit/>
          </a:bodyPr>
          <a:lstStyle/>
          <a:p>
            <a:pPr algn="l"/>
            <a:r>
              <a:rPr sz="900" b="0">
                <a:solidFill>
                  <a:srgbClr val="626F75"/>
                </a:solidFill>
                <a:latin typeface="Microsoft YaHei"/>
              </a:rPr>
              <a:t>城市级地理嵌入底座订阅；多任务组件库授权；接口调用；私有化部署。</a:t>
            </a:r>
          </a:p>
        </p:txBody>
      </p:sp>
      <p:sp>
        <p:nvSpPr>
          <p:cNvPr id="12" name="Rounded Rectangle 11"/>
          <p:cNvSpPr/>
          <p:nvPr/>
        </p:nvSpPr>
        <p:spPr>
          <a:xfrm>
            <a:off x="8138160" y="1508760"/>
            <a:ext cx="3291840" cy="1280160"/>
          </a:xfrm>
          <a:prstGeom prst="round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38160" y="1508760"/>
            <a:ext cx="64008" cy="1280160"/>
          </a:xfrm>
          <a:prstGeom prst="rect">
            <a:avLst/>
          </a:prstGeom>
          <a:solidFill>
            <a:srgbClr val="B4AB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9328" y="1655063"/>
            <a:ext cx="2944368" cy="228600"/>
          </a:xfrm>
          <a:prstGeom prst="rect">
            <a:avLst/>
          </a:prstGeom>
          <a:noFill/>
        </p:spPr>
        <p:txBody>
          <a:bodyPr wrap="square">
            <a:normAutofit/>
          </a:bodyPr>
          <a:lstStyle/>
          <a:p>
            <a:pPr algn="l"/>
            <a:r>
              <a:rPr sz="1200" b="1">
                <a:solidFill>
                  <a:srgbClr val="223035"/>
                </a:solidFill>
                <a:latin typeface="Microsoft YaHei"/>
              </a:rPr>
              <a:t>长期</a:t>
            </a:r>
          </a:p>
        </p:txBody>
      </p:sp>
      <p:sp>
        <p:nvSpPr>
          <p:cNvPr id="15" name="TextBox 14"/>
          <p:cNvSpPr txBox="1"/>
          <p:nvPr/>
        </p:nvSpPr>
        <p:spPr>
          <a:xfrm>
            <a:off x="8339328" y="2011680"/>
            <a:ext cx="2944368" cy="676655"/>
          </a:xfrm>
          <a:prstGeom prst="rect">
            <a:avLst/>
          </a:prstGeom>
          <a:noFill/>
        </p:spPr>
        <p:txBody>
          <a:bodyPr wrap="square">
            <a:normAutofit/>
          </a:bodyPr>
          <a:lstStyle/>
          <a:p>
            <a:pPr algn="l"/>
            <a:r>
              <a:rPr sz="900" b="0">
                <a:solidFill>
                  <a:srgbClr val="626F75"/>
                </a:solidFill>
                <a:latin typeface="Microsoft YaHei"/>
              </a:rPr>
              <a:t>数据方接入和分成；学校/开发者生态；地理智能应用市场。</a:t>
            </a:r>
          </a:p>
        </p:txBody>
      </p:sp>
      <p:sp>
        <p:nvSpPr>
          <p:cNvPr id="16" name="TextBox 15"/>
          <p:cNvSpPr txBox="1"/>
          <p:nvPr/>
        </p:nvSpPr>
        <p:spPr>
          <a:xfrm>
            <a:off x="914400" y="4251960"/>
            <a:ext cx="10241280" cy="411480"/>
          </a:xfrm>
          <a:prstGeom prst="rect">
            <a:avLst/>
          </a:prstGeom>
          <a:noFill/>
        </p:spPr>
        <p:txBody>
          <a:bodyPr wrap="square">
            <a:normAutofit/>
          </a:bodyPr>
          <a:lstStyle/>
          <a:p>
            <a:pPr algn="ctr"/>
            <a:r>
              <a:rPr sz="2400" b="1">
                <a:solidFill>
                  <a:srgbClr val="223035"/>
                </a:solidFill>
                <a:latin typeface="Microsoft YaHei"/>
              </a:rPr>
              <a:t>政府合同是压舱石，B 端授权是现金流，接口和生态是放大器。</a:t>
            </a:r>
          </a:p>
        </p:txBody>
      </p:sp>
      <p:sp>
        <p:nvSpPr>
          <p:cNvPr id="17" name="TextBox 16"/>
          <p:cNvSpPr txBox="1"/>
          <p:nvPr/>
        </p:nvSpPr>
        <p:spPr>
          <a:xfrm>
            <a:off x="658368" y="6528816"/>
            <a:ext cx="5669280" cy="182880"/>
          </a:xfrm>
          <a:prstGeom prst="rect">
            <a:avLst/>
          </a:prstGeom>
          <a:noFill/>
        </p:spPr>
        <p:txBody>
          <a:bodyPr wrap="square">
            <a:normAutofit/>
          </a:bodyPr>
          <a:lstStyle/>
          <a:p>
            <a:pPr algn="l"/>
            <a:r>
              <a:rPr sz="700" b="0">
                <a:solidFill>
                  <a:srgbClr val="626F75"/>
                </a:solidFill>
                <a:latin typeface="Microsoft YaHei"/>
              </a:rPr>
              <a:t>玄女科技商业计划书 v0.3｜按 22 页内容稿重制</a:t>
            </a:r>
          </a:p>
        </p:txBody>
      </p:sp>
      <p:sp>
        <p:nvSpPr>
          <p:cNvPr id="18" name="TextBox 17"/>
          <p:cNvSpPr txBox="1"/>
          <p:nvPr/>
        </p:nvSpPr>
        <p:spPr>
          <a:xfrm>
            <a:off x="11018520" y="6510528"/>
            <a:ext cx="457200" cy="182880"/>
          </a:xfrm>
          <a:prstGeom prst="rect">
            <a:avLst/>
          </a:prstGeom>
          <a:noFill/>
        </p:spPr>
        <p:txBody>
          <a:bodyPr wrap="square">
            <a:normAutofit/>
          </a:bodyPr>
          <a:lstStyle/>
          <a:p>
            <a:pPr algn="r"/>
            <a:r>
              <a:rPr sz="800" b="0">
                <a:solidFill>
                  <a:srgbClr val="626F75"/>
                </a:solidFill>
                <a:latin typeface="Microsoft YaHe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TextBox 1"/>
          <p:cNvSpPr txBox="1"/>
          <p:nvPr/>
        </p:nvSpPr>
        <p:spPr>
          <a:xfrm>
            <a:off x="658368" y="384048"/>
            <a:ext cx="411480" cy="201168"/>
          </a:xfrm>
          <a:prstGeom prst="rect">
            <a:avLst/>
          </a:prstGeom>
          <a:noFill/>
        </p:spPr>
        <p:txBody>
          <a:bodyPr wrap="square">
            <a:normAutofit/>
          </a:bodyPr>
          <a:lstStyle/>
          <a:p>
            <a:pPr algn="l"/>
            <a:r>
              <a:rPr sz="800" b="1">
                <a:solidFill>
                  <a:srgbClr val="487967"/>
                </a:solidFill>
                <a:latin typeface="Microsoft YaHei"/>
              </a:rPr>
              <a:t>22</a:t>
            </a:r>
          </a:p>
        </p:txBody>
      </p:sp>
      <p:sp>
        <p:nvSpPr>
          <p:cNvPr id="3" name="TextBox 2"/>
          <p:cNvSpPr txBox="1"/>
          <p:nvPr/>
        </p:nvSpPr>
        <p:spPr>
          <a:xfrm>
            <a:off x="1078992" y="310896"/>
            <a:ext cx="9875520" cy="493776"/>
          </a:xfrm>
          <a:prstGeom prst="rect">
            <a:avLst/>
          </a:prstGeom>
          <a:noFill/>
        </p:spPr>
        <p:txBody>
          <a:bodyPr wrap="square">
            <a:normAutofit/>
          </a:bodyPr>
          <a:lstStyle/>
          <a:p>
            <a:pPr algn="l"/>
            <a:r>
              <a:rPr sz="2300" b="1">
                <a:solidFill>
                  <a:srgbClr val="223035"/>
                </a:solidFill>
                <a:latin typeface="Microsoft YaHei"/>
              </a:rPr>
              <a:t>融资 5000 万：把技术样板推成商业样板</a:t>
            </a:r>
          </a:p>
        </p:txBody>
      </p:sp>
      <p:sp>
        <p:nvSpPr>
          <p:cNvPr id="4" name="Rounded Rectangle 3"/>
          <p:cNvSpPr/>
          <p:nvPr/>
        </p:nvSpPr>
        <p:spPr>
          <a:xfrm>
            <a:off x="868680" y="1417320"/>
            <a:ext cx="2926080" cy="841248"/>
          </a:xfrm>
          <a:prstGeom prst="roundRect">
            <a:avLst/>
          </a:prstGeom>
          <a:solidFill>
            <a:srgbClr val="FDFDFA"/>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39" y="1527048"/>
            <a:ext cx="2651760" cy="274320"/>
          </a:xfrm>
          <a:prstGeom prst="rect">
            <a:avLst/>
          </a:prstGeom>
          <a:noFill/>
        </p:spPr>
        <p:txBody>
          <a:bodyPr wrap="square">
            <a:normAutofit/>
          </a:bodyPr>
          <a:lstStyle/>
          <a:p>
            <a:pPr algn="l"/>
            <a:r>
              <a:rPr sz="1800" b="1">
                <a:solidFill>
                  <a:srgbClr val="84B5A0"/>
                </a:solidFill>
                <a:latin typeface="Microsoft YaHei"/>
              </a:rPr>
              <a:t>5000 万</a:t>
            </a:r>
          </a:p>
        </p:txBody>
      </p:sp>
      <p:sp>
        <p:nvSpPr>
          <p:cNvPr id="6" name="TextBox 5"/>
          <p:cNvSpPr txBox="1"/>
          <p:nvPr/>
        </p:nvSpPr>
        <p:spPr>
          <a:xfrm>
            <a:off x="1005839" y="1911095"/>
            <a:ext cx="2651760" cy="201168"/>
          </a:xfrm>
          <a:prstGeom prst="rect">
            <a:avLst/>
          </a:prstGeom>
          <a:noFill/>
        </p:spPr>
        <p:txBody>
          <a:bodyPr wrap="square">
            <a:normAutofit/>
          </a:bodyPr>
          <a:lstStyle/>
          <a:p>
            <a:pPr algn="l"/>
            <a:r>
              <a:rPr sz="800" b="0">
                <a:solidFill>
                  <a:srgbClr val="626F75"/>
                </a:solidFill>
                <a:latin typeface="Microsoft YaHei"/>
              </a:rPr>
              <a:t>融资金额</a:t>
            </a:r>
          </a:p>
        </p:txBody>
      </p:sp>
      <p:sp>
        <p:nvSpPr>
          <p:cNvPr id="7" name="Rounded Rectangle 6"/>
          <p:cNvSpPr/>
          <p:nvPr/>
        </p:nvSpPr>
        <p:spPr>
          <a:xfrm>
            <a:off x="4617720" y="1417320"/>
            <a:ext cx="2926080" cy="841248"/>
          </a:xfrm>
          <a:prstGeom prst="roundRect">
            <a:avLst/>
          </a:prstGeom>
          <a:solidFill>
            <a:srgbClr val="FDFDFA"/>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0" y="1527048"/>
            <a:ext cx="2651760" cy="274320"/>
          </a:xfrm>
          <a:prstGeom prst="rect">
            <a:avLst/>
          </a:prstGeom>
          <a:noFill/>
        </p:spPr>
        <p:txBody>
          <a:bodyPr wrap="square">
            <a:normAutofit/>
          </a:bodyPr>
          <a:lstStyle/>
          <a:p>
            <a:pPr algn="l"/>
            <a:r>
              <a:rPr sz="1800" b="1">
                <a:solidFill>
                  <a:srgbClr val="88B5CD"/>
                </a:solidFill>
                <a:latin typeface="Microsoft YaHei"/>
              </a:rPr>
              <a:t>18 个月</a:t>
            </a:r>
          </a:p>
        </p:txBody>
      </p:sp>
      <p:sp>
        <p:nvSpPr>
          <p:cNvPr id="9" name="TextBox 8"/>
          <p:cNvSpPr txBox="1"/>
          <p:nvPr/>
        </p:nvSpPr>
        <p:spPr>
          <a:xfrm>
            <a:off x="4754880" y="1911095"/>
            <a:ext cx="2651760" cy="201168"/>
          </a:xfrm>
          <a:prstGeom prst="rect">
            <a:avLst/>
          </a:prstGeom>
          <a:noFill/>
        </p:spPr>
        <p:txBody>
          <a:bodyPr wrap="square">
            <a:normAutofit/>
          </a:bodyPr>
          <a:lstStyle/>
          <a:p>
            <a:pPr algn="l"/>
            <a:r>
              <a:rPr sz="800" b="0">
                <a:solidFill>
                  <a:srgbClr val="626F75"/>
                </a:solidFill>
                <a:latin typeface="Microsoft YaHei"/>
              </a:rPr>
              <a:t>样板和商业化周期</a:t>
            </a:r>
          </a:p>
        </p:txBody>
      </p:sp>
      <p:sp>
        <p:nvSpPr>
          <p:cNvPr id="10" name="Rounded Rectangle 9"/>
          <p:cNvSpPr/>
          <p:nvPr/>
        </p:nvSpPr>
        <p:spPr>
          <a:xfrm>
            <a:off x="8366760" y="1417320"/>
            <a:ext cx="2926080" cy="841248"/>
          </a:xfrm>
          <a:prstGeom prst="roundRect">
            <a:avLst/>
          </a:prstGeom>
          <a:solidFill>
            <a:srgbClr val="FDFDFA"/>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0" y="1527048"/>
            <a:ext cx="2651760" cy="274320"/>
          </a:xfrm>
          <a:prstGeom prst="rect">
            <a:avLst/>
          </a:prstGeom>
          <a:noFill/>
        </p:spPr>
        <p:txBody>
          <a:bodyPr wrap="square">
            <a:normAutofit/>
          </a:bodyPr>
          <a:lstStyle/>
          <a:p>
            <a:pPr algn="l"/>
            <a:r>
              <a:rPr sz="1800" b="1">
                <a:solidFill>
                  <a:srgbClr val="B4ABD2"/>
                </a:solidFill>
                <a:latin typeface="Microsoft YaHei"/>
              </a:rPr>
              <a:t>5-8 个</a:t>
            </a:r>
          </a:p>
        </p:txBody>
      </p:sp>
      <p:sp>
        <p:nvSpPr>
          <p:cNvPr id="12" name="TextBox 11"/>
          <p:cNvSpPr txBox="1"/>
          <p:nvPr/>
        </p:nvSpPr>
        <p:spPr>
          <a:xfrm>
            <a:off x="8503920" y="1911095"/>
            <a:ext cx="2651760" cy="201168"/>
          </a:xfrm>
          <a:prstGeom prst="rect">
            <a:avLst/>
          </a:prstGeom>
          <a:noFill/>
        </p:spPr>
        <p:txBody>
          <a:bodyPr wrap="square">
            <a:normAutofit/>
          </a:bodyPr>
          <a:lstStyle/>
          <a:p>
            <a:pPr algn="l"/>
            <a:r>
              <a:rPr sz="800" b="0">
                <a:solidFill>
                  <a:srgbClr val="626F75"/>
                </a:solidFill>
                <a:latin typeface="Microsoft YaHei"/>
              </a:rPr>
              <a:t>可复用下游任务</a:t>
            </a:r>
          </a:p>
        </p:txBody>
      </p:sp>
      <p:sp>
        <p:nvSpPr>
          <p:cNvPr id="13" name="Rectangle 12"/>
          <p:cNvSpPr/>
          <p:nvPr/>
        </p:nvSpPr>
        <p:spPr>
          <a:xfrm>
            <a:off x="1463040" y="2834640"/>
            <a:ext cx="8778240" cy="429768"/>
          </a:xfrm>
          <a:prstGeom prst="rect">
            <a:avLst/>
          </a:prstGeom>
          <a:solidFill>
            <a:srgbClr val="F2F9F5"/>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17904" y="2926080"/>
            <a:ext cx="2834640" cy="310896"/>
          </a:xfrm>
          <a:prstGeom prst="rect">
            <a:avLst/>
          </a:prstGeom>
          <a:noFill/>
        </p:spPr>
        <p:txBody>
          <a:bodyPr wrap="square">
            <a:normAutofit/>
          </a:bodyPr>
          <a:lstStyle/>
          <a:p>
            <a:pPr algn="l"/>
            <a:r>
              <a:rPr sz="800" b="1">
                <a:solidFill>
                  <a:srgbClr val="223035"/>
                </a:solidFill>
                <a:latin typeface="Microsoft YaHei"/>
              </a:rPr>
              <a:t>里程碑</a:t>
            </a:r>
          </a:p>
        </p:txBody>
      </p:sp>
      <p:sp>
        <p:nvSpPr>
          <p:cNvPr id="15" name="TextBox 14"/>
          <p:cNvSpPr txBox="1"/>
          <p:nvPr/>
        </p:nvSpPr>
        <p:spPr>
          <a:xfrm>
            <a:off x="4443984" y="2926080"/>
            <a:ext cx="5760720" cy="310896"/>
          </a:xfrm>
          <a:prstGeom prst="rect">
            <a:avLst/>
          </a:prstGeom>
          <a:noFill/>
        </p:spPr>
        <p:txBody>
          <a:bodyPr wrap="square">
            <a:normAutofit/>
          </a:bodyPr>
          <a:lstStyle/>
          <a:p>
            <a:pPr algn="l"/>
            <a:r>
              <a:rPr sz="800" b="1">
                <a:solidFill>
                  <a:srgbClr val="223035"/>
                </a:solidFill>
                <a:latin typeface="Microsoft YaHei"/>
              </a:rPr>
              <a:t>目标</a:t>
            </a:r>
          </a:p>
        </p:txBody>
      </p:sp>
      <p:sp>
        <p:nvSpPr>
          <p:cNvPr id="16" name="Rectangle 15"/>
          <p:cNvSpPr/>
          <p:nvPr/>
        </p:nvSpPr>
        <p:spPr>
          <a:xfrm>
            <a:off x="1463040" y="3291840"/>
            <a:ext cx="8778240" cy="429768"/>
          </a:xfrm>
          <a:prstGeom prst="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17904" y="3383280"/>
            <a:ext cx="2834640" cy="310896"/>
          </a:xfrm>
          <a:prstGeom prst="rect">
            <a:avLst/>
          </a:prstGeom>
          <a:noFill/>
        </p:spPr>
        <p:txBody>
          <a:bodyPr wrap="square">
            <a:normAutofit/>
          </a:bodyPr>
          <a:lstStyle/>
          <a:p>
            <a:pPr algn="l"/>
            <a:r>
              <a:rPr sz="800" b="1">
                <a:solidFill>
                  <a:srgbClr val="626F75"/>
                </a:solidFill>
                <a:latin typeface="Microsoft YaHei"/>
              </a:rPr>
              <a:t>城市级样板</a:t>
            </a:r>
          </a:p>
        </p:txBody>
      </p:sp>
      <p:sp>
        <p:nvSpPr>
          <p:cNvPr id="18" name="TextBox 17"/>
          <p:cNvSpPr txBox="1"/>
          <p:nvPr/>
        </p:nvSpPr>
        <p:spPr>
          <a:xfrm>
            <a:off x="4443984" y="3383280"/>
            <a:ext cx="5760720" cy="310896"/>
          </a:xfrm>
          <a:prstGeom prst="rect">
            <a:avLst/>
          </a:prstGeom>
          <a:noFill/>
        </p:spPr>
        <p:txBody>
          <a:bodyPr wrap="square">
            <a:normAutofit/>
          </a:bodyPr>
          <a:lstStyle/>
          <a:p>
            <a:pPr algn="l"/>
            <a:r>
              <a:rPr sz="800" b="0">
                <a:solidFill>
                  <a:srgbClr val="626F75"/>
                </a:solidFill>
                <a:latin typeface="Microsoft YaHei"/>
              </a:rPr>
              <a:t>哈尔滨新区多任务连续监测</a:t>
            </a:r>
          </a:p>
        </p:txBody>
      </p:sp>
      <p:sp>
        <p:nvSpPr>
          <p:cNvPr id="19" name="Rectangle 18"/>
          <p:cNvSpPr/>
          <p:nvPr/>
        </p:nvSpPr>
        <p:spPr>
          <a:xfrm>
            <a:off x="1463040" y="3749039"/>
            <a:ext cx="8778240" cy="429768"/>
          </a:xfrm>
          <a:prstGeom prst="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17904" y="3840479"/>
            <a:ext cx="2834640" cy="310896"/>
          </a:xfrm>
          <a:prstGeom prst="rect">
            <a:avLst/>
          </a:prstGeom>
          <a:noFill/>
        </p:spPr>
        <p:txBody>
          <a:bodyPr wrap="square">
            <a:normAutofit/>
          </a:bodyPr>
          <a:lstStyle/>
          <a:p>
            <a:pPr algn="l"/>
            <a:r>
              <a:rPr sz="800" b="1">
                <a:solidFill>
                  <a:srgbClr val="626F75"/>
                </a:solidFill>
                <a:latin typeface="Microsoft YaHei"/>
              </a:rPr>
              <a:t>补充场景</a:t>
            </a:r>
          </a:p>
        </p:txBody>
      </p:sp>
      <p:sp>
        <p:nvSpPr>
          <p:cNvPr id="21" name="TextBox 20"/>
          <p:cNvSpPr txBox="1"/>
          <p:nvPr/>
        </p:nvSpPr>
        <p:spPr>
          <a:xfrm>
            <a:off x="4443984" y="3840479"/>
            <a:ext cx="5760720" cy="310896"/>
          </a:xfrm>
          <a:prstGeom prst="rect">
            <a:avLst/>
          </a:prstGeom>
          <a:noFill/>
        </p:spPr>
        <p:txBody>
          <a:bodyPr wrap="square">
            <a:normAutofit/>
          </a:bodyPr>
          <a:lstStyle/>
          <a:p>
            <a:pPr algn="l"/>
            <a:r>
              <a:rPr sz="800" b="0">
                <a:solidFill>
                  <a:srgbClr val="626F75"/>
                </a:solidFill>
                <a:latin typeface="Microsoft YaHei"/>
              </a:rPr>
              <a:t>海淀复杂城市 / 雅江复杂地形</a:t>
            </a:r>
          </a:p>
        </p:txBody>
      </p:sp>
      <p:sp>
        <p:nvSpPr>
          <p:cNvPr id="22" name="Rectangle 21"/>
          <p:cNvSpPr/>
          <p:nvPr/>
        </p:nvSpPr>
        <p:spPr>
          <a:xfrm>
            <a:off x="1463040" y="4206240"/>
            <a:ext cx="8778240" cy="429768"/>
          </a:xfrm>
          <a:prstGeom prst="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17904" y="4297679"/>
            <a:ext cx="2834640" cy="310896"/>
          </a:xfrm>
          <a:prstGeom prst="rect">
            <a:avLst/>
          </a:prstGeom>
          <a:noFill/>
        </p:spPr>
        <p:txBody>
          <a:bodyPr wrap="square">
            <a:normAutofit/>
          </a:bodyPr>
          <a:lstStyle/>
          <a:p>
            <a:pPr algn="l"/>
            <a:r>
              <a:rPr sz="800" b="1">
                <a:solidFill>
                  <a:srgbClr val="626F75"/>
                </a:solidFill>
                <a:latin typeface="Microsoft YaHei"/>
              </a:rPr>
              <a:t>商业结果</a:t>
            </a:r>
          </a:p>
        </p:txBody>
      </p:sp>
      <p:sp>
        <p:nvSpPr>
          <p:cNvPr id="24" name="TextBox 23"/>
          <p:cNvSpPr txBox="1"/>
          <p:nvPr/>
        </p:nvSpPr>
        <p:spPr>
          <a:xfrm>
            <a:off x="4443984" y="4297679"/>
            <a:ext cx="5760720" cy="310896"/>
          </a:xfrm>
          <a:prstGeom prst="rect">
            <a:avLst/>
          </a:prstGeom>
          <a:noFill/>
        </p:spPr>
        <p:txBody>
          <a:bodyPr wrap="square">
            <a:normAutofit/>
          </a:bodyPr>
          <a:lstStyle/>
          <a:p>
            <a:pPr algn="l"/>
            <a:r>
              <a:rPr sz="800" b="0">
                <a:solidFill>
                  <a:srgbClr val="626F75"/>
                </a:solidFill>
                <a:latin typeface="Microsoft YaHei"/>
              </a:rPr>
              <a:t>1-2 个年度服务或 B 端授权意向 / 订单</a:t>
            </a:r>
          </a:p>
        </p:txBody>
      </p:sp>
      <p:sp>
        <p:nvSpPr>
          <p:cNvPr id="25" name="Rectangle 24"/>
          <p:cNvSpPr/>
          <p:nvPr/>
        </p:nvSpPr>
        <p:spPr>
          <a:xfrm>
            <a:off x="1463040" y="4663440"/>
            <a:ext cx="8778240" cy="429768"/>
          </a:xfrm>
          <a:prstGeom prst="rect">
            <a:avLst/>
          </a:prstGeom>
          <a:solidFill>
            <a:srgbClr val="FFFFFF"/>
          </a:solidFill>
          <a:ln w="10160">
            <a:solidFill>
              <a:srgbClr val="DAE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17904" y="4754879"/>
            <a:ext cx="2834640" cy="310896"/>
          </a:xfrm>
          <a:prstGeom prst="rect">
            <a:avLst/>
          </a:prstGeom>
          <a:noFill/>
        </p:spPr>
        <p:txBody>
          <a:bodyPr wrap="square">
            <a:normAutofit/>
          </a:bodyPr>
          <a:lstStyle/>
          <a:p>
            <a:pPr algn="l"/>
            <a:r>
              <a:rPr sz="800" b="1">
                <a:solidFill>
                  <a:srgbClr val="626F75"/>
                </a:solidFill>
                <a:latin typeface="Microsoft YaHei"/>
              </a:rPr>
              <a:t>交付能力</a:t>
            </a:r>
          </a:p>
        </p:txBody>
      </p:sp>
      <p:sp>
        <p:nvSpPr>
          <p:cNvPr id="27" name="TextBox 26"/>
          <p:cNvSpPr txBox="1"/>
          <p:nvPr/>
        </p:nvSpPr>
        <p:spPr>
          <a:xfrm>
            <a:off x="4443984" y="4754879"/>
            <a:ext cx="5760720" cy="310896"/>
          </a:xfrm>
          <a:prstGeom prst="rect">
            <a:avLst/>
          </a:prstGeom>
          <a:noFill/>
        </p:spPr>
        <p:txBody>
          <a:bodyPr wrap="square">
            <a:normAutofit/>
          </a:bodyPr>
          <a:lstStyle/>
          <a:p>
            <a:pPr algn="l"/>
            <a:r>
              <a:rPr sz="800" b="0">
                <a:solidFill>
                  <a:srgbClr val="626F75"/>
                </a:solidFill>
                <a:latin typeface="Microsoft YaHei"/>
              </a:rPr>
              <a:t>接口、任务库、报告流程可演示</a:t>
            </a:r>
          </a:p>
        </p:txBody>
      </p:sp>
      <p:sp>
        <p:nvSpPr>
          <p:cNvPr id="28" name="TextBox 27"/>
          <p:cNvSpPr txBox="1"/>
          <p:nvPr/>
        </p:nvSpPr>
        <p:spPr>
          <a:xfrm>
            <a:off x="914400" y="5715000"/>
            <a:ext cx="10241280" cy="320040"/>
          </a:xfrm>
          <a:prstGeom prst="rect">
            <a:avLst/>
          </a:prstGeom>
          <a:noFill/>
        </p:spPr>
        <p:txBody>
          <a:bodyPr wrap="square">
            <a:normAutofit/>
          </a:bodyPr>
          <a:lstStyle/>
          <a:p>
            <a:pPr algn="ctr"/>
            <a:r>
              <a:rPr sz="1700" b="1">
                <a:solidFill>
                  <a:srgbClr val="487967"/>
                </a:solidFill>
                <a:latin typeface="Microsoft YaHei"/>
              </a:rPr>
              <a:t>这轮融资不是为了做一组模型指标，而是为了证明地理嵌入底座可以规模化交付。</a:t>
            </a:r>
          </a:p>
        </p:txBody>
      </p:sp>
      <p:sp>
        <p:nvSpPr>
          <p:cNvPr id="29" name="TextBox 28"/>
          <p:cNvSpPr txBox="1"/>
          <p:nvPr/>
        </p:nvSpPr>
        <p:spPr>
          <a:xfrm>
            <a:off x="658368" y="6528816"/>
            <a:ext cx="5669280" cy="182880"/>
          </a:xfrm>
          <a:prstGeom prst="rect">
            <a:avLst/>
          </a:prstGeom>
          <a:noFill/>
        </p:spPr>
        <p:txBody>
          <a:bodyPr wrap="square">
            <a:normAutofit/>
          </a:bodyPr>
          <a:lstStyle/>
          <a:p>
            <a:pPr algn="l"/>
            <a:r>
              <a:rPr sz="700" b="0">
                <a:solidFill>
                  <a:srgbClr val="626F75"/>
                </a:solidFill>
                <a:latin typeface="Microsoft YaHei"/>
              </a:rPr>
              <a:t>玄女科技商业计划书 v0.3｜按 22 页内容稿重制</a:t>
            </a:r>
          </a:p>
        </p:txBody>
      </p:sp>
      <p:sp>
        <p:nvSpPr>
          <p:cNvPr id="30" name="TextBox 29"/>
          <p:cNvSpPr txBox="1"/>
          <p:nvPr/>
        </p:nvSpPr>
        <p:spPr>
          <a:xfrm>
            <a:off x="11018520" y="6510528"/>
            <a:ext cx="457200" cy="182880"/>
          </a:xfrm>
          <a:prstGeom prst="rect">
            <a:avLst/>
          </a:prstGeom>
          <a:noFill/>
        </p:spPr>
        <p:txBody>
          <a:bodyPr wrap="square">
            <a:normAutofit/>
          </a:bodyPr>
          <a:lstStyle/>
          <a:p>
            <a:pPr algn="r"/>
            <a:r>
              <a:rPr sz="800" b="0">
                <a:solidFill>
                  <a:srgbClr val="626F75"/>
                </a:solidFill>
                <a:latin typeface="Microsoft YaHei"/>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