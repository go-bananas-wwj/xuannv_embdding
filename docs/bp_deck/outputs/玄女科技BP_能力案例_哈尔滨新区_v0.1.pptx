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能力验证：哈尔滨新区城市治理场景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1078992"/>
            <a:ext cx="102412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用一个真实区域验证玄女底座的三类能力：复杂观测条件下可用、多任务可复用、结果可进入政府交付。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01952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139696"/>
            <a:ext cx="237744" cy="23774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029968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复杂观测可用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304288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云遮挡、缺失模态下仍能保留变化信号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907792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3145536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035808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一套嵌入多任务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310128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施工工地、建筑、水体、耕地、地表分类共享同一底座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913632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4151376"/>
            <a:ext cx="237744" cy="23774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041648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报告交付闭环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315968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从模型结果直接形成可汇报、可复核的监测报告</a:t>
            </a:r>
          </a:p>
        </p:txBody>
      </p:sp>
      <p:pic>
        <p:nvPicPr>
          <p:cNvPr id="17" name="Picture 16" descr="patch_000146_2025-06_vs_2025-08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792224"/>
            <a:ext cx="6291071" cy="1353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3440" y="3255264"/>
            <a:ext cx="630936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云遮挡场景下的变化识别</a:t>
            </a:r>
          </a:p>
        </p:txBody>
      </p:sp>
      <p:pic>
        <p:nvPicPr>
          <p:cNvPr id="19" name="Picture 18" descr="patch_000354_building_extraction_2025-04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648590"/>
            <a:ext cx="3017520" cy="1316467"/>
          </a:xfrm>
          <a:prstGeom prst="rect">
            <a:avLst/>
          </a:prstGeom>
        </p:spPr>
      </p:pic>
      <p:pic>
        <p:nvPicPr>
          <p:cNvPr id="20" name="Picture 19" descr="model_total_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678" y="3584448"/>
            <a:ext cx="1021843" cy="1444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3440" y="5148072"/>
            <a:ext cx="301752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多任务识别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148072"/>
            <a:ext cx="2834640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自动化报告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797296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哈尔滨新区案例证明：地理嵌入不是单点模型，而是可进入业务流程的遥感智能底座。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能力一：缺失模态与跨模态处理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298448"/>
            <a:ext cx="21031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Noto Sans SC"/>
              </a:rPr>
              <a:t>关键结论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" y="1554480"/>
            <a:ext cx="1298447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86384" y="1755648"/>
            <a:ext cx="3273552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SC"/>
              </a:rPr>
              <a:t>遥感应用经常遇到云遮挡、时相不齐、模态缺失。玄女底座通过多源观测预训练，让嵌入在不完整观测下仍保留可用于变化检测的空间信号。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926080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" y="3163824"/>
            <a:ext cx="237744" cy="23774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4096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有云不等于不可用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3328416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云覆盖时仍能识别到潜在变化区域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822191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4059935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950207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跨模态补偿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224528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不同传感器信息在统一嵌入空间中互相补足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718304"/>
            <a:ext cx="331012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4956048"/>
            <a:ext cx="237744" cy="23774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846320"/>
            <a:ext cx="24505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Noto Sans SC"/>
              </a:rPr>
              <a:t>减少人工重跑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120640"/>
            <a:ext cx="2468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Noto Sans SC"/>
              </a:rPr>
              <a:t>不因单次影像质量不足而完全中断流程</a:t>
            </a:r>
          </a:p>
        </p:txBody>
      </p:sp>
      <p:pic>
        <p:nvPicPr>
          <p:cNvPr id="19" name="Picture 18" descr="patch_000027_2025-08_vs_2025-09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776" y="1481328"/>
            <a:ext cx="5015854" cy="10789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36592" y="2651760"/>
            <a:ext cx="6364224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1</a:t>
            </a:r>
          </a:p>
        </p:txBody>
      </p:sp>
      <p:pic>
        <p:nvPicPr>
          <p:cNvPr id="21" name="Picture 20" descr="patch_000146_2025-06_vs_2025-08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776" y="2926080"/>
            <a:ext cx="5015854" cy="1078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36592" y="4096512"/>
            <a:ext cx="6364224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2</a:t>
            </a:r>
          </a:p>
        </p:txBody>
      </p:sp>
      <p:pic>
        <p:nvPicPr>
          <p:cNvPr id="23" name="Picture 22" descr="patch_000217_2025-06_vs_2025-08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776" y="4370832"/>
            <a:ext cx="5015854" cy="10789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36592" y="5541264"/>
            <a:ext cx="6364224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云遮挡变化检测样例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92531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复杂天气和缺失观测不再直接转化为业务停摆。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能力二：一套嵌入支撑多类下游任务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78992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即使部分监督标签来自 2021 年 WorldCover 或旧建筑数据，统一地理嵌入仍能为不同任务提供稳定的空间语义线索。</a:t>
            </a:r>
          </a:p>
        </p:txBody>
      </p:sp>
      <p:pic>
        <p:nvPicPr>
          <p:cNvPr id="5" name="Picture 4" descr="patch_000041_jrc_water_2025-04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0" y="1700784"/>
            <a:ext cx="3395403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3291840"/>
            <a:ext cx="340156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水体识别</a:t>
            </a:r>
          </a:p>
        </p:txBody>
      </p:sp>
      <p:pic>
        <p:nvPicPr>
          <p:cNvPr id="7" name="Picture 6" descr="patch_000354_building_extraction_2025-04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90" y="1700784"/>
            <a:ext cx="3395403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07408" y="3291840"/>
            <a:ext cx="340156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建筑提取</a:t>
            </a:r>
          </a:p>
        </p:txBody>
      </p:sp>
      <p:pic>
        <p:nvPicPr>
          <p:cNvPr id="9" name="Picture 8" descr="patch_000339_dynamic_world_2025-0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090" y="1700784"/>
            <a:ext cx="3395403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65008" y="3291840"/>
            <a:ext cx="3401568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地表分类</a:t>
            </a:r>
          </a:p>
        </p:txBody>
      </p:sp>
      <p:pic>
        <p:nvPicPr>
          <p:cNvPr id="11" name="Picture 10" descr="patch_000217_construction_2025-08_vs_2025-09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844256"/>
            <a:ext cx="3977639" cy="9799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4974336"/>
            <a:ext cx="3977639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施工工地变化</a:t>
            </a:r>
          </a:p>
        </p:txBody>
      </p:sp>
      <p:pic>
        <p:nvPicPr>
          <p:cNvPr id="13" name="Picture 12" descr="patch_000217_land_conversion_2025-08_vs_2025-09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844256"/>
            <a:ext cx="3977639" cy="9799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65392" y="4974336"/>
            <a:ext cx="3977639" cy="1188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耕地非农非粮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5376672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495544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5 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06440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下游任务示例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0752" y="5376672"/>
            <a:ext cx="1572768" cy="7132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495544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10B981"/>
                </a:solidFill>
                <a:latin typeface="Noto Sans SC"/>
              </a:rPr>
              <a:t>旧标签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806440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仍可迁移验证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5376672"/>
            <a:ext cx="1572768" cy="71323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5495544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Noto Sans SC"/>
              </a:rPr>
              <a:t>一次表征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806440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多任务复用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5541264"/>
            <a:ext cx="2962656" cy="1828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SC"/>
              </a:rPr>
              <a:t>从“一个任务训练一个模型”转向“同一地理嵌入适配多个任务”。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能力三：从模型结果到政府监测报告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78992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Noto Sans SC"/>
              </a:rPr>
              <a:t>哈尔滨新区的价值不只在模型精度，更在于把检测结果持续组织成政府可阅读、可复核、可归档的报告。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64208"/>
            <a:ext cx="43159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SC"/>
              </a:rPr>
              <a:t>传统人工报告</a:t>
            </a:r>
          </a:p>
        </p:txBody>
      </p:sp>
      <p:pic>
        <p:nvPicPr>
          <p:cNvPr id="6" name="Picture 5" descr="manual_total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39" y="2029968"/>
            <a:ext cx="2121968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6736" y="5212080"/>
            <a:ext cx="3694176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2025 年下半年更新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5504688"/>
            <a:ext cx="369417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流程重、周期长，后续更新压力大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1865376"/>
            <a:ext cx="0" cy="3758184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1664208"/>
            <a:ext cx="43159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SC"/>
              </a:rPr>
              <a:t>玄女模型生成报告</a:t>
            </a:r>
          </a:p>
        </p:txBody>
      </p:sp>
      <p:pic>
        <p:nvPicPr>
          <p:cNvPr id="11" name="Picture 10" descr="model_total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048" y="2029968"/>
            <a:ext cx="2121295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50608" y="5212080"/>
            <a:ext cx="3694176" cy="1463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SC"/>
              </a:rPr>
              <a:t>已更新至 2026 年 5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5504688"/>
            <a:ext cx="3694176" cy="16459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Noto Sans SC"/>
              </a:rPr>
              <a:t>自动汇总多任务结果，显著降低人工整理压力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2139696"/>
            <a:ext cx="1572768" cy="71323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258568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6 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569463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传统报告文件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6944" y="2999232"/>
            <a:ext cx="1572768" cy="71323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3118103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SC"/>
              </a:rPr>
              <a:t>255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429000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人工交付规模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6944" y="4041648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72" y="4160520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5 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471416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模型报告文件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4901184"/>
            <a:ext cx="1572768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5020056"/>
            <a:ext cx="1353312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199 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5330952"/>
            <a:ext cx="1353312" cy="1280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700" b="1">
                <a:solidFill>
                  <a:srgbClr val="334155"/>
                </a:solidFill>
                <a:latin typeface="Noto Sans SC"/>
              </a:rPr>
              <a:t>自动生成规模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925312"/>
            <a:ext cx="10607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Noto Sans SC"/>
              </a:rPr>
              <a:t>真正的产品化能力，是把遥感分析结果变成可持续交付的业务文档。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