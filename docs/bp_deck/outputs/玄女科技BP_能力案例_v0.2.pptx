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三个场景，验证玄女底座的可用性、可比性与可交付性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后半段不讲概念堆叠，而用真实场景证明：地理嵌入可以进入任务评测、政务交付和智能体应用。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627632"/>
            <a:ext cx="338328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" y="1901952"/>
            <a:ext cx="493776" cy="49377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2495" y="1947672"/>
            <a:ext cx="204825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SC"/>
              </a:rPr>
              <a:t>哈尔滨新区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5568" y="2633472"/>
            <a:ext cx="2688336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33856" y="2852928"/>
            <a:ext cx="4754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2563EB"/>
                </a:solidFill>
                <a:latin typeface="Noto Sans SC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2788920"/>
            <a:ext cx="20299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Noto Sans SC"/>
              </a:rPr>
              <a:t>政府客户：城市治理卫星遥感监测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602736"/>
            <a:ext cx="4754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2563EB"/>
                </a:solidFill>
                <a:latin typeface="Noto Sans SC"/>
              </a:rPr>
              <a:t>证明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3529584"/>
            <a:ext cx="2084831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Noto Sans SC"/>
              </a:rPr>
              <a:t>复杂观测可用、多任务可复用、报告可自动生成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407408"/>
            <a:ext cx="2615184" cy="1554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底座 + 任务 + 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627632"/>
            <a:ext cx="338328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1901952"/>
            <a:ext cx="493776" cy="49377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47672"/>
            <a:ext cx="204825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SC"/>
              </a:rPr>
              <a:t>海淀区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36592" y="2633472"/>
            <a:ext cx="2688336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2852928"/>
            <a:ext cx="4754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Noto Sans SC"/>
              </a:rPr>
              <a:t>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788920"/>
            <a:ext cx="20299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Noto Sans SC"/>
              </a:rPr>
              <a:t>高密度城市纹理下的下游任务评测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602736"/>
            <a:ext cx="4754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Noto Sans SC"/>
              </a:rPr>
              <a:t>证明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529584"/>
            <a:ext cx="2084831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Noto Sans SC"/>
              </a:rPr>
              <a:t>与 AEF 2025 官方嵌入正面对标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4407408"/>
            <a:ext cx="2615184" cy="1554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Noto Sans SC"/>
              </a:rPr>
              <a:t>底座 + 任务 + 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627632"/>
            <a:ext cx="338328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84463" y="1901952"/>
            <a:ext cx="493776" cy="49377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1947672"/>
            <a:ext cx="204825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SC"/>
              </a:rPr>
              <a:t>雅江区域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5" y="2633472"/>
            <a:ext cx="2688336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75904" y="2852928"/>
            <a:ext cx="4754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7C3AED"/>
                </a:solidFill>
                <a:latin typeface="Noto Sans SC"/>
              </a:rPr>
              <a:t>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2788920"/>
            <a:ext cx="20299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Noto Sans SC"/>
              </a:rPr>
              <a:t>雅江水电站周边监测与分析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602736"/>
            <a:ext cx="4754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7C3AED"/>
                </a:solidFill>
                <a:latin typeface="Noto Sans SC"/>
              </a:rPr>
              <a:t>证明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3529584"/>
            <a:ext cx="2084831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Noto Sans SC"/>
              </a:rPr>
              <a:t>嵌入接入智能体，生成遥感分析报告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407408"/>
            <a:ext cx="2615184" cy="1554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Noto Sans SC"/>
              </a:rPr>
              <a:t>底座 + 任务 + 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797296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三个案例共同证明：玄女正在形成“地理嵌入底座 + 任务库 + 报告智能体”的产品闭环。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哈尔滨新区：有云遮挡，仍能识别变化区域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225296"/>
            <a:ext cx="228600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Noto Sans SC"/>
              </a:rPr>
              <a:t>政府客户的真实难题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" y="1481328"/>
            <a:ext cx="1225296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86384" y="1682496"/>
            <a:ext cx="3383280" cy="8046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SC"/>
              </a:rPr>
              <a:t>城市治理依赖持续监测，但光学影像经常受云、雪、雾和季节差异影响。传统流程遇到影像质量问题，往往需要重新筛数据、换时相、补人工判断。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907792"/>
            <a:ext cx="334670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" y="3145536"/>
            <a:ext cx="237744" cy="23774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35808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缺失模态下仍可推理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3310128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不依赖单张完美影像完成判断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822191"/>
            <a:ext cx="334670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4059935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950207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跨模态保留变化信号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224528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RGB 与嵌入共同支撑变化检测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736592"/>
            <a:ext cx="334670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4974336"/>
            <a:ext cx="237744" cy="23774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4864607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减少人工重跑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5138928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影像质量波动不直接造成流程停摆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243584"/>
            <a:ext cx="654710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Noto Sans SC"/>
              </a:rPr>
              <a:t>每个样例列含义：变化前 RGB / 变化后 RGB / 变化前嵌入 / 变化后嵌入 / 模型预测变化区域</a:t>
            </a:r>
          </a:p>
        </p:txBody>
      </p:sp>
      <p:pic>
        <p:nvPicPr>
          <p:cNvPr id="20" name="Picture 19" descr="patch_000027_2025-08_vs_2025-09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085" y="1664208"/>
            <a:ext cx="4675796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3440" y="2743200"/>
            <a:ext cx="64190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云遮挡变化检测样例 1</a:t>
            </a:r>
          </a:p>
        </p:txBody>
      </p:sp>
      <p:pic>
        <p:nvPicPr>
          <p:cNvPr id="22" name="Picture 21" descr="patch_000146_2025-06_vs_2025-08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085" y="2980944"/>
            <a:ext cx="4675796" cy="10058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63440" y="4059935"/>
            <a:ext cx="64190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云遮挡变化检测样例 2</a:t>
            </a:r>
          </a:p>
        </p:txBody>
      </p:sp>
      <p:pic>
        <p:nvPicPr>
          <p:cNvPr id="24" name="Picture 23" descr="patch_000217_2025-06_vs_2025-08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085" y="4297680"/>
            <a:ext cx="4675796" cy="1005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63440" y="5376672"/>
            <a:ext cx="641908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云遮挡变化检测样例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92531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玄女底座提高的是业务可用性：真实遥感数据不完美，但系统仍要稳定产出。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同一套地理嵌入，复用到多类城市治理任务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使用 2021 年 WorldCover 和旧建筑物数据作为监督标签，统一地理嵌入仍能为不同任务提供稳定空间语义线索。</a:t>
            </a:r>
          </a:p>
        </p:txBody>
      </p:sp>
      <p:pic>
        <p:nvPicPr>
          <p:cNvPr id="5" name="Picture 4" descr="patch_000041_jrc_water_2025-04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66852"/>
            <a:ext cx="3383280" cy="1476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3218688"/>
            <a:ext cx="338328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水体识别</a:t>
            </a:r>
          </a:p>
        </p:txBody>
      </p:sp>
      <p:pic>
        <p:nvPicPr>
          <p:cNvPr id="7" name="Picture 6" descr="patch_000354_building_extraction_2025-04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666852"/>
            <a:ext cx="3383280" cy="1476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07408" y="3218688"/>
            <a:ext cx="338328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建筑提取</a:t>
            </a:r>
          </a:p>
        </p:txBody>
      </p:sp>
      <p:pic>
        <p:nvPicPr>
          <p:cNvPr id="9" name="Picture 8" descr="patch_000339_dynamic_world_2025-04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666852"/>
            <a:ext cx="3383280" cy="14760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65008" y="3218688"/>
            <a:ext cx="338328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地表分类</a:t>
            </a:r>
          </a:p>
        </p:txBody>
      </p:sp>
      <p:pic>
        <p:nvPicPr>
          <p:cNvPr id="11" name="Picture 10" descr="patch_000217_construction_2025-08_vs_2025-09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735920"/>
            <a:ext cx="4114800" cy="1013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4828032"/>
            <a:ext cx="411480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施工工地变化</a:t>
            </a:r>
          </a:p>
        </p:txBody>
      </p:sp>
      <p:pic>
        <p:nvPicPr>
          <p:cNvPr id="13" name="Picture 12" descr="patch_000217_land_conversion_2025-08_vs_2025-09_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735920"/>
            <a:ext cx="4114800" cy="10137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0528" y="4828032"/>
            <a:ext cx="411480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耕地非农非粮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4752" y="5358384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5477256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5 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5788152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下游任务示例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5358384"/>
            <a:ext cx="1572768" cy="7132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5477256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Noto Sans SC"/>
              </a:rPr>
              <a:t>旧标签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5788152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仍可迁移验证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5358384"/>
            <a:ext cx="1572768" cy="71323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1" y="5477256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Noto Sans SC"/>
              </a:rPr>
              <a:t>一次表征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1" y="5788152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多任务复用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522976"/>
            <a:ext cx="285292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SC"/>
              </a:rPr>
              <a:t>新增任务不再等于重新做一套遥感工程。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从检测结果到政府可用报告：已更新至 2026 年 5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哈尔滨新区是政府客户场景。玄女调用模型自动生成最新监测报告，将多任务检测结果组织成可阅读、可复核、可归档的交付物。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627632"/>
            <a:ext cx="34015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SC"/>
              </a:rPr>
              <a:t>传统人工报告</a:t>
            </a:r>
          </a:p>
        </p:txBody>
      </p:sp>
      <p:pic>
        <p:nvPicPr>
          <p:cNvPr id="6" name="Picture 5" descr="manual_total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828" y="1956816"/>
            <a:ext cx="1785558" cy="2523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608576"/>
            <a:ext cx="292608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2025 年下半年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4882896"/>
            <a:ext cx="31821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Noto Sans SC"/>
              </a:rPr>
              <a:t>正式完整，但制作耗时耗力，后续更新压力大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17136" y="1719072"/>
            <a:ext cx="0" cy="3639312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09744" y="1627632"/>
            <a:ext cx="34015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SC"/>
              </a:rPr>
              <a:t>玄女模型自动生成报告</a:t>
            </a:r>
          </a:p>
        </p:txBody>
      </p:sp>
      <p:pic>
        <p:nvPicPr>
          <p:cNvPr id="11" name="Picture 10" descr="model_total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319" y="1956816"/>
            <a:ext cx="1784992" cy="2523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47488" y="4608576"/>
            <a:ext cx="292608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2025 年 12 月 - 2026 年 5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4882896"/>
            <a:ext cx="3200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Noto Sans SC"/>
              </a:rPr>
              <a:t>自动汇总多任务结果，降低制图、统计和撰写压力</a:t>
            </a:r>
          </a:p>
        </p:txBody>
      </p:sp>
      <p:pic>
        <p:nvPicPr>
          <p:cNvPr id="14" name="Picture 13" descr="all_categories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901952"/>
            <a:ext cx="237744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7072" y="4407408"/>
            <a:ext cx="2596896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2026 报告点位分布图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956048"/>
            <a:ext cx="1225296" cy="71323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5074920"/>
            <a:ext cx="104241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6 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385816"/>
            <a:ext cx="104241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传统报告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4956048"/>
            <a:ext cx="1225296" cy="71323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7" y="5074920"/>
            <a:ext cx="104241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255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5385816"/>
            <a:ext cx="104241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人工规模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5632704"/>
            <a:ext cx="1225296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5751576"/>
            <a:ext cx="104241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5 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6062472"/>
            <a:ext cx="104241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模型报告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5632704"/>
            <a:ext cx="1225296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7" y="5751576"/>
            <a:ext cx="104241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199 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7" y="6062472"/>
            <a:ext cx="104241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自动生成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6272784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真正的产品化能力，是把遥感分析结果变成可持续交付的业务文档。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海淀区 Benchmark：玄女 V1.0 与 AEF 官方嵌入正面对标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用真实下游任务指标说话：海淀区 5-fold CV，对比玄女 V1.0 embedding 与 AEF 2025 官方年度 embedding。</a:t>
            </a:r>
          </a:p>
        </p:txBody>
      </p:sp>
      <p:pic>
        <p:nvPicPr>
          <p:cNvPr id="5" name="Picture 4" descr="aef_vs_v1.0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31" y="1627632"/>
            <a:ext cx="10853361" cy="2688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32688" y="4773168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892040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0.8828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202936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建筑变化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4773168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892040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0.8876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202936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耕地变化 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4773168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4892040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0.8876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5202936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垃圾堆放 AUC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8544" y="4773168"/>
            <a:ext cx="1572768" cy="71323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9983" y="4892040"/>
            <a:ext cx="138988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AEF 更强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3" y="5202936"/>
            <a:ext cx="1389888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施工工地任务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4882896"/>
            <a:ext cx="2633472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Noto Sans SC"/>
              </a:rPr>
              <a:t>坦诚结论：施工工地上 AEF 更强；建筑变化、耕地变化、垃圾堆放等变化类任务上，玄女 V1.0 更强。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103327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Noto Sans SC"/>
              </a:rPr>
              <a:t>注：5-fold CV，海淀区下游任务评测；指标包括 AUC-ROC、F1-best、F1@0.5、mIoU。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玄女不是追随 AlphaEarth，而是在中国城市变化类任务上形成可量化的本土优势。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本土数据和本土任务，会形成自己的模型优势</a:t>
            </a:r>
          </a:p>
        </p:txBody>
      </p:sp>
      <p:pic>
        <p:nvPicPr>
          <p:cNvPr id="4" name="Picture 3" descr="compare_haidian_construction_patch_0001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40529"/>
            <a:ext cx="5010912" cy="25847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986784"/>
            <a:ext cx="501091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海淀下游任务样例：模型输出与标注对比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08176"/>
            <a:ext cx="440740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0" y="1645920"/>
            <a:ext cx="237744" cy="23774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536192"/>
            <a:ext cx="3566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国际模型证明方向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1810512"/>
            <a:ext cx="3566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AlphaEarth/AEF 说明地理嵌入是全球前沿方向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87168"/>
            <a:ext cx="440740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724912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15184"/>
            <a:ext cx="3566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本土任务需要本土优化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889504"/>
            <a:ext cx="3566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城市变化、建设活动、垃圾堆放具有明显区域业务定义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440740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3803904"/>
            <a:ext cx="237744" cy="237744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694176"/>
            <a:ext cx="3566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差距指向迭代路线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968496"/>
            <a:ext cx="35661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施工工地仍需补数据、补标签、补任务定义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718304"/>
            <a:ext cx="10204704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5102352"/>
            <a:ext cx="36576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SC"/>
              </a:rPr>
              <a:t>为什么中国需要自己的遥感数据通用嵌入底座？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5084064"/>
            <a:ext cx="592531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Noto Sans SC"/>
              </a:rPr>
              <a:t>不是只出于国产替代，而是因为本土数据、本土标签和本土业务目标会带来真实模型优势。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海淀 Benchmark 把“地理嵌入方向正确”推进到“本土底座有必要、有优势、有迭代空间”。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雅江区域：把地理嵌入接入水电站监测智能体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雅江案例面向水电站监测：用户选择区域、任务和时间，用自然语言触发模型与下游任务，自动生成结构化遥感分析报告。</a:t>
            </a:r>
          </a:p>
        </p:txBody>
      </p:sp>
      <p:pic>
        <p:nvPicPr>
          <p:cNvPr id="5" name="Picture 4" descr="e178b904e06c08479cd215ca230ff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53382"/>
            <a:ext cx="7424927" cy="33901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627632"/>
            <a:ext cx="28346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59" y="1865376"/>
            <a:ext cx="237744" cy="23774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79407" y="1755648"/>
            <a:ext cx="19933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自然语言发起任务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7" y="2029968"/>
            <a:ext cx="19933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用户直接提出报告需求，而不是操作脚本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578608"/>
            <a:ext cx="28346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59" y="2816352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7" y="2706624"/>
            <a:ext cx="19933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模型与指标可追溯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7" y="2980944"/>
            <a:ext cx="19933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展示模型版本、精度、置信度、低置信比例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529584"/>
            <a:ext cx="28346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59" y="3767328"/>
            <a:ext cx="237744" cy="23774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7" y="3657600"/>
            <a:ext cx="19933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报告可继续对话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7" y="3931920"/>
            <a:ext cx="19933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历史会话保留，可追加月份和修改任务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681728"/>
            <a:ext cx="1280160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4800600"/>
            <a:ext cx="109728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96.8%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5111496"/>
            <a:ext cx="1097280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总体精度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48672" y="4681728"/>
            <a:ext cx="1280160" cy="7132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4800600"/>
            <a:ext cx="1097280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Noto Sans SC"/>
              </a:rPr>
              <a:t>96.3%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5111496"/>
            <a:ext cx="1097280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平均置信度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玄女底座可以变成用户可直接使用的智能体产品界面，而不是停留在模型 API。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从下游任务结果，到可阅读的遥感分析报告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雅江水电站监测需要的不只是预测图，而是能持续生成指标、图表、风险提示和后续行动建议的工作流。</a:t>
            </a:r>
          </a:p>
        </p:txBody>
      </p:sp>
      <p:pic>
        <p:nvPicPr>
          <p:cNvPr id="5" name="Picture 4" descr="yajiang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57" y="1591056"/>
            <a:ext cx="1299860" cy="1499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3163824"/>
            <a:ext cx="166420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雅江区域</a:t>
            </a:r>
          </a:p>
        </p:txBody>
      </p:sp>
      <p:pic>
        <p:nvPicPr>
          <p:cNvPr id="7" name="Picture 6" descr="land_clas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673523"/>
            <a:ext cx="2267712" cy="1334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34640" y="3163824"/>
            <a:ext cx="226771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地物分类</a:t>
            </a:r>
          </a:p>
        </p:txBody>
      </p:sp>
      <p:pic>
        <p:nvPicPr>
          <p:cNvPr id="9" name="Picture 8" descr="spatial_clu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29982"/>
            <a:ext cx="2267712" cy="10217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3163824"/>
            <a:ext cx="226771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空间聚类</a:t>
            </a:r>
          </a:p>
        </p:txBody>
      </p:sp>
      <p:pic>
        <p:nvPicPr>
          <p:cNvPr id="11" name="Picture 10" descr="elevation_regres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65551"/>
            <a:ext cx="2267712" cy="750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3163824"/>
            <a:ext cx="2267712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高程回归</a:t>
            </a:r>
          </a:p>
        </p:txBody>
      </p:sp>
      <p:pic>
        <p:nvPicPr>
          <p:cNvPr id="13" name="Picture 12" descr="change_det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104" y="3749039"/>
            <a:ext cx="1215136" cy="1426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7008" y="5248656"/>
            <a:ext cx="148132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变化检测</a:t>
            </a:r>
          </a:p>
        </p:txBody>
      </p:sp>
      <p:pic>
        <p:nvPicPr>
          <p:cNvPr id="15" name="Picture 14" descr="embedding_retriev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503" y="3749039"/>
            <a:ext cx="1325152" cy="1426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28416" y="5248656"/>
            <a:ext cx="148132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嵌入检索</a:t>
            </a:r>
          </a:p>
        </p:txBody>
      </p:sp>
      <p:pic>
        <p:nvPicPr>
          <p:cNvPr id="17" name="Picture 16" descr="slope_ri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320" y="3749039"/>
            <a:ext cx="1194336" cy="1426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49824" y="5248656"/>
            <a:ext cx="148132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坡度风险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822191"/>
            <a:ext cx="2980944" cy="129844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96512"/>
            <a:ext cx="2432304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SC"/>
              </a:rPr>
              <a:t>智能体报告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4498848"/>
            <a:ext cx="239572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汇总预测图、置信度、误差图、关键指标与行动建议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95744" y="4443984"/>
            <a:ext cx="694944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玄女的最终产品形态：地理嵌入底座 + 下游任务库 + 报告智能体。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从三个案例抽象出玄女底座的四层产品能力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案例不是孤立项目，而是在验证玄女可复制的产品架构。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27632"/>
            <a:ext cx="103327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5568" y="1792224"/>
            <a:ext cx="365760" cy="3657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1783080"/>
            <a:ext cx="15910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SC"/>
              </a:rPr>
              <a:t>地理嵌入层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783080"/>
            <a:ext cx="385876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Noto Sans SC"/>
              </a:rPr>
              <a:t>多源、多时相、跨模态、缺失模态下可用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783080"/>
            <a:ext cx="2688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哈尔滨云遮挡样例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560320"/>
            <a:ext cx="103327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568" y="2724912"/>
            <a:ext cx="365760" cy="36576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2715768"/>
            <a:ext cx="15910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Noto Sans SC"/>
              </a:rPr>
              <a:t>任务适配层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715768"/>
            <a:ext cx="385876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Noto Sans SC"/>
              </a:rPr>
              <a:t>分类、检测、变化监测、检索、风险识别共享底座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715768"/>
            <a:ext cx="2688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哈尔滨多任务 / 雅江多任务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93008"/>
            <a:ext cx="103327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5568" y="3657600"/>
            <a:ext cx="365760" cy="3657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648456"/>
            <a:ext cx="15910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Noto Sans SC"/>
              </a:rPr>
              <a:t>评测对标层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648456"/>
            <a:ext cx="385876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Noto Sans SC"/>
              </a:rPr>
              <a:t>与 AEF 官方嵌入进行下游任务量化比较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648456"/>
            <a:ext cx="2688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海淀 V1.0 Benchmark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425696"/>
            <a:ext cx="103327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5568" y="4590288"/>
            <a:ext cx="365760" cy="36576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9072" y="4581144"/>
            <a:ext cx="15910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Noto Sans SC"/>
              </a:rPr>
              <a:t>报告交付层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4581144"/>
            <a:ext cx="3858768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Noto Sans SC"/>
              </a:rPr>
              <a:t>生成政务报告或智能体报告，进入客户工作流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581144"/>
            <a:ext cx="2688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哈尔滨 2026 报告 / 雅江智能体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72768" y="5468112"/>
            <a:ext cx="9070848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81328" y="5742432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Noto Sans SC"/>
              </a:rPr>
              <a:t>商业化承接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5715000"/>
            <a:ext cx="61264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SC"/>
              </a:rPr>
              <a:t>按区域、按任务、按更新频率、按 API / 平台授权收费。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6272784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玄女不是遥感项目公司，而是在搭建可复用、可评测、可交付的地理智能基础设施。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