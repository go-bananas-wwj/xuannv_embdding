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现有工程实践案例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78992"/>
            <a:ext cx="1024128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玄女底座已围绕政府城市治理、复杂城市变化评测与水电站周边监测，形成面向真实区域的工程实践。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哈尔滨新区</a:t>
            </a:r>
          </a:p>
        </p:txBody>
      </p:sp>
      <p:pic>
        <p:nvPicPr>
          <p:cNvPr id="6" name="Picture 5" descr="practice_region_harbin_white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85" y="2066543"/>
            <a:ext cx="3254188" cy="221284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078992" y="4535424"/>
            <a:ext cx="2779776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24128" y="4773168"/>
            <a:ext cx="2871216" cy="43891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政府客户 · 城市治理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多专题持续监测与城市管理报告更新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海淀区</a:t>
            </a:r>
          </a:p>
        </p:txBody>
      </p:sp>
      <p:pic>
        <p:nvPicPr>
          <p:cNvPr id="12" name="Picture 11" descr="practice_region_haidian_white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809" y="2066543"/>
            <a:ext cx="3254188" cy="2212848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4700016" y="4535424"/>
            <a:ext cx="2779776" cy="0"/>
          </a:xfrm>
          <a:prstGeom prst="line">
            <a:avLst/>
          </a:prstGeom>
          <a:ln w="1397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645152" y="4773168"/>
            <a:ext cx="2871216" cy="4389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10B981"/>
                </a:solidFill>
                <a:latin typeface="Noto Sans SC"/>
              </a:rPr>
              <a:t>城市核心区 · 任务评测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复杂城市纹理下，对标国际地理嵌入能力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雅江区域</a:t>
            </a:r>
          </a:p>
        </p:txBody>
      </p:sp>
      <p:pic>
        <p:nvPicPr>
          <p:cNvPr id="18" name="Picture 17" descr="practice_region_yajiang_white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833" y="2066543"/>
            <a:ext cx="3254188" cy="2212848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8321040" y="4535424"/>
            <a:ext cx="2779775" cy="0"/>
          </a:xfrm>
          <a:prstGeom prst="line">
            <a:avLst/>
          </a:prstGeom>
          <a:ln w="1397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66175" y="4773168"/>
            <a:ext cx="2871216" cy="43891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7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Noto Sans SC"/>
              </a:rPr>
              <a:t>水电站周边 · 安全监测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水电站周边态势监测与遥感分析报告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哈尔滨新区：有云遮挡，仍能识别变化区域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云、雾、雪遮挡关键地物，城市治理仍需要连续、稳定的变化检测结果。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5915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32888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45059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缺失模态下仍可推理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67004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不依赖单张完美影像完成判断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71800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145536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063240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跨模态保留变化信号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282696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RGB 与嵌入共同支撑变化检测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84448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758184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675887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减少人工重跑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895344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影像质量波动不直接造成流程停摆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370832"/>
            <a:ext cx="2852928" cy="11704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35424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为什么能识别？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782312"/>
            <a:ext cx="2487168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训练阶段融合多模态遥感数据；单一模态被云雾遮挡时，其他模态仍可补充约束。对比变化前后地理嵌入差异，即可识别真实变化区域。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80160"/>
            <a:ext cx="0" cy="4626864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36592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 RGB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 RGB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3488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变化前嵌入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变化后嵌入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0384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变化概率</a:t>
            </a:r>
          </a:p>
        </p:txBody>
      </p:sp>
      <p:pic>
        <p:nvPicPr>
          <p:cNvPr id="28" name="Picture 27" descr="patch_000027_2025-08_vs_2025-09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1554480"/>
            <a:ext cx="6492240" cy="1481328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968496" y="2176272"/>
            <a:ext cx="640080" cy="21945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32504" y="224485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2563EB"/>
                </a:solidFill>
                <a:latin typeface="Noto Sans SC"/>
              </a:rPr>
              <a:t>样例一</a:t>
            </a:r>
          </a:p>
        </p:txBody>
      </p:sp>
      <p:pic>
        <p:nvPicPr>
          <p:cNvPr id="31" name="Picture 30" descr="patch_000146_2025-06_vs_2025-08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3017520"/>
            <a:ext cx="6492240" cy="148132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3968496" y="3639312"/>
            <a:ext cx="640080" cy="219456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32504" y="3707891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10B981"/>
                </a:solidFill>
                <a:latin typeface="Noto Sans SC"/>
              </a:rPr>
              <a:t>样例二</a:t>
            </a:r>
          </a:p>
        </p:txBody>
      </p:sp>
      <p:pic>
        <p:nvPicPr>
          <p:cNvPr id="34" name="Picture 33" descr="patch_000217_2025-06_vs_2025-08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4480560"/>
            <a:ext cx="6492240" cy="1481328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3968496" y="5102352"/>
            <a:ext cx="640080" cy="219456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32504" y="517093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7C3AED"/>
                </a:solidFill>
                <a:latin typeface="Noto Sans SC"/>
              </a:rPr>
              <a:t>样例三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81344" y="1700784"/>
            <a:ext cx="1078992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1344" y="1499616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6207" y="15590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28032" y="3072384"/>
            <a:ext cx="1207008" cy="822960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828032" y="2871215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82896" y="29306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28032" y="4663440"/>
            <a:ext cx="1188720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828032" y="4462272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82896" y="4521707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" y="6419088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玄女底座提高的是业务可用性：真实遥感数据不完美，但系统仍要稳定产出。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哈尔滨新区：同一套地理嵌入，复用到多类城市治理任务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42062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城市治理不是单一模型问题，而是水体、建筑、地表、施工工地和耕地变化等多任务并行。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414016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87752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505456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旧标签复用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724912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旧标签局部过时，也能提供可迁移监督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26664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200400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118104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一次表征，多次复用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337560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同一区域嵌入可服务多类任务头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63931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813048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73075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支持多类下游任务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95020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从水体、建筑扩展到变化与分类任务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5696"/>
            <a:ext cx="2852928" cy="100584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90288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核心价值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818888"/>
            <a:ext cx="2487168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从旧标签中学习稳定地物知识，在新影像上完成更贴近真实地物的划分。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80160"/>
            <a:ext cx="0" cy="3950208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224528" y="1133856"/>
            <a:ext cx="69311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旧标签复用后的新影像划分效果</a:t>
            </a:r>
          </a:p>
        </p:txBody>
      </p:sp>
      <p:pic>
        <p:nvPicPr>
          <p:cNvPr id="24" name="Picture 23" descr="patch_000041_jrc_water_2025-04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4528" y="1521041"/>
            <a:ext cx="3255264" cy="14201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224528" y="3017520"/>
            <a:ext cx="3255264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水体识别</a:t>
            </a:r>
          </a:p>
        </p:txBody>
      </p:sp>
      <p:pic>
        <p:nvPicPr>
          <p:cNvPr id="26" name="Picture 25" descr="patch_000354_building_extraction_2025-04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3276689"/>
            <a:ext cx="3255264" cy="14201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224528" y="4773168"/>
            <a:ext cx="3255264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建筑提取</a:t>
            </a:r>
          </a:p>
        </p:txBody>
      </p:sp>
      <p:pic>
        <p:nvPicPr>
          <p:cNvPr id="28" name="Picture 27" descr="patch_000339_dynamic_world_2025-04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673" y="1517904"/>
            <a:ext cx="1970172" cy="8595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882127" y="2450591"/>
            <a:ext cx="3255264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地表分类</a:t>
            </a:r>
          </a:p>
        </p:txBody>
      </p:sp>
      <p:pic>
        <p:nvPicPr>
          <p:cNvPr id="30" name="Picture 29" descr="patch_000217_construction_2025-08_vs_2025-09_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7" y="2771957"/>
            <a:ext cx="3255264" cy="802021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882127" y="3675887"/>
            <a:ext cx="3255264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施工工地变化</a:t>
            </a:r>
          </a:p>
        </p:txBody>
      </p:sp>
      <p:pic>
        <p:nvPicPr>
          <p:cNvPr id="32" name="Picture 31" descr="patch_000217_land_conversion_2025-08_vs_2025-09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2127" y="3997253"/>
            <a:ext cx="3255264" cy="802021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882127" y="4901183"/>
            <a:ext cx="3255264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耕地非农非粮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87552" y="5596128"/>
            <a:ext cx="1444752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78992" y="5715000"/>
            <a:ext cx="1261872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多类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" y="6025896"/>
            <a:ext cx="126187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下游任务示例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054096" y="5596128"/>
            <a:ext cx="1444752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45536" y="5715000"/>
            <a:ext cx="1261872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旧标签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45536" y="6025896"/>
            <a:ext cx="126187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知识复用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20640" y="5596128"/>
            <a:ext cx="1444752" cy="71323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12079" y="5715000"/>
            <a:ext cx="1261872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7C3AED"/>
                </a:solidFill>
                <a:latin typeface="Noto Sans SC"/>
              </a:rPr>
              <a:t>一次表征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79" y="6025896"/>
            <a:ext cx="126187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多次复用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5669280"/>
            <a:ext cx="4407408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旧标签提供监督，模型学习可迁移地物表征。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从检测结果到政府可用报告：已更新至 2026 年 5 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哈尔滨新区是政府客户场景。玄女调用模型自动生成最新监测报告，将多任务检测结果组织成可阅读、可复核、可归档的交付物。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Noto Sans SC"/>
              </a:rPr>
              <a:t>传统人工报告</a:t>
            </a:r>
          </a:p>
        </p:txBody>
      </p:sp>
      <p:pic>
        <p:nvPicPr>
          <p:cNvPr id="6" name="Picture 5" descr="manual_total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828" y="1956816"/>
            <a:ext cx="1785558" cy="2523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2025 年下半年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4882896"/>
            <a:ext cx="3182112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正式完整，但制作耗时耗力，后续更新压力大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17136" y="1719072"/>
            <a:ext cx="0" cy="3639312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809744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玄女模型自动生成报告</a:t>
            </a:r>
          </a:p>
        </p:txBody>
      </p:sp>
      <p:pic>
        <p:nvPicPr>
          <p:cNvPr id="11" name="Picture 10" descr="model_total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6319" y="1956816"/>
            <a:ext cx="1784992" cy="2523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47488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2025 年 12 月 - 2026 年 5 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9472" y="4882896"/>
            <a:ext cx="32004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自动汇总多任务结果，降低制图、统计和撰写压力</a:t>
            </a:r>
          </a:p>
        </p:txBody>
      </p:sp>
      <p:pic>
        <p:nvPicPr>
          <p:cNvPr id="14" name="Picture 13" descr="all_categories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901952"/>
            <a:ext cx="237744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77072" y="4407408"/>
            <a:ext cx="2596896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2026 报告点位分布图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6 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传统报告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10928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02367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255 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7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人工规模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模型报告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10928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02367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199 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2367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自动生成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真正的产品化能力，是把遥感分析结果变成可持续交付的业务文档。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 Benchmark：玄女 V1.0 与 AEF 官方嵌入正面对标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用真实下游任务指标说话：海淀区 5-fold CV，对比玄女 V1.0 embedding 与 AEF 2025 官方年度 embedding。</a:t>
            </a:r>
          </a:p>
        </p:txBody>
      </p:sp>
      <p:pic>
        <p:nvPicPr>
          <p:cNvPr id="5" name="Picture 4" descr="aef_vs_v1.0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31" y="1627632"/>
            <a:ext cx="10853361" cy="26883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2688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建筑变化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耕地变化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1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1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垃圾堆放 AUC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4773168"/>
            <a:ext cx="1572768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9983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AEF 更强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3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4882896"/>
            <a:ext cx="2633472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坦诚结论：施工工地上 AEF 更强；建筑变化、耕地变化、垃圾堆放等变化类任务上，玄女 V1.0 更强。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3272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Noto Sans SC"/>
              </a:rPr>
              <a:t>注：5-fold CV，海淀区下游任务评测；指标包括 AUC-ROC、F1-best、F1@0.5、mIoU。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玄女不是追随 AlphaEarth，而是在中国城市变化类任务上形成可量化的本土优势。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本土数据和本土任务，会形成自己的模型优势</a:t>
            </a:r>
          </a:p>
        </p:txBody>
      </p:sp>
      <p:pic>
        <p:nvPicPr>
          <p:cNvPr id="4" name="Picture 3" descr="compare_haidian_construction_patch_000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40529"/>
            <a:ext cx="5010912" cy="25847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3986784"/>
            <a:ext cx="50109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海淀下游任务样例：模型输出与标注对比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08176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0" y="1645920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7728" y="153619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国际模型证明方向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181051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AlphaEarth/AEF 说明地理嵌入是全球前沿方向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487168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72491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61518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本土任务需要本土优化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288950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城市变化、建设活动、垃圾堆放具有明显区域业务定义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566160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3803904"/>
            <a:ext cx="237744" cy="237744"/>
          </a:xfrm>
          <a:prstGeom prst="ellipse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67728" y="369417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差距指向迭代路线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96849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施工工地仍需补数据、补标签、补任务定义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718304"/>
            <a:ext cx="10204704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5102352"/>
            <a:ext cx="365760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为什么中国需要自己的遥感数据通用嵌入底座？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5084064"/>
            <a:ext cx="5925312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Noto Sans SC"/>
              </a:rPr>
              <a:t>不是只出于国产替代，而是因为本土数据、本土标签和本土业务目标会带来真实模型优势。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海淀 Benchmark 把“地理嵌入方向正确”推进到“本土底座有必要、有优势、有迭代空间”。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雅江区域：把地理嵌入接入水电站监测智能体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雅江案例面向水电站监测：用户选择区域、任务和时间，用自然语言触发模型与下游任务，自动生成结构化遥感分析报告。</a:t>
            </a:r>
          </a:p>
        </p:txBody>
      </p:sp>
      <p:pic>
        <p:nvPicPr>
          <p:cNvPr id="5" name="Picture 4" descr="e178b904e06c08479cd215ca230ff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53382"/>
            <a:ext cx="7424927" cy="3390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627632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59" y="186537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79407" y="175564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自然语言发起任务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7" y="202996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用户直接提出报告需求，而不是操作脚本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578608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59" y="281635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9407" y="270662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模型与指标可追溯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7" y="298094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展示模型版本、精度、置信度、低置信比例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529584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59" y="3767328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7" y="365760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报告可继续对话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7" y="393192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历史会话保留，可追加月份和修改任务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681728"/>
            <a:ext cx="128016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96.8%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总体精度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48672" y="4681728"/>
            <a:ext cx="1280160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0112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96.3%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平均置信度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玄女底座可以变成用户可直接使用的智能体产品界面，而不是停留在模型 API。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从下游任务结果，到可阅读的遥感分析报告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雅江水电站监测需要的不只是预测图，而是能持续生成指标、图表、风险提示和后续行动建议的工作流。</a:t>
            </a:r>
          </a:p>
        </p:txBody>
      </p:sp>
      <p:pic>
        <p:nvPicPr>
          <p:cNvPr id="5" name="Picture 4" descr="yajiang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57" y="1591056"/>
            <a:ext cx="1299860" cy="1499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3163824"/>
            <a:ext cx="16642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雅江区域</a:t>
            </a:r>
          </a:p>
        </p:txBody>
      </p:sp>
      <p:pic>
        <p:nvPicPr>
          <p:cNvPr id="7" name="Picture 6" descr="land_class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73523"/>
            <a:ext cx="2267712" cy="1334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地物分类</a:t>
            </a:r>
          </a:p>
        </p:txBody>
      </p:sp>
      <p:pic>
        <p:nvPicPr>
          <p:cNvPr id="9" name="Picture 8" descr="spatial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29982"/>
            <a:ext cx="2267712" cy="1021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空间聚类</a:t>
            </a:r>
          </a:p>
        </p:txBody>
      </p:sp>
      <p:pic>
        <p:nvPicPr>
          <p:cNvPr id="11" name="Picture 10" descr="elevation_regre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65551"/>
            <a:ext cx="2267712" cy="750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高程回归</a:t>
            </a:r>
          </a:p>
        </p:txBody>
      </p:sp>
      <p:pic>
        <p:nvPicPr>
          <p:cNvPr id="13" name="Picture 12" descr="change_det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104" y="3749039"/>
            <a:ext cx="1215136" cy="1426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7008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变化检测</a:t>
            </a:r>
          </a:p>
        </p:txBody>
      </p:sp>
      <p:pic>
        <p:nvPicPr>
          <p:cNvPr id="15" name="Picture 14" descr="embedding_retriev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503" y="3749039"/>
            <a:ext cx="1325152" cy="1426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28416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嵌入检索</a:t>
            </a:r>
          </a:p>
        </p:txBody>
      </p:sp>
      <p:pic>
        <p:nvPicPr>
          <p:cNvPr id="17" name="Picture 16" descr="slope_ri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3320" y="3749039"/>
            <a:ext cx="1194336" cy="1426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坡度风险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822191"/>
            <a:ext cx="2980944" cy="12984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096512"/>
            <a:ext cx="243230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智能体报告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4498848"/>
            <a:ext cx="2395728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汇总预测图、置信度、误差图、关键指标与行动建议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4443984"/>
            <a:ext cx="694944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玄女的最终产品形态：地理嵌入底座 + 下游任务库 + 报告智能体。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从三个案例抽象出玄女底座的四层产品能力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案例不是孤立项目，而是在验证玄女可复制的产品架构。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627632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5568" y="1792224"/>
            <a:ext cx="365760" cy="365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9072" y="1783080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地理嵌入层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7" y="1783080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多源、多时相、跨模态、缺失模态下可用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1783080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哈尔滨云遮挡样例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560320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" y="2724912"/>
            <a:ext cx="365760" cy="365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2715768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Noto Sans SC"/>
              </a:rPr>
              <a:t>任务适配层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15768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分类、检测、变化监测、检索、风险识别共享底座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715768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哈尔滨多任务 / 雅江多任务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" y="3493008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5568" y="3657600"/>
            <a:ext cx="365760" cy="36576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19072" y="3648456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Noto Sans SC"/>
              </a:rPr>
              <a:t>评测对标层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3648456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与 AEF 官方嵌入进行下游任务量化比较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648456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海淀 V1.0 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425696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5568" y="4590288"/>
            <a:ext cx="365760" cy="365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9072" y="4581144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SC"/>
              </a:rPr>
              <a:t>报告交付层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581144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生成政务报告或智能体报告，进入客户工作流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81144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 2026 报告 / 雅江智能体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72768" y="5468112"/>
            <a:ext cx="9070848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81328" y="5742432"/>
            <a:ext cx="182880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商业化承接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5715000"/>
            <a:ext cx="612648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按区域、按任务、按更新频率、按 API / 平台授权收费。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玄女不是遥感项目公司，而是在搭建可复用、可评测、可交付的地理智能基础设施。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