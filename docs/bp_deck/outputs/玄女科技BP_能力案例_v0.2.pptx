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78992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whit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85" y="2066543"/>
            <a:ext cx="3254188" cy="22128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8992" y="4535424"/>
            <a:ext cx="2779776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24128" y="4773168"/>
            <a:ext cx="2871216" cy="43891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white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809" y="2066543"/>
            <a:ext cx="3254188" cy="22128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00016" y="4535424"/>
            <a:ext cx="2779776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45152" y="4773168"/>
            <a:ext cx="2871216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whit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33" y="2066543"/>
            <a:ext cx="3254188" cy="221284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21040" y="4535424"/>
            <a:ext cx="2779775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6175" y="4773168"/>
            <a:ext cx="2871216" cy="43891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225296"/>
            <a:ext cx="329184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86384" y="1609344"/>
            <a:ext cx="1609344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86384" y="1847088"/>
            <a:ext cx="3364992" cy="42062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SC"/>
              </a:rPr>
              <a:t>云、雾、雪会遮挡关键地物；城市治理仍需要连续、稳定的变化检测结果。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2907792"/>
            <a:ext cx="334670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9264" y="314553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3312" y="303580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331012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" y="3822191"/>
            <a:ext cx="334670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4059935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53312" y="3950207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422452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" y="4736592"/>
            <a:ext cx="334670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4974336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53312" y="4864607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513892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7136" y="1325880"/>
            <a:ext cx="1243584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 RGB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88736" y="1325880"/>
            <a:ext cx="1243584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 RGB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0336" y="1325880"/>
            <a:ext cx="1243584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变化前嵌入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1936" y="1325880"/>
            <a:ext cx="1243584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变化后嵌入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03536" y="1325880"/>
            <a:ext cx="1243584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变化概率</a:t>
            </a:r>
          </a:p>
        </p:txBody>
      </p:sp>
      <p:pic>
        <p:nvPicPr>
          <p:cNvPr id="24" name="Picture 23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981" y="1627632"/>
            <a:ext cx="5100869" cy="109728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4535424" y="1700784"/>
            <a:ext cx="640080" cy="21945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9432" y="1769364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2563EB"/>
                </a:solidFill>
                <a:latin typeface="Noto Sans SC"/>
              </a:rPr>
              <a:t>样例 1</a:t>
            </a:r>
          </a:p>
        </p:txBody>
      </p:sp>
      <p:pic>
        <p:nvPicPr>
          <p:cNvPr id="27" name="Picture 26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981" y="3035808"/>
            <a:ext cx="5100869" cy="109728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4535424" y="3108960"/>
            <a:ext cx="640080" cy="219456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99432" y="3177540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10B981"/>
                </a:solidFill>
                <a:latin typeface="Noto Sans SC"/>
              </a:rPr>
              <a:t>样例 2</a:t>
            </a:r>
          </a:p>
        </p:txBody>
      </p:sp>
      <p:pic>
        <p:nvPicPr>
          <p:cNvPr id="30" name="Picture 29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981" y="4443984"/>
            <a:ext cx="5100869" cy="1097280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4535424" y="4517136"/>
            <a:ext cx="640080" cy="219456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9432" y="4585716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7C3AED"/>
                </a:solidFill>
                <a:latin typeface="Noto Sans SC"/>
              </a:rPr>
              <a:t>样例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60720" y="1719072"/>
            <a:ext cx="1078992" cy="658368"/>
          </a:xfrm>
          <a:prstGeom prst="rect">
            <a:avLst/>
          </a:prstGeom>
          <a:noFill/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760720" y="1536192"/>
            <a:ext cx="786384" cy="18288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15583" y="1586484"/>
            <a:ext cx="676656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F59E0B"/>
                </a:solidFill>
                <a:latin typeface="Noto Sans SC"/>
              </a:rPr>
              <a:t>云雾遮挡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3136392"/>
            <a:ext cx="1078992" cy="731520"/>
          </a:xfrm>
          <a:prstGeom prst="rect">
            <a:avLst/>
          </a:prstGeom>
          <a:noFill/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72000" y="2953512"/>
            <a:ext cx="786384" cy="18288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26864" y="3003804"/>
            <a:ext cx="676656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F59E0B"/>
                </a:solidFill>
                <a:latin typeface="Noto Sans SC"/>
              </a:rPr>
              <a:t>云雾遮挡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0" y="4590288"/>
            <a:ext cx="1115568" cy="658368"/>
          </a:xfrm>
          <a:prstGeom prst="rect">
            <a:avLst/>
          </a:prstGeom>
          <a:noFill/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572000" y="4407407"/>
            <a:ext cx="786384" cy="18288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26864" y="4457700"/>
            <a:ext cx="676656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F59E0B"/>
                </a:solidFill>
                <a:latin typeface="Noto Sans SC"/>
              </a:rPr>
              <a:t>云雾遮挡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6384" y="592531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使用 2021 年 WorldCover 和旧建筑物数据作为监督标签，统一地理嵌入仍能为不同任务提供稳定空间语义线索。</a:t>
            </a:r>
          </a:p>
        </p:txBody>
      </p:sp>
      <p:pic>
        <p:nvPicPr>
          <p:cNvPr id="5" name="Picture 4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66852"/>
            <a:ext cx="3383280" cy="14760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7" name="Picture 6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1666852"/>
            <a:ext cx="3383280" cy="14760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074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9" name="Picture 8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08" y="1666852"/>
            <a:ext cx="3383280" cy="14760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650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11" name="Picture 10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" y="3735920"/>
            <a:ext cx="4114800" cy="1013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72768" y="4828032"/>
            <a:ext cx="411480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13" name="Picture 12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0528" y="3735920"/>
            <a:ext cx="4114800" cy="101379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10528" y="4828032"/>
            <a:ext cx="411480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44752" y="5358384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6192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下游任务示例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47872" y="5358384"/>
            <a:ext cx="1572768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9312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旧标签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仍可迁移验证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50992" y="5358384"/>
            <a:ext cx="1572768" cy="71323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2431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7C3AED"/>
                </a:solidFill>
                <a:latin typeface="Noto Sans SC"/>
              </a:rPr>
              <a:t>一次表征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42431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多任务复用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5522976"/>
            <a:ext cx="285292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新增任务不再等于重新做一套遥感工程。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从检测结果到政府可用报告：已更新至 2026 年 5 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哈尔滨新区是政府客户场景。玄女调用模型自动生成最新监测报告，将多任务检测结果组织成可阅读、可复核、可归档的交付物。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Noto Sans SC"/>
              </a:rPr>
              <a:t>传统人工报告</a:t>
            </a:r>
          </a:p>
        </p:txBody>
      </p:sp>
      <p:pic>
        <p:nvPicPr>
          <p:cNvPr id="6" name="Picture 5" descr="manua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828" y="1956816"/>
            <a:ext cx="1785558" cy="2523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2025 年下半年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4882896"/>
            <a:ext cx="3182112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正式完整，但制作耗时耗力，后续更新压力大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17136" y="1719072"/>
            <a:ext cx="0" cy="3639312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809744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玄女模型自动生成报告</a:t>
            </a:r>
          </a:p>
        </p:txBody>
      </p:sp>
      <p:pic>
        <p:nvPicPr>
          <p:cNvPr id="11" name="Picture 10" descr="model_total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319" y="1956816"/>
            <a:ext cx="1784992" cy="2523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47488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2025 年 12 月 - 2026 年 5 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4882896"/>
            <a:ext cx="3200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自动汇总多任务结果，降低制图、统计和撰写压力</a:t>
            </a:r>
          </a:p>
        </p:txBody>
      </p:sp>
      <p:pic>
        <p:nvPicPr>
          <p:cNvPr id="14" name="Picture 13" descr="all_categories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901952"/>
            <a:ext cx="237744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77072" y="4407408"/>
            <a:ext cx="2596896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2026 报告点位分布图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6 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传统报告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0928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02367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255 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人工规模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模型报告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10928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02367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199 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7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自动生成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真正的产品化能力，是把遥感分析结果变成可持续交付的业务文档。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