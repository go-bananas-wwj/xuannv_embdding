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07008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078992"/>
            <a:ext cx="693115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462" y="1353312"/>
            <a:ext cx="2221683" cy="9692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14800" y="23957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462" y="2724912"/>
            <a:ext cx="2221683" cy="969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0" y="37673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462" y="4096512"/>
            <a:ext cx="2221683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114800" y="51389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1782549"/>
            <a:ext cx="3493008" cy="8605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45552" y="296265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2" y="3794229"/>
            <a:ext cx="3493008" cy="8605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45552" y="497433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705856"/>
            <a:ext cx="106070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旧标签不再只是一次性标注资产：玄女底座从旧标签中提取可迁移地物知识，并将同一套地理嵌入复用到水体、建筑、地表分类与变化检测等多类任务。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哈尔滨新区：从检测结果到政府可用报告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模型价值最终要落到交付：把变化检测、统计制图和业务解释组织成政府客户可阅读、可复核、可归档的报告。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32918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Noto Sans SC"/>
              </a:rPr>
              <a:t>用户历程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810512"/>
            <a:ext cx="1444752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1993392"/>
            <a:ext cx="307238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传统人工流程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12848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2286000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30886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295144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接到监测任务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78608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2651760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67462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660903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下载影像与底图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44368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8368" y="3017520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040379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026663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预处理与配准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310128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3383280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340614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3392424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人工解译/核查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75887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3749039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377190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3758183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制图统计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041648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8368" y="4114800"/>
            <a:ext cx="164592" cy="164592"/>
          </a:xfrm>
          <a:prstGeom prst="ellipse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13766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F59E0B"/>
                </a:solidFill>
                <a:latin typeface="Noto Sans S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123944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撰写审核归档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480560"/>
            <a:ext cx="307238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SC"/>
              </a:rPr>
              <a:t>玄女自动化流程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663440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4736592"/>
            <a:ext cx="164592" cy="164592"/>
          </a:xfrm>
          <a:prstGeom prst="ellipse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4759452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2563EB"/>
                </a:solidFill>
                <a:latin typeface="Noto Sans SC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745736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选择区域/任务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992624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58368" y="5065776"/>
            <a:ext cx="164592" cy="164592"/>
          </a:xfrm>
          <a:prstGeom prst="ellipse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5088636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2563EB"/>
                </a:solidFill>
                <a:latin typeface="Noto Sans SC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" y="5074920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调用嵌入与任务头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321807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8368" y="5394959"/>
            <a:ext cx="164592" cy="164592"/>
          </a:xfrm>
          <a:prstGeom prst="ellipse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5417820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2563EB"/>
                </a:solidFill>
                <a:latin typeface="Noto Sans SC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" y="5404103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自动制图统计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5650992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58368" y="5724144"/>
            <a:ext cx="164592" cy="164592"/>
          </a:xfrm>
          <a:prstGeom prst="ellipse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5747004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2563EB"/>
                </a:solidFill>
                <a:latin typeface="Noto Sans SC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" y="5733288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生成报告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928" y="5980175"/>
            <a:ext cx="2999232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58368" y="6053327"/>
            <a:ext cx="164592" cy="164592"/>
          </a:xfrm>
          <a:prstGeom prst="ellipse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6076188"/>
            <a:ext cx="146304" cy="5486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2563EB"/>
                </a:solidFill>
                <a:latin typeface="Noto Sans SC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6062471"/>
            <a:ext cx="256032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F172A"/>
                </a:solidFill>
                <a:latin typeface="Noto Sans SC"/>
              </a:rPr>
              <a:t>人工复核提交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822191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151376" y="1481328"/>
            <a:ext cx="3547872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自动生成报告样例</a:t>
            </a:r>
          </a:p>
        </p:txBody>
      </p:sp>
      <p:pic>
        <p:nvPicPr>
          <p:cNvPr id="55" name="Picture 54" descr="mode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468" y="1847088"/>
            <a:ext cx="2043687" cy="288950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315968" y="4882896"/>
            <a:ext cx="3218688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15968" y="5157216"/>
            <a:ext cx="3218688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已生成 5 份专题报告，共 199 页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955279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321040" y="1481328"/>
            <a:ext cx="29260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SC"/>
              </a:rPr>
              <a:t>给投资人算一笔账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5" y="1847088"/>
            <a:ext cx="299923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以一次月度/周期监测报告为例，按遥感工程师、制图与报告撰写人力的保守估算。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47888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39327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10-15 天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9327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传统交付周期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57232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48672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4-6 万元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48672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传统综合成本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47888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39327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0.5-1 天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9327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玄女交付周期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857232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948672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千元级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48672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玄女边际成本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247888" y="4224528"/>
            <a:ext cx="2980944" cy="8412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12480" y="4370832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节省结果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30768" y="4626864"/>
            <a:ext cx="261518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报告生产从“项目制人力交付”变成“模型驱动的持续交付”。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384" y="6345936"/>
            <a:ext cx="106070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时间节省约 90%+，单次报告成本下降一个数量级。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