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78992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85" y="2066543"/>
            <a:ext cx="3254188" cy="22128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8992" y="4535424"/>
            <a:ext cx="2779776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24128" y="4773168"/>
            <a:ext cx="2871216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09" y="2066543"/>
            <a:ext cx="3254188" cy="22128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00016" y="4535424"/>
            <a:ext cx="27797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45152" y="4773168"/>
            <a:ext cx="2871216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33" y="2066543"/>
            <a:ext cx="3254188" cy="221284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21040" y="4535424"/>
            <a:ext cx="27797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6175" y="4773168"/>
            <a:ext cx="2871216" cy="43891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云、雾、雪遮挡关键地物，城市治理仍需要连续、稳定的变化检测结果。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5915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32888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45059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67004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71800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145536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063240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282696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84448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758184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675887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895344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370832"/>
            <a:ext cx="2852928" cy="11704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35424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为什么能识别？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82312"/>
            <a:ext cx="2487168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训练阶段融合多模态遥感数据；单一模态被云雾遮挡时，其他模态仍可补充约束。对比变化前后地理嵌入差异，即可识别真实变化区域。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80160"/>
            <a:ext cx="0" cy="4626864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36592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 RGB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 RGB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变化前嵌入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变化后嵌入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0384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变化概率</a:t>
            </a:r>
          </a:p>
        </p:txBody>
      </p:sp>
      <p:pic>
        <p:nvPicPr>
          <p:cNvPr id="28" name="Picture 27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554480"/>
            <a:ext cx="6492240" cy="1481328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968496" y="2176272"/>
            <a:ext cx="640080" cy="21945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32504" y="224485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样例一</a:t>
            </a:r>
          </a:p>
        </p:txBody>
      </p:sp>
      <p:pic>
        <p:nvPicPr>
          <p:cNvPr id="31" name="Picture 30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017520"/>
            <a:ext cx="6492240" cy="148132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3968496" y="3639312"/>
            <a:ext cx="640080" cy="21945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32504" y="3707891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样例二</a:t>
            </a:r>
          </a:p>
        </p:txBody>
      </p:sp>
      <p:pic>
        <p:nvPicPr>
          <p:cNvPr id="34" name="Picture 33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4480560"/>
            <a:ext cx="6492240" cy="1481328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3968496" y="5102352"/>
            <a:ext cx="640080" cy="21945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32504" y="517093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样例三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1344" y="1700784"/>
            <a:ext cx="1078992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499616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7" y="15590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28032" y="3072384"/>
            <a:ext cx="1207008" cy="822960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28032" y="2871215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82896" y="29306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28032" y="4663440"/>
            <a:ext cx="1188720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828032" y="4462272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82896" y="4521707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" y="6419088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42062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城市治理不是单一模型问题，而是水体、建筑、地表、施工工地和耕地变化等多任务并行。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14016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87752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505456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旧标签复用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724912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旧标签局部过时，也能提供可迁移监督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26664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200400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118104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一次表征，多次复用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337560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同一区域嵌入可服务多类任务头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3931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813048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73075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支持多类下游任务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95020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从水体、建筑扩展到变化与分类任务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5696"/>
            <a:ext cx="2852928" cy="100584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9028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核心价值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818888"/>
            <a:ext cx="2487168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从旧标签中学习稳定地物知识，在新影像上完成更贴近真实地物的划分。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07008"/>
            <a:ext cx="0" cy="4224528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24528" y="1078992"/>
            <a:ext cx="693115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旧标签复用后的新影像划分效果</a:t>
            </a:r>
          </a:p>
        </p:txBody>
      </p:sp>
      <p:pic>
        <p:nvPicPr>
          <p:cNvPr id="24" name="Picture 23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0462" y="1353312"/>
            <a:ext cx="2221683" cy="96926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114800" y="23957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26" name="Picture 25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462" y="2724912"/>
            <a:ext cx="2221683" cy="96926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114800" y="37673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28" name="Picture 27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0462" y="4096512"/>
            <a:ext cx="2221683" cy="96926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114800" y="51389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30" name="Picture 29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2" y="1782549"/>
            <a:ext cx="3493008" cy="8605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845552" y="2962656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32" name="Picture 31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5552" y="3794229"/>
            <a:ext cx="3493008" cy="8605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845552" y="4974336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705856"/>
            <a:ext cx="1060704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旧标签不再只是一次性标注资产：玄女底座从旧标签中提取可迁移地物知识，并将同一套地理嵌入复用到水体、建筑、地表分类与变化检测等多类任务。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从检测结果到政府可用报告：已更新至 2026 年 5 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哈尔滨新区是政府客户场景。玄女调用模型自动生成最新监测报告，将多任务检测结果组织成可阅读、可复核、可归档的交付物。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0F172A"/>
                </a:solidFill>
                <a:latin typeface="Noto Sans SC"/>
              </a:rPr>
              <a:t>传统人工报告</a:t>
            </a:r>
          </a:p>
        </p:txBody>
      </p:sp>
      <p:pic>
        <p:nvPicPr>
          <p:cNvPr id="6" name="Picture 5" descr="manua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828" y="1956816"/>
            <a:ext cx="1785558" cy="2523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2025 年下半年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4882896"/>
            <a:ext cx="3182112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正式完整，但制作耗时耗力，后续更新压力大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17136" y="1719072"/>
            <a:ext cx="0" cy="3639312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809744" y="1627632"/>
            <a:ext cx="3401568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玄女模型自动生成报告</a:t>
            </a:r>
          </a:p>
        </p:txBody>
      </p:sp>
      <p:pic>
        <p:nvPicPr>
          <p:cNvPr id="11" name="Picture 10" descr="model_total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319" y="1956816"/>
            <a:ext cx="1784992" cy="2523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47488" y="4608576"/>
            <a:ext cx="292608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2025 年 12 月 - 2026 年 5 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9472" y="4882896"/>
            <a:ext cx="32004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自动汇总多任务结果，降低制图、统计和撰写压力</a:t>
            </a:r>
          </a:p>
        </p:txBody>
      </p:sp>
      <p:pic>
        <p:nvPicPr>
          <p:cNvPr id="14" name="Picture 13" descr="all_categories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1901952"/>
            <a:ext cx="2377440" cy="2377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77072" y="4407408"/>
            <a:ext cx="2596896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2026 报告点位分布图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6 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传统报告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0928" y="4956048"/>
            <a:ext cx="1225296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02367" y="5074920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255 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7" y="5385816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人工规模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5 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模型报告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10928" y="5632704"/>
            <a:ext cx="1225296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02367" y="5751576"/>
            <a:ext cx="1042416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199 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02367" y="6062472"/>
            <a:ext cx="104241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自动生成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真正的产品化能力，是把遥感分析结果变成可持续交付的业务文档。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Benchmark：玄女 V1.0 与 AEF 官方嵌入正面对标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pic>
        <p:nvPicPr>
          <p:cNvPr id="5" name="Picture 4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231" y="1627632"/>
            <a:ext cx="10853361" cy="26883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2688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36592" y="4773168"/>
            <a:ext cx="1572768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1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8544" y="4773168"/>
            <a:ext cx="1572768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9983" y="4892040"/>
            <a:ext cx="138988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9983" y="5202936"/>
            <a:ext cx="138988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85632" y="4882896"/>
            <a:ext cx="2633472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坦诚结论：施工工地上 AEF 更强；建筑变化、耕地变化、垃圾堆放等变化类任务上，玄女 V1.0 更强。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玄女不是追随 AlphaEarth，而是在中国城市变化类任务上形成可量化的本土优势。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