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image" Target="../media/image3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image" Target="../media/image5.png"/><Relationship Id="rId4" Type="http://schemas.openxmlformats.org/officeDocument/2006/relationships/image" Target="../media/image6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Relationship Id="rId3" Type="http://schemas.openxmlformats.org/officeDocument/2006/relationships/image" Target="../media/image8.png"/><Relationship Id="rId4" Type="http://schemas.openxmlformats.org/officeDocument/2006/relationships/image" Target="../media/image9.png"/><Relationship Id="rId5" Type="http://schemas.openxmlformats.org/officeDocument/2006/relationships/image" Target="../media/image10.png"/><Relationship Id="rId6" Type="http://schemas.openxmlformats.org/officeDocument/2006/relationships/image" Target="../media/image11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2.png"/><Relationship Id="rId3" Type="http://schemas.openxmlformats.org/officeDocument/2006/relationships/image" Target="../media/image13.png"/><Relationship Id="rId4" Type="http://schemas.openxmlformats.org/officeDocument/2006/relationships/image" Target="../media/image14.png"/><Relationship Id="rId5" Type="http://schemas.openxmlformats.org/officeDocument/2006/relationships/image" Target="../media/image15.png"/><Relationship Id="rId6" Type="http://schemas.openxmlformats.org/officeDocument/2006/relationships/image" Target="../media/image16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7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8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9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0.png"/><Relationship Id="rId3" Type="http://schemas.openxmlformats.org/officeDocument/2006/relationships/image" Target="../media/image21.png"/><Relationship Id="rId4" Type="http://schemas.openxmlformats.org/officeDocument/2006/relationships/image" Target="../media/image22.png"/><Relationship Id="rId5" Type="http://schemas.openxmlformats.org/officeDocument/2006/relationships/image" Target="../media/image23.png"/><Relationship Id="rId6" Type="http://schemas.openxmlformats.org/officeDocument/2006/relationships/image" Target="../media/image24.png"/><Relationship Id="rId7" Type="http://schemas.openxmlformats.org/officeDocument/2006/relationships/image" Target="../media/image25.png"/><Relationship Id="rId8" Type="http://schemas.openxmlformats.org/officeDocument/2006/relationships/image" Target="../media/image26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84048"/>
            <a:ext cx="384048" cy="201168"/>
          </a:xfrm>
          <a:prstGeom prst="rect">
            <a:avLst/>
          </a:prstGeom>
          <a:noFill/>
        </p:spPr>
        <p:txBody>
          <a:bodyPr wrap="square" anchor="ctr" lIns="0" rIns="0" tIns="0" bIns="0">
            <a:normAutofit/>
          </a:bodyPr>
          <a:lstStyle/>
          <a:p>
            <a:pPr algn="l"/>
            <a:r>
              <a:rPr sz="800" b="1">
                <a:solidFill>
                  <a:srgbClr val="0EA5E9"/>
                </a:solidFill>
                <a:latin typeface="Noto Sans SC"/>
              </a:rPr>
              <a:t>10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50976" y="256032"/>
            <a:ext cx="10424160" cy="566928"/>
          </a:xfrm>
          <a:prstGeom prst="rect">
            <a:avLst/>
          </a:prstGeom>
          <a:noFill/>
        </p:spPr>
        <p:txBody>
          <a:bodyPr wrap="square" anchor="ctr" lIns="0" rIns="0" tIns="0" bIns="0">
            <a:normAutofit/>
          </a:bodyPr>
          <a:lstStyle/>
          <a:p>
            <a:pPr algn="l"/>
            <a:r>
              <a:rPr sz="2400" b="1">
                <a:solidFill>
                  <a:srgbClr val="0F172A"/>
                </a:solidFill>
                <a:latin typeface="Noto Sans SC"/>
              </a:rPr>
              <a:t>现有工程实践案例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32688" y="1078992"/>
            <a:ext cx="10241280" cy="310896"/>
          </a:xfrm>
          <a:prstGeom prst="rect">
            <a:avLst/>
          </a:prstGeom>
          <a:noFill/>
        </p:spPr>
        <p:txBody>
          <a:bodyPr wrap="square" anchor="ctr" lIns="0" rIns="0" tIns="0" bIns="0">
            <a:normAutofit/>
          </a:bodyPr>
          <a:lstStyle/>
          <a:p>
            <a:pPr algn="ctr"/>
            <a:r>
              <a:rPr sz="1500" b="1">
                <a:solidFill>
                  <a:srgbClr val="2563EB"/>
                </a:solidFill>
                <a:latin typeface="Noto Sans SC"/>
              </a:rPr>
              <a:t>玄女底座已围绕政府城市治理、复杂城市变化评测与水电站周边监测，形成面向真实区域的工程实践。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69264" y="1737360"/>
            <a:ext cx="2971800" cy="256032"/>
          </a:xfrm>
          <a:prstGeom prst="rect">
            <a:avLst/>
          </a:prstGeom>
          <a:noFill/>
        </p:spPr>
        <p:txBody>
          <a:bodyPr wrap="square" anchor="ctr" lIns="0" rIns="0" tIns="0" bIns="0">
            <a:normAutofit/>
          </a:bodyPr>
          <a:lstStyle/>
          <a:p>
            <a:pPr algn="ctr"/>
            <a:r>
              <a:rPr sz="1700" b="1">
                <a:solidFill>
                  <a:srgbClr val="0F172A"/>
                </a:solidFill>
                <a:latin typeface="Noto Sans SC"/>
              </a:rPr>
              <a:t>哈尔滨新区</a:t>
            </a:r>
          </a:p>
        </p:txBody>
      </p:sp>
      <p:pic>
        <p:nvPicPr>
          <p:cNvPr id="6" name="Picture 5" descr="practice_region_harbin_whitefi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41785" y="2066543"/>
            <a:ext cx="3254188" cy="2212848"/>
          </a:xfrm>
          <a:prstGeom prst="rect">
            <a:avLst/>
          </a:prstGeom>
        </p:spPr>
      </p:pic>
      <p:cxnSp>
        <p:nvCxnSpPr>
          <p:cNvPr id="7" name="Connector 6"/>
          <p:cNvCxnSpPr/>
          <p:nvPr/>
        </p:nvCxnSpPr>
        <p:spPr>
          <a:xfrm>
            <a:off x="1078992" y="4535424"/>
            <a:ext cx="2779776" cy="0"/>
          </a:xfrm>
          <a:prstGeom prst="line">
            <a:avLst/>
          </a:prstGeom>
          <a:ln w="13970">
            <a:solidFill>
              <a:srgbClr val="2563E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Rounded Rectangle 7"/>
          <p:cNvSpPr/>
          <p:nvPr/>
        </p:nvSpPr>
        <p:spPr>
          <a:xfrm>
            <a:off x="1024128" y="4773168"/>
            <a:ext cx="2871216" cy="438912"/>
          </a:xfrm>
          <a:prstGeom prst="roundRect">
            <a:avLst/>
          </a:prstGeom>
          <a:solidFill>
            <a:srgbClr val="EFF6FF"/>
          </a:solidFill>
          <a:ln w="10160">
            <a:solidFill>
              <a:srgbClr val="2563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188720" y="4910328"/>
            <a:ext cx="2542032" cy="128016"/>
          </a:xfrm>
          <a:prstGeom prst="rect">
            <a:avLst/>
          </a:prstGeom>
          <a:noFill/>
        </p:spPr>
        <p:txBody>
          <a:bodyPr wrap="square" anchor="ctr" lIns="0" rIns="0" tIns="0" bIns="0">
            <a:normAutofit/>
          </a:bodyPr>
          <a:lstStyle/>
          <a:p>
            <a:pPr algn="ctr"/>
            <a:r>
              <a:rPr sz="1000" b="1">
                <a:solidFill>
                  <a:srgbClr val="2563EB"/>
                </a:solidFill>
                <a:latin typeface="Noto Sans SC"/>
              </a:rPr>
              <a:t>政府客户 · 城市治理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24128" y="5431536"/>
            <a:ext cx="2871216" cy="365760"/>
          </a:xfrm>
          <a:prstGeom prst="rect">
            <a:avLst/>
          </a:prstGeom>
          <a:noFill/>
        </p:spPr>
        <p:txBody>
          <a:bodyPr wrap="square" anchor="ctr" lIns="0" rIns="0" tIns="0" bIns="0">
            <a:normAutofit/>
          </a:bodyPr>
          <a:lstStyle/>
          <a:p>
            <a:pPr algn="ctr"/>
            <a:r>
              <a:rPr sz="1200" b="1">
                <a:solidFill>
                  <a:srgbClr val="0F172A"/>
                </a:solidFill>
                <a:latin typeface="Noto Sans SC"/>
              </a:rPr>
              <a:t>多专题持续监测与城市管理报告更新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590288" y="1737360"/>
            <a:ext cx="2971800" cy="256032"/>
          </a:xfrm>
          <a:prstGeom prst="rect">
            <a:avLst/>
          </a:prstGeom>
          <a:noFill/>
        </p:spPr>
        <p:txBody>
          <a:bodyPr wrap="square" anchor="ctr" lIns="0" rIns="0" tIns="0" bIns="0">
            <a:normAutofit/>
          </a:bodyPr>
          <a:lstStyle/>
          <a:p>
            <a:pPr algn="ctr"/>
            <a:r>
              <a:rPr sz="1700" b="1">
                <a:solidFill>
                  <a:srgbClr val="0F172A"/>
                </a:solidFill>
                <a:latin typeface="Noto Sans SC"/>
              </a:rPr>
              <a:t>海淀区</a:t>
            </a:r>
          </a:p>
        </p:txBody>
      </p:sp>
      <p:pic>
        <p:nvPicPr>
          <p:cNvPr id="12" name="Picture 11" descr="practice_region_haidian_whitefit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462809" y="2066543"/>
            <a:ext cx="3254188" cy="2212848"/>
          </a:xfrm>
          <a:prstGeom prst="rect">
            <a:avLst/>
          </a:prstGeom>
        </p:spPr>
      </p:pic>
      <p:cxnSp>
        <p:nvCxnSpPr>
          <p:cNvPr id="13" name="Connector 12"/>
          <p:cNvCxnSpPr/>
          <p:nvPr/>
        </p:nvCxnSpPr>
        <p:spPr>
          <a:xfrm>
            <a:off x="4700016" y="4535424"/>
            <a:ext cx="2779776" cy="0"/>
          </a:xfrm>
          <a:prstGeom prst="line">
            <a:avLst/>
          </a:prstGeom>
          <a:ln w="13970">
            <a:solidFill>
              <a:srgbClr val="10B98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Rounded Rectangle 13"/>
          <p:cNvSpPr/>
          <p:nvPr/>
        </p:nvSpPr>
        <p:spPr>
          <a:xfrm>
            <a:off x="4645152" y="4773168"/>
            <a:ext cx="2871216" cy="438912"/>
          </a:xfrm>
          <a:prstGeom prst="roundRect">
            <a:avLst/>
          </a:prstGeom>
          <a:solidFill>
            <a:srgbClr val="ECFDF5"/>
          </a:solidFill>
          <a:ln w="10160"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809744" y="4910328"/>
            <a:ext cx="2542032" cy="128016"/>
          </a:xfrm>
          <a:prstGeom prst="rect">
            <a:avLst/>
          </a:prstGeom>
          <a:noFill/>
        </p:spPr>
        <p:txBody>
          <a:bodyPr wrap="square" anchor="ctr" lIns="0" rIns="0" tIns="0" bIns="0">
            <a:normAutofit/>
          </a:bodyPr>
          <a:lstStyle/>
          <a:p>
            <a:pPr algn="ctr"/>
            <a:r>
              <a:rPr sz="1000" b="1">
                <a:solidFill>
                  <a:srgbClr val="10B981"/>
                </a:solidFill>
                <a:latin typeface="Noto Sans SC"/>
              </a:rPr>
              <a:t>城市核心区 · 任务评测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645152" y="5431536"/>
            <a:ext cx="2871216" cy="365760"/>
          </a:xfrm>
          <a:prstGeom prst="rect">
            <a:avLst/>
          </a:prstGeom>
          <a:noFill/>
        </p:spPr>
        <p:txBody>
          <a:bodyPr wrap="square" anchor="ctr" lIns="0" rIns="0" tIns="0" bIns="0">
            <a:normAutofit/>
          </a:bodyPr>
          <a:lstStyle/>
          <a:p>
            <a:pPr algn="ctr"/>
            <a:r>
              <a:rPr sz="1200" b="1">
                <a:solidFill>
                  <a:srgbClr val="0F172A"/>
                </a:solidFill>
                <a:latin typeface="Noto Sans SC"/>
              </a:rPr>
              <a:t>复杂城市纹理下，对标国际地理嵌入能力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211311" y="1737360"/>
            <a:ext cx="2971800" cy="256032"/>
          </a:xfrm>
          <a:prstGeom prst="rect">
            <a:avLst/>
          </a:prstGeom>
          <a:noFill/>
        </p:spPr>
        <p:txBody>
          <a:bodyPr wrap="square" anchor="ctr" lIns="0" rIns="0" tIns="0" bIns="0">
            <a:normAutofit/>
          </a:bodyPr>
          <a:lstStyle/>
          <a:p>
            <a:pPr algn="ctr"/>
            <a:r>
              <a:rPr sz="1700" b="1">
                <a:solidFill>
                  <a:srgbClr val="0F172A"/>
                </a:solidFill>
                <a:latin typeface="Noto Sans SC"/>
              </a:rPr>
              <a:t>雅江区域</a:t>
            </a:r>
          </a:p>
        </p:txBody>
      </p:sp>
      <p:pic>
        <p:nvPicPr>
          <p:cNvPr id="18" name="Picture 17" descr="practice_region_yajiang_whitefit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083833" y="2066543"/>
            <a:ext cx="3254188" cy="2212848"/>
          </a:xfrm>
          <a:prstGeom prst="rect">
            <a:avLst/>
          </a:prstGeom>
        </p:spPr>
      </p:pic>
      <p:cxnSp>
        <p:nvCxnSpPr>
          <p:cNvPr id="19" name="Connector 18"/>
          <p:cNvCxnSpPr/>
          <p:nvPr/>
        </p:nvCxnSpPr>
        <p:spPr>
          <a:xfrm>
            <a:off x="8321040" y="4535424"/>
            <a:ext cx="2779775" cy="0"/>
          </a:xfrm>
          <a:prstGeom prst="line">
            <a:avLst/>
          </a:prstGeom>
          <a:ln w="13970">
            <a:solidFill>
              <a:srgbClr val="7C3AE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0" name="Rounded Rectangle 19"/>
          <p:cNvSpPr/>
          <p:nvPr/>
        </p:nvSpPr>
        <p:spPr>
          <a:xfrm>
            <a:off x="8266175" y="4773168"/>
            <a:ext cx="2871216" cy="438912"/>
          </a:xfrm>
          <a:prstGeom prst="roundRect">
            <a:avLst/>
          </a:prstGeom>
          <a:solidFill>
            <a:srgbClr val="F5F3FF"/>
          </a:solidFill>
          <a:ln w="10160">
            <a:solidFill>
              <a:srgbClr val="7C3A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430767" y="4910328"/>
            <a:ext cx="2542032" cy="128016"/>
          </a:xfrm>
          <a:prstGeom prst="rect">
            <a:avLst/>
          </a:prstGeom>
          <a:noFill/>
        </p:spPr>
        <p:txBody>
          <a:bodyPr wrap="square" anchor="ctr" lIns="0" rIns="0" tIns="0" bIns="0">
            <a:normAutofit/>
          </a:bodyPr>
          <a:lstStyle/>
          <a:p>
            <a:pPr algn="ctr"/>
            <a:r>
              <a:rPr sz="1000" b="1">
                <a:solidFill>
                  <a:srgbClr val="7C3AED"/>
                </a:solidFill>
                <a:latin typeface="Noto Sans SC"/>
              </a:rPr>
              <a:t>水电站周边 · 安全监测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266175" y="5431536"/>
            <a:ext cx="2871216" cy="365760"/>
          </a:xfrm>
          <a:prstGeom prst="rect">
            <a:avLst/>
          </a:prstGeom>
          <a:noFill/>
        </p:spPr>
        <p:txBody>
          <a:bodyPr wrap="square" anchor="ctr" lIns="0" rIns="0" tIns="0" bIns="0">
            <a:normAutofit/>
          </a:bodyPr>
          <a:lstStyle/>
          <a:p>
            <a:pPr algn="ctr"/>
            <a:r>
              <a:rPr sz="1200" b="1">
                <a:solidFill>
                  <a:srgbClr val="0F172A"/>
                </a:solidFill>
                <a:latin typeface="Noto Sans SC"/>
              </a:rPr>
              <a:t>水电站周边态势监测与遥感分析报告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84048"/>
            <a:ext cx="384048" cy="201168"/>
          </a:xfrm>
          <a:prstGeom prst="rect">
            <a:avLst/>
          </a:prstGeom>
          <a:noFill/>
        </p:spPr>
        <p:txBody>
          <a:bodyPr wrap="square" anchor="ctr" lIns="0" rIns="0" tIns="0" bIns="0">
            <a:normAutofit/>
          </a:bodyPr>
          <a:lstStyle/>
          <a:p>
            <a:pPr algn="l"/>
            <a:r>
              <a:rPr sz="800" b="1">
                <a:solidFill>
                  <a:srgbClr val="0EA5E9"/>
                </a:solidFill>
                <a:latin typeface="Noto Sans SC"/>
              </a:rPr>
              <a:t>11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50976" y="256032"/>
            <a:ext cx="10424160" cy="566928"/>
          </a:xfrm>
          <a:prstGeom prst="rect">
            <a:avLst/>
          </a:prstGeom>
          <a:noFill/>
        </p:spPr>
        <p:txBody>
          <a:bodyPr wrap="square" anchor="ctr" lIns="0" rIns="0" tIns="0" bIns="0">
            <a:normAutofit/>
          </a:bodyPr>
          <a:lstStyle/>
          <a:p>
            <a:pPr algn="l"/>
            <a:r>
              <a:rPr sz="2400" b="1">
                <a:solidFill>
                  <a:srgbClr val="0F172A"/>
                </a:solidFill>
                <a:latin typeface="Noto Sans SC"/>
              </a:rPr>
              <a:t>哈尔滨新区：有云遮挡，仍能识别变化区域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1133856"/>
            <a:ext cx="2816352" cy="237744"/>
          </a:xfrm>
          <a:prstGeom prst="rect">
            <a:avLst/>
          </a:prstGeom>
          <a:noFill/>
        </p:spPr>
        <p:txBody>
          <a:bodyPr wrap="square" anchor="ctr" lIns="0" rIns="0" tIns="0" bIns="0">
            <a:normAutofit/>
          </a:bodyPr>
          <a:lstStyle/>
          <a:p>
            <a:pPr algn="l"/>
            <a:r>
              <a:rPr sz="1700" b="1">
                <a:solidFill>
                  <a:srgbClr val="2563EB"/>
                </a:solidFill>
                <a:latin typeface="Noto Sans SC"/>
              </a:rPr>
              <a:t>政府客户的真实难题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566928" y="1517904"/>
            <a:ext cx="1645920" cy="0"/>
          </a:xfrm>
          <a:prstGeom prst="line">
            <a:avLst/>
          </a:prstGeom>
          <a:ln w="13970">
            <a:solidFill>
              <a:srgbClr val="2563E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566928" y="1737360"/>
            <a:ext cx="2852928" cy="365760"/>
          </a:xfrm>
          <a:prstGeom prst="rect">
            <a:avLst/>
          </a:prstGeom>
          <a:noFill/>
        </p:spPr>
        <p:txBody>
          <a:bodyPr wrap="square" anchor="ctr" lIns="0" rIns="0" tIns="0" bIns="0">
            <a:normAutofit/>
          </a:bodyPr>
          <a:lstStyle/>
          <a:p>
            <a:pPr algn="l"/>
            <a:r>
              <a:rPr sz="1400" b="1">
                <a:solidFill>
                  <a:srgbClr val="0F172A"/>
                </a:solidFill>
                <a:latin typeface="Noto Sans SC"/>
              </a:rPr>
              <a:t>云、雾、雪遮挡关键地物，城市治理仍需要连续、稳定的变化检测结果。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2359152"/>
            <a:ext cx="2852928" cy="530352"/>
          </a:xfrm>
          <a:prstGeom prst="roundRect">
            <a:avLst/>
          </a:prstGeom>
          <a:solidFill>
            <a:srgbClr val="FFFFFF"/>
          </a:solidFill>
          <a:ln w="1016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731520" y="2532888"/>
            <a:ext cx="182880" cy="182880"/>
          </a:xfrm>
          <a:prstGeom prst="ellipse">
            <a:avLst/>
          </a:prstGeom>
          <a:solidFill>
            <a:srgbClr val="EFF6FF"/>
          </a:solidFill>
          <a:ln w="11430">
            <a:solidFill>
              <a:srgbClr val="2563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24128" y="2450592"/>
            <a:ext cx="2194560" cy="128016"/>
          </a:xfrm>
          <a:prstGeom prst="rect">
            <a:avLst/>
          </a:prstGeom>
          <a:noFill/>
        </p:spPr>
        <p:txBody>
          <a:bodyPr wrap="square" anchor="ctr" lIns="0" rIns="0" tIns="0" bIns="0">
            <a:normAutofit/>
          </a:bodyPr>
          <a:lstStyle/>
          <a:p>
            <a:pPr algn="l"/>
            <a:r>
              <a:rPr sz="900" b="1">
                <a:solidFill>
                  <a:srgbClr val="0F172A"/>
                </a:solidFill>
                <a:latin typeface="Noto Sans SC"/>
              </a:rPr>
              <a:t>缺失模态下仍可推理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24128" y="2670048"/>
            <a:ext cx="2194560" cy="109728"/>
          </a:xfrm>
          <a:prstGeom prst="rect">
            <a:avLst/>
          </a:prstGeom>
          <a:noFill/>
        </p:spPr>
        <p:txBody>
          <a:bodyPr wrap="square" anchor="ctr" lIns="0" rIns="0" tIns="0" bIns="0">
            <a:normAutofit/>
          </a:bodyPr>
          <a:lstStyle/>
          <a:p>
            <a:pPr algn="l"/>
            <a:r>
              <a:rPr sz="700" b="0">
                <a:solidFill>
                  <a:srgbClr val="334155"/>
                </a:solidFill>
                <a:latin typeface="Noto Sans SC"/>
              </a:rPr>
              <a:t>不依赖单张完美影像完成判断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66928" y="2971800"/>
            <a:ext cx="2852928" cy="530352"/>
          </a:xfrm>
          <a:prstGeom prst="roundRect">
            <a:avLst/>
          </a:prstGeom>
          <a:solidFill>
            <a:srgbClr val="FFFFFF"/>
          </a:solidFill>
          <a:ln w="1016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731520" y="3145536"/>
            <a:ext cx="182880" cy="182880"/>
          </a:xfrm>
          <a:prstGeom prst="ellipse">
            <a:avLst/>
          </a:prstGeom>
          <a:solidFill>
            <a:srgbClr val="ECFDF5"/>
          </a:solidFill>
          <a:ln w="11430"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24128" y="3063240"/>
            <a:ext cx="2194560" cy="128016"/>
          </a:xfrm>
          <a:prstGeom prst="rect">
            <a:avLst/>
          </a:prstGeom>
          <a:noFill/>
        </p:spPr>
        <p:txBody>
          <a:bodyPr wrap="square" anchor="ctr" lIns="0" rIns="0" tIns="0" bIns="0">
            <a:normAutofit/>
          </a:bodyPr>
          <a:lstStyle/>
          <a:p>
            <a:pPr algn="l"/>
            <a:r>
              <a:rPr sz="900" b="1">
                <a:solidFill>
                  <a:srgbClr val="0F172A"/>
                </a:solidFill>
                <a:latin typeface="Noto Sans SC"/>
              </a:rPr>
              <a:t>跨模态保留变化信号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24128" y="3282696"/>
            <a:ext cx="2194560" cy="109728"/>
          </a:xfrm>
          <a:prstGeom prst="rect">
            <a:avLst/>
          </a:prstGeom>
          <a:noFill/>
        </p:spPr>
        <p:txBody>
          <a:bodyPr wrap="square" anchor="ctr" lIns="0" rIns="0" tIns="0" bIns="0">
            <a:normAutofit/>
          </a:bodyPr>
          <a:lstStyle/>
          <a:p>
            <a:pPr algn="l"/>
            <a:r>
              <a:rPr sz="700" b="0">
                <a:solidFill>
                  <a:srgbClr val="334155"/>
                </a:solidFill>
                <a:latin typeface="Noto Sans SC"/>
              </a:rPr>
              <a:t>RGB 与嵌入共同支撑变化检测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66928" y="3584448"/>
            <a:ext cx="2852928" cy="530352"/>
          </a:xfrm>
          <a:prstGeom prst="roundRect">
            <a:avLst/>
          </a:prstGeom>
          <a:solidFill>
            <a:srgbClr val="FFFFFF"/>
          </a:solidFill>
          <a:ln w="1016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731520" y="3758184"/>
            <a:ext cx="182880" cy="182880"/>
          </a:xfrm>
          <a:prstGeom prst="ellipse">
            <a:avLst/>
          </a:prstGeom>
          <a:solidFill>
            <a:srgbClr val="F5F3FF"/>
          </a:solidFill>
          <a:ln w="11430">
            <a:solidFill>
              <a:srgbClr val="7C3A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024128" y="3675887"/>
            <a:ext cx="2194560" cy="128016"/>
          </a:xfrm>
          <a:prstGeom prst="rect">
            <a:avLst/>
          </a:prstGeom>
          <a:noFill/>
        </p:spPr>
        <p:txBody>
          <a:bodyPr wrap="square" anchor="ctr" lIns="0" rIns="0" tIns="0" bIns="0">
            <a:normAutofit/>
          </a:bodyPr>
          <a:lstStyle/>
          <a:p>
            <a:pPr algn="l"/>
            <a:r>
              <a:rPr sz="900" b="1">
                <a:solidFill>
                  <a:srgbClr val="0F172A"/>
                </a:solidFill>
                <a:latin typeface="Noto Sans SC"/>
              </a:rPr>
              <a:t>减少人工重跑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24128" y="3895344"/>
            <a:ext cx="2194560" cy="109728"/>
          </a:xfrm>
          <a:prstGeom prst="rect">
            <a:avLst/>
          </a:prstGeom>
          <a:noFill/>
        </p:spPr>
        <p:txBody>
          <a:bodyPr wrap="square" anchor="ctr" lIns="0" rIns="0" tIns="0" bIns="0">
            <a:normAutofit/>
          </a:bodyPr>
          <a:lstStyle/>
          <a:p>
            <a:pPr algn="l"/>
            <a:r>
              <a:rPr sz="700" b="0">
                <a:solidFill>
                  <a:srgbClr val="334155"/>
                </a:solidFill>
                <a:latin typeface="Noto Sans SC"/>
              </a:rPr>
              <a:t>影像质量波动不直接造成流程停摆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566928" y="4370832"/>
            <a:ext cx="2852928" cy="1170432"/>
          </a:xfrm>
          <a:prstGeom prst="roundRect">
            <a:avLst/>
          </a:prstGeom>
          <a:solidFill>
            <a:srgbClr val="EFF6FF"/>
          </a:solidFill>
          <a:ln w="10160">
            <a:solidFill>
              <a:srgbClr val="2563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749808" y="4535424"/>
            <a:ext cx="2487168" cy="128016"/>
          </a:xfrm>
          <a:prstGeom prst="rect">
            <a:avLst/>
          </a:prstGeom>
          <a:noFill/>
        </p:spPr>
        <p:txBody>
          <a:bodyPr wrap="square" anchor="ctr" lIns="0" rIns="0" tIns="0" bIns="0">
            <a:normAutofit/>
          </a:bodyPr>
          <a:lstStyle/>
          <a:p>
            <a:pPr algn="ctr"/>
            <a:r>
              <a:rPr sz="1000" b="1">
                <a:solidFill>
                  <a:srgbClr val="2563EB"/>
                </a:solidFill>
                <a:latin typeface="Noto Sans SC"/>
              </a:rPr>
              <a:t>为什么能识别？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49808" y="4782312"/>
            <a:ext cx="2487168" cy="384048"/>
          </a:xfrm>
          <a:prstGeom prst="rect">
            <a:avLst/>
          </a:prstGeom>
          <a:noFill/>
        </p:spPr>
        <p:txBody>
          <a:bodyPr wrap="square" anchor="ctr" lIns="0" rIns="0" tIns="0" bIns="0">
            <a:normAutofit/>
          </a:bodyPr>
          <a:lstStyle/>
          <a:p>
            <a:pPr algn="ctr"/>
            <a:r>
              <a:rPr sz="800" b="1">
                <a:solidFill>
                  <a:srgbClr val="334155"/>
                </a:solidFill>
                <a:latin typeface="Noto Sans SC"/>
              </a:rPr>
              <a:t>训练阶段融合多模态遥感数据；单一模态被云雾遮挡时，其他模态仍可补充约束。对比变化前后地理嵌入差异，即可识别真实变化区域。</a:t>
            </a:r>
          </a:p>
        </p:txBody>
      </p:sp>
      <p:cxnSp>
        <p:nvCxnSpPr>
          <p:cNvPr id="22" name="Connector 21"/>
          <p:cNvCxnSpPr/>
          <p:nvPr/>
        </p:nvCxnSpPr>
        <p:spPr>
          <a:xfrm>
            <a:off x="3803904" y="1280160"/>
            <a:ext cx="0" cy="4626864"/>
          </a:xfrm>
          <a:prstGeom prst="line">
            <a:avLst/>
          </a:prstGeom>
          <a:ln w="11430">
            <a:solidFill>
              <a:srgbClr val="E2E8F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3" name="TextBox 22"/>
          <p:cNvSpPr txBox="1"/>
          <p:nvPr/>
        </p:nvSpPr>
        <p:spPr>
          <a:xfrm>
            <a:off x="4736592" y="1325880"/>
            <a:ext cx="1225296" cy="109728"/>
          </a:xfrm>
          <a:prstGeom prst="rect">
            <a:avLst/>
          </a:prstGeom>
          <a:noFill/>
        </p:spPr>
        <p:txBody>
          <a:bodyPr wrap="square" anchor="ctr" lIns="0" rIns="0" tIns="0" bIns="0">
            <a:normAutofit/>
          </a:bodyPr>
          <a:lstStyle/>
          <a:p>
            <a:pPr algn="ctr"/>
            <a:r>
              <a:rPr sz="700" b="1">
                <a:solidFill>
                  <a:srgbClr val="64748B"/>
                </a:solidFill>
                <a:latin typeface="Noto Sans SC"/>
              </a:rPr>
              <a:t>变化前 RGB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035040" y="1325880"/>
            <a:ext cx="1225296" cy="109728"/>
          </a:xfrm>
          <a:prstGeom prst="rect">
            <a:avLst/>
          </a:prstGeom>
          <a:noFill/>
        </p:spPr>
        <p:txBody>
          <a:bodyPr wrap="square" anchor="ctr" lIns="0" rIns="0" tIns="0" bIns="0">
            <a:normAutofit/>
          </a:bodyPr>
          <a:lstStyle/>
          <a:p>
            <a:pPr algn="ctr"/>
            <a:r>
              <a:rPr sz="700" b="1">
                <a:solidFill>
                  <a:srgbClr val="64748B"/>
                </a:solidFill>
                <a:latin typeface="Noto Sans SC"/>
              </a:rPr>
              <a:t>变化后 RGB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333488" y="1325880"/>
            <a:ext cx="1225296" cy="109728"/>
          </a:xfrm>
          <a:prstGeom prst="rect">
            <a:avLst/>
          </a:prstGeom>
          <a:noFill/>
        </p:spPr>
        <p:txBody>
          <a:bodyPr wrap="square" anchor="ctr" lIns="0" rIns="0" tIns="0" bIns="0">
            <a:normAutofit/>
          </a:bodyPr>
          <a:lstStyle/>
          <a:p>
            <a:pPr algn="ctr"/>
            <a:r>
              <a:rPr sz="700" b="1">
                <a:solidFill>
                  <a:srgbClr val="64748B"/>
                </a:solidFill>
                <a:latin typeface="Noto Sans SC"/>
              </a:rPr>
              <a:t>变化前嵌入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631936" y="1325880"/>
            <a:ext cx="1225296" cy="109728"/>
          </a:xfrm>
          <a:prstGeom prst="rect">
            <a:avLst/>
          </a:prstGeom>
          <a:noFill/>
        </p:spPr>
        <p:txBody>
          <a:bodyPr wrap="square" anchor="ctr" lIns="0" rIns="0" tIns="0" bIns="0">
            <a:normAutofit/>
          </a:bodyPr>
          <a:lstStyle/>
          <a:p>
            <a:pPr algn="ctr"/>
            <a:r>
              <a:rPr sz="700" b="1">
                <a:solidFill>
                  <a:srgbClr val="64748B"/>
                </a:solidFill>
                <a:latin typeface="Noto Sans SC"/>
              </a:rPr>
              <a:t>变化后嵌入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9930384" y="1325880"/>
            <a:ext cx="1225296" cy="109728"/>
          </a:xfrm>
          <a:prstGeom prst="rect">
            <a:avLst/>
          </a:prstGeom>
          <a:noFill/>
        </p:spPr>
        <p:txBody>
          <a:bodyPr wrap="square" anchor="ctr" lIns="0" rIns="0" tIns="0" bIns="0">
            <a:normAutofit/>
          </a:bodyPr>
          <a:lstStyle/>
          <a:p>
            <a:pPr algn="ctr"/>
            <a:r>
              <a:rPr sz="700" b="1">
                <a:solidFill>
                  <a:srgbClr val="64748B"/>
                </a:solidFill>
                <a:latin typeface="Noto Sans SC"/>
              </a:rPr>
              <a:t>变化概率</a:t>
            </a:r>
          </a:p>
        </p:txBody>
      </p:sp>
      <p:pic>
        <p:nvPicPr>
          <p:cNvPr id="28" name="Picture 27" descr="patch_000027_2025-08_vs_2025-09_detai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736592" y="1554480"/>
            <a:ext cx="6492240" cy="1481328"/>
          </a:xfrm>
          <a:prstGeom prst="rect">
            <a:avLst/>
          </a:prstGeom>
        </p:spPr>
      </p:pic>
      <p:sp>
        <p:nvSpPr>
          <p:cNvPr id="29" name="Rounded Rectangle 28"/>
          <p:cNvSpPr/>
          <p:nvPr/>
        </p:nvSpPr>
        <p:spPr>
          <a:xfrm>
            <a:off x="3968496" y="2176272"/>
            <a:ext cx="640080" cy="219456"/>
          </a:xfrm>
          <a:prstGeom prst="roundRect">
            <a:avLst/>
          </a:prstGeom>
          <a:solidFill>
            <a:srgbClr val="EFF6FF"/>
          </a:solidFill>
          <a:ln w="10160">
            <a:solidFill>
              <a:srgbClr val="2563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4032504" y="2244852"/>
            <a:ext cx="512064" cy="73152"/>
          </a:xfrm>
          <a:prstGeom prst="rect">
            <a:avLst/>
          </a:prstGeom>
          <a:noFill/>
        </p:spPr>
        <p:txBody>
          <a:bodyPr wrap="square" anchor="ctr" lIns="0" rIns="0" tIns="0" bIns="0">
            <a:normAutofit/>
          </a:bodyPr>
          <a:lstStyle/>
          <a:p>
            <a:pPr algn="ctr"/>
            <a:r>
              <a:rPr sz="600" b="1">
                <a:solidFill>
                  <a:srgbClr val="2563EB"/>
                </a:solidFill>
                <a:latin typeface="Noto Sans SC"/>
              </a:rPr>
              <a:t>样例一</a:t>
            </a:r>
          </a:p>
        </p:txBody>
      </p:sp>
      <p:pic>
        <p:nvPicPr>
          <p:cNvPr id="31" name="Picture 30" descr="patch_000146_2025-06_vs_2025-08_detail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736592" y="3017520"/>
            <a:ext cx="6492240" cy="1481328"/>
          </a:xfrm>
          <a:prstGeom prst="rect">
            <a:avLst/>
          </a:prstGeom>
        </p:spPr>
      </p:pic>
      <p:sp>
        <p:nvSpPr>
          <p:cNvPr id="32" name="Rounded Rectangle 31"/>
          <p:cNvSpPr/>
          <p:nvPr/>
        </p:nvSpPr>
        <p:spPr>
          <a:xfrm>
            <a:off x="3968496" y="3639312"/>
            <a:ext cx="640080" cy="219456"/>
          </a:xfrm>
          <a:prstGeom prst="roundRect">
            <a:avLst/>
          </a:prstGeom>
          <a:solidFill>
            <a:srgbClr val="ECFDF5"/>
          </a:solidFill>
          <a:ln w="10160"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4032504" y="3707891"/>
            <a:ext cx="512064" cy="73152"/>
          </a:xfrm>
          <a:prstGeom prst="rect">
            <a:avLst/>
          </a:prstGeom>
          <a:noFill/>
        </p:spPr>
        <p:txBody>
          <a:bodyPr wrap="square" anchor="ctr" lIns="0" rIns="0" tIns="0" bIns="0">
            <a:normAutofit/>
          </a:bodyPr>
          <a:lstStyle/>
          <a:p>
            <a:pPr algn="ctr"/>
            <a:r>
              <a:rPr sz="600" b="1">
                <a:solidFill>
                  <a:srgbClr val="10B981"/>
                </a:solidFill>
                <a:latin typeface="Noto Sans SC"/>
              </a:rPr>
              <a:t>样例二</a:t>
            </a:r>
          </a:p>
        </p:txBody>
      </p:sp>
      <p:pic>
        <p:nvPicPr>
          <p:cNvPr id="34" name="Picture 33" descr="patch_000217_2025-06_vs_2025-08_detail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736592" y="4480560"/>
            <a:ext cx="6492240" cy="1481328"/>
          </a:xfrm>
          <a:prstGeom prst="rect">
            <a:avLst/>
          </a:prstGeom>
        </p:spPr>
      </p:pic>
      <p:sp>
        <p:nvSpPr>
          <p:cNvPr id="35" name="Rounded Rectangle 34"/>
          <p:cNvSpPr/>
          <p:nvPr/>
        </p:nvSpPr>
        <p:spPr>
          <a:xfrm>
            <a:off x="3968496" y="5102352"/>
            <a:ext cx="640080" cy="219456"/>
          </a:xfrm>
          <a:prstGeom prst="roundRect">
            <a:avLst/>
          </a:prstGeom>
          <a:solidFill>
            <a:srgbClr val="F5F3FF"/>
          </a:solidFill>
          <a:ln w="10160">
            <a:solidFill>
              <a:srgbClr val="7C3A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4032504" y="5170932"/>
            <a:ext cx="512064" cy="73152"/>
          </a:xfrm>
          <a:prstGeom prst="rect">
            <a:avLst/>
          </a:prstGeom>
          <a:noFill/>
        </p:spPr>
        <p:txBody>
          <a:bodyPr wrap="square" anchor="ctr" lIns="0" rIns="0" tIns="0" bIns="0">
            <a:normAutofit/>
          </a:bodyPr>
          <a:lstStyle/>
          <a:p>
            <a:pPr algn="ctr"/>
            <a:r>
              <a:rPr sz="600" b="1">
                <a:solidFill>
                  <a:srgbClr val="7C3AED"/>
                </a:solidFill>
                <a:latin typeface="Noto Sans SC"/>
              </a:rPr>
              <a:t>样例三</a:t>
            </a:r>
          </a:p>
        </p:txBody>
      </p:sp>
      <p:sp>
        <p:nvSpPr>
          <p:cNvPr id="37" name="Rectangle 36"/>
          <p:cNvSpPr/>
          <p:nvPr/>
        </p:nvSpPr>
        <p:spPr>
          <a:xfrm>
            <a:off x="6181344" y="1700784"/>
            <a:ext cx="1078992" cy="713232"/>
          </a:xfrm>
          <a:prstGeom prst="rect">
            <a:avLst/>
          </a:prstGeom>
          <a:noFill/>
          <a:ln w="25400">
            <a:solidFill>
              <a:srgbClr val="DC262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Rounded Rectangle 37"/>
          <p:cNvSpPr/>
          <p:nvPr/>
        </p:nvSpPr>
        <p:spPr>
          <a:xfrm>
            <a:off x="6181344" y="1499616"/>
            <a:ext cx="841248" cy="201168"/>
          </a:xfrm>
          <a:prstGeom prst="roundRect">
            <a:avLst/>
          </a:prstGeom>
          <a:solidFill>
            <a:srgbClr val="FEF2F2"/>
          </a:solidFill>
          <a:ln w="10160">
            <a:solidFill>
              <a:srgbClr val="DC262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6236207" y="1559052"/>
            <a:ext cx="731520" cy="73152"/>
          </a:xfrm>
          <a:prstGeom prst="rect">
            <a:avLst/>
          </a:prstGeom>
          <a:noFill/>
        </p:spPr>
        <p:txBody>
          <a:bodyPr wrap="square" anchor="ctr" lIns="0" rIns="0" tIns="0" bIns="0">
            <a:normAutofit/>
          </a:bodyPr>
          <a:lstStyle/>
          <a:p>
            <a:pPr algn="ctr"/>
            <a:r>
              <a:rPr sz="600" b="1">
                <a:solidFill>
                  <a:srgbClr val="DC2626"/>
                </a:solidFill>
                <a:latin typeface="Noto Sans SC"/>
              </a:rPr>
              <a:t>云雾遮挡</a:t>
            </a:r>
          </a:p>
        </p:txBody>
      </p:sp>
      <p:sp>
        <p:nvSpPr>
          <p:cNvPr id="40" name="Rectangle 39"/>
          <p:cNvSpPr/>
          <p:nvPr/>
        </p:nvSpPr>
        <p:spPr>
          <a:xfrm>
            <a:off x="4828032" y="3072384"/>
            <a:ext cx="1207008" cy="822960"/>
          </a:xfrm>
          <a:prstGeom prst="rect">
            <a:avLst/>
          </a:prstGeom>
          <a:noFill/>
          <a:ln w="25400">
            <a:solidFill>
              <a:srgbClr val="DC262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Rounded Rectangle 40"/>
          <p:cNvSpPr/>
          <p:nvPr/>
        </p:nvSpPr>
        <p:spPr>
          <a:xfrm>
            <a:off x="4828032" y="2871215"/>
            <a:ext cx="841248" cy="201168"/>
          </a:xfrm>
          <a:prstGeom prst="roundRect">
            <a:avLst/>
          </a:prstGeom>
          <a:solidFill>
            <a:srgbClr val="FEF2F2"/>
          </a:solidFill>
          <a:ln w="10160">
            <a:solidFill>
              <a:srgbClr val="DC262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4882896" y="2930652"/>
            <a:ext cx="731520" cy="73152"/>
          </a:xfrm>
          <a:prstGeom prst="rect">
            <a:avLst/>
          </a:prstGeom>
          <a:noFill/>
        </p:spPr>
        <p:txBody>
          <a:bodyPr wrap="square" anchor="ctr" lIns="0" rIns="0" tIns="0" bIns="0">
            <a:normAutofit/>
          </a:bodyPr>
          <a:lstStyle/>
          <a:p>
            <a:pPr algn="ctr"/>
            <a:r>
              <a:rPr sz="600" b="1">
                <a:solidFill>
                  <a:srgbClr val="DC2626"/>
                </a:solidFill>
                <a:latin typeface="Noto Sans SC"/>
              </a:rPr>
              <a:t>云雾遮挡</a:t>
            </a:r>
          </a:p>
        </p:txBody>
      </p:sp>
      <p:sp>
        <p:nvSpPr>
          <p:cNvPr id="43" name="Rectangle 42"/>
          <p:cNvSpPr/>
          <p:nvPr/>
        </p:nvSpPr>
        <p:spPr>
          <a:xfrm>
            <a:off x="4828032" y="4663440"/>
            <a:ext cx="1188720" cy="713232"/>
          </a:xfrm>
          <a:prstGeom prst="rect">
            <a:avLst/>
          </a:prstGeom>
          <a:noFill/>
          <a:ln w="25400">
            <a:solidFill>
              <a:srgbClr val="DC262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Rounded Rectangle 43"/>
          <p:cNvSpPr/>
          <p:nvPr/>
        </p:nvSpPr>
        <p:spPr>
          <a:xfrm>
            <a:off x="4828032" y="4462272"/>
            <a:ext cx="841248" cy="201168"/>
          </a:xfrm>
          <a:prstGeom prst="roundRect">
            <a:avLst/>
          </a:prstGeom>
          <a:solidFill>
            <a:srgbClr val="FEF2F2"/>
          </a:solidFill>
          <a:ln w="10160">
            <a:solidFill>
              <a:srgbClr val="DC262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4882896" y="4521707"/>
            <a:ext cx="731520" cy="73152"/>
          </a:xfrm>
          <a:prstGeom prst="rect">
            <a:avLst/>
          </a:prstGeom>
          <a:noFill/>
        </p:spPr>
        <p:txBody>
          <a:bodyPr wrap="square" anchor="ctr" lIns="0" rIns="0" tIns="0" bIns="0">
            <a:normAutofit/>
          </a:bodyPr>
          <a:lstStyle/>
          <a:p>
            <a:pPr algn="ctr"/>
            <a:r>
              <a:rPr sz="600" b="1">
                <a:solidFill>
                  <a:srgbClr val="DC2626"/>
                </a:solidFill>
                <a:latin typeface="Noto Sans SC"/>
              </a:rPr>
              <a:t>云雾遮挡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786384" y="6419088"/>
            <a:ext cx="10607040" cy="384048"/>
          </a:xfrm>
          <a:prstGeom prst="rect">
            <a:avLst/>
          </a:prstGeom>
          <a:noFill/>
        </p:spPr>
        <p:txBody>
          <a:bodyPr wrap="square" anchor="ctr" lIns="0" rIns="0" tIns="0" bIns="0">
            <a:normAutofit/>
          </a:bodyPr>
          <a:lstStyle/>
          <a:p>
            <a:pPr algn="ctr"/>
            <a:r>
              <a:rPr sz="1800" b="1">
                <a:solidFill>
                  <a:srgbClr val="2563EB"/>
                </a:solidFill>
                <a:latin typeface="Noto Sans SC"/>
              </a:rPr>
              <a:t>玄女底座提高的是业务可用性：真实遥感数据不完美，但系统仍要稳定产出。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84048"/>
            <a:ext cx="384048" cy="201168"/>
          </a:xfrm>
          <a:prstGeom prst="rect">
            <a:avLst/>
          </a:prstGeom>
          <a:noFill/>
        </p:spPr>
        <p:txBody>
          <a:bodyPr wrap="square" anchor="ctr" lIns="0" rIns="0" tIns="0" bIns="0">
            <a:normAutofit/>
          </a:bodyPr>
          <a:lstStyle/>
          <a:p>
            <a:pPr algn="l"/>
            <a:r>
              <a:rPr sz="800" b="1">
                <a:solidFill>
                  <a:srgbClr val="0EA5E9"/>
                </a:solidFill>
                <a:latin typeface="Noto Sans SC"/>
              </a:rPr>
              <a:t>12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50976" y="256032"/>
            <a:ext cx="10424160" cy="566928"/>
          </a:xfrm>
          <a:prstGeom prst="rect">
            <a:avLst/>
          </a:prstGeom>
          <a:noFill/>
        </p:spPr>
        <p:txBody>
          <a:bodyPr wrap="square" anchor="ctr" lIns="0" rIns="0" tIns="0" bIns="0">
            <a:normAutofit/>
          </a:bodyPr>
          <a:lstStyle/>
          <a:p>
            <a:pPr algn="l"/>
            <a:r>
              <a:rPr sz="2400" b="1">
                <a:solidFill>
                  <a:srgbClr val="0F172A"/>
                </a:solidFill>
                <a:latin typeface="Noto Sans SC"/>
              </a:rPr>
              <a:t>哈尔滨新区：同一套地理嵌入，复用到多类城市治理任务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1133856"/>
            <a:ext cx="2816352" cy="237744"/>
          </a:xfrm>
          <a:prstGeom prst="rect">
            <a:avLst/>
          </a:prstGeom>
          <a:noFill/>
        </p:spPr>
        <p:txBody>
          <a:bodyPr wrap="square" anchor="ctr" lIns="0" rIns="0" tIns="0" bIns="0">
            <a:normAutofit/>
          </a:bodyPr>
          <a:lstStyle/>
          <a:p>
            <a:pPr algn="l"/>
            <a:r>
              <a:rPr sz="1700" b="1">
                <a:solidFill>
                  <a:srgbClr val="2563EB"/>
                </a:solidFill>
                <a:latin typeface="Noto Sans SC"/>
              </a:rPr>
              <a:t>政府客户的真实难题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566928" y="1517904"/>
            <a:ext cx="1645920" cy="0"/>
          </a:xfrm>
          <a:prstGeom prst="line">
            <a:avLst/>
          </a:prstGeom>
          <a:ln w="13970">
            <a:solidFill>
              <a:srgbClr val="2563E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566928" y="1737360"/>
            <a:ext cx="2852928" cy="420624"/>
          </a:xfrm>
          <a:prstGeom prst="rect">
            <a:avLst/>
          </a:prstGeom>
          <a:noFill/>
        </p:spPr>
        <p:txBody>
          <a:bodyPr wrap="square" anchor="ctr" lIns="0" rIns="0" tIns="0" bIns="0">
            <a:normAutofit/>
          </a:bodyPr>
          <a:lstStyle/>
          <a:p>
            <a:pPr algn="l"/>
            <a:r>
              <a:rPr sz="1400" b="1">
                <a:solidFill>
                  <a:srgbClr val="0F172A"/>
                </a:solidFill>
                <a:latin typeface="Noto Sans SC"/>
              </a:rPr>
              <a:t>城市治理不是单一模型问题，而是水体、建筑、地表、施工工地和耕地变化等多任务并行。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2414016"/>
            <a:ext cx="2852928" cy="530352"/>
          </a:xfrm>
          <a:prstGeom prst="roundRect">
            <a:avLst/>
          </a:prstGeom>
          <a:solidFill>
            <a:srgbClr val="FFFFFF"/>
          </a:solidFill>
          <a:ln w="1016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731520" y="2587752"/>
            <a:ext cx="182880" cy="182880"/>
          </a:xfrm>
          <a:prstGeom prst="ellipse">
            <a:avLst/>
          </a:prstGeom>
          <a:solidFill>
            <a:srgbClr val="EFF6FF"/>
          </a:solidFill>
          <a:ln w="11430">
            <a:solidFill>
              <a:srgbClr val="2563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24128" y="2505456"/>
            <a:ext cx="2194560" cy="128016"/>
          </a:xfrm>
          <a:prstGeom prst="rect">
            <a:avLst/>
          </a:prstGeom>
          <a:noFill/>
        </p:spPr>
        <p:txBody>
          <a:bodyPr wrap="square" anchor="ctr" lIns="0" rIns="0" tIns="0" bIns="0">
            <a:normAutofit/>
          </a:bodyPr>
          <a:lstStyle/>
          <a:p>
            <a:pPr algn="l"/>
            <a:r>
              <a:rPr sz="900" b="1">
                <a:solidFill>
                  <a:srgbClr val="0F172A"/>
                </a:solidFill>
                <a:latin typeface="Noto Sans SC"/>
              </a:rPr>
              <a:t>旧标签复用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24128" y="2724912"/>
            <a:ext cx="2194560" cy="109728"/>
          </a:xfrm>
          <a:prstGeom prst="rect">
            <a:avLst/>
          </a:prstGeom>
          <a:noFill/>
        </p:spPr>
        <p:txBody>
          <a:bodyPr wrap="square" anchor="ctr" lIns="0" rIns="0" tIns="0" bIns="0">
            <a:normAutofit/>
          </a:bodyPr>
          <a:lstStyle/>
          <a:p>
            <a:pPr algn="l"/>
            <a:r>
              <a:rPr sz="700" b="0">
                <a:solidFill>
                  <a:srgbClr val="334155"/>
                </a:solidFill>
                <a:latin typeface="Noto Sans SC"/>
              </a:rPr>
              <a:t>旧标签局部过时，也能提供可迁移监督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66928" y="3026664"/>
            <a:ext cx="2852928" cy="530352"/>
          </a:xfrm>
          <a:prstGeom prst="roundRect">
            <a:avLst/>
          </a:prstGeom>
          <a:solidFill>
            <a:srgbClr val="FFFFFF"/>
          </a:solidFill>
          <a:ln w="1016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731520" y="3200400"/>
            <a:ext cx="182880" cy="182880"/>
          </a:xfrm>
          <a:prstGeom prst="ellipse">
            <a:avLst/>
          </a:prstGeom>
          <a:solidFill>
            <a:srgbClr val="ECFDF5"/>
          </a:solidFill>
          <a:ln w="11430"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24128" y="3118104"/>
            <a:ext cx="2194560" cy="128016"/>
          </a:xfrm>
          <a:prstGeom prst="rect">
            <a:avLst/>
          </a:prstGeom>
          <a:noFill/>
        </p:spPr>
        <p:txBody>
          <a:bodyPr wrap="square" anchor="ctr" lIns="0" rIns="0" tIns="0" bIns="0">
            <a:normAutofit/>
          </a:bodyPr>
          <a:lstStyle/>
          <a:p>
            <a:pPr algn="l"/>
            <a:r>
              <a:rPr sz="900" b="1">
                <a:solidFill>
                  <a:srgbClr val="0F172A"/>
                </a:solidFill>
                <a:latin typeface="Noto Sans SC"/>
              </a:rPr>
              <a:t>一次表征，多次复用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24128" y="3337560"/>
            <a:ext cx="2194560" cy="109728"/>
          </a:xfrm>
          <a:prstGeom prst="rect">
            <a:avLst/>
          </a:prstGeom>
          <a:noFill/>
        </p:spPr>
        <p:txBody>
          <a:bodyPr wrap="square" anchor="ctr" lIns="0" rIns="0" tIns="0" bIns="0">
            <a:normAutofit/>
          </a:bodyPr>
          <a:lstStyle/>
          <a:p>
            <a:pPr algn="l"/>
            <a:r>
              <a:rPr sz="700" b="0">
                <a:solidFill>
                  <a:srgbClr val="334155"/>
                </a:solidFill>
                <a:latin typeface="Noto Sans SC"/>
              </a:rPr>
              <a:t>同一区域嵌入可服务多类任务头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66928" y="3639312"/>
            <a:ext cx="2852928" cy="530352"/>
          </a:xfrm>
          <a:prstGeom prst="roundRect">
            <a:avLst/>
          </a:prstGeom>
          <a:solidFill>
            <a:srgbClr val="FFFFFF"/>
          </a:solidFill>
          <a:ln w="1016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731520" y="3813048"/>
            <a:ext cx="182880" cy="182880"/>
          </a:xfrm>
          <a:prstGeom prst="ellipse">
            <a:avLst/>
          </a:prstGeom>
          <a:solidFill>
            <a:srgbClr val="F5F3FF"/>
          </a:solidFill>
          <a:ln w="11430">
            <a:solidFill>
              <a:srgbClr val="7C3A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024128" y="3730752"/>
            <a:ext cx="2194560" cy="128016"/>
          </a:xfrm>
          <a:prstGeom prst="rect">
            <a:avLst/>
          </a:prstGeom>
          <a:noFill/>
        </p:spPr>
        <p:txBody>
          <a:bodyPr wrap="square" anchor="ctr" lIns="0" rIns="0" tIns="0" bIns="0">
            <a:normAutofit/>
          </a:bodyPr>
          <a:lstStyle/>
          <a:p>
            <a:pPr algn="l"/>
            <a:r>
              <a:rPr sz="900" b="1">
                <a:solidFill>
                  <a:srgbClr val="0F172A"/>
                </a:solidFill>
                <a:latin typeface="Noto Sans SC"/>
              </a:rPr>
              <a:t>支持多类下游任务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24128" y="3950208"/>
            <a:ext cx="2194560" cy="109728"/>
          </a:xfrm>
          <a:prstGeom prst="rect">
            <a:avLst/>
          </a:prstGeom>
          <a:noFill/>
        </p:spPr>
        <p:txBody>
          <a:bodyPr wrap="square" anchor="ctr" lIns="0" rIns="0" tIns="0" bIns="0">
            <a:normAutofit/>
          </a:bodyPr>
          <a:lstStyle/>
          <a:p>
            <a:pPr algn="l"/>
            <a:r>
              <a:rPr sz="700" b="0">
                <a:solidFill>
                  <a:srgbClr val="334155"/>
                </a:solidFill>
                <a:latin typeface="Noto Sans SC"/>
              </a:rPr>
              <a:t>从水体、建筑扩展到变化与分类任务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566928" y="4425696"/>
            <a:ext cx="2852928" cy="1005840"/>
          </a:xfrm>
          <a:prstGeom prst="roundRect">
            <a:avLst/>
          </a:prstGeom>
          <a:solidFill>
            <a:srgbClr val="EFF6FF"/>
          </a:solidFill>
          <a:ln w="10160">
            <a:solidFill>
              <a:srgbClr val="2563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749808" y="4590288"/>
            <a:ext cx="2487168" cy="128016"/>
          </a:xfrm>
          <a:prstGeom prst="rect">
            <a:avLst/>
          </a:prstGeom>
          <a:noFill/>
        </p:spPr>
        <p:txBody>
          <a:bodyPr wrap="square" anchor="ctr" lIns="0" rIns="0" tIns="0" bIns="0">
            <a:normAutofit/>
          </a:bodyPr>
          <a:lstStyle/>
          <a:p>
            <a:pPr algn="ctr"/>
            <a:r>
              <a:rPr sz="1000" b="1">
                <a:solidFill>
                  <a:srgbClr val="2563EB"/>
                </a:solidFill>
                <a:latin typeface="Noto Sans SC"/>
              </a:rPr>
              <a:t>核心价值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49808" y="4818888"/>
            <a:ext cx="2487168" cy="310896"/>
          </a:xfrm>
          <a:prstGeom prst="rect">
            <a:avLst/>
          </a:prstGeom>
          <a:noFill/>
        </p:spPr>
        <p:txBody>
          <a:bodyPr wrap="square" anchor="ctr" lIns="0" rIns="0" tIns="0" bIns="0">
            <a:normAutofit/>
          </a:bodyPr>
          <a:lstStyle/>
          <a:p>
            <a:pPr algn="ctr"/>
            <a:r>
              <a:rPr sz="800" b="1">
                <a:solidFill>
                  <a:srgbClr val="334155"/>
                </a:solidFill>
                <a:latin typeface="Noto Sans SC"/>
              </a:rPr>
              <a:t>从旧标签中学习稳定地物知识，在新影像上完成更贴近真实地物的划分。</a:t>
            </a:r>
          </a:p>
        </p:txBody>
      </p:sp>
      <p:cxnSp>
        <p:nvCxnSpPr>
          <p:cNvPr id="22" name="Connector 21"/>
          <p:cNvCxnSpPr/>
          <p:nvPr/>
        </p:nvCxnSpPr>
        <p:spPr>
          <a:xfrm>
            <a:off x="3803904" y="1207008"/>
            <a:ext cx="0" cy="4224528"/>
          </a:xfrm>
          <a:prstGeom prst="line">
            <a:avLst/>
          </a:prstGeom>
          <a:ln w="11430">
            <a:solidFill>
              <a:srgbClr val="E2E8F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3" name="TextBox 22"/>
          <p:cNvSpPr txBox="1"/>
          <p:nvPr/>
        </p:nvSpPr>
        <p:spPr>
          <a:xfrm>
            <a:off x="4224528" y="1078992"/>
            <a:ext cx="6931152" cy="164592"/>
          </a:xfrm>
          <a:prstGeom prst="rect">
            <a:avLst/>
          </a:prstGeom>
          <a:noFill/>
        </p:spPr>
        <p:txBody>
          <a:bodyPr wrap="square" anchor="ctr" lIns="0" rIns="0" tIns="0" bIns="0">
            <a:normAutofit/>
          </a:bodyPr>
          <a:lstStyle/>
          <a:p>
            <a:pPr algn="ctr"/>
            <a:r>
              <a:rPr sz="1300" b="1">
                <a:solidFill>
                  <a:srgbClr val="2563EB"/>
                </a:solidFill>
                <a:latin typeface="Noto Sans SC"/>
              </a:rPr>
              <a:t>旧标签复用后的新影像划分效果</a:t>
            </a:r>
          </a:p>
        </p:txBody>
      </p:sp>
      <p:pic>
        <p:nvPicPr>
          <p:cNvPr id="24" name="Picture 23" descr="patch_000041_jrc_water_2025-04_detai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750462" y="1353312"/>
            <a:ext cx="2221683" cy="969264"/>
          </a:xfrm>
          <a:prstGeom prst="rect">
            <a:avLst/>
          </a:prstGeom>
        </p:spPr>
      </p:pic>
      <p:sp>
        <p:nvSpPr>
          <p:cNvPr id="25" name="TextBox 24"/>
          <p:cNvSpPr txBox="1"/>
          <p:nvPr/>
        </p:nvSpPr>
        <p:spPr>
          <a:xfrm>
            <a:off x="4114800" y="2395728"/>
            <a:ext cx="3493008" cy="118872"/>
          </a:xfrm>
          <a:prstGeom prst="rect">
            <a:avLst/>
          </a:prstGeom>
          <a:noFill/>
        </p:spPr>
        <p:txBody>
          <a:bodyPr wrap="square" anchor="ctr" lIns="0" rIns="0" tIns="0" bIns="0">
            <a:normAutofit/>
          </a:bodyPr>
          <a:lstStyle/>
          <a:p>
            <a:pPr algn="ctr"/>
            <a:r>
              <a:rPr sz="700" b="1">
                <a:solidFill>
                  <a:srgbClr val="334155"/>
                </a:solidFill>
                <a:latin typeface="Noto Sans SC"/>
              </a:rPr>
              <a:t>水体识别</a:t>
            </a:r>
          </a:p>
        </p:txBody>
      </p:sp>
      <p:pic>
        <p:nvPicPr>
          <p:cNvPr id="26" name="Picture 25" descr="patch_000354_building_extraction_2025-04_detail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750462" y="2724912"/>
            <a:ext cx="2221683" cy="969264"/>
          </a:xfrm>
          <a:prstGeom prst="rect">
            <a:avLst/>
          </a:prstGeom>
        </p:spPr>
      </p:pic>
      <p:sp>
        <p:nvSpPr>
          <p:cNvPr id="27" name="TextBox 26"/>
          <p:cNvSpPr txBox="1"/>
          <p:nvPr/>
        </p:nvSpPr>
        <p:spPr>
          <a:xfrm>
            <a:off x="4114800" y="3767328"/>
            <a:ext cx="3493008" cy="118872"/>
          </a:xfrm>
          <a:prstGeom prst="rect">
            <a:avLst/>
          </a:prstGeom>
          <a:noFill/>
        </p:spPr>
        <p:txBody>
          <a:bodyPr wrap="square" anchor="ctr" lIns="0" rIns="0" tIns="0" bIns="0">
            <a:normAutofit/>
          </a:bodyPr>
          <a:lstStyle/>
          <a:p>
            <a:pPr algn="ctr"/>
            <a:r>
              <a:rPr sz="700" b="1">
                <a:solidFill>
                  <a:srgbClr val="334155"/>
                </a:solidFill>
                <a:latin typeface="Noto Sans SC"/>
              </a:rPr>
              <a:t>建筑提取</a:t>
            </a:r>
          </a:p>
        </p:txBody>
      </p:sp>
      <p:pic>
        <p:nvPicPr>
          <p:cNvPr id="28" name="Picture 27" descr="patch_000339_dynamic_world_2025-04_detail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750462" y="4096512"/>
            <a:ext cx="2221683" cy="969264"/>
          </a:xfrm>
          <a:prstGeom prst="rect">
            <a:avLst/>
          </a:prstGeom>
        </p:spPr>
      </p:pic>
      <p:sp>
        <p:nvSpPr>
          <p:cNvPr id="29" name="TextBox 28"/>
          <p:cNvSpPr txBox="1"/>
          <p:nvPr/>
        </p:nvSpPr>
        <p:spPr>
          <a:xfrm>
            <a:off x="4114800" y="5138928"/>
            <a:ext cx="3493008" cy="118872"/>
          </a:xfrm>
          <a:prstGeom prst="rect">
            <a:avLst/>
          </a:prstGeom>
          <a:noFill/>
        </p:spPr>
        <p:txBody>
          <a:bodyPr wrap="square" anchor="ctr" lIns="0" rIns="0" tIns="0" bIns="0">
            <a:normAutofit/>
          </a:bodyPr>
          <a:lstStyle/>
          <a:p>
            <a:pPr algn="ctr"/>
            <a:r>
              <a:rPr sz="700" b="1">
                <a:solidFill>
                  <a:srgbClr val="334155"/>
                </a:solidFill>
                <a:latin typeface="Noto Sans SC"/>
              </a:rPr>
              <a:t>地表分类</a:t>
            </a:r>
          </a:p>
        </p:txBody>
      </p:sp>
      <p:pic>
        <p:nvPicPr>
          <p:cNvPr id="30" name="Picture 29" descr="patch_000217_construction_2025-08_vs_2025-09_detail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845552" y="1782549"/>
            <a:ext cx="3493008" cy="860596"/>
          </a:xfrm>
          <a:prstGeom prst="rect">
            <a:avLst/>
          </a:prstGeom>
        </p:spPr>
      </p:pic>
      <p:sp>
        <p:nvSpPr>
          <p:cNvPr id="31" name="TextBox 30"/>
          <p:cNvSpPr txBox="1"/>
          <p:nvPr/>
        </p:nvSpPr>
        <p:spPr>
          <a:xfrm>
            <a:off x="7845552" y="2962656"/>
            <a:ext cx="3493008" cy="118872"/>
          </a:xfrm>
          <a:prstGeom prst="rect">
            <a:avLst/>
          </a:prstGeom>
          <a:noFill/>
        </p:spPr>
        <p:txBody>
          <a:bodyPr wrap="square" anchor="ctr" lIns="0" rIns="0" tIns="0" bIns="0">
            <a:normAutofit/>
          </a:bodyPr>
          <a:lstStyle/>
          <a:p>
            <a:pPr algn="ctr"/>
            <a:r>
              <a:rPr sz="700" b="1">
                <a:solidFill>
                  <a:srgbClr val="334155"/>
                </a:solidFill>
                <a:latin typeface="Noto Sans SC"/>
              </a:rPr>
              <a:t>施工工地变化</a:t>
            </a:r>
          </a:p>
        </p:txBody>
      </p:sp>
      <p:pic>
        <p:nvPicPr>
          <p:cNvPr id="32" name="Picture 31" descr="patch_000217_land_conversion_2025-08_vs_2025-09_detail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845552" y="3794229"/>
            <a:ext cx="3493008" cy="860596"/>
          </a:xfrm>
          <a:prstGeom prst="rect">
            <a:avLst/>
          </a:prstGeom>
        </p:spPr>
      </p:pic>
      <p:sp>
        <p:nvSpPr>
          <p:cNvPr id="33" name="TextBox 32"/>
          <p:cNvSpPr txBox="1"/>
          <p:nvPr/>
        </p:nvSpPr>
        <p:spPr>
          <a:xfrm>
            <a:off x="7845552" y="4974336"/>
            <a:ext cx="3493008" cy="118872"/>
          </a:xfrm>
          <a:prstGeom prst="rect">
            <a:avLst/>
          </a:prstGeom>
          <a:noFill/>
        </p:spPr>
        <p:txBody>
          <a:bodyPr wrap="square" anchor="ctr" lIns="0" rIns="0" tIns="0" bIns="0">
            <a:normAutofit/>
          </a:bodyPr>
          <a:lstStyle/>
          <a:p>
            <a:pPr algn="ctr"/>
            <a:r>
              <a:rPr sz="700" b="1">
                <a:solidFill>
                  <a:srgbClr val="334155"/>
                </a:solidFill>
                <a:latin typeface="Noto Sans SC"/>
              </a:rPr>
              <a:t>耕地非农非粮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786384" y="5705856"/>
            <a:ext cx="10607040" cy="219456"/>
          </a:xfrm>
          <a:prstGeom prst="rect">
            <a:avLst/>
          </a:prstGeom>
          <a:noFill/>
        </p:spPr>
        <p:txBody>
          <a:bodyPr wrap="square" anchor="ctr" lIns="0" rIns="0" tIns="0" bIns="0">
            <a:normAutofit/>
          </a:bodyPr>
          <a:lstStyle/>
          <a:p>
            <a:pPr algn="ctr"/>
            <a:r>
              <a:rPr sz="1200" b="1">
                <a:solidFill>
                  <a:srgbClr val="2563EB"/>
                </a:solidFill>
                <a:latin typeface="Noto Sans SC"/>
              </a:rPr>
              <a:t>旧标签不再只是一次性标注资产：玄女底座从旧标签中提取可迁移地物知识，并将同一套地理嵌入复用到水体、建筑、地表分类与变化检测等多类任务。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84048"/>
            <a:ext cx="384048" cy="201168"/>
          </a:xfrm>
          <a:prstGeom prst="rect">
            <a:avLst/>
          </a:prstGeom>
          <a:noFill/>
        </p:spPr>
        <p:txBody>
          <a:bodyPr wrap="square" anchor="ctr" lIns="0" rIns="0" tIns="0" bIns="0">
            <a:normAutofit/>
          </a:bodyPr>
          <a:lstStyle/>
          <a:p>
            <a:pPr algn="l"/>
            <a:r>
              <a:rPr sz="800" b="1">
                <a:solidFill>
                  <a:srgbClr val="0EA5E9"/>
                </a:solidFill>
                <a:latin typeface="Noto Sans SC"/>
              </a:rPr>
              <a:t>13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50976" y="256032"/>
            <a:ext cx="10424160" cy="566928"/>
          </a:xfrm>
          <a:prstGeom prst="rect">
            <a:avLst/>
          </a:prstGeom>
          <a:noFill/>
        </p:spPr>
        <p:txBody>
          <a:bodyPr wrap="square" anchor="ctr" lIns="0" rIns="0" tIns="0" bIns="0">
            <a:normAutofit/>
          </a:bodyPr>
          <a:lstStyle/>
          <a:p>
            <a:pPr algn="l"/>
            <a:r>
              <a:rPr sz="2400" b="1">
                <a:solidFill>
                  <a:srgbClr val="0F172A"/>
                </a:solidFill>
                <a:latin typeface="Noto Sans SC"/>
              </a:rPr>
              <a:t>哈尔滨新区：从检测结果到政府可用报告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32688" y="1042415"/>
            <a:ext cx="10241280" cy="274320"/>
          </a:xfrm>
          <a:prstGeom prst="rect">
            <a:avLst/>
          </a:prstGeom>
          <a:noFill/>
        </p:spPr>
        <p:txBody>
          <a:bodyPr wrap="square" anchor="ctr" lIns="0" rIns="0" tIns="0" bIns="0">
            <a:normAutofit/>
          </a:bodyPr>
          <a:lstStyle/>
          <a:p>
            <a:pPr algn="ctr"/>
            <a:r>
              <a:rPr sz="1300" b="0">
                <a:solidFill>
                  <a:srgbClr val="334155"/>
                </a:solidFill>
                <a:latin typeface="Noto Sans SC"/>
              </a:rPr>
              <a:t>模型价值最终要落到交付：把变化检测、统计制图和业务解释组织成政府客户可阅读、可复核、可归档的报告。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1481328"/>
            <a:ext cx="3291840" cy="182880"/>
          </a:xfrm>
          <a:prstGeom prst="rect">
            <a:avLst/>
          </a:prstGeom>
          <a:noFill/>
        </p:spPr>
        <p:txBody>
          <a:bodyPr wrap="square" anchor="ctr" lIns="0" rIns="0" tIns="0" bIns="0">
            <a:normAutofit/>
          </a:bodyPr>
          <a:lstStyle/>
          <a:p>
            <a:pPr algn="l"/>
            <a:r>
              <a:rPr sz="1600" b="1">
                <a:solidFill>
                  <a:srgbClr val="2563EB"/>
                </a:solidFill>
                <a:latin typeface="Noto Sans SC"/>
              </a:rPr>
              <a:t>用户历程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566928" y="1810512"/>
            <a:ext cx="1444752" cy="0"/>
          </a:xfrm>
          <a:prstGeom prst="line">
            <a:avLst/>
          </a:prstGeom>
          <a:ln w="12700">
            <a:solidFill>
              <a:srgbClr val="2563E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566928" y="1993392"/>
            <a:ext cx="3072384" cy="146304"/>
          </a:xfrm>
          <a:prstGeom prst="rect">
            <a:avLst/>
          </a:prstGeom>
          <a:noFill/>
        </p:spPr>
        <p:txBody>
          <a:bodyPr wrap="square" anchor="ctr" lIns="0" rIns="0" tIns="0" bIns="0">
            <a:normAutofit/>
          </a:bodyPr>
          <a:lstStyle/>
          <a:p>
            <a:pPr algn="l"/>
            <a:r>
              <a:rPr sz="1000" b="1">
                <a:solidFill>
                  <a:srgbClr val="0F172A"/>
                </a:solidFill>
                <a:latin typeface="Noto Sans SC"/>
              </a:rPr>
              <a:t>传统人工流程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2212848"/>
            <a:ext cx="2999232" cy="310896"/>
          </a:xfrm>
          <a:prstGeom prst="roundRect">
            <a:avLst/>
          </a:prstGeom>
          <a:solidFill>
            <a:srgbClr val="FFFFFF"/>
          </a:solidFill>
          <a:ln w="1016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658368" y="2286000"/>
            <a:ext cx="164592" cy="164592"/>
          </a:xfrm>
          <a:prstGeom prst="ellipse">
            <a:avLst/>
          </a:prstGeom>
          <a:solidFill>
            <a:srgbClr val="FFFBEB"/>
          </a:solidFill>
          <a:ln w="10160">
            <a:solidFill>
              <a:srgbClr val="F59E0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67512" y="2308860"/>
            <a:ext cx="146304" cy="54864"/>
          </a:xfrm>
          <a:prstGeom prst="rect">
            <a:avLst/>
          </a:prstGeom>
          <a:noFill/>
        </p:spPr>
        <p:txBody>
          <a:bodyPr wrap="square" anchor="ctr" lIns="0" rIns="0" tIns="0" bIns="0">
            <a:normAutofit/>
          </a:bodyPr>
          <a:lstStyle/>
          <a:p>
            <a:pPr algn="ctr"/>
            <a:r>
              <a:rPr sz="500" b="1">
                <a:solidFill>
                  <a:srgbClr val="F59E0B"/>
                </a:solidFill>
                <a:latin typeface="Noto Sans SC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96112" y="2295144"/>
            <a:ext cx="2560320" cy="109728"/>
          </a:xfrm>
          <a:prstGeom prst="rect">
            <a:avLst/>
          </a:prstGeom>
          <a:noFill/>
        </p:spPr>
        <p:txBody>
          <a:bodyPr wrap="square" anchor="ctr" lIns="0" rIns="0" tIns="0" bIns="0">
            <a:normAutofit/>
          </a:bodyPr>
          <a:lstStyle/>
          <a:p>
            <a:pPr algn="l"/>
            <a:r>
              <a:rPr sz="800" b="1">
                <a:solidFill>
                  <a:srgbClr val="0F172A"/>
                </a:solidFill>
                <a:latin typeface="Noto Sans SC"/>
              </a:rPr>
              <a:t>接到监测任务</a:t>
            </a:r>
          </a:p>
        </p:txBody>
      </p:sp>
      <p:cxnSp>
        <p:nvCxnSpPr>
          <p:cNvPr id="12" name="Connector 11"/>
          <p:cNvCxnSpPr/>
          <p:nvPr/>
        </p:nvCxnSpPr>
        <p:spPr>
          <a:xfrm>
            <a:off x="2066543" y="2523744"/>
            <a:ext cx="0" cy="54864"/>
          </a:xfrm>
          <a:prstGeom prst="line">
            <a:avLst/>
          </a:prstGeom>
          <a:ln w="10160">
            <a:solidFill>
              <a:srgbClr val="E2E8F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Rounded Rectangle 12"/>
          <p:cNvSpPr/>
          <p:nvPr/>
        </p:nvSpPr>
        <p:spPr>
          <a:xfrm>
            <a:off x="566928" y="2578608"/>
            <a:ext cx="2999232" cy="310896"/>
          </a:xfrm>
          <a:prstGeom prst="roundRect">
            <a:avLst/>
          </a:prstGeom>
          <a:solidFill>
            <a:srgbClr val="FFFFFF"/>
          </a:solidFill>
          <a:ln w="1016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658368" y="2651760"/>
            <a:ext cx="164592" cy="164592"/>
          </a:xfrm>
          <a:prstGeom prst="ellipse">
            <a:avLst/>
          </a:prstGeom>
          <a:solidFill>
            <a:srgbClr val="FFFBEB"/>
          </a:solidFill>
          <a:ln w="10160">
            <a:solidFill>
              <a:srgbClr val="F59E0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67512" y="2674620"/>
            <a:ext cx="146304" cy="54864"/>
          </a:xfrm>
          <a:prstGeom prst="rect">
            <a:avLst/>
          </a:prstGeom>
          <a:noFill/>
        </p:spPr>
        <p:txBody>
          <a:bodyPr wrap="square" anchor="ctr" lIns="0" rIns="0" tIns="0" bIns="0">
            <a:normAutofit/>
          </a:bodyPr>
          <a:lstStyle/>
          <a:p>
            <a:pPr algn="ctr"/>
            <a:r>
              <a:rPr sz="500" b="1">
                <a:solidFill>
                  <a:srgbClr val="F59E0B"/>
                </a:solidFill>
                <a:latin typeface="Noto Sans SC"/>
              </a:rPr>
              <a:t>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96112" y="2660903"/>
            <a:ext cx="2560320" cy="109728"/>
          </a:xfrm>
          <a:prstGeom prst="rect">
            <a:avLst/>
          </a:prstGeom>
          <a:noFill/>
        </p:spPr>
        <p:txBody>
          <a:bodyPr wrap="square" anchor="ctr" lIns="0" rIns="0" tIns="0" bIns="0">
            <a:normAutofit/>
          </a:bodyPr>
          <a:lstStyle/>
          <a:p>
            <a:pPr algn="l"/>
            <a:r>
              <a:rPr sz="800" b="1">
                <a:solidFill>
                  <a:srgbClr val="0F172A"/>
                </a:solidFill>
                <a:latin typeface="Noto Sans SC"/>
              </a:rPr>
              <a:t>下载影像与底图</a:t>
            </a:r>
          </a:p>
        </p:txBody>
      </p:sp>
      <p:cxnSp>
        <p:nvCxnSpPr>
          <p:cNvPr id="17" name="Connector 16"/>
          <p:cNvCxnSpPr/>
          <p:nvPr/>
        </p:nvCxnSpPr>
        <p:spPr>
          <a:xfrm>
            <a:off x="2066543" y="2889503"/>
            <a:ext cx="0" cy="54865"/>
          </a:xfrm>
          <a:prstGeom prst="line">
            <a:avLst/>
          </a:prstGeom>
          <a:ln w="10160">
            <a:solidFill>
              <a:srgbClr val="E2E8F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Rounded Rectangle 17"/>
          <p:cNvSpPr/>
          <p:nvPr/>
        </p:nvSpPr>
        <p:spPr>
          <a:xfrm>
            <a:off x="566928" y="2944368"/>
            <a:ext cx="2999232" cy="310896"/>
          </a:xfrm>
          <a:prstGeom prst="roundRect">
            <a:avLst/>
          </a:prstGeom>
          <a:solidFill>
            <a:srgbClr val="FFFFFF"/>
          </a:solidFill>
          <a:ln w="1016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658368" y="3017520"/>
            <a:ext cx="164592" cy="164592"/>
          </a:xfrm>
          <a:prstGeom prst="ellipse">
            <a:avLst/>
          </a:prstGeom>
          <a:solidFill>
            <a:srgbClr val="FFFBEB"/>
          </a:solidFill>
          <a:ln w="10160">
            <a:solidFill>
              <a:srgbClr val="F59E0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67512" y="3040379"/>
            <a:ext cx="146304" cy="54864"/>
          </a:xfrm>
          <a:prstGeom prst="rect">
            <a:avLst/>
          </a:prstGeom>
          <a:noFill/>
        </p:spPr>
        <p:txBody>
          <a:bodyPr wrap="square" anchor="ctr" lIns="0" rIns="0" tIns="0" bIns="0">
            <a:normAutofit/>
          </a:bodyPr>
          <a:lstStyle/>
          <a:p>
            <a:pPr algn="ctr"/>
            <a:r>
              <a:rPr sz="500" b="1">
                <a:solidFill>
                  <a:srgbClr val="F59E0B"/>
                </a:solidFill>
                <a:latin typeface="Noto Sans SC"/>
              </a:rPr>
              <a:t>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96112" y="3026663"/>
            <a:ext cx="2560320" cy="109728"/>
          </a:xfrm>
          <a:prstGeom prst="rect">
            <a:avLst/>
          </a:prstGeom>
          <a:noFill/>
        </p:spPr>
        <p:txBody>
          <a:bodyPr wrap="square" anchor="ctr" lIns="0" rIns="0" tIns="0" bIns="0">
            <a:normAutofit/>
          </a:bodyPr>
          <a:lstStyle/>
          <a:p>
            <a:pPr algn="l"/>
            <a:r>
              <a:rPr sz="800" b="1">
                <a:solidFill>
                  <a:srgbClr val="0F172A"/>
                </a:solidFill>
                <a:latin typeface="Noto Sans SC"/>
              </a:rPr>
              <a:t>预处理与配准</a:t>
            </a:r>
          </a:p>
        </p:txBody>
      </p:sp>
      <p:cxnSp>
        <p:nvCxnSpPr>
          <p:cNvPr id="22" name="Connector 21"/>
          <p:cNvCxnSpPr/>
          <p:nvPr/>
        </p:nvCxnSpPr>
        <p:spPr>
          <a:xfrm>
            <a:off x="2066543" y="3255263"/>
            <a:ext cx="0" cy="54865"/>
          </a:xfrm>
          <a:prstGeom prst="line">
            <a:avLst/>
          </a:prstGeom>
          <a:ln w="10160">
            <a:solidFill>
              <a:srgbClr val="E2E8F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3" name="Rounded Rectangle 22"/>
          <p:cNvSpPr/>
          <p:nvPr/>
        </p:nvSpPr>
        <p:spPr>
          <a:xfrm>
            <a:off x="566928" y="3310128"/>
            <a:ext cx="2999232" cy="310896"/>
          </a:xfrm>
          <a:prstGeom prst="roundRect">
            <a:avLst/>
          </a:prstGeom>
          <a:solidFill>
            <a:srgbClr val="FFFFFF"/>
          </a:solidFill>
          <a:ln w="1016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658368" y="3383280"/>
            <a:ext cx="164592" cy="164592"/>
          </a:xfrm>
          <a:prstGeom prst="ellipse">
            <a:avLst/>
          </a:prstGeom>
          <a:solidFill>
            <a:srgbClr val="FFFBEB"/>
          </a:solidFill>
          <a:ln w="10160">
            <a:solidFill>
              <a:srgbClr val="F59E0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67512" y="3406140"/>
            <a:ext cx="146304" cy="54864"/>
          </a:xfrm>
          <a:prstGeom prst="rect">
            <a:avLst/>
          </a:prstGeom>
          <a:noFill/>
        </p:spPr>
        <p:txBody>
          <a:bodyPr wrap="square" anchor="ctr" lIns="0" rIns="0" tIns="0" bIns="0">
            <a:normAutofit/>
          </a:bodyPr>
          <a:lstStyle/>
          <a:p>
            <a:pPr algn="ctr"/>
            <a:r>
              <a:rPr sz="500" b="1">
                <a:solidFill>
                  <a:srgbClr val="F59E0B"/>
                </a:solidFill>
                <a:latin typeface="Noto Sans SC"/>
              </a:rPr>
              <a:t>4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96112" y="3392424"/>
            <a:ext cx="2560320" cy="109728"/>
          </a:xfrm>
          <a:prstGeom prst="rect">
            <a:avLst/>
          </a:prstGeom>
          <a:noFill/>
        </p:spPr>
        <p:txBody>
          <a:bodyPr wrap="square" anchor="ctr" lIns="0" rIns="0" tIns="0" bIns="0">
            <a:normAutofit/>
          </a:bodyPr>
          <a:lstStyle/>
          <a:p>
            <a:pPr algn="l"/>
            <a:r>
              <a:rPr sz="800" b="1">
                <a:solidFill>
                  <a:srgbClr val="0F172A"/>
                </a:solidFill>
                <a:latin typeface="Noto Sans SC"/>
              </a:rPr>
              <a:t>人工解译/核查</a:t>
            </a:r>
          </a:p>
        </p:txBody>
      </p:sp>
      <p:cxnSp>
        <p:nvCxnSpPr>
          <p:cNvPr id="27" name="Connector 26"/>
          <p:cNvCxnSpPr/>
          <p:nvPr/>
        </p:nvCxnSpPr>
        <p:spPr>
          <a:xfrm>
            <a:off x="2066543" y="3621024"/>
            <a:ext cx="0" cy="54863"/>
          </a:xfrm>
          <a:prstGeom prst="line">
            <a:avLst/>
          </a:prstGeom>
          <a:ln w="10160">
            <a:solidFill>
              <a:srgbClr val="E2E8F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8" name="Rounded Rectangle 27"/>
          <p:cNvSpPr/>
          <p:nvPr/>
        </p:nvSpPr>
        <p:spPr>
          <a:xfrm>
            <a:off x="566928" y="3675887"/>
            <a:ext cx="2999232" cy="310896"/>
          </a:xfrm>
          <a:prstGeom prst="roundRect">
            <a:avLst/>
          </a:prstGeom>
          <a:solidFill>
            <a:srgbClr val="FFFFFF"/>
          </a:solidFill>
          <a:ln w="1016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Oval 28"/>
          <p:cNvSpPr/>
          <p:nvPr/>
        </p:nvSpPr>
        <p:spPr>
          <a:xfrm>
            <a:off x="658368" y="3749039"/>
            <a:ext cx="164592" cy="164592"/>
          </a:xfrm>
          <a:prstGeom prst="ellipse">
            <a:avLst/>
          </a:prstGeom>
          <a:solidFill>
            <a:srgbClr val="FFFBEB"/>
          </a:solidFill>
          <a:ln w="10160">
            <a:solidFill>
              <a:srgbClr val="F59E0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667512" y="3771900"/>
            <a:ext cx="146304" cy="54864"/>
          </a:xfrm>
          <a:prstGeom prst="rect">
            <a:avLst/>
          </a:prstGeom>
          <a:noFill/>
        </p:spPr>
        <p:txBody>
          <a:bodyPr wrap="square" anchor="ctr" lIns="0" rIns="0" tIns="0" bIns="0">
            <a:normAutofit/>
          </a:bodyPr>
          <a:lstStyle/>
          <a:p>
            <a:pPr algn="ctr"/>
            <a:r>
              <a:rPr sz="500" b="1">
                <a:solidFill>
                  <a:srgbClr val="F59E0B"/>
                </a:solidFill>
                <a:latin typeface="Noto Sans SC"/>
              </a:rPr>
              <a:t>5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896112" y="3758183"/>
            <a:ext cx="2560320" cy="109728"/>
          </a:xfrm>
          <a:prstGeom prst="rect">
            <a:avLst/>
          </a:prstGeom>
          <a:noFill/>
        </p:spPr>
        <p:txBody>
          <a:bodyPr wrap="square" anchor="ctr" lIns="0" rIns="0" tIns="0" bIns="0">
            <a:normAutofit/>
          </a:bodyPr>
          <a:lstStyle/>
          <a:p>
            <a:pPr algn="l"/>
            <a:r>
              <a:rPr sz="800" b="1">
                <a:solidFill>
                  <a:srgbClr val="0F172A"/>
                </a:solidFill>
                <a:latin typeface="Noto Sans SC"/>
              </a:rPr>
              <a:t>制图统计</a:t>
            </a:r>
          </a:p>
        </p:txBody>
      </p:sp>
      <p:cxnSp>
        <p:nvCxnSpPr>
          <p:cNvPr id="32" name="Connector 31"/>
          <p:cNvCxnSpPr/>
          <p:nvPr/>
        </p:nvCxnSpPr>
        <p:spPr>
          <a:xfrm>
            <a:off x="2066543" y="3986783"/>
            <a:ext cx="0" cy="54865"/>
          </a:xfrm>
          <a:prstGeom prst="line">
            <a:avLst/>
          </a:prstGeom>
          <a:ln w="10160">
            <a:solidFill>
              <a:srgbClr val="E2E8F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3" name="Rounded Rectangle 32"/>
          <p:cNvSpPr/>
          <p:nvPr/>
        </p:nvSpPr>
        <p:spPr>
          <a:xfrm>
            <a:off x="566928" y="4041648"/>
            <a:ext cx="2999232" cy="310896"/>
          </a:xfrm>
          <a:prstGeom prst="roundRect">
            <a:avLst/>
          </a:prstGeom>
          <a:solidFill>
            <a:srgbClr val="FFFFFF"/>
          </a:solidFill>
          <a:ln w="1016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Oval 33"/>
          <p:cNvSpPr/>
          <p:nvPr/>
        </p:nvSpPr>
        <p:spPr>
          <a:xfrm>
            <a:off x="658368" y="4114800"/>
            <a:ext cx="164592" cy="164592"/>
          </a:xfrm>
          <a:prstGeom prst="ellipse">
            <a:avLst/>
          </a:prstGeom>
          <a:solidFill>
            <a:srgbClr val="FFFBEB"/>
          </a:solidFill>
          <a:ln w="10160">
            <a:solidFill>
              <a:srgbClr val="F59E0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667512" y="4137660"/>
            <a:ext cx="146304" cy="54864"/>
          </a:xfrm>
          <a:prstGeom prst="rect">
            <a:avLst/>
          </a:prstGeom>
          <a:noFill/>
        </p:spPr>
        <p:txBody>
          <a:bodyPr wrap="square" anchor="ctr" lIns="0" rIns="0" tIns="0" bIns="0">
            <a:normAutofit/>
          </a:bodyPr>
          <a:lstStyle/>
          <a:p>
            <a:pPr algn="ctr"/>
            <a:r>
              <a:rPr sz="500" b="1">
                <a:solidFill>
                  <a:srgbClr val="F59E0B"/>
                </a:solidFill>
                <a:latin typeface="Noto Sans SC"/>
              </a:rPr>
              <a:t>6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896112" y="4123944"/>
            <a:ext cx="2560320" cy="109728"/>
          </a:xfrm>
          <a:prstGeom prst="rect">
            <a:avLst/>
          </a:prstGeom>
          <a:noFill/>
        </p:spPr>
        <p:txBody>
          <a:bodyPr wrap="square" anchor="ctr" lIns="0" rIns="0" tIns="0" bIns="0">
            <a:normAutofit/>
          </a:bodyPr>
          <a:lstStyle/>
          <a:p>
            <a:pPr algn="l"/>
            <a:r>
              <a:rPr sz="800" b="1">
                <a:solidFill>
                  <a:srgbClr val="0F172A"/>
                </a:solidFill>
                <a:latin typeface="Noto Sans SC"/>
              </a:rPr>
              <a:t>撰写审核归档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566928" y="4480560"/>
            <a:ext cx="3072384" cy="146304"/>
          </a:xfrm>
          <a:prstGeom prst="rect">
            <a:avLst/>
          </a:prstGeom>
          <a:noFill/>
        </p:spPr>
        <p:txBody>
          <a:bodyPr wrap="square" anchor="ctr" lIns="0" rIns="0" tIns="0" bIns="0">
            <a:normAutofit/>
          </a:bodyPr>
          <a:lstStyle/>
          <a:p>
            <a:pPr algn="l"/>
            <a:r>
              <a:rPr sz="1000" b="1">
                <a:solidFill>
                  <a:srgbClr val="2563EB"/>
                </a:solidFill>
                <a:latin typeface="Noto Sans SC"/>
              </a:rPr>
              <a:t>玄女自动化流程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566928" y="4663440"/>
            <a:ext cx="2999232" cy="310896"/>
          </a:xfrm>
          <a:prstGeom prst="roundRect">
            <a:avLst/>
          </a:prstGeom>
          <a:solidFill>
            <a:srgbClr val="FFFFFF"/>
          </a:solidFill>
          <a:ln w="1016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Oval 38"/>
          <p:cNvSpPr/>
          <p:nvPr/>
        </p:nvSpPr>
        <p:spPr>
          <a:xfrm>
            <a:off x="658368" y="4736592"/>
            <a:ext cx="164592" cy="164592"/>
          </a:xfrm>
          <a:prstGeom prst="ellipse">
            <a:avLst/>
          </a:prstGeom>
          <a:solidFill>
            <a:srgbClr val="EFF6FF"/>
          </a:solidFill>
          <a:ln w="10160">
            <a:solidFill>
              <a:srgbClr val="2563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667512" y="4759452"/>
            <a:ext cx="146304" cy="54864"/>
          </a:xfrm>
          <a:prstGeom prst="rect">
            <a:avLst/>
          </a:prstGeom>
          <a:noFill/>
        </p:spPr>
        <p:txBody>
          <a:bodyPr wrap="square" anchor="ctr" lIns="0" rIns="0" tIns="0" bIns="0">
            <a:normAutofit/>
          </a:bodyPr>
          <a:lstStyle/>
          <a:p>
            <a:pPr algn="ctr"/>
            <a:r>
              <a:rPr sz="500" b="1">
                <a:solidFill>
                  <a:srgbClr val="2563EB"/>
                </a:solidFill>
                <a:latin typeface="Noto Sans SC"/>
              </a:rPr>
              <a:t>1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896112" y="4745736"/>
            <a:ext cx="2560320" cy="109728"/>
          </a:xfrm>
          <a:prstGeom prst="rect">
            <a:avLst/>
          </a:prstGeom>
          <a:noFill/>
        </p:spPr>
        <p:txBody>
          <a:bodyPr wrap="square" anchor="ctr" lIns="0" rIns="0" tIns="0" bIns="0">
            <a:normAutofit/>
          </a:bodyPr>
          <a:lstStyle/>
          <a:p>
            <a:pPr algn="l"/>
            <a:r>
              <a:rPr sz="800" b="1">
                <a:solidFill>
                  <a:srgbClr val="0F172A"/>
                </a:solidFill>
                <a:latin typeface="Noto Sans SC"/>
              </a:rPr>
              <a:t>选择区域/任务</a:t>
            </a:r>
          </a:p>
        </p:txBody>
      </p:sp>
      <p:cxnSp>
        <p:nvCxnSpPr>
          <p:cNvPr id="42" name="Connector 41"/>
          <p:cNvCxnSpPr/>
          <p:nvPr/>
        </p:nvCxnSpPr>
        <p:spPr>
          <a:xfrm>
            <a:off x="2066543" y="4974336"/>
            <a:ext cx="0" cy="45720"/>
          </a:xfrm>
          <a:prstGeom prst="line">
            <a:avLst/>
          </a:prstGeom>
          <a:ln w="10160">
            <a:solidFill>
              <a:srgbClr val="E2E8F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3" name="Rounded Rectangle 42"/>
          <p:cNvSpPr/>
          <p:nvPr/>
        </p:nvSpPr>
        <p:spPr>
          <a:xfrm>
            <a:off x="566928" y="4992624"/>
            <a:ext cx="2999232" cy="310896"/>
          </a:xfrm>
          <a:prstGeom prst="roundRect">
            <a:avLst/>
          </a:prstGeom>
          <a:solidFill>
            <a:srgbClr val="FFFFFF"/>
          </a:solidFill>
          <a:ln w="1016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Oval 43"/>
          <p:cNvSpPr/>
          <p:nvPr/>
        </p:nvSpPr>
        <p:spPr>
          <a:xfrm>
            <a:off x="658368" y="5065776"/>
            <a:ext cx="164592" cy="164592"/>
          </a:xfrm>
          <a:prstGeom prst="ellipse">
            <a:avLst/>
          </a:prstGeom>
          <a:solidFill>
            <a:srgbClr val="EFF6FF"/>
          </a:solidFill>
          <a:ln w="10160">
            <a:solidFill>
              <a:srgbClr val="2563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667512" y="5088636"/>
            <a:ext cx="146304" cy="54864"/>
          </a:xfrm>
          <a:prstGeom prst="rect">
            <a:avLst/>
          </a:prstGeom>
          <a:noFill/>
        </p:spPr>
        <p:txBody>
          <a:bodyPr wrap="square" anchor="ctr" lIns="0" rIns="0" tIns="0" bIns="0">
            <a:normAutofit/>
          </a:bodyPr>
          <a:lstStyle/>
          <a:p>
            <a:pPr algn="ctr"/>
            <a:r>
              <a:rPr sz="500" b="1">
                <a:solidFill>
                  <a:srgbClr val="2563EB"/>
                </a:solidFill>
                <a:latin typeface="Noto Sans SC"/>
              </a:rPr>
              <a:t>2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896112" y="5074920"/>
            <a:ext cx="2560320" cy="109728"/>
          </a:xfrm>
          <a:prstGeom prst="rect">
            <a:avLst/>
          </a:prstGeom>
          <a:noFill/>
        </p:spPr>
        <p:txBody>
          <a:bodyPr wrap="square" anchor="ctr" lIns="0" rIns="0" tIns="0" bIns="0">
            <a:normAutofit/>
          </a:bodyPr>
          <a:lstStyle/>
          <a:p>
            <a:pPr algn="l"/>
            <a:r>
              <a:rPr sz="800" b="1">
                <a:solidFill>
                  <a:srgbClr val="0F172A"/>
                </a:solidFill>
                <a:latin typeface="Noto Sans SC"/>
              </a:rPr>
              <a:t>调用嵌入与任务头</a:t>
            </a:r>
          </a:p>
        </p:txBody>
      </p:sp>
      <p:cxnSp>
        <p:nvCxnSpPr>
          <p:cNvPr id="47" name="Connector 46"/>
          <p:cNvCxnSpPr/>
          <p:nvPr/>
        </p:nvCxnSpPr>
        <p:spPr>
          <a:xfrm>
            <a:off x="2066543" y="5303520"/>
            <a:ext cx="0" cy="45720"/>
          </a:xfrm>
          <a:prstGeom prst="line">
            <a:avLst/>
          </a:prstGeom>
          <a:ln w="10160">
            <a:solidFill>
              <a:srgbClr val="E2E8F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8" name="Rounded Rectangle 47"/>
          <p:cNvSpPr/>
          <p:nvPr/>
        </p:nvSpPr>
        <p:spPr>
          <a:xfrm>
            <a:off x="566928" y="5321807"/>
            <a:ext cx="2999232" cy="310896"/>
          </a:xfrm>
          <a:prstGeom prst="roundRect">
            <a:avLst/>
          </a:prstGeom>
          <a:solidFill>
            <a:srgbClr val="FFFFFF"/>
          </a:solidFill>
          <a:ln w="1016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Oval 48"/>
          <p:cNvSpPr/>
          <p:nvPr/>
        </p:nvSpPr>
        <p:spPr>
          <a:xfrm>
            <a:off x="658368" y="5394959"/>
            <a:ext cx="164592" cy="164592"/>
          </a:xfrm>
          <a:prstGeom prst="ellipse">
            <a:avLst/>
          </a:prstGeom>
          <a:solidFill>
            <a:srgbClr val="EFF6FF"/>
          </a:solidFill>
          <a:ln w="10160">
            <a:solidFill>
              <a:srgbClr val="2563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667512" y="5417820"/>
            <a:ext cx="146304" cy="54864"/>
          </a:xfrm>
          <a:prstGeom prst="rect">
            <a:avLst/>
          </a:prstGeom>
          <a:noFill/>
        </p:spPr>
        <p:txBody>
          <a:bodyPr wrap="square" anchor="ctr" lIns="0" rIns="0" tIns="0" bIns="0">
            <a:normAutofit/>
          </a:bodyPr>
          <a:lstStyle/>
          <a:p>
            <a:pPr algn="ctr"/>
            <a:r>
              <a:rPr sz="500" b="1">
                <a:solidFill>
                  <a:srgbClr val="2563EB"/>
                </a:solidFill>
                <a:latin typeface="Noto Sans SC"/>
              </a:rPr>
              <a:t>3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896112" y="5404103"/>
            <a:ext cx="2560320" cy="109728"/>
          </a:xfrm>
          <a:prstGeom prst="rect">
            <a:avLst/>
          </a:prstGeom>
          <a:noFill/>
        </p:spPr>
        <p:txBody>
          <a:bodyPr wrap="square" anchor="ctr" lIns="0" rIns="0" tIns="0" bIns="0">
            <a:normAutofit/>
          </a:bodyPr>
          <a:lstStyle/>
          <a:p>
            <a:pPr algn="l"/>
            <a:r>
              <a:rPr sz="800" b="1">
                <a:solidFill>
                  <a:srgbClr val="0F172A"/>
                </a:solidFill>
                <a:latin typeface="Noto Sans SC"/>
              </a:rPr>
              <a:t>自动制图统计</a:t>
            </a:r>
          </a:p>
        </p:txBody>
      </p:sp>
      <p:cxnSp>
        <p:nvCxnSpPr>
          <p:cNvPr id="52" name="Connector 51"/>
          <p:cNvCxnSpPr/>
          <p:nvPr/>
        </p:nvCxnSpPr>
        <p:spPr>
          <a:xfrm>
            <a:off x="2066543" y="5632704"/>
            <a:ext cx="0" cy="45720"/>
          </a:xfrm>
          <a:prstGeom prst="line">
            <a:avLst/>
          </a:prstGeom>
          <a:ln w="10160">
            <a:solidFill>
              <a:srgbClr val="E2E8F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3" name="Rounded Rectangle 52"/>
          <p:cNvSpPr/>
          <p:nvPr/>
        </p:nvSpPr>
        <p:spPr>
          <a:xfrm>
            <a:off x="566928" y="5650992"/>
            <a:ext cx="2999232" cy="310896"/>
          </a:xfrm>
          <a:prstGeom prst="roundRect">
            <a:avLst/>
          </a:prstGeom>
          <a:solidFill>
            <a:srgbClr val="FFFFFF"/>
          </a:solidFill>
          <a:ln w="1016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Oval 53"/>
          <p:cNvSpPr/>
          <p:nvPr/>
        </p:nvSpPr>
        <p:spPr>
          <a:xfrm>
            <a:off x="658368" y="5724144"/>
            <a:ext cx="164592" cy="164592"/>
          </a:xfrm>
          <a:prstGeom prst="ellipse">
            <a:avLst/>
          </a:prstGeom>
          <a:solidFill>
            <a:srgbClr val="EFF6FF"/>
          </a:solidFill>
          <a:ln w="10160">
            <a:solidFill>
              <a:srgbClr val="2563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667512" y="5747004"/>
            <a:ext cx="146304" cy="54864"/>
          </a:xfrm>
          <a:prstGeom prst="rect">
            <a:avLst/>
          </a:prstGeom>
          <a:noFill/>
        </p:spPr>
        <p:txBody>
          <a:bodyPr wrap="square" anchor="ctr" lIns="0" rIns="0" tIns="0" bIns="0">
            <a:normAutofit/>
          </a:bodyPr>
          <a:lstStyle/>
          <a:p>
            <a:pPr algn="ctr"/>
            <a:r>
              <a:rPr sz="500" b="1">
                <a:solidFill>
                  <a:srgbClr val="2563EB"/>
                </a:solidFill>
                <a:latin typeface="Noto Sans SC"/>
              </a:rPr>
              <a:t>4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896112" y="5733288"/>
            <a:ext cx="2560320" cy="109728"/>
          </a:xfrm>
          <a:prstGeom prst="rect">
            <a:avLst/>
          </a:prstGeom>
          <a:noFill/>
        </p:spPr>
        <p:txBody>
          <a:bodyPr wrap="square" anchor="ctr" lIns="0" rIns="0" tIns="0" bIns="0">
            <a:normAutofit/>
          </a:bodyPr>
          <a:lstStyle/>
          <a:p>
            <a:pPr algn="l"/>
            <a:r>
              <a:rPr sz="800" b="1">
                <a:solidFill>
                  <a:srgbClr val="0F172A"/>
                </a:solidFill>
                <a:latin typeface="Noto Sans SC"/>
              </a:rPr>
              <a:t>生成报告</a:t>
            </a:r>
          </a:p>
        </p:txBody>
      </p:sp>
      <p:cxnSp>
        <p:nvCxnSpPr>
          <p:cNvPr id="57" name="Connector 56"/>
          <p:cNvCxnSpPr/>
          <p:nvPr/>
        </p:nvCxnSpPr>
        <p:spPr>
          <a:xfrm>
            <a:off x="2066543" y="5961888"/>
            <a:ext cx="0" cy="45720"/>
          </a:xfrm>
          <a:prstGeom prst="line">
            <a:avLst/>
          </a:prstGeom>
          <a:ln w="10160">
            <a:solidFill>
              <a:srgbClr val="E2E8F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8" name="Rounded Rectangle 57"/>
          <p:cNvSpPr/>
          <p:nvPr/>
        </p:nvSpPr>
        <p:spPr>
          <a:xfrm>
            <a:off x="566928" y="5980175"/>
            <a:ext cx="2999232" cy="310896"/>
          </a:xfrm>
          <a:prstGeom prst="roundRect">
            <a:avLst/>
          </a:prstGeom>
          <a:solidFill>
            <a:srgbClr val="FFFFFF"/>
          </a:solidFill>
          <a:ln w="1016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Oval 58"/>
          <p:cNvSpPr/>
          <p:nvPr/>
        </p:nvSpPr>
        <p:spPr>
          <a:xfrm>
            <a:off x="658368" y="6053327"/>
            <a:ext cx="164592" cy="164592"/>
          </a:xfrm>
          <a:prstGeom prst="ellipse">
            <a:avLst/>
          </a:prstGeom>
          <a:solidFill>
            <a:srgbClr val="EFF6FF"/>
          </a:solidFill>
          <a:ln w="10160">
            <a:solidFill>
              <a:srgbClr val="2563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TextBox 59"/>
          <p:cNvSpPr txBox="1"/>
          <p:nvPr/>
        </p:nvSpPr>
        <p:spPr>
          <a:xfrm>
            <a:off x="667512" y="6076188"/>
            <a:ext cx="146304" cy="54864"/>
          </a:xfrm>
          <a:prstGeom prst="rect">
            <a:avLst/>
          </a:prstGeom>
          <a:noFill/>
        </p:spPr>
        <p:txBody>
          <a:bodyPr wrap="square" anchor="ctr" lIns="0" rIns="0" tIns="0" bIns="0">
            <a:normAutofit/>
          </a:bodyPr>
          <a:lstStyle/>
          <a:p>
            <a:pPr algn="ctr"/>
            <a:r>
              <a:rPr sz="500" b="1">
                <a:solidFill>
                  <a:srgbClr val="2563EB"/>
                </a:solidFill>
                <a:latin typeface="Noto Sans SC"/>
              </a:rPr>
              <a:t>5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896112" y="6062471"/>
            <a:ext cx="2560320" cy="109728"/>
          </a:xfrm>
          <a:prstGeom prst="rect">
            <a:avLst/>
          </a:prstGeom>
          <a:noFill/>
        </p:spPr>
        <p:txBody>
          <a:bodyPr wrap="square" anchor="ctr" lIns="0" rIns="0" tIns="0" bIns="0">
            <a:normAutofit/>
          </a:bodyPr>
          <a:lstStyle/>
          <a:p>
            <a:pPr algn="l"/>
            <a:r>
              <a:rPr sz="800" b="1">
                <a:solidFill>
                  <a:srgbClr val="0F172A"/>
                </a:solidFill>
                <a:latin typeface="Noto Sans SC"/>
              </a:rPr>
              <a:t>人工复核提交</a:t>
            </a:r>
          </a:p>
        </p:txBody>
      </p:sp>
      <p:cxnSp>
        <p:nvCxnSpPr>
          <p:cNvPr id="62" name="Connector 61"/>
          <p:cNvCxnSpPr/>
          <p:nvPr/>
        </p:nvCxnSpPr>
        <p:spPr>
          <a:xfrm>
            <a:off x="3822191" y="1353312"/>
            <a:ext cx="0" cy="4663440"/>
          </a:xfrm>
          <a:prstGeom prst="line">
            <a:avLst/>
          </a:prstGeom>
          <a:ln w="11430">
            <a:solidFill>
              <a:srgbClr val="E2E8F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3" name="TextBox 62"/>
          <p:cNvSpPr txBox="1"/>
          <p:nvPr/>
        </p:nvSpPr>
        <p:spPr>
          <a:xfrm>
            <a:off x="4041648" y="1481328"/>
            <a:ext cx="3749039" cy="182880"/>
          </a:xfrm>
          <a:prstGeom prst="rect">
            <a:avLst/>
          </a:prstGeom>
          <a:noFill/>
        </p:spPr>
        <p:txBody>
          <a:bodyPr wrap="square" anchor="ctr" lIns="0" rIns="0" tIns="0" bIns="0">
            <a:normAutofit/>
          </a:bodyPr>
          <a:lstStyle/>
          <a:p>
            <a:pPr algn="ctr"/>
            <a:r>
              <a:rPr sz="1400" b="1">
                <a:solidFill>
                  <a:srgbClr val="2563EB"/>
                </a:solidFill>
                <a:latin typeface="Noto Sans SC"/>
              </a:rPr>
              <a:t>自动生成报告样例</a:t>
            </a:r>
          </a:p>
        </p:txBody>
      </p:sp>
      <p:pic>
        <p:nvPicPr>
          <p:cNvPr id="64" name="Picture 63" descr="model_total_p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80263" y="1828800"/>
            <a:ext cx="1202929" cy="1700784"/>
          </a:xfrm>
          <a:prstGeom prst="rect">
            <a:avLst/>
          </a:prstGeom>
        </p:spPr>
      </p:pic>
      <p:pic>
        <p:nvPicPr>
          <p:cNvPr id="65" name="Picture 64" descr="model_construction_p6_p6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516088" y="1828800"/>
            <a:ext cx="983039" cy="1389888"/>
          </a:xfrm>
          <a:prstGeom prst="rect">
            <a:avLst/>
          </a:prstGeom>
        </p:spPr>
      </p:pic>
      <p:pic>
        <p:nvPicPr>
          <p:cNvPr id="66" name="Picture 65" descr="model_building_p6_p6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613368" y="1828800"/>
            <a:ext cx="983039" cy="1389888"/>
          </a:xfrm>
          <a:prstGeom prst="rect">
            <a:avLst/>
          </a:prstGeom>
        </p:spPr>
      </p:pic>
      <p:pic>
        <p:nvPicPr>
          <p:cNvPr id="67" name="Picture 66" descr="model_farmland_p6_p6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516088" y="3493008"/>
            <a:ext cx="983039" cy="1389888"/>
          </a:xfrm>
          <a:prstGeom prst="rect">
            <a:avLst/>
          </a:prstGeom>
        </p:spPr>
      </p:pic>
      <p:pic>
        <p:nvPicPr>
          <p:cNvPr id="68" name="Picture 67" descr="all_categories_map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601968" y="3685031"/>
            <a:ext cx="1005840" cy="1005840"/>
          </a:xfrm>
          <a:prstGeom prst="rect">
            <a:avLst/>
          </a:prstGeom>
        </p:spPr>
      </p:pic>
      <p:sp>
        <p:nvSpPr>
          <p:cNvPr id="69" name="TextBox 68"/>
          <p:cNvSpPr txBox="1"/>
          <p:nvPr/>
        </p:nvSpPr>
        <p:spPr>
          <a:xfrm>
            <a:off x="4059936" y="3675887"/>
            <a:ext cx="1243584" cy="118872"/>
          </a:xfrm>
          <a:prstGeom prst="rect">
            <a:avLst/>
          </a:prstGeom>
          <a:noFill/>
        </p:spPr>
        <p:txBody>
          <a:bodyPr wrap="square" anchor="ctr" lIns="0" rIns="0" tIns="0" bIns="0">
            <a:normAutofit/>
          </a:bodyPr>
          <a:lstStyle/>
          <a:p>
            <a:pPr algn="ctr"/>
            <a:r>
              <a:rPr sz="700" b="1">
                <a:solidFill>
                  <a:srgbClr val="2563EB"/>
                </a:solidFill>
                <a:latin typeface="Noto Sans SC"/>
              </a:rPr>
              <a:t>总报告封面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5504688" y="5010912"/>
            <a:ext cx="1005840" cy="118872"/>
          </a:xfrm>
          <a:prstGeom prst="rect">
            <a:avLst/>
          </a:prstGeom>
          <a:noFill/>
        </p:spPr>
        <p:txBody>
          <a:bodyPr wrap="square" anchor="ctr" lIns="0" rIns="0" tIns="0" bIns="0">
            <a:normAutofit/>
          </a:bodyPr>
          <a:lstStyle/>
          <a:p>
            <a:pPr algn="ctr"/>
            <a:r>
              <a:rPr sz="700" b="1">
                <a:solidFill>
                  <a:srgbClr val="2563EB"/>
                </a:solidFill>
                <a:latin typeface="Noto Sans SC"/>
              </a:rPr>
              <a:t>专题内页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6601968" y="5010912"/>
            <a:ext cx="1005840" cy="118872"/>
          </a:xfrm>
          <a:prstGeom prst="rect">
            <a:avLst/>
          </a:prstGeom>
          <a:noFill/>
        </p:spPr>
        <p:txBody>
          <a:bodyPr wrap="square" anchor="ctr" lIns="0" rIns="0" tIns="0" bIns="0">
            <a:normAutofit/>
          </a:bodyPr>
          <a:lstStyle/>
          <a:p>
            <a:pPr algn="ctr"/>
            <a:r>
              <a:rPr sz="700" b="1">
                <a:solidFill>
                  <a:srgbClr val="2563EB"/>
                </a:solidFill>
                <a:latin typeface="Noto Sans SC"/>
              </a:rPr>
              <a:t>点位分布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4041648" y="5376672"/>
            <a:ext cx="3749039" cy="310896"/>
          </a:xfrm>
          <a:prstGeom prst="rect">
            <a:avLst/>
          </a:prstGeom>
          <a:noFill/>
        </p:spPr>
        <p:txBody>
          <a:bodyPr wrap="square" anchor="ctr" lIns="0" rIns="0" tIns="0" bIns="0">
            <a:normAutofit/>
          </a:bodyPr>
          <a:lstStyle/>
          <a:p>
            <a:pPr algn="ctr"/>
            <a:r>
              <a:rPr sz="800" b="1">
                <a:solidFill>
                  <a:srgbClr val="334155"/>
                </a:solidFill>
                <a:latin typeface="Noto Sans SC"/>
              </a:rPr>
              <a:t>已生成 5 份专题报告，共 199 页；覆盖建筑工地、建筑变化、耕地非农非粮、垃圾渣土等专题。</a:t>
            </a:r>
          </a:p>
        </p:txBody>
      </p:sp>
      <p:cxnSp>
        <p:nvCxnSpPr>
          <p:cNvPr id="73" name="Connector 72"/>
          <p:cNvCxnSpPr/>
          <p:nvPr/>
        </p:nvCxnSpPr>
        <p:spPr>
          <a:xfrm>
            <a:off x="7955279" y="1353312"/>
            <a:ext cx="0" cy="4663440"/>
          </a:xfrm>
          <a:prstGeom prst="line">
            <a:avLst/>
          </a:prstGeom>
          <a:ln w="11430">
            <a:solidFill>
              <a:srgbClr val="E2E8F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4" name="TextBox 73"/>
          <p:cNvSpPr txBox="1"/>
          <p:nvPr/>
        </p:nvSpPr>
        <p:spPr>
          <a:xfrm>
            <a:off x="8321040" y="1481328"/>
            <a:ext cx="2926080" cy="201168"/>
          </a:xfrm>
          <a:prstGeom prst="rect">
            <a:avLst/>
          </a:prstGeom>
          <a:noFill/>
        </p:spPr>
        <p:txBody>
          <a:bodyPr wrap="square" anchor="ctr" lIns="0" rIns="0" tIns="0" bIns="0">
            <a:normAutofit/>
          </a:bodyPr>
          <a:lstStyle/>
          <a:p>
            <a:pPr algn="ctr"/>
            <a:r>
              <a:rPr sz="1600" b="1">
                <a:solidFill>
                  <a:srgbClr val="2563EB"/>
                </a:solidFill>
                <a:latin typeface="Noto Sans SC"/>
              </a:rPr>
              <a:t>交付效率测算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8266175" y="1847088"/>
            <a:ext cx="2999232" cy="310896"/>
          </a:xfrm>
          <a:prstGeom prst="rect">
            <a:avLst/>
          </a:prstGeom>
          <a:noFill/>
        </p:spPr>
        <p:txBody>
          <a:bodyPr wrap="square" anchor="ctr" lIns="0" rIns="0" tIns="0" bIns="0">
            <a:normAutofit/>
          </a:bodyPr>
          <a:lstStyle/>
          <a:p>
            <a:pPr algn="ctr"/>
            <a:r>
              <a:rPr sz="900" b="1">
                <a:solidFill>
                  <a:srgbClr val="334155"/>
                </a:solidFill>
                <a:latin typeface="Noto Sans SC"/>
              </a:rPr>
              <a:t>以一次月度/周期监测报告为例，按遥感工程师、制图与报告撰写人力的保守估算。</a:t>
            </a:r>
          </a:p>
        </p:txBody>
      </p:sp>
      <p:sp>
        <p:nvSpPr>
          <p:cNvPr id="76" name="Rounded Rectangle 75"/>
          <p:cNvSpPr/>
          <p:nvPr/>
        </p:nvSpPr>
        <p:spPr>
          <a:xfrm>
            <a:off x="8247888" y="2432304"/>
            <a:ext cx="1371600" cy="713232"/>
          </a:xfrm>
          <a:prstGeom prst="roundRect">
            <a:avLst/>
          </a:prstGeom>
          <a:solidFill>
            <a:srgbClr val="FFFBEB"/>
          </a:solidFill>
          <a:ln w="10160">
            <a:solidFill>
              <a:srgbClr val="F59E0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8339327" y="2551176"/>
            <a:ext cx="1188720" cy="201168"/>
          </a:xfrm>
          <a:prstGeom prst="rect">
            <a:avLst/>
          </a:prstGeom>
          <a:noFill/>
        </p:spPr>
        <p:txBody>
          <a:bodyPr wrap="square" anchor="ctr" lIns="0" rIns="0" tIns="0" bIns="0">
            <a:normAutofit/>
          </a:bodyPr>
          <a:lstStyle/>
          <a:p>
            <a:pPr algn="ctr"/>
            <a:r>
              <a:rPr sz="1500" b="1">
                <a:solidFill>
                  <a:srgbClr val="F59E0B"/>
                </a:solidFill>
                <a:latin typeface="Noto Sans SC"/>
              </a:rPr>
              <a:t>10-15 天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8339327" y="2862072"/>
            <a:ext cx="1188720" cy="128016"/>
          </a:xfrm>
          <a:prstGeom prst="rect">
            <a:avLst/>
          </a:prstGeom>
          <a:noFill/>
        </p:spPr>
        <p:txBody>
          <a:bodyPr wrap="square" anchor="ctr" lIns="0" rIns="0" tIns="0" bIns="0">
            <a:normAutofit/>
          </a:bodyPr>
          <a:lstStyle/>
          <a:p>
            <a:pPr algn="ctr"/>
            <a:r>
              <a:rPr sz="700" b="1">
                <a:solidFill>
                  <a:srgbClr val="334155"/>
                </a:solidFill>
                <a:latin typeface="Noto Sans SC"/>
              </a:rPr>
              <a:t>传统交付周期</a:t>
            </a:r>
          </a:p>
        </p:txBody>
      </p:sp>
      <p:sp>
        <p:nvSpPr>
          <p:cNvPr id="79" name="Rounded Rectangle 78"/>
          <p:cNvSpPr/>
          <p:nvPr/>
        </p:nvSpPr>
        <p:spPr>
          <a:xfrm>
            <a:off x="9857232" y="2432304"/>
            <a:ext cx="1371600" cy="713232"/>
          </a:xfrm>
          <a:prstGeom prst="roundRect">
            <a:avLst/>
          </a:prstGeom>
          <a:solidFill>
            <a:srgbClr val="FFFBEB"/>
          </a:solidFill>
          <a:ln w="10160">
            <a:solidFill>
              <a:srgbClr val="F59E0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0" name="TextBox 79"/>
          <p:cNvSpPr txBox="1"/>
          <p:nvPr/>
        </p:nvSpPr>
        <p:spPr>
          <a:xfrm>
            <a:off x="9948672" y="2551176"/>
            <a:ext cx="1188720" cy="201168"/>
          </a:xfrm>
          <a:prstGeom prst="rect">
            <a:avLst/>
          </a:prstGeom>
          <a:noFill/>
        </p:spPr>
        <p:txBody>
          <a:bodyPr wrap="square" anchor="ctr" lIns="0" rIns="0" tIns="0" bIns="0">
            <a:normAutofit/>
          </a:bodyPr>
          <a:lstStyle/>
          <a:p>
            <a:pPr algn="ctr"/>
            <a:r>
              <a:rPr sz="1500" b="1">
                <a:solidFill>
                  <a:srgbClr val="F59E0B"/>
                </a:solidFill>
                <a:latin typeface="Noto Sans SC"/>
              </a:rPr>
              <a:t>4-6 万元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948672" y="2862072"/>
            <a:ext cx="1188720" cy="128016"/>
          </a:xfrm>
          <a:prstGeom prst="rect">
            <a:avLst/>
          </a:prstGeom>
          <a:noFill/>
        </p:spPr>
        <p:txBody>
          <a:bodyPr wrap="square" anchor="ctr" lIns="0" rIns="0" tIns="0" bIns="0">
            <a:normAutofit/>
          </a:bodyPr>
          <a:lstStyle/>
          <a:p>
            <a:pPr algn="ctr"/>
            <a:r>
              <a:rPr sz="700" b="1">
                <a:solidFill>
                  <a:srgbClr val="334155"/>
                </a:solidFill>
                <a:latin typeface="Noto Sans SC"/>
              </a:rPr>
              <a:t>传统综合成本</a:t>
            </a:r>
          </a:p>
        </p:txBody>
      </p:sp>
      <p:sp>
        <p:nvSpPr>
          <p:cNvPr id="82" name="Rounded Rectangle 81"/>
          <p:cNvSpPr/>
          <p:nvPr/>
        </p:nvSpPr>
        <p:spPr>
          <a:xfrm>
            <a:off x="8247888" y="3291840"/>
            <a:ext cx="1371600" cy="713232"/>
          </a:xfrm>
          <a:prstGeom prst="roundRect">
            <a:avLst/>
          </a:prstGeom>
          <a:solidFill>
            <a:srgbClr val="EFF6FF"/>
          </a:solidFill>
          <a:ln w="10160">
            <a:solidFill>
              <a:srgbClr val="2563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3" name="TextBox 82"/>
          <p:cNvSpPr txBox="1"/>
          <p:nvPr/>
        </p:nvSpPr>
        <p:spPr>
          <a:xfrm>
            <a:off x="8339327" y="3410712"/>
            <a:ext cx="1188720" cy="201168"/>
          </a:xfrm>
          <a:prstGeom prst="rect">
            <a:avLst/>
          </a:prstGeom>
          <a:noFill/>
        </p:spPr>
        <p:txBody>
          <a:bodyPr wrap="square" anchor="ctr" lIns="0" rIns="0" tIns="0" bIns="0">
            <a:normAutofit/>
          </a:bodyPr>
          <a:lstStyle/>
          <a:p>
            <a:pPr algn="ctr"/>
            <a:r>
              <a:rPr sz="1500" b="1">
                <a:solidFill>
                  <a:srgbClr val="2563EB"/>
                </a:solidFill>
                <a:latin typeface="Noto Sans SC"/>
              </a:rPr>
              <a:t>0.5-1 天</a:t>
            </a:r>
          </a:p>
        </p:txBody>
      </p:sp>
      <p:sp>
        <p:nvSpPr>
          <p:cNvPr id="84" name="TextBox 83"/>
          <p:cNvSpPr txBox="1"/>
          <p:nvPr/>
        </p:nvSpPr>
        <p:spPr>
          <a:xfrm>
            <a:off x="8339327" y="3721608"/>
            <a:ext cx="1188720" cy="128016"/>
          </a:xfrm>
          <a:prstGeom prst="rect">
            <a:avLst/>
          </a:prstGeom>
          <a:noFill/>
        </p:spPr>
        <p:txBody>
          <a:bodyPr wrap="square" anchor="ctr" lIns="0" rIns="0" tIns="0" bIns="0">
            <a:normAutofit/>
          </a:bodyPr>
          <a:lstStyle/>
          <a:p>
            <a:pPr algn="ctr"/>
            <a:r>
              <a:rPr sz="700" b="1">
                <a:solidFill>
                  <a:srgbClr val="334155"/>
                </a:solidFill>
                <a:latin typeface="Noto Sans SC"/>
              </a:rPr>
              <a:t>玄女交付周期</a:t>
            </a:r>
          </a:p>
        </p:txBody>
      </p:sp>
      <p:sp>
        <p:nvSpPr>
          <p:cNvPr id="85" name="Rounded Rectangle 84"/>
          <p:cNvSpPr/>
          <p:nvPr/>
        </p:nvSpPr>
        <p:spPr>
          <a:xfrm>
            <a:off x="9857232" y="3291840"/>
            <a:ext cx="1371600" cy="713232"/>
          </a:xfrm>
          <a:prstGeom prst="roundRect">
            <a:avLst/>
          </a:prstGeom>
          <a:solidFill>
            <a:srgbClr val="EFF6FF"/>
          </a:solidFill>
          <a:ln w="10160">
            <a:solidFill>
              <a:srgbClr val="2563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6" name="TextBox 85"/>
          <p:cNvSpPr txBox="1"/>
          <p:nvPr/>
        </p:nvSpPr>
        <p:spPr>
          <a:xfrm>
            <a:off x="9948672" y="3410712"/>
            <a:ext cx="1188720" cy="201168"/>
          </a:xfrm>
          <a:prstGeom prst="rect">
            <a:avLst/>
          </a:prstGeom>
          <a:noFill/>
        </p:spPr>
        <p:txBody>
          <a:bodyPr wrap="square" anchor="ctr" lIns="0" rIns="0" tIns="0" bIns="0">
            <a:normAutofit/>
          </a:bodyPr>
          <a:lstStyle/>
          <a:p>
            <a:pPr algn="ctr"/>
            <a:r>
              <a:rPr sz="1500" b="1">
                <a:solidFill>
                  <a:srgbClr val="2563EB"/>
                </a:solidFill>
                <a:latin typeface="Noto Sans SC"/>
              </a:rPr>
              <a:t>千元级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9948672" y="3721608"/>
            <a:ext cx="1188720" cy="128016"/>
          </a:xfrm>
          <a:prstGeom prst="rect">
            <a:avLst/>
          </a:prstGeom>
          <a:noFill/>
        </p:spPr>
        <p:txBody>
          <a:bodyPr wrap="square" anchor="ctr" lIns="0" rIns="0" tIns="0" bIns="0">
            <a:normAutofit/>
          </a:bodyPr>
          <a:lstStyle/>
          <a:p>
            <a:pPr algn="ctr"/>
            <a:r>
              <a:rPr sz="700" b="1">
                <a:solidFill>
                  <a:srgbClr val="334155"/>
                </a:solidFill>
                <a:latin typeface="Noto Sans SC"/>
              </a:rPr>
              <a:t>玄女边际成本</a:t>
            </a:r>
          </a:p>
        </p:txBody>
      </p:sp>
      <p:sp>
        <p:nvSpPr>
          <p:cNvPr id="88" name="Rounded Rectangle 87"/>
          <p:cNvSpPr/>
          <p:nvPr/>
        </p:nvSpPr>
        <p:spPr>
          <a:xfrm>
            <a:off x="8247888" y="4224528"/>
            <a:ext cx="2980944" cy="841248"/>
          </a:xfrm>
          <a:prstGeom prst="roundRect">
            <a:avLst/>
          </a:prstGeom>
          <a:solidFill>
            <a:srgbClr val="EFF6FF"/>
          </a:solidFill>
          <a:ln w="10160">
            <a:solidFill>
              <a:srgbClr val="2563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9" name="TextBox 88"/>
          <p:cNvSpPr txBox="1"/>
          <p:nvPr/>
        </p:nvSpPr>
        <p:spPr>
          <a:xfrm>
            <a:off x="8412480" y="4370832"/>
            <a:ext cx="2651760" cy="128016"/>
          </a:xfrm>
          <a:prstGeom prst="rect">
            <a:avLst/>
          </a:prstGeom>
          <a:noFill/>
        </p:spPr>
        <p:txBody>
          <a:bodyPr wrap="square" anchor="ctr" lIns="0" rIns="0" tIns="0" bIns="0">
            <a:normAutofit/>
          </a:bodyPr>
          <a:lstStyle/>
          <a:p>
            <a:pPr algn="ctr"/>
            <a:r>
              <a:rPr sz="1000" b="1">
                <a:solidFill>
                  <a:srgbClr val="2563EB"/>
                </a:solidFill>
                <a:latin typeface="Noto Sans SC"/>
              </a:rPr>
              <a:t>节省结果</a:t>
            </a:r>
          </a:p>
        </p:txBody>
      </p:sp>
      <p:sp>
        <p:nvSpPr>
          <p:cNvPr id="90" name="TextBox 89"/>
          <p:cNvSpPr txBox="1"/>
          <p:nvPr/>
        </p:nvSpPr>
        <p:spPr>
          <a:xfrm>
            <a:off x="8430768" y="4626864"/>
            <a:ext cx="2615184" cy="201168"/>
          </a:xfrm>
          <a:prstGeom prst="rect">
            <a:avLst/>
          </a:prstGeom>
          <a:noFill/>
        </p:spPr>
        <p:txBody>
          <a:bodyPr wrap="square" anchor="ctr" lIns="0" rIns="0" tIns="0" bIns="0">
            <a:normAutofit/>
          </a:bodyPr>
          <a:lstStyle/>
          <a:p>
            <a:pPr algn="ctr"/>
            <a:r>
              <a:rPr sz="800" b="1">
                <a:solidFill>
                  <a:srgbClr val="334155"/>
                </a:solidFill>
                <a:latin typeface="Noto Sans SC"/>
              </a:rPr>
              <a:t>报告生产从“项目制人力交付”变成“模型驱动的持续交付”。</a:t>
            </a:r>
          </a:p>
        </p:txBody>
      </p:sp>
      <p:sp>
        <p:nvSpPr>
          <p:cNvPr id="91" name="TextBox 90"/>
          <p:cNvSpPr txBox="1"/>
          <p:nvPr/>
        </p:nvSpPr>
        <p:spPr>
          <a:xfrm>
            <a:off x="786384" y="6345936"/>
            <a:ext cx="10607040" cy="201168"/>
          </a:xfrm>
          <a:prstGeom prst="rect">
            <a:avLst/>
          </a:prstGeom>
          <a:noFill/>
        </p:spPr>
        <p:txBody>
          <a:bodyPr wrap="square" anchor="ctr" lIns="0" rIns="0" tIns="0" bIns="0">
            <a:normAutofit/>
          </a:bodyPr>
          <a:lstStyle/>
          <a:p>
            <a:pPr algn="ctr"/>
            <a:r>
              <a:rPr sz="1400" b="1">
                <a:solidFill>
                  <a:srgbClr val="2563EB"/>
                </a:solidFill>
                <a:latin typeface="Noto Sans SC"/>
              </a:rPr>
              <a:t>时间节省约 90%+，单次报告成本下降一个数量级。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84048"/>
            <a:ext cx="384048" cy="201168"/>
          </a:xfrm>
          <a:prstGeom prst="rect">
            <a:avLst/>
          </a:prstGeom>
          <a:noFill/>
        </p:spPr>
        <p:txBody>
          <a:bodyPr wrap="square" anchor="ctr" lIns="0" rIns="0" tIns="0" bIns="0">
            <a:normAutofit/>
          </a:bodyPr>
          <a:lstStyle/>
          <a:p>
            <a:pPr algn="l"/>
            <a:r>
              <a:rPr sz="800" b="1">
                <a:solidFill>
                  <a:srgbClr val="0EA5E9"/>
                </a:solidFill>
                <a:latin typeface="Noto Sans SC"/>
              </a:rPr>
              <a:t>14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50976" y="256032"/>
            <a:ext cx="10424160" cy="566928"/>
          </a:xfrm>
          <a:prstGeom prst="rect">
            <a:avLst/>
          </a:prstGeom>
          <a:noFill/>
        </p:spPr>
        <p:txBody>
          <a:bodyPr wrap="square" anchor="ctr" lIns="0" rIns="0" tIns="0" bIns="0">
            <a:normAutofit/>
          </a:bodyPr>
          <a:lstStyle/>
          <a:p>
            <a:pPr algn="l"/>
            <a:r>
              <a:rPr sz="2400" b="1">
                <a:solidFill>
                  <a:srgbClr val="0F172A"/>
                </a:solidFill>
                <a:latin typeface="Noto Sans SC"/>
              </a:rPr>
              <a:t>海淀区 Benchmark：玄女 V1.0 与 AEF 官方嵌入正面对标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32688" y="1042415"/>
            <a:ext cx="10241280" cy="274320"/>
          </a:xfrm>
          <a:prstGeom prst="rect">
            <a:avLst/>
          </a:prstGeom>
          <a:noFill/>
        </p:spPr>
        <p:txBody>
          <a:bodyPr wrap="square" anchor="ctr" lIns="0" rIns="0" tIns="0" bIns="0">
            <a:normAutofit/>
          </a:bodyPr>
          <a:lstStyle/>
          <a:p>
            <a:pPr algn="ctr"/>
            <a:r>
              <a:rPr sz="1300" b="0">
                <a:solidFill>
                  <a:srgbClr val="334155"/>
                </a:solidFill>
                <a:latin typeface="Noto Sans SC"/>
              </a:rPr>
              <a:t>用真实下游任务指标说话：海淀区 5-fold CV，对比玄女 V1.0 embedding 与 AEF 2025 官方年度 embedding。</a:t>
            </a:r>
          </a:p>
        </p:txBody>
      </p:sp>
      <p:pic>
        <p:nvPicPr>
          <p:cNvPr id="5" name="Picture 4" descr="aef_vs_v1.0_v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27231" y="1627632"/>
            <a:ext cx="10853361" cy="2688336"/>
          </a:xfrm>
          <a:prstGeom prst="rect">
            <a:avLst/>
          </a:prstGeom>
        </p:spPr>
      </p:pic>
      <p:sp>
        <p:nvSpPr>
          <p:cNvPr id="6" name="Rounded Rectangle 5"/>
          <p:cNvSpPr/>
          <p:nvPr/>
        </p:nvSpPr>
        <p:spPr>
          <a:xfrm>
            <a:off x="932688" y="4773168"/>
            <a:ext cx="1572768" cy="713232"/>
          </a:xfrm>
          <a:prstGeom prst="roundRect">
            <a:avLst/>
          </a:prstGeom>
          <a:solidFill>
            <a:srgbClr val="EFF6FF"/>
          </a:solidFill>
          <a:ln w="10160">
            <a:solidFill>
              <a:srgbClr val="2563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24128" y="4892040"/>
            <a:ext cx="1389888" cy="201168"/>
          </a:xfrm>
          <a:prstGeom prst="rect">
            <a:avLst/>
          </a:prstGeom>
          <a:noFill/>
        </p:spPr>
        <p:txBody>
          <a:bodyPr wrap="square" anchor="ctr" lIns="0" rIns="0" tIns="0" bIns="0">
            <a:normAutofit/>
          </a:bodyPr>
          <a:lstStyle/>
          <a:p>
            <a:pPr algn="ctr"/>
            <a:r>
              <a:rPr sz="1500" b="1">
                <a:solidFill>
                  <a:srgbClr val="2563EB"/>
                </a:solidFill>
                <a:latin typeface="Noto Sans SC"/>
              </a:rPr>
              <a:t>0.8828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24128" y="5202936"/>
            <a:ext cx="1389888" cy="128016"/>
          </a:xfrm>
          <a:prstGeom prst="rect">
            <a:avLst/>
          </a:prstGeom>
          <a:noFill/>
        </p:spPr>
        <p:txBody>
          <a:bodyPr wrap="square" anchor="ctr" lIns="0" rIns="0" tIns="0" bIns="0">
            <a:normAutofit/>
          </a:bodyPr>
          <a:lstStyle/>
          <a:p>
            <a:pPr algn="ctr"/>
            <a:r>
              <a:rPr sz="700" b="1">
                <a:solidFill>
                  <a:srgbClr val="334155"/>
                </a:solidFill>
                <a:latin typeface="Noto Sans SC"/>
              </a:rPr>
              <a:t>建筑变化 AUC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2834640" y="4773168"/>
            <a:ext cx="1572768" cy="713232"/>
          </a:xfrm>
          <a:prstGeom prst="roundRect">
            <a:avLst/>
          </a:prstGeom>
          <a:solidFill>
            <a:srgbClr val="EFF6FF"/>
          </a:solidFill>
          <a:ln w="10160">
            <a:solidFill>
              <a:srgbClr val="2563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2926080" y="4892040"/>
            <a:ext cx="1389888" cy="201168"/>
          </a:xfrm>
          <a:prstGeom prst="rect">
            <a:avLst/>
          </a:prstGeom>
          <a:noFill/>
        </p:spPr>
        <p:txBody>
          <a:bodyPr wrap="square" anchor="ctr" lIns="0" rIns="0" tIns="0" bIns="0">
            <a:normAutofit/>
          </a:bodyPr>
          <a:lstStyle/>
          <a:p>
            <a:pPr algn="ctr"/>
            <a:r>
              <a:rPr sz="1500" b="1">
                <a:solidFill>
                  <a:srgbClr val="2563EB"/>
                </a:solidFill>
                <a:latin typeface="Noto Sans SC"/>
              </a:rPr>
              <a:t>0.8876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926080" y="5202936"/>
            <a:ext cx="1389888" cy="128016"/>
          </a:xfrm>
          <a:prstGeom prst="rect">
            <a:avLst/>
          </a:prstGeom>
          <a:noFill/>
        </p:spPr>
        <p:txBody>
          <a:bodyPr wrap="square" anchor="ctr" lIns="0" rIns="0" tIns="0" bIns="0">
            <a:normAutofit/>
          </a:bodyPr>
          <a:lstStyle/>
          <a:p>
            <a:pPr algn="ctr"/>
            <a:r>
              <a:rPr sz="700" b="1">
                <a:solidFill>
                  <a:srgbClr val="334155"/>
                </a:solidFill>
                <a:latin typeface="Noto Sans SC"/>
              </a:rPr>
              <a:t>耕地变化 AUC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736592" y="4773168"/>
            <a:ext cx="1572768" cy="713232"/>
          </a:xfrm>
          <a:prstGeom prst="roundRect">
            <a:avLst/>
          </a:prstGeom>
          <a:solidFill>
            <a:srgbClr val="EFF6FF"/>
          </a:solidFill>
          <a:ln w="10160">
            <a:solidFill>
              <a:srgbClr val="2563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828031" y="4892040"/>
            <a:ext cx="1389888" cy="201168"/>
          </a:xfrm>
          <a:prstGeom prst="rect">
            <a:avLst/>
          </a:prstGeom>
          <a:noFill/>
        </p:spPr>
        <p:txBody>
          <a:bodyPr wrap="square" anchor="ctr" lIns="0" rIns="0" tIns="0" bIns="0">
            <a:normAutofit/>
          </a:bodyPr>
          <a:lstStyle/>
          <a:p>
            <a:pPr algn="ctr"/>
            <a:r>
              <a:rPr sz="1500" b="1">
                <a:solidFill>
                  <a:srgbClr val="2563EB"/>
                </a:solidFill>
                <a:latin typeface="Noto Sans SC"/>
              </a:rPr>
              <a:t>0.8876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828031" y="5202936"/>
            <a:ext cx="1389888" cy="128016"/>
          </a:xfrm>
          <a:prstGeom prst="rect">
            <a:avLst/>
          </a:prstGeom>
          <a:noFill/>
        </p:spPr>
        <p:txBody>
          <a:bodyPr wrap="square" anchor="ctr" lIns="0" rIns="0" tIns="0" bIns="0">
            <a:normAutofit/>
          </a:bodyPr>
          <a:lstStyle/>
          <a:p>
            <a:pPr algn="ctr"/>
            <a:r>
              <a:rPr sz="700" b="1">
                <a:solidFill>
                  <a:srgbClr val="334155"/>
                </a:solidFill>
                <a:latin typeface="Noto Sans SC"/>
              </a:rPr>
              <a:t>垃圾堆放 AUC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638544" y="4773168"/>
            <a:ext cx="1572768" cy="713232"/>
          </a:xfrm>
          <a:prstGeom prst="roundRect">
            <a:avLst/>
          </a:prstGeom>
          <a:solidFill>
            <a:srgbClr val="FFFBEB"/>
          </a:solidFill>
          <a:ln w="10160">
            <a:solidFill>
              <a:srgbClr val="F59E0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729983" y="4892040"/>
            <a:ext cx="1389888" cy="201168"/>
          </a:xfrm>
          <a:prstGeom prst="rect">
            <a:avLst/>
          </a:prstGeom>
          <a:noFill/>
        </p:spPr>
        <p:txBody>
          <a:bodyPr wrap="square" anchor="ctr" lIns="0" rIns="0" tIns="0" bIns="0">
            <a:normAutofit/>
          </a:bodyPr>
          <a:lstStyle/>
          <a:p>
            <a:pPr algn="ctr"/>
            <a:r>
              <a:rPr sz="1500" b="1">
                <a:solidFill>
                  <a:srgbClr val="F59E0B"/>
                </a:solidFill>
                <a:latin typeface="Noto Sans SC"/>
              </a:rPr>
              <a:t>AEF 更强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729983" y="5202936"/>
            <a:ext cx="1389888" cy="128016"/>
          </a:xfrm>
          <a:prstGeom prst="rect">
            <a:avLst/>
          </a:prstGeom>
          <a:noFill/>
        </p:spPr>
        <p:txBody>
          <a:bodyPr wrap="square" anchor="ctr" lIns="0" rIns="0" tIns="0" bIns="0">
            <a:normAutofit/>
          </a:bodyPr>
          <a:lstStyle/>
          <a:p>
            <a:pPr algn="ctr"/>
            <a:r>
              <a:rPr sz="700" b="1">
                <a:solidFill>
                  <a:srgbClr val="334155"/>
                </a:solidFill>
                <a:latin typeface="Noto Sans SC"/>
              </a:rPr>
              <a:t>施工工地任务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485632" y="4882896"/>
            <a:ext cx="2633472" cy="365760"/>
          </a:xfrm>
          <a:prstGeom prst="rect">
            <a:avLst/>
          </a:prstGeom>
          <a:noFill/>
        </p:spPr>
        <p:txBody>
          <a:bodyPr wrap="square" anchor="ctr" lIns="0" rIns="0" tIns="0" bIns="0">
            <a:normAutofit/>
          </a:bodyPr>
          <a:lstStyle/>
          <a:p>
            <a:pPr algn="ctr"/>
            <a:r>
              <a:rPr sz="900" b="1">
                <a:solidFill>
                  <a:srgbClr val="0F172A"/>
                </a:solidFill>
                <a:latin typeface="Noto Sans SC"/>
              </a:rPr>
              <a:t>坦诚结论：施工工地上 AEF 更强；建筑变化、耕地变化、垃圾堆放等变化类任务上，玄女 V1.0 更强。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14400" y="5650992"/>
            <a:ext cx="10332720" cy="146304"/>
          </a:xfrm>
          <a:prstGeom prst="rect">
            <a:avLst/>
          </a:prstGeom>
          <a:noFill/>
        </p:spPr>
        <p:txBody>
          <a:bodyPr wrap="square" anchor="ctr" lIns="0" rIns="0" tIns="0" bIns="0">
            <a:normAutofit/>
          </a:bodyPr>
          <a:lstStyle/>
          <a:p>
            <a:pPr algn="ctr"/>
            <a:r>
              <a:rPr sz="800" b="0">
                <a:solidFill>
                  <a:srgbClr val="64748B"/>
                </a:solidFill>
                <a:latin typeface="Noto Sans SC"/>
              </a:rPr>
              <a:t>注：5-fold CV，海淀区下游任务评测；指标包括 AUC-ROC、F1-best、F1@0.5、mIoU。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86384" y="6016752"/>
            <a:ext cx="10607040" cy="384048"/>
          </a:xfrm>
          <a:prstGeom prst="rect">
            <a:avLst/>
          </a:prstGeom>
          <a:noFill/>
        </p:spPr>
        <p:txBody>
          <a:bodyPr wrap="square" anchor="ctr" lIns="0" rIns="0" tIns="0" bIns="0">
            <a:normAutofit/>
          </a:bodyPr>
          <a:lstStyle/>
          <a:p>
            <a:pPr algn="ctr"/>
            <a:r>
              <a:rPr sz="1800" b="1">
                <a:solidFill>
                  <a:srgbClr val="2563EB"/>
                </a:solidFill>
                <a:latin typeface="Noto Sans SC"/>
              </a:rPr>
              <a:t>玄女不是追随 AlphaEarth，而是在中国城市变化类任务上形成可量化的本土优势。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84048"/>
            <a:ext cx="384048" cy="201168"/>
          </a:xfrm>
          <a:prstGeom prst="rect">
            <a:avLst/>
          </a:prstGeom>
          <a:noFill/>
        </p:spPr>
        <p:txBody>
          <a:bodyPr wrap="square" anchor="ctr" lIns="0" rIns="0" tIns="0" bIns="0">
            <a:normAutofit/>
          </a:bodyPr>
          <a:lstStyle/>
          <a:p>
            <a:pPr algn="l"/>
            <a:r>
              <a:rPr sz="800" b="1">
                <a:solidFill>
                  <a:srgbClr val="0EA5E9"/>
                </a:solidFill>
                <a:latin typeface="Noto Sans SC"/>
              </a:rPr>
              <a:t>15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50976" y="256032"/>
            <a:ext cx="10424160" cy="566928"/>
          </a:xfrm>
          <a:prstGeom prst="rect">
            <a:avLst/>
          </a:prstGeom>
          <a:noFill/>
        </p:spPr>
        <p:txBody>
          <a:bodyPr wrap="square" anchor="ctr" lIns="0" rIns="0" tIns="0" bIns="0">
            <a:normAutofit/>
          </a:bodyPr>
          <a:lstStyle/>
          <a:p>
            <a:pPr algn="l"/>
            <a:r>
              <a:rPr sz="2400" b="1">
                <a:solidFill>
                  <a:srgbClr val="0F172A"/>
                </a:solidFill>
                <a:latin typeface="Noto Sans SC"/>
              </a:rPr>
              <a:t>本土数据和本土任务，会形成自己的模型优势</a:t>
            </a:r>
          </a:p>
        </p:txBody>
      </p:sp>
      <p:pic>
        <p:nvPicPr>
          <p:cNvPr id="4" name="Picture 3" descr="compare_haidian_construction_patch_000198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2960" y="1240529"/>
            <a:ext cx="5010912" cy="2584717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822960" y="3986784"/>
            <a:ext cx="5010912" cy="118872"/>
          </a:xfrm>
          <a:prstGeom prst="rect">
            <a:avLst/>
          </a:prstGeom>
          <a:noFill/>
        </p:spPr>
        <p:txBody>
          <a:bodyPr wrap="square" anchor="ctr" lIns="0" rIns="0" tIns="0" bIns="0">
            <a:normAutofit/>
          </a:bodyPr>
          <a:lstStyle/>
          <a:p>
            <a:pPr algn="ctr"/>
            <a:r>
              <a:rPr sz="700" b="1">
                <a:solidFill>
                  <a:srgbClr val="334155"/>
                </a:solidFill>
                <a:latin typeface="Noto Sans SC"/>
              </a:rPr>
              <a:t>海淀下游任务样例：模型输出与标注对比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0" y="1408176"/>
            <a:ext cx="4407408" cy="713232"/>
          </a:xfrm>
          <a:prstGeom prst="roundRect">
            <a:avLst/>
          </a:prstGeom>
          <a:solidFill>
            <a:srgbClr val="FFFFFF"/>
          </a:solidFill>
          <a:ln w="1016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6583680" y="1645920"/>
            <a:ext cx="237744" cy="237744"/>
          </a:xfrm>
          <a:prstGeom prst="ellipse">
            <a:avLst/>
          </a:prstGeom>
          <a:solidFill>
            <a:srgbClr val="EFF6FF"/>
          </a:solidFill>
          <a:ln w="12700">
            <a:solidFill>
              <a:srgbClr val="2563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967728" y="1536192"/>
            <a:ext cx="3566160" cy="164592"/>
          </a:xfrm>
          <a:prstGeom prst="rect">
            <a:avLst/>
          </a:prstGeom>
          <a:noFill/>
        </p:spPr>
        <p:txBody>
          <a:bodyPr wrap="square" anchor="ctr" lIns="0" rIns="0" tIns="0" bIns="0">
            <a:normAutofit/>
          </a:bodyPr>
          <a:lstStyle/>
          <a:p>
            <a:pPr algn="l"/>
            <a:r>
              <a:rPr sz="1000" b="1">
                <a:solidFill>
                  <a:srgbClr val="0F172A"/>
                </a:solidFill>
                <a:latin typeface="Noto Sans SC"/>
              </a:rPr>
              <a:t>国际模型证明方向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967728" y="1810512"/>
            <a:ext cx="3566160" cy="164592"/>
          </a:xfrm>
          <a:prstGeom prst="rect">
            <a:avLst/>
          </a:prstGeom>
          <a:noFill/>
        </p:spPr>
        <p:txBody>
          <a:bodyPr wrap="square" anchor="ctr" lIns="0" rIns="0" tIns="0" bIns="0">
            <a:normAutofit/>
          </a:bodyPr>
          <a:lstStyle/>
          <a:p>
            <a:pPr algn="l"/>
            <a:r>
              <a:rPr sz="800" b="0">
                <a:solidFill>
                  <a:srgbClr val="334155"/>
                </a:solidFill>
                <a:latin typeface="Noto Sans SC"/>
              </a:rPr>
              <a:t>AlphaEarth/AEF 说明地理嵌入是全球前沿方向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400800" y="2487168"/>
            <a:ext cx="4407408" cy="713232"/>
          </a:xfrm>
          <a:prstGeom prst="roundRect">
            <a:avLst/>
          </a:prstGeom>
          <a:solidFill>
            <a:srgbClr val="FFFFFF"/>
          </a:solidFill>
          <a:ln w="1016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6583680" y="2724912"/>
            <a:ext cx="237744" cy="237744"/>
          </a:xfrm>
          <a:prstGeom prst="ellipse">
            <a:avLst/>
          </a:prstGeom>
          <a:solidFill>
            <a:srgbClr val="ECFDF5"/>
          </a:solidFill>
          <a:ln w="12700"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967728" y="2615184"/>
            <a:ext cx="3566160" cy="164592"/>
          </a:xfrm>
          <a:prstGeom prst="rect">
            <a:avLst/>
          </a:prstGeom>
          <a:noFill/>
        </p:spPr>
        <p:txBody>
          <a:bodyPr wrap="square" anchor="ctr" lIns="0" rIns="0" tIns="0" bIns="0">
            <a:normAutofit/>
          </a:bodyPr>
          <a:lstStyle/>
          <a:p>
            <a:pPr algn="l"/>
            <a:r>
              <a:rPr sz="1000" b="1">
                <a:solidFill>
                  <a:srgbClr val="0F172A"/>
                </a:solidFill>
                <a:latin typeface="Noto Sans SC"/>
              </a:rPr>
              <a:t>本土任务需要本土优化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967728" y="2889504"/>
            <a:ext cx="3566160" cy="164592"/>
          </a:xfrm>
          <a:prstGeom prst="rect">
            <a:avLst/>
          </a:prstGeom>
          <a:noFill/>
        </p:spPr>
        <p:txBody>
          <a:bodyPr wrap="square" anchor="ctr" lIns="0" rIns="0" tIns="0" bIns="0">
            <a:normAutofit/>
          </a:bodyPr>
          <a:lstStyle/>
          <a:p>
            <a:pPr algn="l"/>
            <a:r>
              <a:rPr sz="800" b="0">
                <a:solidFill>
                  <a:srgbClr val="334155"/>
                </a:solidFill>
                <a:latin typeface="Noto Sans SC"/>
              </a:rPr>
              <a:t>城市变化、建设活动、垃圾堆放具有明显区域业务定义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400800" y="3566160"/>
            <a:ext cx="4407408" cy="713232"/>
          </a:xfrm>
          <a:prstGeom prst="roundRect">
            <a:avLst/>
          </a:prstGeom>
          <a:solidFill>
            <a:srgbClr val="FFFFFF"/>
          </a:solidFill>
          <a:ln w="1016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6583680" y="3803904"/>
            <a:ext cx="237744" cy="237744"/>
          </a:xfrm>
          <a:prstGeom prst="ellipse">
            <a:avLst/>
          </a:prstGeom>
          <a:solidFill>
            <a:srgbClr val="FFFBEB"/>
          </a:solidFill>
          <a:ln w="12700">
            <a:solidFill>
              <a:srgbClr val="F59E0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967728" y="3694176"/>
            <a:ext cx="3566160" cy="164592"/>
          </a:xfrm>
          <a:prstGeom prst="rect">
            <a:avLst/>
          </a:prstGeom>
          <a:noFill/>
        </p:spPr>
        <p:txBody>
          <a:bodyPr wrap="square" anchor="ctr" lIns="0" rIns="0" tIns="0" bIns="0">
            <a:normAutofit/>
          </a:bodyPr>
          <a:lstStyle/>
          <a:p>
            <a:pPr algn="l"/>
            <a:r>
              <a:rPr sz="1000" b="1">
                <a:solidFill>
                  <a:srgbClr val="0F172A"/>
                </a:solidFill>
                <a:latin typeface="Noto Sans SC"/>
              </a:rPr>
              <a:t>差距指向迭代路线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967728" y="3968496"/>
            <a:ext cx="3566160" cy="164592"/>
          </a:xfrm>
          <a:prstGeom prst="rect">
            <a:avLst/>
          </a:prstGeom>
          <a:noFill/>
        </p:spPr>
        <p:txBody>
          <a:bodyPr wrap="square" anchor="ctr" lIns="0" rIns="0" tIns="0" bIns="0">
            <a:normAutofit/>
          </a:bodyPr>
          <a:lstStyle/>
          <a:p>
            <a:pPr algn="l"/>
            <a:r>
              <a:rPr sz="800" b="0">
                <a:solidFill>
                  <a:srgbClr val="334155"/>
                </a:solidFill>
                <a:latin typeface="Noto Sans SC"/>
              </a:rPr>
              <a:t>施工工地仍需补数据、补标签、补任务定义</a:t>
            </a:r>
          </a:p>
        </p:txBody>
      </p:sp>
      <p:cxnSp>
        <p:nvCxnSpPr>
          <p:cNvPr id="18" name="Connector 17"/>
          <p:cNvCxnSpPr/>
          <p:nvPr/>
        </p:nvCxnSpPr>
        <p:spPr>
          <a:xfrm>
            <a:off x="877824" y="4718304"/>
            <a:ext cx="10204704" cy="0"/>
          </a:xfrm>
          <a:prstGeom prst="line">
            <a:avLst/>
          </a:prstGeom>
          <a:ln w="10160">
            <a:solidFill>
              <a:srgbClr val="E2E8F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" name="TextBox 18"/>
          <p:cNvSpPr txBox="1"/>
          <p:nvPr/>
        </p:nvSpPr>
        <p:spPr>
          <a:xfrm>
            <a:off x="1005840" y="5102352"/>
            <a:ext cx="3657600" cy="219456"/>
          </a:xfrm>
          <a:prstGeom prst="rect">
            <a:avLst/>
          </a:prstGeom>
          <a:noFill/>
        </p:spPr>
        <p:txBody>
          <a:bodyPr wrap="square" anchor="ctr" lIns="0" rIns="0" tIns="0" bIns="0">
            <a:normAutofit/>
          </a:bodyPr>
          <a:lstStyle/>
          <a:p>
            <a:pPr algn="l"/>
            <a:r>
              <a:rPr sz="1400" b="1">
                <a:solidFill>
                  <a:srgbClr val="0F172A"/>
                </a:solidFill>
                <a:latin typeface="Noto Sans SC"/>
              </a:rPr>
              <a:t>为什么中国需要自己的遥感数据通用嵌入底座？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901184" y="5084064"/>
            <a:ext cx="5925312" cy="256032"/>
          </a:xfrm>
          <a:prstGeom prst="rect">
            <a:avLst/>
          </a:prstGeom>
          <a:noFill/>
        </p:spPr>
        <p:txBody>
          <a:bodyPr wrap="square" anchor="ctr" lIns="0" rIns="0" tIns="0" bIns="0">
            <a:normAutofit/>
          </a:bodyPr>
          <a:lstStyle/>
          <a:p>
            <a:pPr algn="l"/>
            <a:r>
              <a:rPr sz="1200" b="1">
                <a:solidFill>
                  <a:srgbClr val="2563EB"/>
                </a:solidFill>
                <a:latin typeface="Noto Sans SC"/>
              </a:rPr>
              <a:t>不是只出于国产替代，而是因为本土数据、本土标签和本土业务目标会带来真实模型优势。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86384" y="6016752"/>
            <a:ext cx="10607040" cy="384048"/>
          </a:xfrm>
          <a:prstGeom prst="rect">
            <a:avLst/>
          </a:prstGeom>
          <a:noFill/>
        </p:spPr>
        <p:txBody>
          <a:bodyPr wrap="square" anchor="ctr" lIns="0" rIns="0" tIns="0" bIns="0">
            <a:normAutofit/>
          </a:bodyPr>
          <a:lstStyle/>
          <a:p>
            <a:pPr algn="ctr"/>
            <a:r>
              <a:rPr sz="1800" b="1">
                <a:solidFill>
                  <a:srgbClr val="2563EB"/>
                </a:solidFill>
                <a:latin typeface="Noto Sans SC"/>
              </a:rPr>
              <a:t>海淀 Benchmark 把“地理嵌入方向正确”推进到“本土底座有必要、有优势、有迭代空间”。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84048"/>
            <a:ext cx="384048" cy="201168"/>
          </a:xfrm>
          <a:prstGeom prst="rect">
            <a:avLst/>
          </a:prstGeom>
          <a:noFill/>
        </p:spPr>
        <p:txBody>
          <a:bodyPr wrap="square" anchor="ctr" lIns="0" rIns="0" tIns="0" bIns="0">
            <a:normAutofit/>
          </a:bodyPr>
          <a:lstStyle/>
          <a:p>
            <a:pPr algn="l"/>
            <a:r>
              <a:rPr sz="800" b="1">
                <a:solidFill>
                  <a:srgbClr val="0EA5E9"/>
                </a:solidFill>
                <a:latin typeface="Noto Sans SC"/>
              </a:rPr>
              <a:t>16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50976" y="256032"/>
            <a:ext cx="10424160" cy="566928"/>
          </a:xfrm>
          <a:prstGeom prst="rect">
            <a:avLst/>
          </a:prstGeom>
          <a:noFill/>
        </p:spPr>
        <p:txBody>
          <a:bodyPr wrap="square" anchor="ctr" lIns="0" rIns="0" tIns="0" bIns="0">
            <a:normAutofit/>
          </a:bodyPr>
          <a:lstStyle/>
          <a:p>
            <a:pPr algn="l"/>
            <a:r>
              <a:rPr sz="2400" b="1">
                <a:solidFill>
                  <a:srgbClr val="0F172A"/>
                </a:solidFill>
                <a:latin typeface="Noto Sans SC"/>
              </a:rPr>
              <a:t>雅江区域：把地理嵌入接入水电站监测智能体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32688" y="1042415"/>
            <a:ext cx="10241280" cy="274320"/>
          </a:xfrm>
          <a:prstGeom prst="rect">
            <a:avLst/>
          </a:prstGeom>
          <a:noFill/>
        </p:spPr>
        <p:txBody>
          <a:bodyPr wrap="square" anchor="ctr" lIns="0" rIns="0" tIns="0" bIns="0">
            <a:normAutofit/>
          </a:bodyPr>
          <a:lstStyle/>
          <a:p>
            <a:pPr algn="ctr"/>
            <a:r>
              <a:rPr sz="1300" b="0">
                <a:solidFill>
                  <a:srgbClr val="334155"/>
                </a:solidFill>
                <a:latin typeface="Noto Sans SC"/>
              </a:rPr>
              <a:t>雅江案例面向水电站监测：用户选择区域、任务和时间，用自然语言触发模型与下游任务，自动生成结构化遥感分析报告。</a:t>
            </a:r>
          </a:p>
        </p:txBody>
      </p:sp>
      <p:pic>
        <p:nvPicPr>
          <p:cNvPr id="5" name="Picture 4" descr="e178b904e06c08479cd215ca230ff245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94944" y="1953382"/>
            <a:ext cx="7424927" cy="3390147"/>
          </a:xfrm>
          <a:prstGeom prst="rect">
            <a:avLst/>
          </a:prstGeom>
        </p:spPr>
      </p:pic>
      <p:sp>
        <p:nvSpPr>
          <p:cNvPr id="6" name="Rounded Rectangle 5"/>
          <p:cNvSpPr/>
          <p:nvPr/>
        </p:nvSpPr>
        <p:spPr>
          <a:xfrm>
            <a:off x="8412480" y="1627632"/>
            <a:ext cx="2834640" cy="713232"/>
          </a:xfrm>
          <a:prstGeom prst="roundRect">
            <a:avLst/>
          </a:prstGeom>
          <a:solidFill>
            <a:srgbClr val="FFFFFF"/>
          </a:solidFill>
          <a:ln w="1016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8595359" y="1865376"/>
            <a:ext cx="237744" cy="237744"/>
          </a:xfrm>
          <a:prstGeom prst="ellipse">
            <a:avLst/>
          </a:prstGeom>
          <a:solidFill>
            <a:srgbClr val="EFF6FF"/>
          </a:solidFill>
          <a:ln w="12700">
            <a:solidFill>
              <a:srgbClr val="2563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979407" y="1755648"/>
            <a:ext cx="1993392" cy="164592"/>
          </a:xfrm>
          <a:prstGeom prst="rect">
            <a:avLst/>
          </a:prstGeom>
          <a:noFill/>
        </p:spPr>
        <p:txBody>
          <a:bodyPr wrap="square" anchor="ctr" lIns="0" rIns="0" tIns="0" bIns="0">
            <a:normAutofit/>
          </a:bodyPr>
          <a:lstStyle/>
          <a:p>
            <a:pPr algn="l"/>
            <a:r>
              <a:rPr sz="1000" b="1">
                <a:solidFill>
                  <a:srgbClr val="0F172A"/>
                </a:solidFill>
                <a:latin typeface="Noto Sans SC"/>
              </a:rPr>
              <a:t>自然语言发起任务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979407" y="2029968"/>
            <a:ext cx="1993392" cy="164592"/>
          </a:xfrm>
          <a:prstGeom prst="rect">
            <a:avLst/>
          </a:prstGeom>
          <a:noFill/>
        </p:spPr>
        <p:txBody>
          <a:bodyPr wrap="square" anchor="ctr" lIns="0" rIns="0" tIns="0" bIns="0">
            <a:normAutofit/>
          </a:bodyPr>
          <a:lstStyle/>
          <a:p>
            <a:pPr algn="l"/>
            <a:r>
              <a:rPr sz="800" b="0">
                <a:solidFill>
                  <a:srgbClr val="334155"/>
                </a:solidFill>
                <a:latin typeface="Noto Sans SC"/>
              </a:rPr>
              <a:t>用户直接提出报告需求，而不是操作脚本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412480" y="2578608"/>
            <a:ext cx="2834640" cy="713232"/>
          </a:xfrm>
          <a:prstGeom prst="roundRect">
            <a:avLst/>
          </a:prstGeom>
          <a:solidFill>
            <a:srgbClr val="FFFFFF"/>
          </a:solidFill>
          <a:ln w="1016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8595359" y="2816352"/>
            <a:ext cx="237744" cy="237744"/>
          </a:xfrm>
          <a:prstGeom prst="ellipse">
            <a:avLst/>
          </a:prstGeom>
          <a:solidFill>
            <a:srgbClr val="ECFDF5"/>
          </a:solidFill>
          <a:ln w="12700"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979407" y="2706624"/>
            <a:ext cx="1993392" cy="164592"/>
          </a:xfrm>
          <a:prstGeom prst="rect">
            <a:avLst/>
          </a:prstGeom>
          <a:noFill/>
        </p:spPr>
        <p:txBody>
          <a:bodyPr wrap="square" anchor="ctr" lIns="0" rIns="0" tIns="0" bIns="0">
            <a:normAutofit/>
          </a:bodyPr>
          <a:lstStyle/>
          <a:p>
            <a:pPr algn="l"/>
            <a:r>
              <a:rPr sz="1000" b="1">
                <a:solidFill>
                  <a:srgbClr val="0F172A"/>
                </a:solidFill>
                <a:latin typeface="Noto Sans SC"/>
              </a:rPr>
              <a:t>模型与指标可追溯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979407" y="2980944"/>
            <a:ext cx="1993392" cy="164592"/>
          </a:xfrm>
          <a:prstGeom prst="rect">
            <a:avLst/>
          </a:prstGeom>
          <a:noFill/>
        </p:spPr>
        <p:txBody>
          <a:bodyPr wrap="square" anchor="ctr" lIns="0" rIns="0" tIns="0" bIns="0">
            <a:normAutofit/>
          </a:bodyPr>
          <a:lstStyle/>
          <a:p>
            <a:pPr algn="l"/>
            <a:r>
              <a:rPr sz="800" b="0">
                <a:solidFill>
                  <a:srgbClr val="334155"/>
                </a:solidFill>
                <a:latin typeface="Noto Sans SC"/>
              </a:rPr>
              <a:t>展示模型版本、精度、置信度、低置信比例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8412480" y="3529584"/>
            <a:ext cx="2834640" cy="713232"/>
          </a:xfrm>
          <a:prstGeom prst="roundRect">
            <a:avLst/>
          </a:prstGeom>
          <a:solidFill>
            <a:srgbClr val="FFFFFF"/>
          </a:solidFill>
          <a:ln w="1016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8595359" y="3767328"/>
            <a:ext cx="237744" cy="237744"/>
          </a:xfrm>
          <a:prstGeom prst="ellipse">
            <a:avLst/>
          </a:prstGeom>
          <a:solidFill>
            <a:srgbClr val="F5F3FF"/>
          </a:solidFill>
          <a:ln w="12700">
            <a:solidFill>
              <a:srgbClr val="7C3A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979407" y="3657600"/>
            <a:ext cx="1993392" cy="164592"/>
          </a:xfrm>
          <a:prstGeom prst="rect">
            <a:avLst/>
          </a:prstGeom>
          <a:noFill/>
        </p:spPr>
        <p:txBody>
          <a:bodyPr wrap="square" anchor="ctr" lIns="0" rIns="0" tIns="0" bIns="0">
            <a:normAutofit/>
          </a:bodyPr>
          <a:lstStyle/>
          <a:p>
            <a:pPr algn="l"/>
            <a:r>
              <a:rPr sz="1000" b="1">
                <a:solidFill>
                  <a:srgbClr val="0F172A"/>
                </a:solidFill>
                <a:latin typeface="Noto Sans SC"/>
              </a:rPr>
              <a:t>报告可继续对话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979407" y="3931920"/>
            <a:ext cx="1993392" cy="164592"/>
          </a:xfrm>
          <a:prstGeom prst="rect">
            <a:avLst/>
          </a:prstGeom>
          <a:noFill/>
        </p:spPr>
        <p:txBody>
          <a:bodyPr wrap="square" anchor="ctr" lIns="0" rIns="0" tIns="0" bIns="0">
            <a:normAutofit/>
          </a:bodyPr>
          <a:lstStyle/>
          <a:p>
            <a:pPr algn="l"/>
            <a:r>
              <a:rPr sz="800" b="0">
                <a:solidFill>
                  <a:srgbClr val="334155"/>
                </a:solidFill>
                <a:latin typeface="Noto Sans SC"/>
              </a:rPr>
              <a:t>历史会话保留，可追加月份和修改任务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8412480" y="4681728"/>
            <a:ext cx="1280160" cy="713232"/>
          </a:xfrm>
          <a:prstGeom prst="roundRect">
            <a:avLst/>
          </a:prstGeom>
          <a:solidFill>
            <a:srgbClr val="EFF6FF"/>
          </a:solidFill>
          <a:ln w="10160">
            <a:solidFill>
              <a:srgbClr val="2563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503919" y="4800600"/>
            <a:ext cx="1097280" cy="201168"/>
          </a:xfrm>
          <a:prstGeom prst="rect">
            <a:avLst/>
          </a:prstGeom>
          <a:noFill/>
        </p:spPr>
        <p:txBody>
          <a:bodyPr wrap="square" anchor="ctr" lIns="0" rIns="0" tIns="0" bIns="0">
            <a:normAutofit/>
          </a:bodyPr>
          <a:lstStyle/>
          <a:p>
            <a:pPr algn="ctr"/>
            <a:r>
              <a:rPr sz="1500" b="1">
                <a:solidFill>
                  <a:srgbClr val="2563EB"/>
                </a:solidFill>
                <a:latin typeface="Noto Sans SC"/>
              </a:rPr>
              <a:t>96.8%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503919" y="5111496"/>
            <a:ext cx="1097280" cy="128016"/>
          </a:xfrm>
          <a:prstGeom prst="rect">
            <a:avLst/>
          </a:prstGeom>
          <a:noFill/>
        </p:spPr>
        <p:txBody>
          <a:bodyPr wrap="square" anchor="ctr" lIns="0" rIns="0" tIns="0" bIns="0">
            <a:normAutofit/>
          </a:bodyPr>
          <a:lstStyle/>
          <a:p>
            <a:pPr algn="ctr"/>
            <a:r>
              <a:rPr sz="700" b="1">
                <a:solidFill>
                  <a:srgbClr val="334155"/>
                </a:solidFill>
                <a:latin typeface="Noto Sans SC"/>
              </a:rPr>
              <a:t>总体精度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9948672" y="4681728"/>
            <a:ext cx="1280160" cy="713232"/>
          </a:xfrm>
          <a:prstGeom prst="roundRect">
            <a:avLst/>
          </a:prstGeom>
          <a:solidFill>
            <a:srgbClr val="ECFDF5"/>
          </a:solidFill>
          <a:ln w="10160"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10040112" y="4800600"/>
            <a:ext cx="1097280" cy="201168"/>
          </a:xfrm>
          <a:prstGeom prst="rect">
            <a:avLst/>
          </a:prstGeom>
          <a:noFill/>
        </p:spPr>
        <p:txBody>
          <a:bodyPr wrap="square" anchor="ctr" lIns="0" rIns="0" tIns="0" bIns="0">
            <a:normAutofit/>
          </a:bodyPr>
          <a:lstStyle/>
          <a:p>
            <a:pPr algn="ctr"/>
            <a:r>
              <a:rPr sz="1500" b="1">
                <a:solidFill>
                  <a:srgbClr val="10B981"/>
                </a:solidFill>
                <a:latin typeface="Noto Sans SC"/>
              </a:rPr>
              <a:t>96.3%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040112" y="5111496"/>
            <a:ext cx="1097280" cy="128016"/>
          </a:xfrm>
          <a:prstGeom prst="rect">
            <a:avLst/>
          </a:prstGeom>
          <a:noFill/>
        </p:spPr>
        <p:txBody>
          <a:bodyPr wrap="square" anchor="ctr" lIns="0" rIns="0" tIns="0" bIns="0">
            <a:normAutofit/>
          </a:bodyPr>
          <a:lstStyle/>
          <a:p>
            <a:pPr algn="ctr"/>
            <a:r>
              <a:rPr sz="700" b="1">
                <a:solidFill>
                  <a:srgbClr val="334155"/>
                </a:solidFill>
                <a:latin typeface="Noto Sans SC"/>
              </a:rPr>
              <a:t>平均置信度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86384" y="6016752"/>
            <a:ext cx="10607040" cy="384048"/>
          </a:xfrm>
          <a:prstGeom prst="rect">
            <a:avLst/>
          </a:prstGeom>
          <a:noFill/>
        </p:spPr>
        <p:txBody>
          <a:bodyPr wrap="square" anchor="ctr" lIns="0" rIns="0" tIns="0" bIns="0">
            <a:normAutofit/>
          </a:bodyPr>
          <a:lstStyle/>
          <a:p>
            <a:pPr algn="ctr"/>
            <a:r>
              <a:rPr sz="1800" b="1">
                <a:solidFill>
                  <a:srgbClr val="2563EB"/>
                </a:solidFill>
                <a:latin typeface="Noto Sans SC"/>
              </a:rPr>
              <a:t>玄女底座可以变成用户可直接使用的智能体产品界面，而不是停留在模型 API。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84048"/>
            <a:ext cx="384048" cy="201168"/>
          </a:xfrm>
          <a:prstGeom prst="rect">
            <a:avLst/>
          </a:prstGeom>
          <a:noFill/>
        </p:spPr>
        <p:txBody>
          <a:bodyPr wrap="square" anchor="ctr" lIns="0" rIns="0" tIns="0" bIns="0">
            <a:normAutofit/>
          </a:bodyPr>
          <a:lstStyle/>
          <a:p>
            <a:pPr algn="l"/>
            <a:r>
              <a:rPr sz="800" b="1">
                <a:solidFill>
                  <a:srgbClr val="0EA5E9"/>
                </a:solidFill>
                <a:latin typeface="Noto Sans SC"/>
              </a:rPr>
              <a:t>17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50976" y="256032"/>
            <a:ext cx="10424160" cy="566928"/>
          </a:xfrm>
          <a:prstGeom prst="rect">
            <a:avLst/>
          </a:prstGeom>
          <a:noFill/>
        </p:spPr>
        <p:txBody>
          <a:bodyPr wrap="square" anchor="ctr" lIns="0" rIns="0" tIns="0" bIns="0">
            <a:normAutofit/>
          </a:bodyPr>
          <a:lstStyle/>
          <a:p>
            <a:pPr algn="l"/>
            <a:r>
              <a:rPr sz="2400" b="1">
                <a:solidFill>
                  <a:srgbClr val="0F172A"/>
                </a:solidFill>
                <a:latin typeface="Noto Sans SC"/>
              </a:rPr>
              <a:t>从下游任务结果，到可阅读的遥感分析报告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32688" y="1042415"/>
            <a:ext cx="10241280" cy="274320"/>
          </a:xfrm>
          <a:prstGeom prst="rect">
            <a:avLst/>
          </a:prstGeom>
          <a:noFill/>
        </p:spPr>
        <p:txBody>
          <a:bodyPr wrap="square" anchor="ctr" lIns="0" rIns="0" tIns="0" bIns="0">
            <a:normAutofit/>
          </a:bodyPr>
          <a:lstStyle/>
          <a:p>
            <a:pPr algn="ctr"/>
            <a:r>
              <a:rPr sz="1300" b="0">
                <a:solidFill>
                  <a:srgbClr val="334155"/>
                </a:solidFill>
                <a:latin typeface="Noto Sans SC"/>
              </a:rPr>
              <a:t>雅江水电站监测需要的不只是预测图，而是能持续生成指标、图表、风险提示和后续行动建议的工作流。</a:t>
            </a:r>
          </a:p>
        </p:txBody>
      </p:sp>
      <p:pic>
        <p:nvPicPr>
          <p:cNvPr id="5" name="Picture 4" descr="yajiang_are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68557" y="1591056"/>
            <a:ext cx="1299860" cy="1499616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786384" y="3163824"/>
            <a:ext cx="1664208" cy="118872"/>
          </a:xfrm>
          <a:prstGeom prst="rect">
            <a:avLst/>
          </a:prstGeom>
          <a:noFill/>
        </p:spPr>
        <p:txBody>
          <a:bodyPr wrap="square" anchor="ctr" lIns="0" rIns="0" tIns="0" bIns="0">
            <a:normAutofit/>
          </a:bodyPr>
          <a:lstStyle/>
          <a:p>
            <a:pPr algn="ctr"/>
            <a:r>
              <a:rPr sz="700" b="1">
                <a:solidFill>
                  <a:srgbClr val="334155"/>
                </a:solidFill>
                <a:latin typeface="Noto Sans SC"/>
              </a:rPr>
              <a:t>雅江区域</a:t>
            </a:r>
          </a:p>
        </p:txBody>
      </p:sp>
      <p:pic>
        <p:nvPicPr>
          <p:cNvPr id="7" name="Picture 6" descr="land_classification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834640" y="1673523"/>
            <a:ext cx="2267712" cy="1334681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2834640" y="3163824"/>
            <a:ext cx="2267712" cy="118872"/>
          </a:xfrm>
          <a:prstGeom prst="rect">
            <a:avLst/>
          </a:prstGeom>
          <a:noFill/>
        </p:spPr>
        <p:txBody>
          <a:bodyPr wrap="square" anchor="ctr" lIns="0" rIns="0" tIns="0" bIns="0">
            <a:normAutofit/>
          </a:bodyPr>
          <a:lstStyle/>
          <a:p>
            <a:pPr algn="ctr"/>
            <a:r>
              <a:rPr sz="700" b="1">
                <a:solidFill>
                  <a:srgbClr val="334155"/>
                </a:solidFill>
                <a:latin typeface="Noto Sans SC"/>
              </a:rPr>
              <a:t>地物分类</a:t>
            </a:r>
          </a:p>
        </p:txBody>
      </p:sp>
      <p:pic>
        <p:nvPicPr>
          <p:cNvPr id="9" name="Picture 8" descr="spatial_cluster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486400" y="1829982"/>
            <a:ext cx="2267712" cy="1021763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5486400" y="3163824"/>
            <a:ext cx="2267712" cy="118872"/>
          </a:xfrm>
          <a:prstGeom prst="rect">
            <a:avLst/>
          </a:prstGeom>
          <a:noFill/>
        </p:spPr>
        <p:txBody>
          <a:bodyPr wrap="square" anchor="ctr" lIns="0" rIns="0" tIns="0" bIns="0">
            <a:normAutofit/>
          </a:bodyPr>
          <a:lstStyle/>
          <a:p>
            <a:pPr algn="ctr"/>
            <a:r>
              <a:rPr sz="700" b="1">
                <a:solidFill>
                  <a:srgbClr val="334155"/>
                </a:solidFill>
                <a:latin typeface="Noto Sans SC"/>
              </a:rPr>
              <a:t>空间聚类</a:t>
            </a:r>
          </a:p>
        </p:txBody>
      </p:sp>
      <p:pic>
        <p:nvPicPr>
          <p:cNvPr id="11" name="Picture 10" descr="elevation_regression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138160" y="1965551"/>
            <a:ext cx="2267712" cy="750625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8138160" y="3163824"/>
            <a:ext cx="2267712" cy="118872"/>
          </a:xfrm>
          <a:prstGeom prst="rect">
            <a:avLst/>
          </a:prstGeom>
          <a:noFill/>
        </p:spPr>
        <p:txBody>
          <a:bodyPr wrap="square" anchor="ctr" lIns="0" rIns="0" tIns="0" bIns="0">
            <a:normAutofit/>
          </a:bodyPr>
          <a:lstStyle/>
          <a:p>
            <a:pPr algn="ctr"/>
            <a:r>
              <a:rPr sz="700" b="1">
                <a:solidFill>
                  <a:srgbClr val="334155"/>
                </a:solidFill>
                <a:latin typeface="Noto Sans SC"/>
              </a:rPr>
              <a:t>高程回归</a:t>
            </a:r>
          </a:p>
        </p:txBody>
      </p:sp>
      <p:pic>
        <p:nvPicPr>
          <p:cNvPr id="13" name="Picture 12" descr="change_detection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340104" y="3749039"/>
            <a:ext cx="1215136" cy="1426464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1207008" y="5248656"/>
            <a:ext cx="1481328" cy="118872"/>
          </a:xfrm>
          <a:prstGeom prst="rect">
            <a:avLst/>
          </a:prstGeom>
          <a:noFill/>
        </p:spPr>
        <p:txBody>
          <a:bodyPr wrap="square" anchor="ctr" lIns="0" rIns="0" tIns="0" bIns="0">
            <a:normAutofit/>
          </a:bodyPr>
          <a:lstStyle/>
          <a:p>
            <a:pPr algn="ctr"/>
            <a:r>
              <a:rPr sz="700" b="1">
                <a:solidFill>
                  <a:srgbClr val="334155"/>
                </a:solidFill>
                <a:latin typeface="Noto Sans SC"/>
              </a:rPr>
              <a:t>变化检测</a:t>
            </a:r>
          </a:p>
        </p:txBody>
      </p:sp>
      <p:pic>
        <p:nvPicPr>
          <p:cNvPr id="15" name="Picture 14" descr="embedding_retrieval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3406503" y="3749039"/>
            <a:ext cx="1325152" cy="1426464"/>
          </a:xfrm>
          <a:prstGeom prst="rect">
            <a:avLst/>
          </a:prstGeom>
        </p:spPr>
      </p:pic>
      <p:sp>
        <p:nvSpPr>
          <p:cNvPr id="16" name="TextBox 15"/>
          <p:cNvSpPr txBox="1"/>
          <p:nvPr/>
        </p:nvSpPr>
        <p:spPr>
          <a:xfrm>
            <a:off x="3328416" y="5248656"/>
            <a:ext cx="1481328" cy="118872"/>
          </a:xfrm>
          <a:prstGeom prst="rect">
            <a:avLst/>
          </a:prstGeom>
          <a:noFill/>
        </p:spPr>
        <p:txBody>
          <a:bodyPr wrap="square" anchor="ctr" lIns="0" rIns="0" tIns="0" bIns="0">
            <a:normAutofit/>
          </a:bodyPr>
          <a:lstStyle/>
          <a:p>
            <a:pPr algn="ctr"/>
            <a:r>
              <a:rPr sz="700" b="1">
                <a:solidFill>
                  <a:srgbClr val="334155"/>
                </a:solidFill>
                <a:latin typeface="Noto Sans SC"/>
              </a:rPr>
              <a:t>嵌入检索</a:t>
            </a:r>
          </a:p>
        </p:txBody>
      </p:sp>
      <p:pic>
        <p:nvPicPr>
          <p:cNvPr id="17" name="Picture 16" descr="slope_risk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5593320" y="3749039"/>
            <a:ext cx="1194336" cy="1426464"/>
          </a:xfrm>
          <a:prstGeom prst="rect">
            <a:avLst/>
          </a:prstGeom>
        </p:spPr>
      </p:pic>
      <p:sp>
        <p:nvSpPr>
          <p:cNvPr id="18" name="TextBox 17"/>
          <p:cNvSpPr txBox="1"/>
          <p:nvPr/>
        </p:nvSpPr>
        <p:spPr>
          <a:xfrm>
            <a:off x="5449824" y="5248656"/>
            <a:ext cx="1481328" cy="118872"/>
          </a:xfrm>
          <a:prstGeom prst="rect">
            <a:avLst/>
          </a:prstGeom>
          <a:noFill/>
        </p:spPr>
        <p:txBody>
          <a:bodyPr wrap="square" anchor="ctr" lIns="0" rIns="0" tIns="0" bIns="0">
            <a:normAutofit/>
          </a:bodyPr>
          <a:lstStyle/>
          <a:p>
            <a:pPr algn="ctr"/>
            <a:r>
              <a:rPr sz="700" b="1">
                <a:solidFill>
                  <a:srgbClr val="334155"/>
                </a:solidFill>
                <a:latin typeface="Noto Sans SC"/>
              </a:rPr>
              <a:t>坡度风险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7955279" y="3822191"/>
            <a:ext cx="2980944" cy="1298448"/>
          </a:xfrm>
          <a:prstGeom prst="roundRect">
            <a:avLst/>
          </a:prstGeom>
          <a:solidFill>
            <a:srgbClr val="EFF6FF"/>
          </a:solidFill>
          <a:ln w="10160">
            <a:solidFill>
              <a:srgbClr val="2563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229600" y="4096512"/>
            <a:ext cx="2432304" cy="201168"/>
          </a:xfrm>
          <a:prstGeom prst="rect">
            <a:avLst/>
          </a:prstGeom>
          <a:noFill/>
        </p:spPr>
        <p:txBody>
          <a:bodyPr wrap="square" anchor="ctr" lIns="0" rIns="0" tIns="0" bIns="0">
            <a:normAutofit/>
          </a:bodyPr>
          <a:lstStyle/>
          <a:p>
            <a:pPr algn="ctr"/>
            <a:r>
              <a:rPr sz="1400" b="1">
                <a:solidFill>
                  <a:srgbClr val="2563EB"/>
                </a:solidFill>
                <a:latin typeface="Noto Sans SC"/>
              </a:rPr>
              <a:t>智能体报告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247888" y="4498848"/>
            <a:ext cx="2395728" cy="274320"/>
          </a:xfrm>
          <a:prstGeom prst="rect">
            <a:avLst/>
          </a:prstGeom>
          <a:noFill/>
        </p:spPr>
        <p:txBody>
          <a:bodyPr wrap="square" anchor="ctr" lIns="0" rIns="0" tIns="0" bIns="0">
            <a:normAutofit/>
          </a:bodyPr>
          <a:lstStyle/>
          <a:p>
            <a:pPr algn="ctr"/>
            <a:r>
              <a:rPr sz="900" b="1">
                <a:solidFill>
                  <a:srgbClr val="334155"/>
                </a:solidFill>
                <a:latin typeface="Noto Sans SC"/>
              </a:rPr>
              <a:t>汇总预测图、置信度、误差图、关键指标与行动建议</a:t>
            </a:r>
          </a:p>
        </p:txBody>
      </p:sp>
      <p:cxnSp>
        <p:nvCxnSpPr>
          <p:cNvPr id="22" name="Connector 21"/>
          <p:cNvCxnSpPr/>
          <p:nvPr/>
        </p:nvCxnSpPr>
        <p:spPr>
          <a:xfrm>
            <a:off x="7095744" y="4443984"/>
            <a:ext cx="694944" cy="0"/>
          </a:xfrm>
          <a:prstGeom prst="line">
            <a:avLst/>
          </a:prstGeom>
          <a:ln w="15240">
            <a:solidFill>
              <a:srgbClr val="E2E8F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3" name="TextBox 22"/>
          <p:cNvSpPr txBox="1"/>
          <p:nvPr/>
        </p:nvSpPr>
        <p:spPr>
          <a:xfrm>
            <a:off x="786384" y="6016752"/>
            <a:ext cx="10607040" cy="384048"/>
          </a:xfrm>
          <a:prstGeom prst="rect">
            <a:avLst/>
          </a:prstGeom>
          <a:noFill/>
        </p:spPr>
        <p:txBody>
          <a:bodyPr wrap="square" anchor="ctr" lIns="0" rIns="0" tIns="0" bIns="0">
            <a:normAutofit/>
          </a:bodyPr>
          <a:lstStyle/>
          <a:p>
            <a:pPr algn="ctr"/>
            <a:r>
              <a:rPr sz="1800" b="1">
                <a:solidFill>
                  <a:srgbClr val="2563EB"/>
                </a:solidFill>
                <a:latin typeface="Noto Sans SC"/>
              </a:rPr>
              <a:t>玄女的最终产品形态：地理嵌入底座 + 下游任务库 + 报告智能体。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84048"/>
            <a:ext cx="384048" cy="201168"/>
          </a:xfrm>
          <a:prstGeom prst="rect">
            <a:avLst/>
          </a:prstGeom>
          <a:noFill/>
        </p:spPr>
        <p:txBody>
          <a:bodyPr wrap="square" anchor="ctr" lIns="0" rIns="0" tIns="0" bIns="0">
            <a:normAutofit/>
          </a:bodyPr>
          <a:lstStyle/>
          <a:p>
            <a:pPr algn="l"/>
            <a:r>
              <a:rPr sz="800" b="1">
                <a:solidFill>
                  <a:srgbClr val="0EA5E9"/>
                </a:solidFill>
                <a:latin typeface="Noto Sans SC"/>
              </a:rPr>
              <a:t>18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50976" y="256032"/>
            <a:ext cx="10424160" cy="566928"/>
          </a:xfrm>
          <a:prstGeom prst="rect">
            <a:avLst/>
          </a:prstGeom>
          <a:noFill/>
        </p:spPr>
        <p:txBody>
          <a:bodyPr wrap="square" anchor="ctr" lIns="0" rIns="0" tIns="0" bIns="0">
            <a:normAutofit/>
          </a:bodyPr>
          <a:lstStyle/>
          <a:p>
            <a:pPr algn="l"/>
            <a:r>
              <a:rPr sz="2400" b="1">
                <a:solidFill>
                  <a:srgbClr val="0F172A"/>
                </a:solidFill>
                <a:latin typeface="Noto Sans SC"/>
              </a:rPr>
              <a:t>从三个案例抽象出玄女底座的四层产品能力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32688" y="1042415"/>
            <a:ext cx="10241280" cy="274320"/>
          </a:xfrm>
          <a:prstGeom prst="rect">
            <a:avLst/>
          </a:prstGeom>
          <a:noFill/>
        </p:spPr>
        <p:txBody>
          <a:bodyPr wrap="square" anchor="ctr" lIns="0" rIns="0" tIns="0" bIns="0">
            <a:normAutofit/>
          </a:bodyPr>
          <a:lstStyle/>
          <a:p>
            <a:pPr algn="ctr"/>
            <a:r>
              <a:rPr sz="1300" b="0">
                <a:solidFill>
                  <a:srgbClr val="334155"/>
                </a:solidFill>
                <a:latin typeface="Noto Sans SC"/>
              </a:rPr>
              <a:t>案例不是孤立项目，而是在验证玄女可复制的产品架构。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932688" y="1627632"/>
            <a:ext cx="10332720" cy="694944"/>
          </a:xfrm>
          <a:prstGeom prst="roundRect">
            <a:avLst/>
          </a:prstGeom>
          <a:solidFill>
            <a:srgbClr val="FFFFFF"/>
          </a:solidFill>
          <a:ln w="1016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1115568" y="1792224"/>
            <a:ext cx="365760" cy="365760"/>
          </a:xfrm>
          <a:prstGeom prst="roundRect">
            <a:avLst/>
          </a:prstGeom>
          <a:solidFill>
            <a:srgbClr val="EFF6FF"/>
          </a:solidFill>
          <a:ln w="10160">
            <a:solidFill>
              <a:srgbClr val="2563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719072" y="1783080"/>
            <a:ext cx="1591056" cy="164592"/>
          </a:xfrm>
          <a:prstGeom prst="rect">
            <a:avLst/>
          </a:prstGeom>
          <a:noFill/>
        </p:spPr>
        <p:txBody>
          <a:bodyPr wrap="square" anchor="ctr" lIns="0" rIns="0" tIns="0" bIns="0">
            <a:normAutofit/>
          </a:bodyPr>
          <a:lstStyle/>
          <a:p>
            <a:pPr algn="ctr"/>
            <a:r>
              <a:rPr sz="1200" b="1">
                <a:solidFill>
                  <a:srgbClr val="2563EB"/>
                </a:solidFill>
                <a:latin typeface="Noto Sans SC"/>
              </a:rPr>
              <a:t>地理嵌入层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675887" y="1783080"/>
            <a:ext cx="3858768" cy="182880"/>
          </a:xfrm>
          <a:prstGeom prst="rect">
            <a:avLst/>
          </a:prstGeom>
          <a:noFill/>
        </p:spPr>
        <p:txBody>
          <a:bodyPr wrap="square" anchor="ctr" lIns="0" rIns="0" tIns="0" bIns="0">
            <a:normAutofit/>
          </a:bodyPr>
          <a:lstStyle/>
          <a:p>
            <a:pPr algn="ctr"/>
            <a:r>
              <a:rPr sz="1000" b="1">
                <a:solidFill>
                  <a:srgbClr val="0F172A"/>
                </a:solidFill>
                <a:latin typeface="Noto Sans SC"/>
              </a:rPr>
              <a:t>多源、多时相、跨模态、缺失模态下可用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973568" y="1783080"/>
            <a:ext cx="2688336" cy="182880"/>
          </a:xfrm>
          <a:prstGeom prst="rect">
            <a:avLst/>
          </a:prstGeom>
          <a:noFill/>
        </p:spPr>
        <p:txBody>
          <a:bodyPr wrap="square" anchor="ctr" lIns="0" rIns="0" tIns="0" bIns="0">
            <a:normAutofit/>
          </a:bodyPr>
          <a:lstStyle/>
          <a:p>
            <a:pPr algn="ctr"/>
            <a:r>
              <a:rPr sz="900" b="1">
                <a:solidFill>
                  <a:srgbClr val="334155"/>
                </a:solidFill>
                <a:latin typeface="Noto Sans SC"/>
              </a:rPr>
              <a:t>哈尔滨云遮挡样例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932688" y="2560320"/>
            <a:ext cx="10332720" cy="694944"/>
          </a:xfrm>
          <a:prstGeom prst="roundRect">
            <a:avLst/>
          </a:prstGeom>
          <a:solidFill>
            <a:srgbClr val="FFFFFF"/>
          </a:solidFill>
          <a:ln w="1016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1115568" y="2724912"/>
            <a:ext cx="365760" cy="365760"/>
          </a:xfrm>
          <a:prstGeom prst="roundRect">
            <a:avLst/>
          </a:prstGeom>
          <a:solidFill>
            <a:srgbClr val="ECFDF5"/>
          </a:solidFill>
          <a:ln w="10160"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719072" y="2715768"/>
            <a:ext cx="1591056" cy="164592"/>
          </a:xfrm>
          <a:prstGeom prst="rect">
            <a:avLst/>
          </a:prstGeom>
          <a:noFill/>
        </p:spPr>
        <p:txBody>
          <a:bodyPr wrap="square" anchor="ctr" lIns="0" rIns="0" tIns="0" bIns="0">
            <a:normAutofit/>
          </a:bodyPr>
          <a:lstStyle/>
          <a:p>
            <a:pPr algn="ctr"/>
            <a:r>
              <a:rPr sz="1200" b="1">
                <a:solidFill>
                  <a:srgbClr val="10B981"/>
                </a:solidFill>
                <a:latin typeface="Noto Sans SC"/>
              </a:rPr>
              <a:t>任务适配层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675887" y="2715768"/>
            <a:ext cx="3858768" cy="182880"/>
          </a:xfrm>
          <a:prstGeom prst="rect">
            <a:avLst/>
          </a:prstGeom>
          <a:noFill/>
        </p:spPr>
        <p:txBody>
          <a:bodyPr wrap="square" anchor="ctr" lIns="0" rIns="0" tIns="0" bIns="0">
            <a:normAutofit/>
          </a:bodyPr>
          <a:lstStyle/>
          <a:p>
            <a:pPr algn="ctr"/>
            <a:r>
              <a:rPr sz="1000" b="1">
                <a:solidFill>
                  <a:srgbClr val="0F172A"/>
                </a:solidFill>
                <a:latin typeface="Noto Sans SC"/>
              </a:rPr>
              <a:t>分类、检测、变化监测、检索、风险识别共享底座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973568" y="2715768"/>
            <a:ext cx="2688336" cy="182880"/>
          </a:xfrm>
          <a:prstGeom prst="rect">
            <a:avLst/>
          </a:prstGeom>
          <a:noFill/>
        </p:spPr>
        <p:txBody>
          <a:bodyPr wrap="square" anchor="ctr" lIns="0" rIns="0" tIns="0" bIns="0">
            <a:normAutofit/>
          </a:bodyPr>
          <a:lstStyle/>
          <a:p>
            <a:pPr algn="ctr"/>
            <a:r>
              <a:rPr sz="900" b="1">
                <a:solidFill>
                  <a:srgbClr val="334155"/>
                </a:solidFill>
                <a:latin typeface="Noto Sans SC"/>
              </a:rPr>
              <a:t>哈尔滨多任务 / 雅江多任务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932688" y="3493008"/>
            <a:ext cx="10332720" cy="694944"/>
          </a:xfrm>
          <a:prstGeom prst="roundRect">
            <a:avLst/>
          </a:prstGeom>
          <a:solidFill>
            <a:srgbClr val="FFFFFF"/>
          </a:solidFill>
          <a:ln w="1016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1115568" y="3657600"/>
            <a:ext cx="365760" cy="365760"/>
          </a:xfrm>
          <a:prstGeom prst="roundRect">
            <a:avLst/>
          </a:prstGeom>
          <a:solidFill>
            <a:srgbClr val="FFFBEB"/>
          </a:solidFill>
          <a:ln w="10160">
            <a:solidFill>
              <a:srgbClr val="F59E0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719072" y="3648456"/>
            <a:ext cx="1591056" cy="164592"/>
          </a:xfrm>
          <a:prstGeom prst="rect">
            <a:avLst/>
          </a:prstGeom>
          <a:noFill/>
        </p:spPr>
        <p:txBody>
          <a:bodyPr wrap="square" anchor="ctr" lIns="0" rIns="0" tIns="0" bIns="0">
            <a:normAutofit/>
          </a:bodyPr>
          <a:lstStyle/>
          <a:p>
            <a:pPr algn="ctr"/>
            <a:r>
              <a:rPr sz="1200" b="1">
                <a:solidFill>
                  <a:srgbClr val="F59E0B"/>
                </a:solidFill>
                <a:latin typeface="Noto Sans SC"/>
              </a:rPr>
              <a:t>评测对标层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675887" y="3648456"/>
            <a:ext cx="3858768" cy="182880"/>
          </a:xfrm>
          <a:prstGeom prst="rect">
            <a:avLst/>
          </a:prstGeom>
          <a:noFill/>
        </p:spPr>
        <p:txBody>
          <a:bodyPr wrap="square" anchor="ctr" lIns="0" rIns="0" tIns="0" bIns="0">
            <a:normAutofit/>
          </a:bodyPr>
          <a:lstStyle/>
          <a:p>
            <a:pPr algn="ctr"/>
            <a:r>
              <a:rPr sz="1000" b="1">
                <a:solidFill>
                  <a:srgbClr val="0F172A"/>
                </a:solidFill>
                <a:latin typeface="Noto Sans SC"/>
              </a:rPr>
              <a:t>与 AEF 官方嵌入进行下游任务量化比较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973568" y="3648456"/>
            <a:ext cx="2688336" cy="182880"/>
          </a:xfrm>
          <a:prstGeom prst="rect">
            <a:avLst/>
          </a:prstGeom>
          <a:noFill/>
        </p:spPr>
        <p:txBody>
          <a:bodyPr wrap="square" anchor="ctr" lIns="0" rIns="0" tIns="0" bIns="0">
            <a:normAutofit/>
          </a:bodyPr>
          <a:lstStyle/>
          <a:p>
            <a:pPr algn="ctr"/>
            <a:r>
              <a:rPr sz="900" b="1">
                <a:solidFill>
                  <a:srgbClr val="334155"/>
                </a:solidFill>
                <a:latin typeface="Noto Sans SC"/>
              </a:rPr>
              <a:t>海淀 V1.0 Benchmark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932688" y="4425696"/>
            <a:ext cx="10332720" cy="694944"/>
          </a:xfrm>
          <a:prstGeom prst="roundRect">
            <a:avLst/>
          </a:prstGeom>
          <a:solidFill>
            <a:srgbClr val="FFFFFF"/>
          </a:solidFill>
          <a:ln w="1016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ounded Rectangle 20"/>
          <p:cNvSpPr/>
          <p:nvPr/>
        </p:nvSpPr>
        <p:spPr>
          <a:xfrm>
            <a:off x="1115568" y="4590288"/>
            <a:ext cx="365760" cy="365760"/>
          </a:xfrm>
          <a:prstGeom prst="roundRect">
            <a:avLst/>
          </a:prstGeom>
          <a:solidFill>
            <a:srgbClr val="F5F3FF"/>
          </a:solidFill>
          <a:ln w="10160">
            <a:solidFill>
              <a:srgbClr val="7C3A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1719072" y="4581144"/>
            <a:ext cx="1591056" cy="164592"/>
          </a:xfrm>
          <a:prstGeom prst="rect">
            <a:avLst/>
          </a:prstGeom>
          <a:noFill/>
        </p:spPr>
        <p:txBody>
          <a:bodyPr wrap="square" anchor="ctr" lIns="0" rIns="0" tIns="0" bIns="0">
            <a:normAutofit/>
          </a:bodyPr>
          <a:lstStyle/>
          <a:p>
            <a:pPr algn="ctr"/>
            <a:r>
              <a:rPr sz="1200" b="1">
                <a:solidFill>
                  <a:srgbClr val="7C3AED"/>
                </a:solidFill>
                <a:latin typeface="Noto Sans SC"/>
              </a:rPr>
              <a:t>报告交付层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675887" y="4581144"/>
            <a:ext cx="3858768" cy="182880"/>
          </a:xfrm>
          <a:prstGeom prst="rect">
            <a:avLst/>
          </a:prstGeom>
          <a:noFill/>
        </p:spPr>
        <p:txBody>
          <a:bodyPr wrap="square" anchor="ctr" lIns="0" rIns="0" tIns="0" bIns="0">
            <a:normAutofit/>
          </a:bodyPr>
          <a:lstStyle/>
          <a:p>
            <a:pPr algn="ctr"/>
            <a:r>
              <a:rPr sz="1000" b="1">
                <a:solidFill>
                  <a:srgbClr val="0F172A"/>
                </a:solidFill>
                <a:latin typeface="Noto Sans SC"/>
              </a:rPr>
              <a:t>生成政务报告或智能体报告，进入客户工作流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973568" y="4581144"/>
            <a:ext cx="2688336" cy="182880"/>
          </a:xfrm>
          <a:prstGeom prst="rect">
            <a:avLst/>
          </a:prstGeom>
          <a:noFill/>
        </p:spPr>
        <p:txBody>
          <a:bodyPr wrap="square" anchor="ctr" lIns="0" rIns="0" tIns="0" bIns="0">
            <a:normAutofit/>
          </a:bodyPr>
          <a:lstStyle/>
          <a:p>
            <a:pPr algn="ctr"/>
            <a:r>
              <a:rPr sz="900" b="1">
                <a:solidFill>
                  <a:srgbClr val="334155"/>
                </a:solidFill>
                <a:latin typeface="Noto Sans SC"/>
              </a:rPr>
              <a:t>哈尔滨 2026 报告 / 雅江智能体</a:t>
            </a:r>
          </a:p>
        </p:txBody>
      </p:sp>
      <p:cxnSp>
        <p:nvCxnSpPr>
          <p:cNvPr id="25" name="Connector 24"/>
          <p:cNvCxnSpPr/>
          <p:nvPr/>
        </p:nvCxnSpPr>
        <p:spPr>
          <a:xfrm>
            <a:off x="1572768" y="5468112"/>
            <a:ext cx="9070848" cy="0"/>
          </a:xfrm>
          <a:prstGeom prst="line">
            <a:avLst/>
          </a:prstGeom>
          <a:ln w="10160">
            <a:solidFill>
              <a:srgbClr val="E2E8F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6" name="TextBox 25"/>
          <p:cNvSpPr txBox="1"/>
          <p:nvPr/>
        </p:nvSpPr>
        <p:spPr>
          <a:xfrm>
            <a:off x="1481328" y="5742432"/>
            <a:ext cx="1828800" cy="182880"/>
          </a:xfrm>
          <a:prstGeom prst="rect">
            <a:avLst/>
          </a:prstGeom>
          <a:noFill/>
        </p:spPr>
        <p:txBody>
          <a:bodyPr wrap="square" anchor="ctr" lIns="0" rIns="0" tIns="0" bIns="0">
            <a:normAutofit/>
          </a:bodyPr>
          <a:lstStyle/>
          <a:p>
            <a:pPr algn="ctr"/>
            <a:r>
              <a:rPr sz="1200" b="1">
                <a:solidFill>
                  <a:srgbClr val="0F172A"/>
                </a:solidFill>
                <a:latin typeface="Noto Sans SC"/>
              </a:rPr>
              <a:t>商业化承接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3584448" y="5715000"/>
            <a:ext cx="6126480" cy="219456"/>
          </a:xfrm>
          <a:prstGeom prst="rect">
            <a:avLst/>
          </a:prstGeom>
          <a:noFill/>
        </p:spPr>
        <p:txBody>
          <a:bodyPr wrap="square" anchor="ctr" lIns="0" rIns="0" tIns="0" bIns="0">
            <a:normAutofit/>
          </a:bodyPr>
          <a:lstStyle/>
          <a:p>
            <a:pPr algn="ctr"/>
            <a:r>
              <a:rPr sz="1200" b="1">
                <a:solidFill>
                  <a:srgbClr val="2563EB"/>
                </a:solidFill>
                <a:latin typeface="Noto Sans SC"/>
              </a:rPr>
              <a:t>按区域、按任务、按更新频率、按 API / 平台授权收费。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786384" y="6272784"/>
            <a:ext cx="10607040" cy="384048"/>
          </a:xfrm>
          <a:prstGeom prst="rect">
            <a:avLst/>
          </a:prstGeom>
          <a:noFill/>
        </p:spPr>
        <p:txBody>
          <a:bodyPr wrap="square" anchor="ctr" lIns="0" rIns="0" tIns="0" bIns="0">
            <a:normAutofit/>
          </a:bodyPr>
          <a:lstStyle/>
          <a:p>
            <a:pPr algn="ctr"/>
            <a:r>
              <a:rPr sz="1800" b="1">
                <a:solidFill>
                  <a:srgbClr val="2563EB"/>
                </a:solidFill>
                <a:latin typeface="Noto Sans SC"/>
              </a:rPr>
              <a:t>玄女不是遥感项目公司，而是在搭建可复用、可评测、可交付的地理智能基础设施。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