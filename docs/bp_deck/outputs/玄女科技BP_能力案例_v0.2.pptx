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07008"/>
            <a:ext cx="0" cy="422452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24528" y="1078992"/>
            <a:ext cx="693115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462" y="1353312"/>
            <a:ext cx="2221683" cy="9692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14800" y="23957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462" y="2724912"/>
            <a:ext cx="2221683" cy="9692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0" y="37673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462" y="4096512"/>
            <a:ext cx="2221683" cy="9692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114800" y="51389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1782549"/>
            <a:ext cx="3493008" cy="8605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45552" y="296265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552" y="3794229"/>
            <a:ext cx="3493008" cy="8605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845552" y="497433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705856"/>
            <a:ext cx="106070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旧标签不再只是一次性标注资产：玄女底座从旧标签中提取可迁移地物知识，并将同一套地理嵌入复用到水体、建筑、地表分类与变化检测等多类任务。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哈尔滨新区：从检测结果到政府可用报告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模型价值最终要落到交付：把变化检测、统计制图和业务解释组织成政府客户可阅读、可复核、可归档的报告。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32918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Noto Sans SC"/>
              </a:rPr>
              <a:t>用户旅程对比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810512"/>
            <a:ext cx="1444752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1938528"/>
            <a:ext cx="142646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传统人工流程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9968" y="1938528"/>
            <a:ext cx="140817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Noto Sans SC"/>
              </a:rPr>
              <a:t>10-15 天 / 多人串行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接到任务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0.5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拆需求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72768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下载影像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等数据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6624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预处理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6624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6624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配准清洗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51760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06624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人工解译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6624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5-8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6624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逐图核查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72768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制图统计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2-3 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反复整理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审核归档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多轮返工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53896" y="2496312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532888" y="2496312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118104" y="2807208"/>
            <a:ext cx="0" cy="18288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532888" y="3300984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453896" y="3300984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3950208"/>
            <a:ext cx="142646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SC"/>
              </a:rPr>
              <a:t>玄女自动化流程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93392" y="3950208"/>
            <a:ext cx="1444752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r"/>
            <a:r>
              <a:rPr sz="800" b="1">
                <a:solidFill>
                  <a:srgbClr val="2563EB"/>
                </a:solidFill>
                <a:latin typeface="Noto Sans SC"/>
              </a:rPr>
              <a:t>0.5-1 天 / 底座复用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选择任务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5 分钟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低门槛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72768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27632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调用底座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27632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自动推理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7632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免重训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51760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6624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自动统计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06624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分钟级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06624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自动制图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72768" y="5010912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27632" y="5084064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生成报告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27632" y="5257800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10 分钟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27632" y="5413248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自动成文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5010912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084064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人工复核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5257800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0.5 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413248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确认提交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453896" y="4507992"/>
            <a:ext cx="91440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532888" y="4507992"/>
            <a:ext cx="91440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118104" y="4818888"/>
            <a:ext cx="0" cy="475488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532888" y="5294376"/>
            <a:ext cx="585216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026664" y="4901184"/>
            <a:ext cx="18288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0" y="5138928"/>
            <a:ext cx="18288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←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1453896" y="5294376"/>
            <a:ext cx="91440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822191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041648" y="1481328"/>
            <a:ext cx="3749039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自动生成报告样例</a:t>
            </a:r>
          </a:p>
        </p:txBody>
      </p:sp>
      <p:pic>
        <p:nvPicPr>
          <p:cNvPr id="69" name="Picture 68" descr="mode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982" y="1847088"/>
            <a:ext cx="957170" cy="1353312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041648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总报告</a:t>
            </a:r>
          </a:p>
        </p:txBody>
      </p:sp>
      <p:pic>
        <p:nvPicPr>
          <p:cNvPr id="71" name="Picture 70" descr="model_construction_p6_p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566" y="1847088"/>
            <a:ext cx="957170" cy="1353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285232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建筑工地</a:t>
            </a:r>
          </a:p>
        </p:txBody>
      </p:sp>
      <p:pic>
        <p:nvPicPr>
          <p:cNvPr id="73" name="Picture 72" descr="model_building_p6_p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150" y="1847088"/>
            <a:ext cx="957170" cy="135331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6528816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建筑变化</a:t>
            </a:r>
          </a:p>
        </p:txBody>
      </p:sp>
      <p:pic>
        <p:nvPicPr>
          <p:cNvPr id="75" name="Picture 74" descr="model_farmland_p6_p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5982" y="3639312"/>
            <a:ext cx="957170" cy="135331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041648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耕地非农非粮</a:t>
            </a:r>
          </a:p>
        </p:txBody>
      </p:sp>
      <p:pic>
        <p:nvPicPr>
          <p:cNvPr id="77" name="Picture 76" descr="model_trash_p6_p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9566" y="3639312"/>
            <a:ext cx="957170" cy="135331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5285232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垃圾渣土</a:t>
            </a:r>
          </a:p>
        </p:txBody>
      </p:sp>
      <p:pic>
        <p:nvPicPr>
          <p:cNvPr id="79" name="Picture 78" descr="all_categories_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3813048"/>
            <a:ext cx="1005840" cy="100584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528816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点位分布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41648" y="5468112"/>
            <a:ext cx="3749039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已生成 5 份专题报告，共 199 页，覆盖多类城市治理任务。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955279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8321040" y="1481328"/>
            <a:ext cx="29260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SC"/>
              </a:rPr>
              <a:t>交付效率测算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66175" y="1847088"/>
            <a:ext cx="299923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以一次月度/周期监测报告为例，按遥感工程师、制图与报告撰写人力的保守估算。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247888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39327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10-15 天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39327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传统交付周期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857232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48672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4-6 万元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948672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传统综合成本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247888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339327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0.5-1 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39327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玄女交付周期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857232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48672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千元级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48672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玄女边际成本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247888" y="4224528"/>
            <a:ext cx="2980944" cy="8412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412480" y="4370832"/>
            <a:ext cx="26517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节省结果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430768" y="4626864"/>
            <a:ext cx="261518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报告生产从“项目制人力交付”变成“模型驱动的持续交付”。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86384" y="6345936"/>
            <a:ext cx="106070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时间节省约 90%+，单次报告成本下降一个数量级。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