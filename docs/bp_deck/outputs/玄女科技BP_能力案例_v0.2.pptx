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5915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32888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5059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67004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145536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063240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282696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84448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758184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675887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895344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70832"/>
            <a:ext cx="2852928" cy="11704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82312"/>
            <a:ext cx="2487168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训练阶段融合多模态遥感数据；单一模态被云雾遮挡时，其他模态仍可补充约束。对比变化前后地理嵌入差异，即可识别真实变化区域。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4626864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36592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0384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8" name="Picture 27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554480"/>
            <a:ext cx="6492240" cy="1481328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68496" y="217627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32504" y="22448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样例一</a:t>
            </a:r>
          </a:p>
        </p:txBody>
      </p:sp>
      <p:pic>
        <p:nvPicPr>
          <p:cNvPr id="31" name="Picture 30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017520"/>
            <a:ext cx="6492240" cy="148132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968496" y="363931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2504" y="3707891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样例二</a:t>
            </a:r>
          </a:p>
        </p:txBody>
      </p:sp>
      <p:pic>
        <p:nvPicPr>
          <p:cNvPr id="34" name="Picture 3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4480560"/>
            <a:ext cx="6492240" cy="1481328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3968496" y="510235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32504" y="517093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7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2803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2803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8289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2803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2803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8289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6419088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42062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城市治理不是单一模型问题，而是水体、建筑、地表、施工工地和耕地变化等多任务并行。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14016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87752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505456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旧标签复用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24912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旧标签局部过时，也能提供可迁移监督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26664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200400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118104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一次表征，多次复用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337560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同一区域嵌入可服务多类任务头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3931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813048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73075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支持多类下游任务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95020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从水体、建筑扩展到变化与分类任务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5696"/>
            <a:ext cx="2852928" cy="100584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核心价值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18888"/>
            <a:ext cx="2487168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从旧标签中学习稳定地物知识，在新影像上完成更贴近真实地物的划分。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07008"/>
            <a:ext cx="0" cy="4224528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24528" y="1078992"/>
            <a:ext cx="693115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旧标签复用后的新影像划分效果</a:t>
            </a:r>
          </a:p>
        </p:txBody>
      </p:sp>
      <p:pic>
        <p:nvPicPr>
          <p:cNvPr id="24" name="Picture 23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462" y="1353312"/>
            <a:ext cx="2221683" cy="96926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114800" y="23957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26" name="Picture 25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462" y="2724912"/>
            <a:ext cx="2221683" cy="96926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14800" y="37673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28" name="Picture 27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462" y="4096512"/>
            <a:ext cx="2221683" cy="9692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114800" y="51389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30" name="Picture 29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1782549"/>
            <a:ext cx="3493008" cy="8605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45552" y="296265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32" name="Picture 31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5552" y="3794229"/>
            <a:ext cx="3493008" cy="8605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845552" y="497433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705856"/>
            <a:ext cx="106070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旧标签不再只是一次性标注资产：玄女底座从旧标签中提取可迁移地物知识，并将同一套地理嵌入复用到水体、建筑、地表分类与变化检测等多类任务。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哈尔滨新区：从检测结果到政府可用报告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模型价值最终要落到交付：把变化检测、统计制图和业务解释组织成政府客户可阅读、可复核、可归档的报告。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329184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600" b="1">
                <a:solidFill>
                  <a:srgbClr val="2563EB"/>
                </a:solidFill>
                <a:latin typeface="Noto Sans SC"/>
              </a:rPr>
              <a:t>用户旅程对比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810512"/>
            <a:ext cx="1444752" cy="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1938528"/>
            <a:ext cx="142646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传统人工流程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29968" y="1938528"/>
            <a:ext cx="1408176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Noto Sans SC"/>
              </a:rPr>
              <a:t>10-15 天 / 多人串行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" y="2212848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接到任务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5973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0.5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1518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拆需求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72768" y="2212848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228600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下载影像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245973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1-2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61518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等数据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2212848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06624" y="228600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预处理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6624" y="245973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1-2 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6624" y="261518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配准清洗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51760" y="3017520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06624" y="3090672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人工解译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6624" y="3264408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5-8 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06624" y="3419856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逐图核查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72768" y="3017520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3090672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制图统计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7632" y="3264408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2-3 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3419856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反复整理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3017520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090672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审核归档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264408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1-2 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419856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多轮返工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426464" y="2496312"/>
            <a:ext cx="128016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505456" y="2496312"/>
            <a:ext cx="128016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118104" y="2779776"/>
            <a:ext cx="0" cy="219456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523744" y="3300984"/>
            <a:ext cx="128016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444752" y="3300984"/>
            <a:ext cx="128016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6928" y="3950208"/>
            <a:ext cx="142646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Noto Sans SC"/>
              </a:rPr>
              <a:t>玄女自动化流程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93392" y="3950208"/>
            <a:ext cx="1444752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r"/>
            <a:r>
              <a:rPr sz="800" b="1">
                <a:solidFill>
                  <a:srgbClr val="2563EB"/>
                </a:solidFill>
                <a:latin typeface="Noto Sans SC"/>
              </a:rPr>
              <a:t>0.5-1 天 / 底座复用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4224528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29768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选择任务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47141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5 分钟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462686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低门槛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572768" y="4224528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27632" y="429768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调用底座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27632" y="447141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自动推理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27632" y="462686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免重训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651760" y="4224528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6624" y="429768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自动统计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06624" y="447141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分钟级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06624" y="462686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自动制图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72768" y="5010912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27632" y="5084064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生成报告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27632" y="5257800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10 分钟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27632" y="5413248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自动成文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5010912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5084064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人工复核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5257800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0.5 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5413248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确认提交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426464" y="4507992"/>
            <a:ext cx="128016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505456" y="4507992"/>
            <a:ext cx="128016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118104" y="4791456"/>
            <a:ext cx="0" cy="50292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2523744" y="5294376"/>
            <a:ext cx="594360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026664" y="4901184"/>
            <a:ext cx="18288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0" y="5138928"/>
            <a:ext cx="18288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←</a:t>
            </a:r>
          </a:p>
        </p:txBody>
      </p:sp>
      <p:cxnSp>
        <p:nvCxnSpPr>
          <p:cNvPr id="66" name="Connector 65"/>
          <p:cNvCxnSpPr/>
          <p:nvPr/>
        </p:nvCxnSpPr>
        <p:spPr>
          <a:xfrm flipH="1">
            <a:off x="1444752" y="5294376"/>
            <a:ext cx="128016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822191" y="1353312"/>
            <a:ext cx="0" cy="4663440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041648" y="1481328"/>
            <a:ext cx="3749039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自动生成报告样例</a:t>
            </a:r>
          </a:p>
        </p:txBody>
      </p:sp>
      <p:pic>
        <p:nvPicPr>
          <p:cNvPr id="69" name="Picture 68" descr="mode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982" y="1847088"/>
            <a:ext cx="957170" cy="1353312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041648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总报告</a:t>
            </a:r>
          </a:p>
        </p:txBody>
      </p:sp>
      <p:pic>
        <p:nvPicPr>
          <p:cNvPr id="71" name="Picture 70" descr="model_construction_p6_p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566" y="1847088"/>
            <a:ext cx="957170" cy="1353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5285232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建筑工地</a:t>
            </a:r>
          </a:p>
        </p:txBody>
      </p:sp>
      <p:pic>
        <p:nvPicPr>
          <p:cNvPr id="73" name="Picture 72" descr="model_building_p6_p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150" y="1847088"/>
            <a:ext cx="957170" cy="135331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6528816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建筑变化</a:t>
            </a:r>
          </a:p>
        </p:txBody>
      </p:sp>
      <p:pic>
        <p:nvPicPr>
          <p:cNvPr id="75" name="Picture 74" descr="model_farmland_p6_p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5982" y="3639312"/>
            <a:ext cx="957170" cy="135331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041648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耕地非农非粮</a:t>
            </a:r>
          </a:p>
        </p:txBody>
      </p:sp>
      <p:pic>
        <p:nvPicPr>
          <p:cNvPr id="77" name="Picture 76" descr="model_trash_p6_p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9566" y="3639312"/>
            <a:ext cx="957170" cy="135331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5285232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垃圾渣土</a:t>
            </a:r>
          </a:p>
        </p:txBody>
      </p:sp>
      <p:pic>
        <p:nvPicPr>
          <p:cNvPr id="79" name="Picture 78" descr="all_categories_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3813048"/>
            <a:ext cx="1005840" cy="100584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6528816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点位分布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41648" y="5468112"/>
            <a:ext cx="3749039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已生成 5 份专题报告，共 199 页，覆盖多类城市治理任务。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955279" y="1353312"/>
            <a:ext cx="0" cy="4663440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8321040" y="1481328"/>
            <a:ext cx="29260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Noto Sans SC"/>
              </a:rPr>
              <a:t>交付效率测算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66175" y="1847088"/>
            <a:ext cx="2999232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以一次月度/周期监测报告为例，按遥感工程师、制图与报告撰写人力的保守估算。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247888" y="2432304"/>
            <a:ext cx="1371600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39327" y="2551176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10-15 天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39327" y="2862072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传统交付周期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857232" y="2432304"/>
            <a:ext cx="1371600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48672" y="2551176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4-6 万元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948672" y="2862072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传统综合成本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247888" y="3291840"/>
            <a:ext cx="137160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339327" y="341071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0.5-1 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39327" y="3721608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玄女交付周期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857232" y="3291840"/>
            <a:ext cx="137160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48672" y="341071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千元级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948672" y="3721608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玄女边际成本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247888" y="4224528"/>
            <a:ext cx="2980944" cy="8412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412480" y="4370832"/>
            <a:ext cx="26517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节省结果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430768" y="4626864"/>
            <a:ext cx="261518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报告生产从“项目制人力交付”变成“模型驱动的持续交付”。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86384" y="6345936"/>
            <a:ext cx="106070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时间节省约 90%+，单次报告成本下降一个数量级。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