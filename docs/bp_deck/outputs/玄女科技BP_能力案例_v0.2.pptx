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07008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078992"/>
            <a:ext cx="693115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462" y="1353312"/>
            <a:ext cx="2221683" cy="9692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0" y="23957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462" y="2724912"/>
            <a:ext cx="2221683" cy="969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0" y="37673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462" y="4096512"/>
            <a:ext cx="2221683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114800" y="51389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1782549"/>
            <a:ext cx="3493008" cy="8605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45552" y="296265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3794229"/>
            <a:ext cx="3493008" cy="8605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45552" y="497433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705856"/>
            <a:ext cx="106070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哈尔滨新区：从检测结果到政府可用报告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模型价值最终要落到交付：把变化检测、统计制图和业务解释组织成政府客户可阅读、可复核、可归档的报告。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32918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Noto Sans SC"/>
              </a:rPr>
              <a:t>用户历程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810512"/>
            <a:ext cx="1444752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1975104"/>
            <a:ext cx="307238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传统人工流程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877824" cy="38404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350008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接到任务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00200" y="2267712"/>
            <a:ext cx="877824" cy="38404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5064" y="2350008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下载影像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2267712"/>
            <a:ext cx="877824" cy="38404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8336" y="2350008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预处理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33472" y="2926080"/>
            <a:ext cx="877824" cy="38404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8336" y="3008376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人工解译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00200" y="2926080"/>
            <a:ext cx="877824" cy="38404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008376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制图统计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926080"/>
            <a:ext cx="877824" cy="38404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008376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审核归档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44752" y="2459736"/>
            <a:ext cx="137160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478024" y="2459736"/>
            <a:ext cx="137160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072384" y="2651760"/>
            <a:ext cx="0" cy="25603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496312" y="3118104"/>
            <a:ext cx="137160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463040" y="3118104"/>
            <a:ext cx="137160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3840480"/>
            <a:ext cx="307238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SC"/>
              </a:rPr>
              <a:t>玄女自动化流程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133087"/>
            <a:ext cx="877824" cy="3840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4215383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选择任务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00200" y="4133087"/>
            <a:ext cx="877824" cy="3840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55064" y="4215383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调用底座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33472" y="4133087"/>
            <a:ext cx="877824" cy="3840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88336" y="4215383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自动统计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00200" y="4791456"/>
            <a:ext cx="877824" cy="3840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55064" y="4873752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生成报告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791456"/>
            <a:ext cx="877824" cy="3840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873752"/>
            <a:ext cx="768096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人工复核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444752" y="4325112"/>
            <a:ext cx="137160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478024" y="4325112"/>
            <a:ext cx="137160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2057400" y="4517136"/>
            <a:ext cx="1014984" cy="25603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463040" y="4983480"/>
            <a:ext cx="137160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22191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041648" y="1481328"/>
            <a:ext cx="3749039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自动生成报告样例</a:t>
            </a:r>
          </a:p>
        </p:txBody>
      </p:sp>
      <p:pic>
        <p:nvPicPr>
          <p:cNvPr id="42" name="Picture 41" descr="mode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982" y="1847088"/>
            <a:ext cx="957170" cy="1353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041648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总报告</a:t>
            </a:r>
          </a:p>
        </p:txBody>
      </p:sp>
      <p:pic>
        <p:nvPicPr>
          <p:cNvPr id="44" name="Picture 43" descr="model_construction_p6_p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566" y="1847088"/>
            <a:ext cx="957170" cy="1353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285232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建筑工地</a:t>
            </a:r>
          </a:p>
        </p:txBody>
      </p:sp>
      <p:pic>
        <p:nvPicPr>
          <p:cNvPr id="46" name="Picture 45" descr="model_building_p6_p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50" y="1847088"/>
            <a:ext cx="957170" cy="13533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528816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建筑变化</a:t>
            </a:r>
          </a:p>
        </p:txBody>
      </p:sp>
      <p:pic>
        <p:nvPicPr>
          <p:cNvPr id="48" name="Picture 47" descr="model_farmland_p6_p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5982" y="3639312"/>
            <a:ext cx="957170" cy="13533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041648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耕地非农非粮</a:t>
            </a:r>
          </a:p>
        </p:txBody>
      </p:sp>
      <p:pic>
        <p:nvPicPr>
          <p:cNvPr id="50" name="Picture 49" descr="model_trash_p6_p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9566" y="3639312"/>
            <a:ext cx="957170" cy="135331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285232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垃圾渣土</a:t>
            </a:r>
          </a:p>
        </p:txBody>
      </p:sp>
      <p:pic>
        <p:nvPicPr>
          <p:cNvPr id="52" name="Picture 51" descr="all_categories_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3813048"/>
            <a:ext cx="1005840" cy="100584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528816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点位分布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41648" y="5468112"/>
            <a:ext cx="3749039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已生成 5 份专题报告，共 199 页，覆盖多类城市治理任务。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955279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321040" y="1481328"/>
            <a:ext cx="29260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SC"/>
              </a:rPr>
              <a:t>交付效率测算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5" y="1847088"/>
            <a:ext cx="299923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以一次月度/周期监测报告为例，按遥感工程师、制图与报告撰写人力的保守估算。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47888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39327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10-15 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7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传统交付周期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57232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8672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4-6 万元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48672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传统综合成本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47888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39327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0.5-1 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39327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玄女交付周期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857232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48672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千元级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48672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玄女边际成本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47888" y="4224528"/>
            <a:ext cx="2980944" cy="8412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412480" y="4370832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节省结果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30768" y="4626864"/>
            <a:ext cx="261518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报告生产从“项目制人力交付”变成“模型驱动的持续交付”。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" y="6345936"/>
            <a:ext cx="106070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时间节省约 90%+，单次报告成本下降一个数量级。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