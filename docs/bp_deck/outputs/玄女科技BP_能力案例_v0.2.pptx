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7" Type="http://schemas.openxmlformats.org/officeDocument/2006/relationships/image" Target="../media/image20.png"/><Relationship Id="rId8" Type="http://schemas.openxmlformats.org/officeDocument/2006/relationships/image" Target="../media/image2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现有工程实践案例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1078992"/>
            <a:ext cx="10241280" cy="31089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Noto Sans SC"/>
              </a:rPr>
              <a:t>玄女底座已围绕政府城市治理、复杂城市变化评测与水电站周边监测，形成面向真实区域的工程实践。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" y="1737360"/>
            <a:ext cx="2971800" cy="25603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700" b="1">
                <a:solidFill>
                  <a:srgbClr val="0F172A"/>
                </a:solidFill>
                <a:latin typeface="Noto Sans SC"/>
              </a:rPr>
              <a:t>哈尔滨新区</a:t>
            </a:r>
          </a:p>
        </p:txBody>
      </p:sp>
      <p:pic>
        <p:nvPicPr>
          <p:cNvPr id="6" name="Picture 5" descr="practice_region_harbin_whitef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785" y="2066543"/>
            <a:ext cx="3254188" cy="2212848"/>
          </a:xfrm>
          <a:prstGeom prst="rect">
            <a:avLst/>
          </a:prstGeom>
        </p:spPr>
      </p:pic>
      <p:cxnSp>
        <p:nvCxnSpPr>
          <p:cNvPr id="7" name="Connector 6"/>
          <p:cNvCxnSpPr/>
          <p:nvPr/>
        </p:nvCxnSpPr>
        <p:spPr>
          <a:xfrm>
            <a:off x="1078992" y="4535424"/>
            <a:ext cx="2779776" cy="0"/>
          </a:xfrm>
          <a:prstGeom prst="line">
            <a:avLst/>
          </a:prstGeom>
          <a:ln w="1397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1024128" y="4773168"/>
            <a:ext cx="2871216" cy="43891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4910328"/>
            <a:ext cx="2542032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2563EB"/>
                </a:solidFill>
                <a:latin typeface="Noto Sans SC"/>
              </a:rPr>
              <a:t>政府客户 · 城市治理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5431536"/>
            <a:ext cx="2871216" cy="36576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0F172A"/>
                </a:solidFill>
                <a:latin typeface="Noto Sans SC"/>
              </a:rPr>
              <a:t>多专题持续监测与城市管理报告更新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90288" y="1737360"/>
            <a:ext cx="2971800" cy="25603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700" b="1">
                <a:solidFill>
                  <a:srgbClr val="0F172A"/>
                </a:solidFill>
                <a:latin typeface="Noto Sans SC"/>
              </a:rPr>
              <a:t>海淀区</a:t>
            </a:r>
          </a:p>
        </p:txBody>
      </p:sp>
      <p:pic>
        <p:nvPicPr>
          <p:cNvPr id="12" name="Picture 11" descr="practice_region_haidian_whitef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62809" y="2066543"/>
            <a:ext cx="3254188" cy="2212848"/>
          </a:xfrm>
          <a:prstGeom prst="rect">
            <a:avLst/>
          </a:prstGeom>
        </p:spPr>
      </p:pic>
      <p:cxnSp>
        <p:nvCxnSpPr>
          <p:cNvPr id="13" name="Connector 12"/>
          <p:cNvCxnSpPr/>
          <p:nvPr/>
        </p:nvCxnSpPr>
        <p:spPr>
          <a:xfrm>
            <a:off x="4700016" y="4535424"/>
            <a:ext cx="2779776" cy="0"/>
          </a:xfrm>
          <a:prstGeom prst="line">
            <a:avLst/>
          </a:prstGeom>
          <a:ln w="13970">
            <a:solidFill>
              <a:srgbClr val="10B9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4645152" y="4773168"/>
            <a:ext cx="2871216" cy="438912"/>
          </a:xfrm>
          <a:prstGeom prst="roundRect">
            <a:avLst/>
          </a:prstGeom>
          <a:solidFill>
            <a:srgbClr val="ECFDF5"/>
          </a:solidFill>
          <a:ln w="1016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9744" y="4910328"/>
            <a:ext cx="2542032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10B981"/>
                </a:solidFill>
                <a:latin typeface="Noto Sans SC"/>
              </a:rPr>
              <a:t>城市核心区 · 任务评测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5152" y="5431536"/>
            <a:ext cx="2871216" cy="36576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0F172A"/>
                </a:solidFill>
                <a:latin typeface="Noto Sans SC"/>
              </a:rPr>
              <a:t>复杂城市纹理下，对标国际地理嵌入能力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11311" y="1737360"/>
            <a:ext cx="2971800" cy="25603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700" b="1">
                <a:solidFill>
                  <a:srgbClr val="0F172A"/>
                </a:solidFill>
                <a:latin typeface="Noto Sans SC"/>
              </a:rPr>
              <a:t>雅江区域</a:t>
            </a:r>
          </a:p>
        </p:txBody>
      </p:sp>
      <p:pic>
        <p:nvPicPr>
          <p:cNvPr id="18" name="Picture 17" descr="practice_region_yajiang_whitefi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83833" y="2066543"/>
            <a:ext cx="3254188" cy="2212848"/>
          </a:xfrm>
          <a:prstGeom prst="rect">
            <a:avLst/>
          </a:prstGeom>
        </p:spPr>
      </p:pic>
      <p:cxnSp>
        <p:nvCxnSpPr>
          <p:cNvPr id="19" name="Connector 18"/>
          <p:cNvCxnSpPr/>
          <p:nvPr/>
        </p:nvCxnSpPr>
        <p:spPr>
          <a:xfrm>
            <a:off x="8321040" y="4535424"/>
            <a:ext cx="2779775" cy="0"/>
          </a:xfrm>
          <a:prstGeom prst="line">
            <a:avLst/>
          </a:prstGeom>
          <a:ln w="13970">
            <a:solidFill>
              <a:srgbClr val="7C3A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8266175" y="4773168"/>
            <a:ext cx="2871216" cy="438912"/>
          </a:xfrm>
          <a:prstGeom prst="roundRect">
            <a:avLst/>
          </a:prstGeom>
          <a:solidFill>
            <a:srgbClr val="F5F3FF"/>
          </a:solidFill>
          <a:ln w="1016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30767" y="4910328"/>
            <a:ext cx="2542032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7C3AED"/>
                </a:solidFill>
                <a:latin typeface="Noto Sans SC"/>
              </a:rPr>
              <a:t>水电站周边 · 安全监测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66175" y="5431536"/>
            <a:ext cx="2871216" cy="36576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0F172A"/>
                </a:solidFill>
                <a:latin typeface="Noto Sans SC"/>
              </a:rPr>
              <a:t>水电站周边态势监测与遥感分析报告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哈尔滨新区：有云遮挡，仍能识别变化区域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133856"/>
            <a:ext cx="2816352" cy="237744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700" b="1">
                <a:solidFill>
                  <a:srgbClr val="2563EB"/>
                </a:solidFill>
                <a:latin typeface="Noto Sans SC"/>
              </a:rPr>
              <a:t>政府客户的真实难题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66928" y="1517904"/>
            <a:ext cx="1645920" cy="0"/>
          </a:xfrm>
          <a:prstGeom prst="line">
            <a:avLst/>
          </a:prstGeom>
          <a:ln w="1397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66928" y="1737360"/>
            <a:ext cx="2852928" cy="36576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Noto Sans SC"/>
              </a:rPr>
              <a:t>云、雾、雪遮挡关键地物，城市治理仍需要连续、稳定的变化检测结果。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359152"/>
            <a:ext cx="2852928" cy="5303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31520" y="2532888"/>
            <a:ext cx="182880" cy="182880"/>
          </a:xfrm>
          <a:prstGeom prst="ellipse">
            <a:avLst/>
          </a:prstGeom>
          <a:solidFill>
            <a:srgbClr val="EFF6FF"/>
          </a:solidFill>
          <a:ln w="1143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4128" y="2450592"/>
            <a:ext cx="2194560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900" b="1">
                <a:solidFill>
                  <a:srgbClr val="0F172A"/>
                </a:solidFill>
                <a:latin typeface="Noto Sans SC"/>
              </a:rPr>
              <a:t>缺失模态下仍可推理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2670048"/>
            <a:ext cx="2194560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700" b="0">
                <a:solidFill>
                  <a:srgbClr val="334155"/>
                </a:solidFill>
                <a:latin typeface="Noto Sans SC"/>
              </a:rPr>
              <a:t>不依赖单张完美影像完成判断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971800"/>
            <a:ext cx="2852928" cy="5303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3145536"/>
            <a:ext cx="182880" cy="182880"/>
          </a:xfrm>
          <a:prstGeom prst="ellipse">
            <a:avLst/>
          </a:prstGeom>
          <a:solidFill>
            <a:srgbClr val="ECFDF5"/>
          </a:solidFill>
          <a:ln w="1143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4128" y="3063240"/>
            <a:ext cx="2194560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900" b="1">
                <a:solidFill>
                  <a:srgbClr val="0F172A"/>
                </a:solidFill>
                <a:latin typeface="Noto Sans SC"/>
              </a:rPr>
              <a:t>跨模态保留变化信号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" y="3282696"/>
            <a:ext cx="2194560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700" b="0">
                <a:solidFill>
                  <a:srgbClr val="334155"/>
                </a:solidFill>
                <a:latin typeface="Noto Sans SC"/>
              </a:rPr>
              <a:t>RGB 与嵌入共同支撑变化检测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84448"/>
            <a:ext cx="2852928" cy="5303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31520" y="3758184"/>
            <a:ext cx="182880" cy="182880"/>
          </a:xfrm>
          <a:prstGeom prst="ellipse">
            <a:avLst/>
          </a:prstGeom>
          <a:solidFill>
            <a:srgbClr val="F5F3FF"/>
          </a:solidFill>
          <a:ln w="1143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24128" y="3675887"/>
            <a:ext cx="2194560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900" b="1">
                <a:solidFill>
                  <a:srgbClr val="0F172A"/>
                </a:solidFill>
                <a:latin typeface="Noto Sans SC"/>
              </a:rPr>
              <a:t>减少人工重跑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4128" y="3895344"/>
            <a:ext cx="2194560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700" b="0">
                <a:solidFill>
                  <a:srgbClr val="334155"/>
                </a:solidFill>
                <a:latin typeface="Noto Sans SC"/>
              </a:rPr>
              <a:t>影像质量波动不直接造成流程停摆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370832"/>
            <a:ext cx="2852928" cy="117043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808" y="4535424"/>
            <a:ext cx="2487168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2563EB"/>
                </a:solidFill>
                <a:latin typeface="Noto Sans SC"/>
              </a:rPr>
              <a:t>为什么能识别？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4782312"/>
            <a:ext cx="2487168" cy="38404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800" b="1">
                <a:solidFill>
                  <a:srgbClr val="334155"/>
                </a:solidFill>
                <a:latin typeface="Noto Sans SC"/>
              </a:rPr>
              <a:t>训练阶段融合多模态遥感数据；单一模态被云雾遮挡时，其他模态仍可补充约束。对比变化前后地理嵌入差异，即可识别真实变化区域。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3803904" y="1280160"/>
            <a:ext cx="0" cy="4626864"/>
          </a:xfrm>
          <a:prstGeom prst="line">
            <a:avLst/>
          </a:prstGeom>
          <a:ln w="1143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4736592" y="1325880"/>
            <a:ext cx="1225296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64748B"/>
                </a:solidFill>
                <a:latin typeface="Noto Sans SC"/>
              </a:rPr>
              <a:t>变化前 RGB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35040" y="1325880"/>
            <a:ext cx="1225296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64748B"/>
                </a:solidFill>
                <a:latin typeface="Noto Sans SC"/>
              </a:rPr>
              <a:t>变化后 RGB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33488" y="1325880"/>
            <a:ext cx="1225296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64748B"/>
                </a:solidFill>
                <a:latin typeface="Noto Sans SC"/>
              </a:rPr>
              <a:t>变化前嵌入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31936" y="1325880"/>
            <a:ext cx="1225296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64748B"/>
                </a:solidFill>
                <a:latin typeface="Noto Sans SC"/>
              </a:rPr>
              <a:t>变化后嵌入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30384" y="1325880"/>
            <a:ext cx="1225296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64748B"/>
                </a:solidFill>
                <a:latin typeface="Noto Sans SC"/>
              </a:rPr>
              <a:t>变化概率</a:t>
            </a:r>
          </a:p>
        </p:txBody>
      </p:sp>
      <p:pic>
        <p:nvPicPr>
          <p:cNvPr id="28" name="Picture 27" descr="patch_000027_2025-08_vs_2025-09_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6592" y="1554480"/>
            <a:ext cx="6492240" cy="1481328"/>
          </a:xfrm>
          <a:prstGeom prst="rect">
            <a:avLst/>
          </a:prstGeom>
        </p:spPr>
      </p:pic>
      <p:sp>
        <p:nvSpPr>
          <p:cNvPr id="29" name="Rounded Rectangle 28"/>
          <p:cNvSpPr/>
          <p:nvPr/>
        </p:nvSpPr>
        <p:spPr>
          <a:xfrm>
            <a:off x="3968496" y="2176272"/>
            <a:ext cx="640080" cy="219456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032504" y="2244852"/>
            <a:ext cx="512064" cy="7315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600" b="1">
                <a:solidFill>
                  <a:srgbClr val="2563EB"/>
                </a:solidFill>
                <a:latin typeface="Noto Sans SC"/>
              </a:rPr>
              <a:t>样例一</a:t>
            </a:r>
          </a:p>
        </p:txBody>
      </p:sp>
      <p:pic>
        <p:nvPicPr>
          <p:cNvPr id="31" name="Picture 30" descr="patch_000146_2025-06_vs_2025-08_detai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36592" y="3017520"/>
            <a:ext cx="6492240" cy="1481328"/>
          </a:xfrm>
          <a:prstGeom prst="rect">
            <a:avLst/>
          </a:prstGeom>
        </p:spPr>
      </p:pic>
      <p:sp>
        <p:nvSpPr>
          <p:cNvPr id="32" name="Rounded Rectangle 31"/>
          <p:cNvSpPr/>
          <p:nvPr/>
        </p:nvSpPr>
        <p:spPr>
          <a:xfrm>
            <a:off x="3968496" y="3639312"/>
            <a:ext cx="640080" cy="219456"/>
          </a:xfrm>
          <a:prstGeom prst="roundRect">
            <a:avLst/>
          </a:prstGeom>
          <a:solidFill>
            <a:srgbClr val="ECFDF5"/>
          </a:solidFill>
          <a:ln w="1016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032504" y="3707891"/>
            <a:ext cx="512064" cy="7315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600" b="1">
                <a:solidFill>
                  <a:srgbClr val="10B981"/>
                </a:solidFill>
                <a:latin typeface="Noto Sans SC"/>
              </a:rPr>
              <a:t>样例二</a:t>
            </a:r>
          </a:p>
        </p:txBody>
      </p:sp>
      <p:pic>
        <p:nvPicPr>
          <p:cNvPr id="34" name="Picture 33" descr="patch_000217_2025-06_vs_2025-08_detai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36592" y="4480560"/>
            <a:ext cx="6492240" cy="1481328"/>
          </a:xfrm>
          <a:prstGeom prst="rect">
            <a:avLst/>
          </a:prstGeom>
        </p:spPr>
      </p:pic>
      <p:sp>
        <p:nvSpPr>
          <p:cNvPr id="35" name="Rounded Rectangle 34"/>
          <p:cNvSpPr/>
          <p:nvPr/>
        </p:nvSpPr>
        <p:spPr>
          <a:xfrm>
            <a:off x="3968496" y="5102352"/>
            <a:ext cx="640080" cy="219456"/>
          </a:xfrm>
          <a:prstGeom prst="roundRect">
            <a:avLst/>
          </a:prstGeom>
          <a:solidFill>
            <a:srgbClr val="F5F3FF"/>
          </a:solidFill>
          <a:ln w="1016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032504" y="5170932"/>
            <a:ext cx="512064" cy="7315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600" b="1">
                <a:solidFill>
                  <a:srgbClr val="7C3AED"/>
                </a:solidFill>
                <a:latin typeface="Noto Sans SC"/>
              </a:rPr>
              <a:t>样例三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81344" y="1700784"/>
            <a:ext cx="1078992" cy="713232"/>
          </a:xfrm>
          <a:prstGeom prst="rect">
            <a:avLst/>
          </a:prstGeom>
          <a:noFill/>
          <a:ln w="254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6181344" y="1499616"/>
            <a:ext cx="841248" cy="201168"/>
          </a:xfrm>
          <a:prstGeom prst="roundRect">
            <a:avLst/>
          </a:prstGeom>
          <a:solidFill>
            <a:srgbClr val="FEF2F2"/>
          </a:solidFill>
          <a:ln w="1016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236207" y="1559052"/>
            <a:ext cx="731520" cy="7315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600" b="1">
                <a:solidFill>
                  <a:srgbClr val="DC2626"/>
                </a:solidFill>
                <a:latin typeface="Noto Sans SC"/>
              </a:rPr>
              <a:t>云雾遮挡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828032" y="3072384"/>
            <a:ext cx="1207008" cy="822960"/>
          </a:xfrm>
          <a:prstGeom prst="rect">
            <a:avLst/>
          </a:prstGeom>
          <a:noFill/>
          <a:ln w="254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4828032" y="2871215"/>
            <a:ext cx="841248" cy="201168"/>
          </a:xfrm>
          <a:prstGeom prst="roundRect">
            <a:avLst/>
          </a:prstGeom>
          <a:solidFill>
            <a:srgbClr val="FEF2F2"/>
          </a:solidFill>
          <a:ln w="1016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882896" y="2930652"/>
            <a:ext cx="731520" cy="7315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600" b="1">
                <a:solidFill>
                  <a:srgbClr val="DC2626"/>
                </a:solidFill>
                <a:latin typeface="Noto Sans SC"/>
              </a:rPr>
              <a:t>云雾遮挡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828032" y="4663440"/>
            <a:ext cx="1188720" cy="713232"/>
          </a:xfrm>
          <a:prstGeom prst="rect">
            <a:avLst/>
          </a:prstGeom>
          <a:noFill/>
          <a:ln w="254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4828032" y="4462272"/>
            <a:ext cx="841248" cy="201168"/>
          </a:xfrm>
          <a:prstGeom prst="roundRect">
            <a:avLst/>
          </a:prstGeom>
          <a:solidFill>
            <a:srgbClr val="FEF2F2"/>
          </a:solidFill>
          <a:ln w="1016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882896" y="4521707"/>
            <a:ext cx="731520" cy="7315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600" b="1">
                <a:solidFill>
                  <a:srgbClr val="DC2626"/>
                </a:solidFill>
                <a:latin typeface="Noto Sans SC"/>
              </a:rPr>
              <a:t>云雾遮挡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86384" y="6419088"/>
            <a:ext cx="10607040" cy="38404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800" b="1">
                <a:solidFill>
                  <a:srgbClr val="2563EB"/>
                </a:solidFill>
                <a:latin typeface="Noto Sans SC"/>
              </a:rPr>
              <a:t>玄女底座提高的是业务可用性：真实遥感数据不完美，但系统仍要稳定产出。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哈尔滨新区：同一套地理嵌入，复用到多类城市治理任务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133856"/>
            <a:ext cx="2816352" cy="237744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700" b="1">
                <a:solidFill>
                  <a:srgbClr val="2563EB"/>
                </a:solidFill>
                <a:latin typeface="Noto Sans SC"/>
              </a:rPr>
              <a:t>政府客户的真实难题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66928" y="1517904"/>
            <a:ext cx="1645920" cy="0"/>
          </a:xfrm>
          <a:prstGeom prst="line">
            <a:avLst/>
          </a:prstGeom>
          <a:ln w="1397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66928" y="1737360"/>
            <a:ext cx="2852928" cy="420624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Noto Sans SC"/>
              </a:rPr>
              <a:t>城市治理不是单一模型问题，而是水体、建筑、地表、施工工地和耕地变化等多任务并行。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414016"/>
            <a:ext cx="2852928" cy="5303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31520" y="2587752"/>
            <a:ext cx="182880" cy="182880"/>
          </a:xfrm>
          <a:prstGeom prst="ellipse">
            <a:avLst/>
          </a:prstGeom>
          <a:solidFill>
            <a:srgbClr val="EFF6FF"/>
          </a:solidFill>
          <a:ln w="1143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4128" y="2505456"/>
            <a:ext cx="2194560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900" b="1">
                <a:solidFill>
                  <a:srgbClr val="0F172A"/>
                </a:solidFill>
                <a:latin typeface="Noto Sans SC"/>
              </a:rPr>
              <a:t>旧标签复用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2724912"/>
            <a:ext cx="2194560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700" b="0">
                <a:solidFill>
                  <a:srgbClr val="334155"/>
                </a:solidFill>
                <a:latin typeface="Noto Sans SC"/>
              </a:rPr>
              <a:t>旧标签局部过时，也能提供可迁移监督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026664"/>
            <a:ext cx="2852928" cy="5303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3200400"/>
            <a:ext cx="182880" cy="182880"/>
          </a:xfrm>
          <a:prstGeom prst="ellipse">
            <a:avLst/>
          </a:prstGeom>
          <a:solidFill>
            <a:srgbClr val="ECFDF5"/>
          </a:solidFill>
          <a:ln w="1143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4128" y="3118104"/>
            <a:ext cx="2194560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900" b="1">
                <a:solidFill>
                  <a:srgbClr val="0F172A"/>
                </a:solidFill>
                <a:latin typeface="Noto Sans SC"/>
              </a:rPr>
              <a:t>一次表征，多次复用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" y="3337560"/>
            <a:ext cx="2194560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700" b="0">
                <a:solidFill>
                  <a:srgbClr val="334155"/>
                </a:solidFill>
                <a:latin typeface="Noto Sans SC"/>
              </a:rPr>
              <a:t>同一区域嵌入可服务多类任务头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639312"/>
            <a:ext cx="2852928" cy="5303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31520" y="3813048"/>
            <a:ext cx="182880" cy="182880"/>
          </a:xfrm>
          <a:prstGeom prst="ellipse">
            <a:avLst/>
          </a:prstGeom>
          <a:solidFill>
            <a:srgbClr val="F5F3FF"/>
          </a:solidFill>
          <a:ln w="1143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24128" y="3730752"/>
            <a:ext cx="2194560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900" b="1">
                <a:solidFill>
                  <a:srgbClr val="0F172A"/>
                </a:solidFill>
                <a:latin typeface="Noto Sans SC"/>
              </a:rPr>
              <a:t>支持多类下游任务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4128" y="3950208"/>
            <a:ext cx="2194560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700" b="0">
                <a:solidFill>
                  <a:srgbClr val="334155"/>
                </a:solidFill>
                <a:latin typeface="Noto Sans SC"/>
              </a:rPr>
              <a:t>从水体、建筑扩展到变化与分类任务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5696"/>
            <a:ext cx="2852928" cy="1005840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808" y="4590288"/>
            <a:ext cx="2487168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2563EB"/>
                </a:solidFill>
                <a:latin typeface="Noto Sans SC"/>
              </a:rPr>
              <a:t>核心价值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4818888"/>
            <a:ext cx="2487168" cy="31089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800" b="1">
                <a:solidFill>
                  <a:srgbClr val="334155"/>
                </a:solidFill>
                <a:latin typeface="Noto Sans SC"/>
              </a:rPr>
              <a:t>从旧标签中学习稳定地物知识，在新影像上完成更贴近真实地物的划分。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3803904" y="1280160"/>
            <a:ext cx="0" cy="4626864"/>
          </a:xfrm>
          <a:prstGeom prst="line">
            <a:avLst/>
          </a:prstGeom>
          <a:ln w="1143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4297680" y="1133856"/>
            <a:ext cx="6748272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300" b="1">
                <a:solidFill>
                  <a:srgbClr val="2563EB"/>
                </a:solidFill>
                <a:latin typeface="Noto Sans SC"/>
              </a:rPr>
              <a:t>旧标签复用后的新影像划分效果</a:t>
            </a:r>
          </a:p>
        </p:txBody>
      </p:sp>
      <p:pic>
        <p:nvPicPr>
          <p:cNvPr id="24" name="Picture 23" descr="patch_000041_jrc_water_2025-04_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0690" y="1517904"/>
            <a:ext cx="3395403" cy="1481328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4297680" y="3072384"/>
            <a:ext cx="6821424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水体识别</a:t>
            </a:r>
          </a:p>
        </p:txBody>
      </p:sp>
      <p:pic>
        <p:nvPicPr>
          <p:cNvPr id="26" name="Picture 25" descr="patch_000354_building_extraction_2025-04_detai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10690" y="3273552"/>
            <a:ext cx="3395403" cy="1481328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4297680" y="4828032"/>
            <a:ext cx="6821424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建筑提取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80" y="5029200"/>
            <a:ext cx="6821424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334155"/>
                </a:solidFill>
                <a:latin typeface="Noto Sans SC"/>
              </a:rPr>
              <a:t>Ground Truth 可来自旧年份或旧数据源；玄女底座提取的是可迁移的地物表征，而不是机械复制旧标签。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480560" y="5449824"/>
            <a:ext cx="1298448" cy="71323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0" y="5568696"/>
            <a:ext cx="111556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Noto Sans SC"/>
              </a:rPr>
              <a:t>多类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0" y="5879592"/>
            <a:ext cx="1115568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下游任务示例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144768" y="5449824"/>
            <a:ext cx="1298448" cy="713232"/>
          </a:xfrm>
          <a:prstGeom prst="roundRect">
            <a:avLst/>
          </a:prstGeom>
          <a:solidFill>
            <a:srgbClr val="ECFDF5"/>
          </a:solidFill>
          <a:ln w="1016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36207" y="5568696"/>
            <a:ext cx="111556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10B981"/>
                </a:solidFill>
                <a:latin typeface="Noto Sans SC"/>
              </a:rPr>
              <a:t>旧标签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36207" y="5879592"/>
            <a:ext cx="1115568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知识复用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808975" y="5449824"/>
            <a:ext cx="1298448" cy="713232"/>
          </a:xfrm>
          <a:prstGeom prst="roundRect">
            <a:avLst/>
          </a:prstGeom>
          <a:solidFill>
            <a:srgbClr val="F5F3FF"/>
          </a:solidFill>
          <a:ln w="1016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900415" y="5568696"/>
            <a:ext cx="111556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7C3AED"/>
                </a:solidFill>
                <a:latin typeface="Noto Sans SC"/>
              </a:rPr>
              <a:t>一次表征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00415" y="5879592"/>
            <a:ext cx="1115568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多次复用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253728" y="5632704"/>
            <a:ext cx="1810512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2563EB"/>
                </a:solidFill>
                <a:latin typeface="Noto Sans SC"/>
              </a:rPr>
              <a:t>从“一事一模型”转向“一套底座、多任务复用”。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从检测结果到政府可用报告：已更新至 2026 年 5 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1042415"/>
            <a:ext cx="10241280" cy="27432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Noto Sans SC"/>
              </a:rPr>
              <a:t>哈尔滨新区是政府客户场景。玄女调用模型自动生成最新监测报告，将多任务检测结果组织成可阅读、可复核、可归档的交付物。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9536" y="1627632"/>
            <a:ext cx="34015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300" b="1">
                <a:solidFill>
                  <a:srgbClr val="0F172A"/>
                </a:solidFill>
                <a:latin typeface="Noto Sans SC"/>
              </a:rPr>
              <a:t>传统人工报告</a:t>
            </a:r>
          </a:p>
        </p:txBody>
      </p:sp>
      <p:pic>
        <p:nvPicPr>
          <p:cNvPr id="6" name="Picture 5" descr="manual_total_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5828" y="1956816"/>
            <a:ext cx="1785558" cy="252374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97280" y="4608576"/>
            <a:ext cx="2926080" cy="146304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334155"/>
                </a:solidFill>
                <a:latin typeface="Noto Sans SC"/>
              </a:rPr>
              <a:t>2025 年下半年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9264" y="4882896"/>
            <a:ext cx="3182112" cy="27432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800" b="1">
                <a:solidFill>
                  <a:srgbClr val="334155"/>
                </a:solidFill>
                <a:latin typeface="Noto Sans SC"/>
              </a:rPr>
              <a:t>正式完整，但制作耗时耗力，后续更新压力大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17136" y="1719072"/>
            <a:ext cx="0" cy="3639312"/>
          </a:xfrm>
          <a:prstGeom prst="line">
            <a:avLst/>
          </a:prstGeom>
          <a:ln w="1016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809744" y="1627632"/>
            <a:ext cx="34015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300" b="1">
                <a:solidFill>
                  <a:srgbClr val="2563EB"/>
                </a:solidFill>
                <a:latin typeface="Noto Sans SC"/>
              </a:rPr>
              <a:t>玄女模型自动生成报告</a:t>
            </a:r>
          </a:p>
        </p:txBody>
      </p:sp>
      <p:pic>
        <p:nvPicPr>
          <p:cNvPr id="11" name="Picture 10" descr="model_total_p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36319" y="1956816"/>
            <a:ext cx="1784992" cy="2523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047488" y="4608576"/>
            <a:ext cx="2926080" cy="146304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2563EB"/>
                </a:solidFill>
                <a:latin typeface="Noto Sans SC"/>
              </a:rPr>
              <a:t>2025 年 12 月 - 2026 年 5 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19472" y="4882896"/>
            <a:ext cx="32004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800" b="1">
                <a:solidFill>
                  <a:srgbClr val="334155"/>
                </a:solidFill>
                <a:latin typeface="Noto Sans SC"/>
              </a:rPr>
              <a:t>自动汇总多任务结果，降低制图、统计和撰写压力</a:t>
            </a:r>
          </a:p>
        </p:txBody>
      </p:sp>
      <p:pic>
        <p:nvPicPr>
          <p:cNvPr id="14" name="Picture 13" descr="all_categories_ma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0" y="1901952"/>
            <a:ext cx="2377440" cy="237744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577072" y="4407408"/>
            <a:ext cx="2596896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2026 报告点位分布图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21040" y="4956048"/>
            <a:ext cx="1225296" cy="713232"/>
          </a:xfrm>
          <a:prstGeom prst="roundRect">
            <a:avLst/>
          </a:prstGeom>
          <a:solidFill>
            <a:srgbClr val="FFFBEB"/>
          </a:solidFill>
          <a:ln w="1016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0" y="5074920"/>
            <a:ext cx="1042416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F59E0B"/>
                </a:solidFill>
                <a:latin typeface="Noto Sans SC"/>
              </a:rPr>
              <a:t>6 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5385816"/>
            <a:ext cx="1042416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传统报告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10928" y="4956048"/>
            <a:ext cx="1225296" cy="713232"/>
          </a:xfrm>
          <a:prstGeom prst="roundRect">
            <a:avLst/>
          </a:prstGeom>
          <a:solidFill>
            <a:srgbClr val="FFFBEB"/>
          </a:solidFill>
          <a:ln w="1016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02367" y="5074920"/>
            <a:ext cx="1042416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F59E0B"/>
                </a:solidFill>
                <a:latin typeface="Noto Sans SC"/>
              </a:rPr>
              <a:t>255 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02367" y="5385816"/>
            <a:ext cx="1042416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人工规模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21040" y="5632704"/>
            <a:ext cx="1225296" cy="71323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12480" y="5751576"/>
            <a:ext cx="1042416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Noto Sans SC"/>
              </a:rPr>
              <a:t>5 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80" y="6062472"/>
            <a:ext cx="1042416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模型报告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710928" y="5632704"/>
            <a:ext cx="1225296" cy="71323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802367" y="5751576"/>
            <a:ext cx="1042416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Noto Sans SC"/>
              </a:rPr>
              <a:t>199 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02367" y="6062472"/>
            <a:ext cx="1042416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自动生成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6384" y="6272784"/>
            <a:ext cx="10607040" cy="38404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800" b="1">
                <a:solidFill>
                  <a:srgbClr val="2563EB"/>
                </a:solidFill>
                <a:latin typeface="Noto Sans SC"/>
              </a:rPr>
              <a:t>真正的产品化能力，是把遥感分析结果变成可持续交付的业务文档。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海淀区 Benchmark：玄女 V1.0 与 AEF 官方嵌入正面对标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1042415"/>
            <a:ext cx="10241280" cy="27432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Noto Sans SC"/>
              </a:rPr>
              <a:t>用真实下游任务指标说话：海淀区 5-fold CV，对比玄女 V1.0 embedding 与 AEF 2025 官方年度 embedding。</a:t>
            </a:r>
          </a:p>
        </p:txBody>
      </p:sp>
      <p:pic>
        <p:nvPicPr>
          <p:cNvPr id="5" name="Picture 4" descr="aef_vs_v1.0_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7231" y="1627632"/>
            <a:ext cx="10853361" cy="268833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932688" y="4773168"/>
            <a:ext cx="1572768" cy="71323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4892040"/>
            <a:ext cx="138988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Noto Sans SC"/>
              </a:rPr>
              <a:t>0.8828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5202936"/>
            <a:ext cx="1389888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建筑变化 AUC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34640" y="4773168"/>
            <a:ext cx="1572768" cy="71323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26080" y="4892040"/>
            <a:ext cx="138988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Noto Sans SC"/>
              </a:rPr>
              <a:t>0.8876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5202936"/>
            <a:ext cx="1389888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耕地变化 AUC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36592" y="4773168"/>
            <a:ext cx="1572768" cy="71323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28031" y="4892040"/>
            <a:ext cx="138988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Noto Sans SC"/>
              </a:rPr>
              <a:t>0.8876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28031" y="5202936"/>
            <a:ext cx="1389888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垃圾堆放 AUC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38544" y="4773168"/>
            <a:ext cx="1572768" cy="713232"/>
          </a:xfrm>
          <a:prstGeom prst="roundRect">
            <a:avLst/>
          </a:prstGeom>
          <a:solidFill>
            <a:srgbClr val="FFFBEB"/>
          </a:solidFill>
          <a:ln w="1016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29983" y="4892040"/>
            <a:ext cx="138988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F59E0B"/>
                </a:solidFill>
                <a:latin typeface="Noto Sans SC"/>
              </a:rPr>
              <a:t>AEF 更强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29983" y="5202936"/>
            <a:ext cx="1389888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施工工地任务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85632" y="4882896"/>
            <a:ext cx="2633472" cy="36576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0F172A"/>
                </a:solidFill>
                <a:latin typeface="Noto Sans SC"/>
              </a:rPr>
              <a:t>坦诚结论：施工工地上 AEF 更强；建筑变化、耕地变化、垃圾堆放等变化类任务上，玄女 V1.0 更强。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650992"/>
            <a:ext cx="10332720" cy="146304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800" b="0">
                <a:solidFill>
                  <a:srgbClr val="64748B"/>
                </a:solidFill>
                <a:latin typeface="Noto Sans SC"/>
              </a:rPr>
              <a:t>注：5-fold CV，海淀区下游任务评测；指标包括 AUC-ROC、F1-best、F1@0.5、mIoU。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384" y="6016752"/>
            <a:ext cx="10607040" cy="38404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800" b="1">
                <a:solidFill>
                  <a:srgbClr val="2563EB"/>
                </a:solidFill>
                <a:latin typeface="Noto Sans SC"/>
              </a:rPr>
              <a:t>玄女不是追随 AlphaEarth，而是在中国城市变化类任务上形成可量化的本土优势。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本土数据和本土任务，会形成自己的模型优势</a:t>
            </a:r>
          </a:p>
        </p:txBody>
      </p:sp>
      <p:pic>
        <p:nvPicPr>
          <p:cNvPr id="4" name="Picture 3" descr="compare_haidian_construction_patch_00019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40529"/>
            <a:ext cx="5010912" cy="258471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3986784"/>
            <a:ext cx="5010912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海淀下游任务样例：模型输出与标注对比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408176"/>
            <a:ext cx="4407408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583680" y="1645920"/>
            <a:ext cx="237744" cy="237744"/>
          </a:xfrm>
          <a:prstGeom prst="ellipse">
            <a:avLst/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67728" y="1536192"/>
            <a:ext cx="3566160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Noto Sans SC"/>
              </a:rPr>
              <a:t>国际模型证明方向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67728" y="1810512"/>
            <a:ext cx="3566160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0">
                <a:solidFill>
                  <a:srgbClr val="334155"/>
                </a:solidFill>
                <a:latin typeface="Noto Sans SC"/>
              </a:rPr>
              <a:t>AlphaEarth/AEF 说明地理嵌入是全球前沿方向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2487168"/>
            <a:ext cx="4407408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583680" y="2724912"/>
            <a:ext cx="237744" cy="237744"/>
          </a:xfrm>
          <a:prstGeom prst="ellipse">
            <a:avLst/>
          </a:prstGeom>
          <a:solidFill>
            <a:srgbClr val="ECFDF5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67728" y="2615184"/>
            <a:ext cx="3566160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Noto Sans SC"/>
              </a:rPr>
              <a:t>本土任务需要本土优化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67728" y="2889504"/>
            <a:ext cx="3566160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0">
                <a:solidFill>
                  <a:srgbClr val="334155"/>
                </a:solidFill>
                <a:latin typeface="Noto Sans SC"/>
              </a:rPr>
              <a:t>城市变化、建设活动、垃圾堆放具有明显区域业务定义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0" y="3566160"/>
            <a:ext cx="4407408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583680" y="3803904"/>
            <a:ext cx="237744" cy="237744"/>
          </a:xfrm>
          <a:prstGeom prst="ellipse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67728" y="3694176"/>
            <a:ext cx="3566160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Noto Sans SC"/>
              </a:rPr>
              <a:t>差距指向迭代路线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67728" y="3968496"/>
            <a:ext cx="3566160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0">
                <a:solidFill>
                  <a:srgbClr val="334155"/>
                </a:solidFill>
                <a:latin typeface="Noto Sans SC"/>
              </a:rPr>
              <a:t>施工工地仍需补数据、补标签、补任务定义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77824" y="4718304"/>
            <a:ext cx="10204704" cy="0"/>
          </a:xfrm>
          <a:prstGeom prst="line">
            <a:avLst/>
          </a:prstGeom>
          <a:ln w="1016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1005840" y="5102352"/>
            <a:ext cx="3657600" cy="21945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Noto Sans SC"/>
              </a:rPr>
              <a:t>为什么中国需要自己的遥感数据通用嵌入底座？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01184" y="5084064"/>
            <a:ext cx="5925312" cy="25603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200" b="1">
                <a:solidFill>
                  <a:srgbClr val="2563EB"/>
                </a:solidFill>
                <a:latin typeface="Noto Sans SC"/>
              </a:rPr>
              <a:t>不是只出于国产替代，而是因为本土数据、本土标签和本土业务目标会带来真实模型优势。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6384" y="6016752"/>
            <a:ext cx="10607040" cy="38404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800" b="1">
                <a:solidFill>
                  <a:srgbClr val="2563EB"/>
                </a:solidFill>
                <a:latin typeface="Noto Sans SC"/>
              </a:rPr>
              <a:t>海淀 Benchmark 把“地理嵌入方向正确”推进到“本土底座有必要、有优势、有迭代空间”。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雅江区域：把地理嵌入接入水电站监测智能体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1042415"/>
            <a:ext cx="10241280" cy="27432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Noto Sans SC"/>
              </a:rPr>
              <a:t>雅江案例面向水电站监测：用户选择区域、任务和时间，用自然语言触发模型与下游任务，自动生成结构化遥感分析报告。</a:t>
            </a:r>
          </a:p>
        </p:txBody>
      </p:sp>
      <p:pic>
        <p:nvPicPr>
          <p:cNvPr id="5" name="Picture 4" descr="e178b904e06c08479cd215ca230ff24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1953382"/>
            <a:ext cx="7424927" cy="3390147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412480" y="1627632"/>
            <a:ext cx="2834640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595359" y="1865376"/>
            <a:ext cx="237744" cy="237744"/>
          </a:xfrm>
          <a:prstGeom prst="ellipse">
            <a:avLst/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79407" y="1755648"/>
            <a:ext cx="1993392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Noto Sans SC"/>
              </a:rPr>
              <a:t>自然语言发起任务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79407" y="2029968"/>
            <a:ext cx="1993392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0">
                <a:solidFill>
                  <a:srgbClr val="334155"/>
                </a:solidFill>
                <a:latin typeface="Noto Sans SC"/>
              </a:rPr>
              <a:t>用户直接提出报告需求，而不是操作脚本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12480" y="2578608"/>
            <a:ext cx="2834640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595359" y="2816352"/>
            <a:ext cx="237744" cy="237744"/>
          </a:xfrm>
          <a:prstGeom prst="ellipse">
            <a:avLst/>
          </a:prstGeom>
          <a:solidFill>
            <a:srgbClr val="ECFDF5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79407" y="2706624"/>
            <a:ext cx="1993392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Noto Sans SC"/>
              </a:rPr>
              <a:t>模型与指标可追溯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79407" y="2980944"/>
            <a:ext cx="1993392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0">
                <a:solidFill>
                  <a:srgbClr val="334155"/>
                </a:solidFill>
                <a:latin typeface="Noto Sans SC"/>
              </a:rPr>
              <a:t>展示模型版本、精度、置信度、低置信比例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412480" y="3529584"/>
            <a:ext cx="2834640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595359" y="3767328"/>
            <a:ext cx="237744" cy="237744"/>
          </a:xfrm>
          <a:prstGeom prst="ellipse">
            <a:avLst/>
          </a:prstGeom>
          <a:solidFill>
            <a:srgbClr val="F5F3FF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79407" y="3657600"/>
            <a:ext cx="1993392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Noto Sans SC"/>
              </a:rPr>
              <a:t>报告可继续对话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79407" y="3931920"/>
            <a:ext cx="1993392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0">
                <a:solidFill>
                  <a:srgbClr val="334155"/>
                </a:solidFill>
                <a:latin typeface="Noto Sans SC"/>
              </a:rPr>
              <a:t>历史会话保留，可追加月份和修改任务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412480" y="4681728"/>
            <a:ext cx="1280160" cy="71323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03919" y="4800600"/>
            <a:ext cx="1097280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Noto Sans SC"/>
              </a:rPr>
              <a:t>96.8%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19" y="5111496"/>
            <a:ext cx="1097280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总体精度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948672" y="4681728"/>
            <a:ext cx="1280160" cy="713232"/>
          </a:xfrm>
          <a:prstGeom prst="roundRect">
            <a:avLst/>
          </a:prstGeom>
          <a:solidFill>
            <a:srgbClr val="ECFDF5"/>
          </a:solidFill>
          <a:ln w="1016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40112" y="4800600"/>
            <a:ext cx="1097280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10B981"/>
                </a:solidFill>
                <a:latin typeface="Noto Sans SC"/>
              </a:rPr>
              <a:t>96.3%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40112" y="5111496"/>
            <a:ext cx="1097280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平均置信度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6384" y="6016752"/>
            <a:ext cx="10607040" cy="38404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800" b="1">
                <a:solidFill>
                  <a:srgbClr val="2563EB"/>
                </a:solidFill>
                <a:latin typeface="Noto Sans SC"/>
              </a:rPr>
              <a:t>玄女底座可以变成用户可直接使用的智能体产品界面，而不是停留在模型 API。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从下游任务结果，到可阅读的遥感分析报告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1042415"/>
            <a:ext cx="10241280" cy="27432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Noto Sans SC"/>
              </a:rPr>
              <a:t>雅江水电站监测需要的不只是预测图，而是能持续生成指标、图表、风险提示和后续行动建议的工作流。</a:t>
            </a:r>
          </a:p>
        </p:txBody>
      </p:sp>
      <p:pic>
        <p:nvPicPr>
          <p:cNvPr id="5" name="Picture 4" descr="yajiang_are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8557" y="1591056"/>
            <a:ext cx="1299860" cy="149961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86384" y="3163824"/>
            <a:ext cx="1664208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雅江区域</a:t>
            </a:r>
          </a:p>
        </p:txBody>
      </p:sp>
      <p:pic>
        <p:nvPicPr>
          <p:cNvPr id="7" name="Picture 6" descr="land_classific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1673523"/>
            <a:ext cx="2267712" cy="133468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834640" y="3163824"/>
            <a:ext cx="2267712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地物分类</a:t>
            </a:r>
          </a:p>
        </p:txBody>
      </p:sp>
      <p:pic>
        <p:nvPicPr>
          <p:cNvPr id="9" name="Picture 8" descr="spatial_clust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0" y="1829982"/>
            <a:ext cx="2267712" cy="102176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0" y="3163824"/>
            <a:ext cx="2267712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空间聚类</a:t>
            </a:r>
          </a:p>
        </p:txBody>
      </p:sp>
      <p:pic>
        <p:nvPicPr>
          <p:cNvPr id="11" name="Picture 10" descr="elevation_regressio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38160" y="1965551"/>
            <a:ext cx="2267712" cy="750625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138160" y="3163824"/>
            <a:ext cx="2267712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高程回归</a:t>
            </a:r>
          </a:p>
        </p:txBody>
      </p:sp>
      <p:pic>
        <p:nvPicPr>
          <p:cNvPr id="13" name="Picture 12" descr="change_detectio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40104" y="3749039"/>
            <a:ext cx="1215136" cy="142646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207008" y="5248656"/>
            <a:ext cx="1481328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变化检测</a:t>
            </a:r>
          </a:p>
        </p:txBody>
      </p:sp>
      <p:pic>
        <p:nvPicPr>
          <p:cNvPr id="15" name="Picture 14" descr="embedding_retrieval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06503" y="3749039"/>
            <a:ext cx="1325152" cy="142646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328416" y="5248656"/>
            <a:ext cx="1481328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嵌入检索</a:t>
            </a:r>
          </a:p>
        </p:txBody>
      </p:sp>
      <p:pic>
        <p:nvPicPr>
          <p:cNvPr id="17" name="Picture 16" descr="slope_risk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593320" y="3749039"/>
            <a:ext cx="1194336" cy="142646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449824" y="5248656"/>
            <a:ext cx="1481328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坡度风险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55279" y="3822191"/>
            <a:ext cx="2980944" cy="1298448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0" y="4096512"/>
            <a:ext cx="2432304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400" b="1">
                <a:solidFill>
                  <a:srgbClr val="2563EB"/>
                </a:solidFill>
                <a:latin typeface="Noto Sans SC"/>
              </a:rPr>
              <a:t>智能体报告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47888" y="4498848"/>
            <a:ext cx="2395728" cy="27432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334155"/>
                </a:solidFill>
                <a:latin typeface="Noto Sans SC"/>
              </a:rPr>
              <a:t>汇总预测图、置信度、误差图、关键指标与行动建议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095744" y="4443984"/>
            <a:ext cx="694944" cy="0"/>
          </a:xfrm>
          <a:prstGeom prst="line">
            <a:avLst/>
          </a:prstGeom>
          <a:ln w="1524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786384" y="6016752"/>
            <a:ext cx="10607040" cy="38404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800" b="1">
                <a:solidFill>
                  <a:srgbClr val="2563EB"/>
                </a:solidFill>
                <a:latin typeface="Noto Sans SC"/>
              </a:rPr>
              <a:t>玄女的最终产品形态：地理嵌入底座 + 下游任务库 + 报告智能体。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从三个案例抽象出玄女底座的四层产品能力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1042415"/>
            <a:ext cx="10241280" cy="27432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Noto Sans SC"/>
              </a:rPr>
              <a:t>案例不是孤立项目，而是在验证玄女可复制的产品架构。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32688" y="1627632"/>
            <a:ext cx="10332720" cy="6949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5568" y="1792224"/>
            <a:ext cx="365760" cy="365760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719072" y="1783080"/>
            <a:ext cx="1591056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2563EB"/>
                </a:solidFill>
                <a:latin typeface="Noto Sans SC"/>
              </a:rPr>
              <a:t>地理嵌入层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75887" y="1783080"/>
            <a:ext cx="3858768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0F172A"/>
                </a:solidFill>
                <a:latin typeface="Noto Sans SC"/>
              </a:rPr>
              <a:t>多源、多时相、跨模态、缺失模态下可用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73568" y="1783080"/>
            <a:ext cx="2688336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334155"/>
                </a:solidFill>
                <a:latin typeface="Noto Sans SC"/>
              </a:rPr>
              <a:t>哈尔滨云遮挡样例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32688" y="2560320"/>
            <a:ext cx="10332720" cy="6949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15568" y="2724912"/>
            <a:ext cx="365760" cy="365760"/>
          </a:xfrm>
          <a:prstGeom prst="roundRect">
            <a:avLst/>
          </a:prstGeom>
          <a:solidFill>
            <a:srgbClr val="ECFDF5"/>
          </a:solidFill>
          <a:ln w="1016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719072" y="2715768"/>
            <a:ext cx="1591056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10B981"/>
                </a:solidFill>
                <a:latin typeface="Noto Sans SC"/>
              </a:rPr>
              <a:t>任务适配层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75887" y="2715768"/>
            <a:ext cx="3858768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0F172A"/>
                </a:solidFill>
                <a:latin typeface="Noto Sans SC"/>
              </a:rPr>
              <a:t>分类、检测、变化监测、检索、风险识别共享底座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73568" y="2715768"/>
            <a:ext cx="2688336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334155"/>
                </a:solidFill>
                <a:latin typeface="Noto Sans SC"/>
              </a:rPr>
              <a:t>哈尔滨多任务 / 雅江多任务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32688" y="3493008"/>
            <a:ext cx="10332720" cy="6949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115568" y="3657600"/>
            <a:ext cx="365760" cy="365760"/>
          </a:xfrm>
          <a:prstGeom prst="roundRect">
            <a:avLst/>
          </a:prstGeom>
          <a:solidFill>
            <a:srgbClr val="FFFBEB"/>
          </a:solidFill>
          <a:ln w="1016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719072" y="3648456"/>
            <a:ext cx="1591056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F59E0B"/>
                </a:solidFill>
                <a:latin typeface="Noto Sans SC"/>
              </a:rPr>
              <a:t>评测对标层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75887" y="3648456"/>
            <a:ext cx="3858768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0F172A"/>
                </a:solidFill>
                <a:latin typeface="Noto Sans SC"/>
              </a:rPr>
              <a:t>与 AEF 官方嵌入进行下游任务量化比较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73568" y="3648456"/>
            <a:ext cx="2688336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334155"/>
                </a:solidFill>
                <a:latin typeface="Noto Sans SC"/>
              </a:rPr>
              <a:t>海淀 V1.0 Benchmark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32688" y="4425696"/>
            <a:ext cx="10332720" cy="6949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115568" y="4590288"/>
            <a:ext cx="365760" cy="365760"/>
          </a:xfrm>
          <a:prstGeom prst="roundRect">
            <a:avLst/>
          </a:prstGeom>
          <a:solidFill>
            <a:srgbClr val="F5F3FF"/>
          </a:solidFill>
          <a:ln w="1016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719072" y="4581144"/>
            <a:ext cx="1591056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7C3AED"/>
                </a:solidFill>
                <a:latin typeface="Noto Sans SC"/>
              </a:rPr>
              <a:t>报告交付层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75887" y="4581144"/>
            <a:ext cx="3858768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0F172A"/>
                </a:solidFill>
                <a:latin typeface="Noto Sans SC"/>
              </a:rPr>
              <a:t>生成政务报告或智能体报告，进入客户工作流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73568" y="4581144"/>
            <a:ext cx="2688336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334155"/>
                </a:solidFill>
                <a:latin typeface="Noto Sans SC"/>
              </a:rPr>
              <a:t>哈尔滨 2026 报告 / 雅江智能体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572768" y="5468112"/>
            <a:ext cx="9070848" cy="0"/>
          </a:xfrm>
          <a:prstGeom prst="line">
            <a:avLst/>
          </a:prstGeom>
          <a:ln w="1016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1481328" y="5742432"/>
            <a:ext cx="1828800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0F172A"/>
                </a:solidFill>
                <a:latin typeface="Noto Sans SC"/>
              </a:rPr>
              <a:t>商业化承接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84448" y="5715000"/>
            <a:ext cx="6126480" cy="21945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2563EB"/>
                </a:solidFill>
                <a:latin typeface="Noto Sans SC"/>
              </a:rPr>
              <a:t>按区域、按任务、按更新频率、按 API / 平台授权收费。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6384" y="6272784"/>
            <a:ext cx="10607040" cy="38404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800" b="1">
                <a:solidFill>
                  <a:srgbClr val="2563EB"/>
                </a:solidFill>
                <a:latin typeface="Noto Sans SC"/>
              </a:rPr>
              <a:t>玄女不是遥感项目公司，而是在搭建可复用、可评测、可交付的地理智能基础设施。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