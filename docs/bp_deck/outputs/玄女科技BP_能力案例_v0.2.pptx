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玄女底座现有工程实践案例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围绕政务城市治理、复杂城市变化评测与水电站监测三类场景，玄女底座已形成面向不同区域的工程实践。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" y="1481328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哈尔滨新区</a:t>
            </a:r>
          </a:p>
        </p:txBody>
      </p:sp>
      <p:pic>
        <p:nvPicPr>
          <p:cNvPr id="6" name="Picture 5" descr="practice_region_harbin_out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919419"/>
            <a:ext cx="2743200" cy="1839584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1133856" y="4041648"/>
            <a:ext cx="2670048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042416" y="4279392"/>
            <a:ext cx="2816352" cy="420624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7008" y="4407408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2563EB"/>
                </a:solidFill>
                <a:latin typeface="Noto Sans SC"/>
              </a:rPr>
              <a:t>政府客户 · 城市治理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5010912"/>
            <a:ext cx="47548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需求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784" y="4937760"/>
            <a:ext cx="2139696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多专题持续监测与城市管理报告更新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1481328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海淀区</a:t>
            </a:r>
          </a:p>
        </p:txBody>
      </p:sp>
      <p:pic>
        <p:nvPicPr>
          <p:cNvPr id="13" name="Picture 12" descr="practice_region_haidian_out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796" y="1901952"/>
            <a:ext cx="2350214" cy="1874519"/>
          </a:xfrm>
          <a:prstGeom prst="rect">
            <a:avLst/>
          </a:prstGeom>
        </p:spPr>
      </p:pic>
      <p:cxnSp>
        <p:nvCxnSpPr>
          <p:cNvPr id="14" name="Connector 13"/>
          <p:cNvCxnSpPr/>
          <p:nvPr/>
        </p:nvCxnSpPr>
        <p:spPr>
          <a:xfrm>
            <a:off x="4754880" y="4041648"/>
            <a:ext cx="2670048" cy="0"/>
          </a:xfrm>
          <a:prstGeom prst="line">
            <a:avLst/>
          </a:prstGeom>
          <a:ln w="1397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663440" y="4279392"/>
            <a:ext cx="2816352" cy="420624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28032" y="4407408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10B981"/>
                </a:solidFill>
                <a:latin typeface="Noto Sans SC"/>
              </a:rPr>
              <a:t>城市核心区 · 任务评测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73168" y="5010912"/>
            <a:ext cx="47548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10B981"/>
                </a:solidFill>
                <a:latin typeface="Noto Sans SC"/>
              </a:rPr>
              <a:t>需求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21808" y="4937760"/>
            <a:ext cx="2139696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复杂城市纹理下，对标国际地理嵌入能力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1311" y="1481328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雅江区域</a:t>
            </a:r>
          </a:p>
        </p:txBody>
      </p:sp>
      <p:pic>
        <p:nvPicPr>
          <p:cNvPr id="20" name="Picture 19" descr="practice_region_yajiang_out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7402" y="1901952"/>
            <a:ext cx="1387050" cy="1874519"/>
          </a:xfrm>
          <a:prstGeom prst="rect">
            <a:avLst/>
          </a:prstGeom>
        </p:spPr>
      </p:pic>
      <p:cxnSp>
        <p:nvCxnSpPr>
          <p:cNvPr id="21" name="Connector 20"/>
          <p:cNvCxnSpPr/>
          <p:nvPr/>
        </p:nvCxnSpPr>
        <p:spPr>
          <a:xfrm>
            <a:off x="8375904" y="4041648"/>
            <a:ext cx="2670047" cy="0"/>
          </a:xfrm>
          <a:prstGeom prst="line">
            <a:avLst/>
          </a:prstGeom>
          <a:ln w="1397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284463" y="4279392"/>
            <a:ext cx="2816352" cy="420624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49056" y="4407408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7C3AED"/>
                </a:solidFill>
                <a:latin typeface="Noto Sans SC"/>
              </a:rPr>
              <a:t>水电站周边 · 安全监测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5010912"/>
            <a:ext cx="47548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7C3AED"/>
                </a:solidFill>
                <a:latin typeface="Noto Sans SC"/>
              </a:rPr>
              <a:t>需求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2832" y="4937760"/>
            <a:ext cx="2139696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水电站周边态势监测与遥感分析报告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哈尔滨新区：有云遮挡，仍能识别变化区域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225296"/>
            <a:ext cx="22860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86384" y="1481328"/>
            <a:ext cx="1225296" cy="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86384" y="1682496"/>
            <a:ext cx="3383280" cy="8046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SC"/>
              </a:rPr>
              <a:t>城市治理依赖持续监测，但光学影像经常受云、雪、雾和季节差异影响。传统流程遇到影像质量问题，往往需要重新筛数据、换时相、补人工判断。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" y="2907792"/>
            <a:ext cx="3346704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9264" y="314553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3312" y="3035808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缺失模态下仍可推理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3310128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不依赖单张完美影像完成判断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" y="3822191"/>
            <a:ext cx="3346704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4059935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53312" y="3950207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跨模态保留变化信号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4224528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RGB 与嵌入共同支撑变化检测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" y="4736592"/>
            <a:ext cx="3346704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4974336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53312" y="4864607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减少人工重跑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5138928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影像质量波动不直接造成流程停摆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6864" y="1243584"/>
            <a:ext cx="6547104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64748B"/>
                </a:solidFill>
                <a:latin typeface="Noto Sans SC"/>
              </a:rPr>
              <a:t>每个样例列含义：变化前 RGB / 变化后 RGB / 变化前嵌入 / 变化后嵌入 / 模型预测变化区域</a:t>
            </a:r>
          </a:p>
        </p:txBody>
      </p:sp>
      <p:pic>
        <p:nvPicPr>
          <p:cNvPr id="20" name="Picture 19" descr="patch_000027_2025-08_vs_2025-09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085" y="1664208"/>
            <a:ext cx="4675796" cy="10058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663440" y="2743200"/>
            <a:ext cx="641908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云遮挡变化检测样例 1</a:t>
            </a:r>
          </a:p>
        </p:txBody>
      </p:sp>
      <p:pic>
        <p:nvPicPr>
          <p:cNvPr id="22" name="Picture 21" descr="patch_000146_2025-06_vs_2025-08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085" y="2980944"/>
            <a:ext cx="4675796" cy="10058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663440" y="4059935"/>
            <a:ext cx="641908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云遮挡变化检测样例 2</a:t>
            </a:r>
          </a:p>
        </p:txBody>
      </p:sp>
      <p:pic>
        <p:nvPicPr>
          <p:cNvPr id="24" name="Picture 23" descr="patch_000217_2025-06_vs_2025-08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5085" y="4297680"/>
            <a:ext cx="4675796" cy="10058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663440" y="5376672"/>
            <a:ext cx="641908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云遮挡变化检测样例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592531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玄女底座提高的是业务可用性：真实遥感数据不完美，但系统仍要稳定产出。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同一套地理嵌入，复用到多类城市治理任务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使用 2021 年 WorldCover 和旧建筑物数据作为监督标签，统一地理嵌入仍能为不同任务提供稳定空间语义线索。</a:t>
            </a:r>
          </a:p>
        </p:txBody>
      </p:sp>
      <p:pic>
        <p:nvPicPr>
          <p:cNvPr id="5" name="Picture 4" descr="patch_000041_jrc_water_2025-04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66852"/>
            <a:ext cx="3383280" cy="14760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水体识别</a:t>
            </a:r>
          </a:p>
        </p:txBody>
      </p:sp>
      <p:pic>
        <p:nvPicPr>
          <p:cNvPr id="7" name="Picture 6" descr="patch_000354_building_extraction_2025-04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1666852"/>
            <a:ext cx="3383280" cy="14760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4074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建筑提取</a:t>
            </a:r>
          </a:p>
        </p:txBody>
      </p:sp>
      <p:pic>
        <p:nvPicPr>
          <p:cNvPr id="9" name="Picture 8" descr="patch_000339_dynamic_world_2025-04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008" y="1666852"/>
            <a:ext cx="3383280" cy="147603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650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地表分类</a:t>
            </a:r>
          </a:p>
        </p:txBody>
      </p:sp>
      <p:pic>
        <p:nvPicPr>
          <p:cNvPr id="11" name="Picture 10" descr="patch_000217_construction_2025-08_vs_2025-09_det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2768" y="3735920"/>
            <a:ext cx="4114800" cy="10137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72768" y="4828032"/>
            <a:ext cx="411480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施工工地变化</a:t>
            </a:r>
          </a:p>
        </p:txBody>
      </p:sp>
      <p:pic>
        <p:nvPicPr>
          <p:cNvPr id="13" name="Picture 12" descr="patch_000217_land_conversion_2025-08_vs_2025-09_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0528" y="3735920"/>
            <a:ext cx="4114800" cy="101379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10528" y="4828032"/>
            <a:ext cx="411480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耕地非农非粮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44752" y="5358384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36192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5 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下游任务示例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47872" y="5358384"/>
            <a:ext cx="1572768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9312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旧标签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仍可迁移验证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50992" y="5358384"/>
            <a:ext cx="1572768" cy="71323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2431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7C3AED"/>
                </a:solidFill>
                <a:latin typeface="Noto Sans SC"/>
              </a:rPr>
              <a:t>一次表征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42431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多任务复用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5522976"/>
            <a:ext cx="285292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新增任务不再等于重新做一套遥感工程。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从检测结果到政府可用报告：已更新至 2026 年 5 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哈尔滨新区是政府客户场景。玄女调用模型自动生成最新监测报告，将多任务检测结果组织成可阅读、可复核、可归档的交付物。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Noto Sans SC"/>
              </a:rPr>
              <a:t>传统人工报告</a:t>
            </a:r>
          </a:p>
        </p:txBody>
      </p:sp>
      <p:pic>
        <p:nvPicPr>
          <p:cNvPr id="6" name="Picture 5" descr="manual_total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828" y="1956816"/>
            <a:ext cx="1785558" cy="2523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2025 年下半年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4882896"/>
            <a:ext cx="3182112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正式完整，但制作耗时耗力，后续更新压力大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17136" y="1719072"/>
            <a:ext cx="0" cy="3639312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809744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玄女模型自动生成报告</a:t>
            </a:r>
          </a:p>
        </p:txBody>
      </p:sp>
      <p:pic>
        <p:nvPicPr>
          <p:cNvPr id="11" name="Picture 10" descr="model_total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6319" y="1956816"/>
            <a:ext cx="1784992" cy="2523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47488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SC"/>
              </a:rPr>
              <a:t>2025 年 12 月 - 2026 年 5 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9472" y="4882896"/>
            <a:ext cx="32004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自动汇总多任务结果，降低制图、统计和撰写压力</a:t>
            </a:r>
          </a:p>
        </p:txBody>
      </p:sp>
      <p:pic>
        <p:nvPicPr>
          <p:cNvPr id="14" name="Picture 13" descr="all_categories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901952"/>
            <a:ext cx="237744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77072" y="4407408"/>
            <a:ext cx="2596896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2026 报告点位分布图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6 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传统报告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10928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02367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255 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7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人工规模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5 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模型报告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10928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02367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199 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02367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自动生成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真正的产品化能力，是把遥感分析结果变成可持续交付的业务文档。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海淀区 Benchmark：玄女 V1.0 与 AEF 官方嵌入正面对标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用真实下游任务指标说话：海淀区 5-fold CV，对比玄女 V1.0 embedding 与 AEF 2025 官方年度 embedding。</a:t>
            </a:r>
          </a:p>
        </p:txBody>
      </p:sp>
      <p:pic>
        <p:nvPicPr>
          <p:cNvPr id="5" name="Picture 4" descr="aef_vs_v1.0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231" y="1627632"/>
            <a:ext cx="10853361" cy="26883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32688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建筑变化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耕地变化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6592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8031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1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垃圾堆放 AUC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8544" y="4773168"/>
            <a:ext cx="1572768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9983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AEF 更强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983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4882896"/>
            <a:ext cx="2633472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Noto Sans SC"/>
              </a:rPr>
              <a:t>坦诚结论：施工工地上 AEF 更强；建筑变化、耕地变化、垃圾堆放等变化类任务上，玄女 V1.0 更强。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3272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Noto Sans SC"/>
              </a:rPr>
              <a:t>注：5-fold CV，海淀区下游任务评测；指标包括 AUC-ROC、F1-best、F1@0.5、mIoU。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玄女不是追随 AlphaEarth，而是在中国城市变化类任务上形成可量化的本土优势。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本土数据和本土任务，会形成自己的模型优势</a:t>
            </a:r>
          </a:p>
        </p:txBody>
      </p:sp>
      <p:pic>
        <p:nvPicPr>
          <p:cNvPr id="4" name="Picture 3" descr="compare_haidian_construction_patch_000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40529"/>
            <a:ext cx="5010912" cy="25847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3986784"/>
            <a:ext cx="50109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海淀下游任务样例：模型输出与标注对比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08176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0" y="1645920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67728" y="153619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国际模型证明方向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181051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AlphaEarth/AEF 说明地理嵌入是全球前沿方向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487168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0" y="272491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61518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本土任务需要本土优化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8" y="288950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城市变化、建设活动、垃圾堆放具有明显区域业务定义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566160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0" y="3803904"/>
            <a:ext cx="237744" cy="237744"/>
          </a:xfrm>
          <a:prstGeom prst="ellipse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67728" y="369417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差距指向迭代路线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96849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施工工地仍需补数据、补标签、补任务定义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718304"/>
            <a:ext cx="10204704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05840" y="5102352"/>
            <a:ext cx="365760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为什么中国需要自己的遥感数据通用嵌入底座？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5084064"/>
            <a:ext cx="5925312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Noto Sans SC"/>
              </a:rPr>
              <a:t>不是只出于国产替代，而是因为本土数据、本土标签和本土业务目标会带来真实模型优势。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海淀 Benchmark 把“地理嵌入方向正确”推进到“本土底座有必要、有优势、有迭代空间”。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雅江区域：把地理嵌入接入水电站监测智能体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雅江案例面向水电站监测：用户选择区域、任务和时间，用自然语言触发模型与下游任务，自动生成结构化遥感分析报告。</a:t>
            </a:r>
          </a:p>
        </p:txBody>
      </p:sp>
      <p:pic>
        <p:nvPicPr>
          <p:cNvPr id="5" name="Picture 4" descr="e178b904e06c08479cd215ca230ff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53382"/>
            <a:ext cx="7424927" cy="33901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627632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59" y="186537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79407" y="175564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自然语言发起任务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7" y="202996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用户直接提出报告需求，而不是操作脚本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578608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59" y="281635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9407" y="270662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模型与指标可追溯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7" y="298094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展示模型版本、精度、置信度、低置信比例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3529584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95359" y="3767328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7" y="365760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报告可继续对话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7" y="393192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历史会话保留，可追加月份和修改任务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681728"/>
            <a:ext cx="128016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96.8%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总体精度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48672" y="4681728"/>
            <a:ext cx="1280160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0112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96.3%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0112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平均置信度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玄女底座可以变成用户可直接使用的智能体产品界面，而不是停留在模型 API。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从下游任务结果，到可阅读的遥感分析报告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雅江水电站监测需要的不只是预测图，而是能持续生成指标、图表、风险提示和后续行动建议的工作流。</a:t>
            </a:r>
          </a:p>
        </p:txBody>
      </p:sp>
      <p:pic>
        <p:nvPicPr>
          <p:cNvPr id="5" name="Picture 4" descr="yajiang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57" y="1591056"/>
            <a:ext cx="1299860" cy="14996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3163824"/>
            <a:ext cx="16642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雅江区域</a:t>
            </a:r>
          </a:p>
        </p:txBody>
      </p:sp>
      <p:pic>
        <p:nvPicPr>
          <p:cNvPr id="7" name="Picture 6" descr="land_class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673523"/>
            <a:ext cx="2267712" cy="1334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3464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地物分类</a:t>
            </a:r>
          </a:p>
        </p:txBody>
      </p:sp>
      <p:pic>
        <p:nvPicPr>
          <p:cNvPr id="9" name="Picture 8" descr="spatial_clu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29982"/>
            <a:ext cx="2267712" cy="1021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空间聚类</a:t>
            </a:r>
          </a:p>
        </p:txBody>
      </p:sp>
      <p:pic>
        <p:nvPicPr>
          <p:cNvPr id="11" name="Picture 10" descr="elevation_regre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965551"/>
            <a:ext cx="2267712" cy="7506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高程回归</a:t>
            </a:r>
          </a:p>
        </p:txBody>
      </p:sp>
      <p:pic>
        <p:nvPicPr>
          <p:cNvPr id="13" name="Picture 12" descr="change_det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0104" y="3749039"/>
            <a:ext cx="1215136" cy="1426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7008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变化检测</a:t>
            </a:r>
          </a:p>
        </p:txBody>
      </p:sp>
      <p:pic>
        <p:nvPicPr>
          <p:cNvPr id="15" name="Picture 14" descr="embedding_retriev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503" y="3749039"/>
            <a:ext cx="1325152" cy="1426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28416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嵌入检索</a:t>
            </a:r>
          </a:p>
        </p:txBody>
      </p:sp>
      <p:pic>
        <p:nvPicPr>
          <p:cNvPr id="17" name="Picture 16" descr="slope_ris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3320" y="3749039"/>
            <a:ext cx="1194336" cy="1426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坡度风险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3822191"/>
            <a:ext cx="2980944" cy="12984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096512"/>
            <a:ext cx="243230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智能体报告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4498848"/>
            <a:ext cx="2395728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汇总预测图、置信度、误差图、关键指标与行动建议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5744" y="4443984"/>
            <a:ext cx="694944" cy="0"/>
          </a:xfrm>
          <a:prstGeom prst="line">
            <a:avLst/>
          </a:prstGeom>
          <a:ln w="1524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玄女的最终产品形态：地理嵌入底座 + 下游任务库 + 报告智能体。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从三个案例抽象出玄女底座的四层产品能力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案例不是孤立项目，而是在验证玄女可复制的产品架构。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" y="1627632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5568" y="1792224"/>
            <a:ext cx="365760" cy="36576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9072" y="1783080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地理嵌入层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7" y="1783080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多源、多时相、跨模态、缺失模态下可用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1783080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哈尔滨云遮挡样例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560320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568" y="2724912"/>
            <a:ext cx="365760" cy="36576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2715768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Noto Sans SC"/>
              </a:rPr>
              <a:t>任务适配层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715768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分类、检测、变化监测、检索、风险识别共享底座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2715768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哈尔滨多任务 / 雅江多任务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" y="3493008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5568" y="3657600"/>
            <a:ext cx="365760" cy="365760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19072" y="3648456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Noto Sans SC"/>
              </a:rPr>
              <a:t>评测对标层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3648456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与 AEF 官方嵌入进行下游任务量化比较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648456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海淀 V1.0 Benchmark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" y="4425696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5568" y="4590288"/>
            <a:ext cx="365760" cy="36576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9072" y="4581144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7C3AED"/>
                </a:solidFill>
                <a:latin typeface="Noto Sans SC"/>
              </a:rPr>
              <a:t>报告交付层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7" y="4581144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生成政务报告或智能体报告，进入客户工作流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581144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 2026 报告 / 雅江智能体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572768" y="5468112"/>
            <a:ext cx="9070848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81328" y="5742432"/>
            <a:ext cx="182880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商业化承接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5715000"/>
            <a:ext cx="612648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按区域、按任务、按更新频率、按 API / 平台授权收费。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玄女不是遥感项目公司，而是在搭建可复用、可评测、可交付的地理智能基础设施。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