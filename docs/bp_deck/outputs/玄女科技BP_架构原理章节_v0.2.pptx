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从案例到范式：遥感应用从项目制走向底座化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前面的案例证明：同一套地理嵌入可以支撑变化检测、分类评测、智能体报告等多类真实任务。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481328"/>
            <a:ext cx="274320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Noto Sans SC"/>
              </a:rPr>
              <a:t>传统遥感项目制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86384" y="1792224"/>
            <a:ext cx="1225296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59536" y="2066543"/>
            <a:ext cx="749808" cy="43891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9132"/>
            <a:ext cx="603503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数据采购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9343" y="2286000"/>
            <a:ext cx="146305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792224" y="2066543"/>
            <a:ext cx="749808" cy="43891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5376" y="2199132"/>
            <a:ext cx="603503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预处理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42032" y="2286000"/>
            <a:ext cx="146304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24912" y="2066543"/>
            <a:ext cx="749808" cy="43891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8064" y="2199132"/>
            <a:ext cx="603503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专家标注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0" y="2286000"/>
            <a:ext cx="146304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0" y="2066543"/>
            <a:ext cx="749808" cy="43891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0752" y="2199132"/>
            <a:ext cx="603503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单任务模型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07408" y="2286000"/>
            <a:ext cx="146304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90288" y="2066543"/>
            <a:ext cx="749808" cy="43891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2199132"/>
            <a:ext cx="603503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制图报告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889504"/>
            <a:ext cx="4443984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Noto Sans SC"/>
              </a:rPr>
              <a:t>痛点：新任务通常意味着重新组织数据、标注、模型和交付流程。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60720" y="1408176"/>
            <a:ext cx="0" cy="3877056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54496" y="1481328"/>
            <a:ext cx="274320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Noto Sans SC"/>
              </a:rPr>
              <a:t>玄女底座化交付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54496" y="1792224"/>
            <a:ext cx="1225296" cy="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27648" y="1993392"/>
            <a:ext cx="1024128" cy="43891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125980"/>
            <a:ext cx="877824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多源观测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51775" y="2212848"/>
            <a:ext cx="329185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17536" y="1847088"/>
            <a:ext cx="1591056" cy="7315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2127" y="2103120"/>
            <a:ext cx="1261872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Noto Sans SC"/>
              </a:rPr>
              <a:t>DV 地理嵌入向量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08592" y="2212848"/>
            <a:ext cx="310896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656064" y="1993392"/>
            <a:ext cx="1225296" cy="438912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29216" y="2125980"/>
            <a:ext cx="1078992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Noto Sans SC"/>
              </a:rPr>
              <a:t>多任务复用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64224" y="2889504"/>
            <a:ext cx="950976" cy="29260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2967228"/>
            <a:ext cx="859536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哈尔滨报告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52944" y="2889504"/>
            <a:ext cx="950976" cy="29260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98664" y="2967228"/>
            <a:ext cx="859536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海淀评测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41664" y="2889504"/>
            <a:ext cx="950976" cy="292608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87384" y="2967228"/>
            <a:ext cx="859536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Noto Sans SC"/>
              </a:rPr>
              <a:t>雅江智能体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30384" y="2889504"/>
            <a:ext cx="950976" cy="292608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76104" y="2967228"/>
            <a:ext cx="859536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更多任务</a:t>
            </a:r>
          </a:p>
        </p:txBody>
      </p:sp>
      <p:pic>
        <p:nvPicPr>
          <p:cNvPr id="41" name="Picture 40" descr="arch_harbin_report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929" y="3566160"/>
            <a:ext cx="944156" cy="133502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382512" y="4992623"/>
            <a:ext cx="1078992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2563EB"/>
                </a:solidFill>
                <a:latin typeface="Noto Sans SC"/>
              </a:rPr>
              <a:t>自动报告</a:t>
            </a:r>
          </a:p>
        </p:txBody>
      </p:sp>
      <p:pic>
        <p:nvPicPr>
          <p:cNvPr id="43" name="Picture 42" descr="aef_vs_v1.0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3933858"/>
            <a:ext cx="1682496" cy="41674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882127" y="4773168"/>
            <a:ext cx="1682496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10B981"/>
                </a:solidFill>
                <a:latin typeface="Noto Sans SC"/>
              </a:rPr>
              <a:t>Benchmark</a:t>
            </a:r>
          </a:p>
        </p:txBody>
      </p:sp>
      <p:pic>
        <p:nvPicPr>
          <p:cNvPr id="45" name="Picture 44" descr="e178b904e06c08479cd215ca230ff2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3862503"/>
            <a:ext cx="1225296" cy="55945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802368" y="4791455"/>
            <a:ext cx="1225296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7C3AED"/>
                </a:solidFill>
                <a:latin typeface="Noto Sans SC"/>
              </a:rPr>
              <a:t>智能体界面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" y="601675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玄女不是多做几个遥感项目，而是把遥感项目沉淀为可复用的地理智能基础设施。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技术范式：从“图像学 + 专家规则”到“多模态自学习”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传统遥感依赖显性规则和专家经验；玄女让模型从多模态、多时序观测中学习隐性地理规律。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481328"/>
            <a:ext cx="274320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Noto Sans SC"/>
              </a:rPr>
              <a:t>传统图像学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86384" y="1792224"/>
            <a:ext cx="1225296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59536" y="2048256"/>
            <a:ext cx="859536" cy="43891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80844"/>
            <a:ext cx="713231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定义特征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19072" y="2267712"/>
            <a:ext cx="182880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56815" y="2048256"/>
            <a:ext cx="859536" cy="43891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7" y="2180844"/>
            <a:ext cx="713231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人工融合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16352" y="2267712"/>
            <a:ext cx="182880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54096" y="2048256"/>
            <a:ext cx="859536" cy="43891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7248" y="2180844"/>
            <a:ext cx="713231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单任务训练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13631" y="2267712"/>
            <a:ext cx="182881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51375" y="2048256"/>
            <a:ext cx="859536" cy="43891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527" y="2180844"/>
            <a:ext cx="713231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换任务重做</a:t>
            </a:r>
          </a:p>
        </p:txBody>
      </p:sp>
      <p:pic>
        <p:nvPicPr>
          <p:cNvPr id="18" name="Picture 17" descr="patch_000339_s2_2025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072384"/>
            <a:ext cx="877824" cy="8778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2415" y="4041648"/>
            <a:ext cx="987552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影像</a:t>
            </a:r>
          </a:p>
        </p:txBody>
      </p:sp>
      <p:pic>
        <p:nvPicPr>
          <p:cNvPr id="20" name="Picture 19" descr="patch_000339_world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152" y="3072384"/>
            <a:ext cx="877824" cy="8778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04288" y="4041648"/>
            <a:ext cx="987552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人工标签</a:t>
            </a:r>
          </a:p>
        </p:txBody>
      </p:sp>
      <p:pic>
        <p:nvPicPr>
          <p:cNvPr id="22" name="Picture 21" descr="patch_000354_building_extraction_2025-04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295874"/>
            <a:ext cx="987552" cy="43084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566160" y="4041648"/>
            <a:ext cx="987552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单任务输出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718304"/>
            <a:ext cx="4334256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000" b="1">
                <a:solidFill>
                  <a:srgbClr val="334155"/>
                </a:solidFill>
                <a:latin typeface="Noto Sans SC"/>
              </a:rPr>
              <a:t>特点：知识写在规则里，能力随项目结束而难以沉淀。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60720" y="1408176"/>
            <a:ext cx="0" cy="3877056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54496" y="1481328"/>
            <a:ext cx="274320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Noto Sans SC"/>
              </a:rPr>
              <a:t>玄女自学习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54496" y="1792224"/>
            <a:ext cx="1225296" cy="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27648" y="2048256"/>
            <a:ext cx="987552" cy="43891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180844"/>
            <a:ext cx="84124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多模态对齐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0" y="2267712"/>
            <a:ext cx="182879" cy="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498079" y="2048256"/>
            <a:ext cx="987552" cy="43891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71231" y="2180844"/>
            <a:ext cx="84124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时空规律学习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85632" y="2267712"/>
            <a:ext cx="182879" cy="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668512" y="2048256"/>
            <a:ext cx="987552" cy="43891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1664" y="2180844"/>
            <a:ext cx="84124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DV 地理嵌入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56064" y="2267712"/>
            <a:ext cx="182880" cy="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838944" y="2048256"/>
            <a:ext cx="987552" cy="43891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12096" y="2180844"/>
            <a:ext cx="84124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任务激活</a:t>
            </a:r>
          </a:p>
        </p:txBody>
      </p:sp>
      <p:pic>
        <p:nvPicPr>
          <p:cNvPr id="39" name="Picture 38" descr="patch_000339_s2_hr_2025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7" y="3072384"/>
            <a:ext cx="877824" cy="87782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455664" y="4041648"/>
            <a:ext cx="987552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高分影像</a:t>
            </a:r>
          </a:p>
        </p:txBody>
      </p:sp>
      <p:pic>
        <p:nvPicPr>
          <p:cNvPr id="41" name="Picture 40" descr="patch_000339_d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3072384"/>
            <a:ext cx="877824" cy="87782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717536" y="4041648"/>
            <a:ext cx="987552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地形</a:t>
            </a:r>
          </a:p>
        </p:txBody>
      </p:sp>
      <p:pic>
        <p:nvPicPr>
          <p:cNvPr id="43" name="Picture 42" descr="harbin_semantic_preset_fram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7398" y="3072384"/>
            <a:ext cx="951570" cy="87782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979408" y="4041648"/>
            <a:ext cx="987552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语义结果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088" y="4718304"/>
            <a:ext cx="4352544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000" b="1">
                <a:solidFill>
                  <a:srgbClr val="334155"/>
                </a:solidFill>
                <a:latin typeface="Noto Sans SC"/>
              </a:rPr>
              <a:t>特点：知识沉淀在表征里，新增任务通过轻量适配复用底座能力。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" y="601675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技术变化的本质：从人工解释影像，转向模型自学习地理规律。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核心原理：从“数字地球”到“嵌入地球”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数字地球解决数据存储；嵌入地球解决知识编码。玄女把同一地理位置的多源观测转成可计算的 DV 地理嵌入向量。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36192"/>
            <a:ext cx="274320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Noto Sans SC"/>
              </a:rPr>
              <a:t>1 数据图层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86384" y="1847088"/>
            <a:ext cx="1225296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patch_000339_s2_2025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48256"/>
            <a:ext cx="841248" cy="8412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7824" y="2980944"/>
            <a:ext cx="914400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光学</a:t>
            </a:r>
          </a:p>
        </p:txBody>
      </p:sp>
      <p:pic>
        <p:nvPicPr>
          <p:cNvPr id="9" name="Picture 8" descr="patch_000339_s1_2025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048256"/>
            <a:ext cx="841248" cy="8412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66543" y="2980944"/>
            <a:ext cx="914400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SAR</a:t>
            </a:r>
          </a:p>
        </p:txBody>
      </p:sp>
      <p:pic>
        <p:nvPicPr>
          <p:cNvPr id="11" name="Picture 10" descr="patch_000339_d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048256"/>
            <a:ext cx="841248" cy="8412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55264" y="2980944"/>
            <a:ext cx="914400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DEM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401568"/>
            <a:ext cx="3310128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000" b="1">
                <a:solidFill>
                  <a:srgbClr val="334155"/>
                </a:solidFill>
                <a:latin typeface="Noto Sans SC"/>
              </a:rPr>
              <a:t>分散、稀疏、依赖人工解释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53712" y="2743200"/>
            <a:ext cx="658368" cy="0"/>
          </a:xfrm>
          <a:prstGeom prst="line">
            <a:avLst/>
          </a:prstGeom>
          <a:ln w="177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21808" y="1536192"/>
            <a:ext cx="274320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Noto Sans SC"/>
              </a:rPr>
              <a:t>2 地理嵌入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21808" y="1847088"/>
            <a:ext cx="1225296" cy="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13248" y="2103120"/>
            <a:ext cx="2103120" cy="969264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2432304"/>
            <a:ext cx="1737360" cy="1097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SC"/>
              </a:rPr>
              <a:t>DV 地理嵌入向量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58384" y="3456432"/>
            <a:ext cx="438912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4104" y="3534156"/>
            <a:ext cx="347472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时间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5312" y="3456432"/>
            <a:ext cx="438912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71032" y="3534156"/>
            <a:ext cx="347472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空间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456432"/>
            <a:ext cx="438912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534156"/>
            <a:ext cx="347472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频谱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59168" y="3456432"/>
            <a:ext cx="438912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4888" y="3534156"/>
            <a:ext cx="347472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语义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3248" y="4078224"/>
            <a:ext cx="2103120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000" b="1">
                <a:solidFill>
                  <a:srgbClr val="334155"/>
                </a:solidFill>
                <a:latin typeface="Noto Sans SC"/>
              </a:rPr>
              <a:t>统一、致密、可比较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0" y="2743200"/>
            <a:ext cx="658368" cy="0"/>
          </a:xfrm>
          <a:prstGeom prst="line">
            <a:avLst/>
          </a:prstGeom>
          <a:ln w="177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77072" y="1536192"/>
            <a:ext cx="274320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Noto Sans SC"/>
              </a:rPr>
              <a:t>3 下游调用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77072" y="1847088"/>
            <a:ext cx="1225296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686800" y="2194560"/>
            <a:ext cx="859536" cy="29260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2272284"/>
            <a:ext cx="768096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变化检测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10928" y="2194560"/>
            <a:ext cx="859536" cy="29260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56648" y="2272284"/>
            <a:ext cx="768096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地物分类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0" y="2852928"/>
            <a:ext cx="859536" cy="29260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2930652"/>
            <a:ext cx="768096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检索问答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10928" y="2852928"/>
            <a:ext cx="859536" cy="29260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56648" y="2930652"/>
            <a:ext cx="768096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报告生成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68512" y="4078224"/>
            <a:ext cx="2176272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000" b="1">
                <a:solidFill>
                  <a:srgbClr val="334155"/>
                </a:solidFill>
                <a:latin typeface="Noto Sans SC"/>
              </a:rPr>
              <a:t>同一表征，多类任务复用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601675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GPT 先把文本转成 token；玄女先把地球观测转成地理嵌入。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模型架构：多模态观测进入统一地理嵌入空间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玄女底座将不同传感器、不同时间、不同分辨率的数据对齐到同一套 DV 地理嵌入向量，再由任务头完成不同下游任务。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54480"/>
            <a:ext cx="2212848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Noto Sans SC"/>
              </a:rPr>
              <a:t>Input</a:t>
            </a:r>
          </a:p>
        </p:txBody>
      </p:sp>
      <p:pic>
        <p:nvPicPr>
          <p:cNvPr id="6" name="Picture 5" descr="patch_000339_s2_2025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920240"/>
            <a:ext cx="749808" cy="749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6112" y="2761488"/>
            <a:ext cx="84124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可见光</a:t>
            </a:r>
          </a:p>
        </p:txBody>
      </p:sp>
      <p:pic>
        <p:nvPicPr>
          <p:cNvPr id="8" name="Picture 7" descr="patch_000339_s1_2025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824" y="1920240"/>
            <a:ext cx="749808" cy="7498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75104" y="2761488"/>
            <a:ext cx="84124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SAR</a:t>
            </a:r>
          </a:p>
        </p:txBody>
      </p:sp>
      <p:pic>
        <p:nvPicPr>
          <p:cNvPr id="10" name="Picture 9" descr="patch_000339_d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090672"/>
            <a:ext cx="749808" cy="7498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6112" y="3931920"/>
            <a:ext cx="84124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DEM</a:t>
            </a:r>
          </a:p>
        </p:txBody>
      </p:sp>
      <p:pic>
        <p:nvPicPr>
          <p:cNvPr id="12" name="Picture 11" descr="patch_000339_landsat_2025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0824" y="3090672"/>
            <a:ext cx="749808" cy="749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75104" y="3931920"/>
            <a:ext cx="84124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多光谱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17520" y="2834640"/>
            <a:ext cx="640080" cy="0"/>
          </a:xfrm>
          <a:prstGeom prst="line">
            <a:avLst/>
          </a:prstGeom>
          <a:ln w="177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22191" y="1938528"/>
            <a:ext cx="1865376" cy="175564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6784" y="2286000"/>
            <a:ext cx="1536192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SC"/>
              </a:rPr>
              <a:t>时空多模态编码器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2" y="2688336"/>
            <a:ext cx="1133856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Noto Sans SC"/>
              </a:rPr>
              <a:t>时空对齐
跨模态融合
时序学习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87568" y="2834640"/>
            <a:ext cx="640080" cy="0"/>
          </a:xfrm>
          <a:prstGeom prst="line">
            <a:avLst/>
          </a:prstGeom>
          <a:ln w="177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92240" y="1920240"/>
            <a:ext cx="1828800" cy="1792224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2304288"/>
            <a:ext cx="1536192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Noto Sans SC"/>
              </a:rPr>
              <a:t>DV 地理嵌入向量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2724912"/>
            <a:ext cx="131673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Noto Sans SC"/>
              </a:rPr>
              <a:t>像素级 / 格网级
可复用表征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21040" y="2834640"/>
            <a:ext cx="640080" cy="0"/>
          </a:xfrm>
          <a:prstGeom prst="line">
            <a:avLst/>
          </a:prstGeom>
          <a:ln w="177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070848" y="1554480"/>
            <a:ext cx="2249424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Noto Sans SC"/>
              </a:rPr>
              <a:t>Task Heads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975104"/>
            <a:ext cx="914400" cy="29260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2052828"/>
            <a:ext cx="822960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LUCC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03536" y="1975104"/>
            <a:ext cx="914400" cy="292608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2052828"/>
            <a:ext cx="822960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Noto Sans SC"/>
              </a:rPr>
              <a:t>变化检测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2578608"/>
            <a:ext cx="914400" cy="29260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656332"/>
            <a:ext cx="822960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高程回归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03536" y="2578608"/>
            <a:ext cx="914400" cy="292608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49256" y="2656332"/>
            <a:ext cx="822960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Noto Sans SC"/>
              </a:rPr>
              <a:t>地物分类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3182112"/>
            <a:ext cx="914400" cy="29260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3259836"/>
            <a:ext cx="822960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检索问答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03536" y="3182112"/>
            <a:ext cx="914400" cy="292608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9256" y="3259836"/>
            <a:ext cx="822960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Noto Sans SC"/>
              </a:rPr>
              <a:t>报告生成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77824" y="4370832"/>
            <a:ext cx="10277856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77824" y="4754880"/>
            <a:ext cx="128016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Noto Sans SC"/>
              </a:rPr>
              <a:t>训练路线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12848" y="4645152"/>
            <a:ext cx="1170432" cy="43891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4777740"/>
            <a:ext cx="102412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多源数据汇聚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383280" y="4864608"/>
            <a:ext cx="2560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785615" y="4645152"/>
            <a:ext cx="1170432" cy="43891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58768" y="4777740"/>
            <a:ext cx="102412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自监督预训练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956048" y="4864608"/>
            <a:ext cx="2560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358383" y="4645152"/>
            <a:ext cx="1170432" cy="43891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31536" y="4777740"/>
            <a:ext cx="102412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通用地理嵌入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528816" y="4864608"/>
            <a:ext cx="2560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931152" y="4645152"/>
            <a:ext cx="1170432" cy="43891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04304" y="4777740"/>
            <a:ext cx="102412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场景增强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101583" y="4864608"/>
            <a:ext cx="256033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503920" y="4645152"/>
            <a:ext cx="1170432" cy="43891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77072" y="4777740"/>
            <a:ext cx="102412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报告/API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" y="601675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能力复用来自统一嵌入空间，而不是为每个场景重新堆模型。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产品架构：一个通用底座，支撑多类场景应用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玄女把数据、模型、任务头、智能体和报告工作流封装成可调用的产品能力。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" y="1700784"/>
            <a:ext cx="10314432" cy="74980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1188720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Noto Sans SC"/>
              </a:rPr>
              <a:t>数据层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0864" y="1901952"/>
            <a:ext cx="8485632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Noto Sans SC"/>
              </a:rPr>
              <a:t>遥感 / DEM / 气象 / 社会经济 / 本土标签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" y="2798064"/>
            <a:ext cx="10314432" cy="74980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1188720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Noto Sans SC"/>
              </a:rPr>
              <a:t>底座层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0864" y="2999232"/>
            <a:ext cx="8485632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Noto Sans SC"/>
              </a:rPr>
              <a:t>多模态编码器 / DV 地理嵌入库 / 向量检索 / 任务头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" y="3895344"/>
            <a:ext cx="10314432" cy="749808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96511"/>
            <a:ext cx="1188720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Noto Sans SC"/>
              </a:rPr>
              <a:t>应用层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0864" y="4096511"/>
            <a:ext cx="8485632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Noto Sans SC"/>
              </a:rPr>
              <a:t>政务监测 / 城市治理 / 水电站监测 / 智能体报告 / API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2468880"/>
            <a:ext cx="0" cy="292608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40" y="3566160"/>
            <a:ext cx="0" cy="292608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7824" y="5010912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Noto Sans SC"/>
              </a:rPr>
              <a:t>业务范式变化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992624"/>
            <a:ext cx="932688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Noto Sans SC"/>
              </a:rPr>
              <a:t>专家项目制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49039" y="5065776"/>
            <a:ext cx="347473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69663" y="4992624"/>
            <a:ext cx="932688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Noto Sans SC"/>
              </a:rPr>
              <a:t>底座调用式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8112" y="4992624"/>
            <a:ext cx="932688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Noto Sans SC"/>
              </a:rPr>
              <a:t>一次性交付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82512" y="5065776"/>
            <a:ext cx="34747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03136" y="4992624"/>
            <a:ext cx="932688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Noto Sans SC"/>
              </a:rPr>
              <a:t>持续服务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4992624"/>
            <a:ext cx="932688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Noto Sans SC"/>
              </a:rPr>
              <a:t>人力扩张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15984" y="5065776"/>
            <a:ext cx="34747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436608" y="4992624"/>
            <a:ext cx="932688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Noto Sans SC"/>
              </a:rPr>
              <a:t>数据闭环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601675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商业价值来自底座复用：把高成本定制服务，变成可持续调用的地理智能能力。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三年路径：从技术验证到地理智能普惠化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未来的玄女底座不仅理解遥感影像，也将接入人口、产业、交通、用地、夜光等社会经济数据，让地理智能进入更多公共服务和商业场景。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10512"/>
            <a:ext cx="3054096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11680"/>
            <a:ext cx="73152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Noto Sans SC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2224" y="2066543"/>
            <a:ext cx="1719072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1300" b="1">
                <a:solidFill>
                  <a:srgbClr val="0F172A"/>
                </a:solidFill>
                <a:latin typeface="Noto Sans SC"/>
              </a:rPr>
              <a:t>技术验证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542032"/>
            <a:ext cx="2615184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Noto Sans SC"/>
              </a:rPr>
              <a:t>中国区域 DV 地理嵌入底座验证；形成标杆案例。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7632" y="3236976"/>
            <a:ext cx="1426464" cy="29260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3352" y="3314700"/>
            <a:ext cx="1335024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试点收入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95344" y="2816352"/>
            <a:ext cx="384048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17136" y="1810512"/>
            <a:ext cx="3054096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2011680"/>
            <a:ext cx="73152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Noto Sans SC"/>
              </a:rPr>
              <a:t>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8112" y="2066543"/>
            <a:ext cx="1719072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1300" b="1">
                <a:solidFill>
                  <a:srgbClr val="0F172A"/>
                </a:solidFill>
                <a:latin typeface="Noto Sans SC"/>
              </a:rPr>
              <a:t>商业验证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542032"/>
            <a:ext cx="2615184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Noto Sans SC"/>
              </a:rPr>
              <a:t>行业模型、API/License、智能体报告产品化。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236976"/>
            <a:ext cx="1426464" cy="29260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3314700"/>
            <a:ext cx="1335024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千万级目标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71231" y="2816352"/>
            <a:ext cx="384048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93023" y="1810512"/>
            <a:ext cx="3054096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3" y="2011680"/>
            <a:ext cx="73152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Noto Sans SC"/>
              </a:rPr>
              <a:t>2028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066543"/>
            <a:ext cx="1719072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1300" b="1">
                <a:solidFill>
                  <a:srgbClr val="0F172A"/>
                </a:solidFill>
                <a:latin typeface="Noto Sans SC"/>
              </a:rPr>
              <a:t>规模化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542032"/>
            <a:ext cx="2615184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Noto Sans SC"/>
              </a:rPr>
              <a:t>融合社会经济数据，扩展到公共服务和大众场景。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9407" y="3236976"/>
            <a:ext cx="1426464" cy="29260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5128" y="3314700"/>
            <a:ext cx="1335024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亿元级目标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297680"/>
            <a:ext cx="274320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Noto Sans SC"/>
              </a:rPr>
              <a:t>社会经济数据接入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7824" y="4608576"/>
            <a:ext cx="1225296" cy="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761488" y="4261104"/>
            <a:ext cx="585216" cy="29260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07208" y="4338828"/>
            <a:ext cx="493776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人口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47872" y="4261104"/>
            <a:ext cx="585216" cy="29260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93591" y="4338828"/>
            <a:ext cx="493776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产业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6" y="4261104"/>
            <a:ext cx="585216" cy="29260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79976" y="4338828"/>
            <a:ext cx="493776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交通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0" y="4261104"/>
            <a:ext cx="585216" cy="29260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66359" y="4338828"/>
            <a:ext cx="493776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用地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07024" y="4261104"/>
            <a:ext cx="585216" cy="29260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52744" y="4338828"/>
            <a:ext cx="493776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夜光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93408" y="4261104"/>
            <a:ext cx="585216" cy="29260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39128" y="4338828"/>
            <a:ext cx="493776" cy="731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POI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64608"/>
            <a:ext cx="5833872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Noto Sans SC"/>
              </a:rPr>
              <a:t>让模型从“看见地表变化”，进一步走向“理解变化背后的社会经济活动”。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33488" y="4443984"/>
            <a:ext cx="1243584" cy="64008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4590288"/>
            <a:ext cx="1097280" cy="1097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Noto Sans SC"/>
              </a:rPr>
              <a:t>基层治理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4882896"/>
            <a:ext cx="1097280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更低门槛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14816" y="4443984"/>
            <a:ext cx="1243584" cy="64008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87968" y="4590288"/>
            <a:ext cx="1097280" cy="1097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Noto Sans SC"/>
              </a:rPr>
              <a:t>中小企业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87968" y="4882896"/>
            <a:ext cx="1097280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按需调用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96144" y="4443984"/>
            <a:ext cx="1243584" cy="64008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69296" y="4590288"/>
            <a:ext cx="1097280" cy="1097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Noto Sans SC"/>
              </a:rPr>
              <a:t>公众服务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69296" y="4882896"/>
            <a:ext cx="1097280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普惠应用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" y="601675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长期愿景：让遥感能力像用地图一样简单，让地理智能成为社会经济运行的基础服务。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