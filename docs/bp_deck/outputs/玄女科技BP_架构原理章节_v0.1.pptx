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从案例到范式：遥感应用正在从项目制走向底座化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哈尔滨、海淀、雅江证明的不是单点应用，而是同一套地理嵌入可以持续复用到多类真实任务。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486460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Noto Sans SC"/>
              </a:rPr>
              <a:t>传统项目制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01952"/>
            <a:ext cx="1078992" cy="4572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9968"/>
            <a:ext cx="932688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数据采购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65376" y="2130552"/>
            <a:ext cx="237744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39696" y="1901952"/>
            <a:ext cx="1078992" cy="4572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2029968"/>
            <a:ext cx="932688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预处理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7" y="2130552"/>
            <a:ext cx="237745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93008" y="1901952"/>
            <a:ext cx="1078992" cy="4572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29968"/>
            <a:ext cx="932688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专家标注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41648" y="2359152"/>
            <a:ext cx="0" cy="493776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6384" y="2889504"/>
            <a:ext cx="1078992" cy="4572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017520"/>
            <a:ext cx="932688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单任务建模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65376" y="3118104"/>
            <a:ext cx="237744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139696" y="2889504"/>
            <a:ext cx="1078992" cy="4572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3017520"/>
            <a:ext cx="932688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制图报告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18687" y="3118104"/>
            <a:ext cx="237745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93008" y="2889504"/>
            <a:ext cx="1078992" cy="4572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017520"/>
            <a:ext cx="932688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下个任务重来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40480"/>
            <a:ext cx="4261104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Noto Sans SC"/>
              </a:rPr>
              <a:t>一个需求一套流程，新增任务意味着重复投入。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1426464"/>
            <a:ext cx="0" cy="3675888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0" y="1536192"/>
            <a:ext cx="4809744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玄女底座化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47104" y="2103120"/>
            <a:ext cx="1188720" cy="53035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6" y="2231136"/>
            <a:ext cx="1042416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Noto Sans SC"/>
              </a:rPr>
              <a:t>多源观测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35824" y="2368296"/>
            <a:ext cx="365759" cy="0"/>
          </a:xfrm>
          <a:prstGeom prst="line">
            <a:avLst/>
          </a:prstGeom>
          <a:ln w="165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19872" y="1993392"/>
            <a:ext cx="1609344" cy="7498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2121408"/>
            <a:ext cx="1463040" cy="566927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SC"/>
              </a:rPr>
              <a:t>统一地理嵌入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29216" y="2368296"/>
            <a:ext cx="347472" cy="0"/>
          </a:xfrm>
          <a:prstGeom prst="line">
            <a:avLst/>
          </a:prstGeom>
          <a:ln w="165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94976" y="2103120"/>
            <a:ext cx="1188720" cy="53035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68128" y="2231136"/>
            <a:ext cx="1042416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Noto Sans SC"/>
              </a:rPr>
              <a:t>多任务复用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3273552"/>
            <a:ext cx="950976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346704"/>
            <a:ext cx="859536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变化检测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54112" y="3273552"/>
            <a:ext cx="950976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2" y="3346704"/>
            <a:ext cx="859536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地物分类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3273552"/>
            <a:ext cx="950976" cy="310896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3416" y="3346704"/>
            <a:ext cx="859536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报告生成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0" y="3273552"/>
            <a:ext cx="950976" cy="310896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000" y="3346704"/>
            <a:ext cx="859536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智能体问答</a:t>
            </a:r>
          </a:p>
        </p:txBody>
      </p:sp>
      <p:pic>
        <p:nvPicPr>
          <p:cNvPr id="42" name="Picture 41" descr="patch_000339_dynamic_world_2025-04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854868"/>
            <a:ext cx="2029968" cy="885623"/>
          </a:xfrm>
          <a:prstGeom prst="rect">
            <a:avLst/>
          </a:prstGeom>
        </p:spPr>
      </p:pic>
      <p:pic>
        <p:nvPicPr>
          <p:cNvPr id="43" name="Picture 42" descr="patch_000146_2025-06_vs_2025-08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8" y="4079340"/>
            <a:ext cx="2029968" cy="43667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6384" y="6071616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玄女的核心不是做更多项目，而是把遥感项目沉淀为可复用的地理智能基础设施。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技术范式：从“图像学 + 专家规则”到“多模态自学习”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传统遥感依赖显性规则；玄女让模型从多模态、多时序观测中学习隐性地理规律。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481328"/>
            <a:ext cx="4846320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Noto Sans SC"/>
              </a:rPr>
              <a:t>传统图像学范式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" y="2048256"/>
            <a:ext cx="932688" cy="53035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76272"/>
            <a:ext cx="786384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专家定义特征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83664" y="2313432"/>
            <a:ext cx="128016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29967" y="2048256"/>
            <a:ext cx="932688" cy="53035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176272"/>
            <a:ext cx="786384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人工融合数据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62656" y="2313432"/>
            <a:ext cx="128016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8960" y="2048256"/>
            <a:ext cx="932688" cy="53035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2176272"/>
            <a:ext cx="786384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单任务训练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41648" y="2313432"/>
            <a:ext cx="128016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87952" y="2048256"/>
            <a:ext cx="932688" cy="53035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2176272"/>
            <a:ext cx="786384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Noto Sans SC"/>
              </a:rPr>
              <a:t>换任务重做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44368"/>
            <a:ext cx="44805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Noto Sans SC"/>
              </a:rPr>
              <a:t>慢：交付依赖专家经验和项目人力。</a:t>
            </a:r>
          </a:p>
        </p:txBody>
      </p:sp>
      <p:pic>
        <p:nvPicPr>
          <p:cNvPr id="18" name="Picture 17" descr="patch_000339_s2_202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3493008"/>
            <a:ext cx="1005840" cy="1005840"/>
          </a:xfrm>
          <a:prstGeom prst="rect">
            <a:avLst/>
          </a:prstGeom>
        </p:spPr>
      </p:pic>
      <p:pic>
        <p:nvPicPr>
          <p:cNvPr id="19" name="Picture 18" descr="patch_000339_world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493008"/>
            <a:ext cx="1005840" cy="1005840"/>
          </a:xfrm>
          <a:prstGeom prst="rect">
            <a:avLst/>
          </a:prstGeom>
        </p:spPr>
      </p:pic>
      <p:pic>
        <p:nvPicPr>
          <p:cNvPr id="20" name="Picture 19" descr="patch_000354_building_extraction_2025-04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3744602"/>
            <a:ext cx="1152144" cy="502651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5998464" y="1426464"/>
            <a:ext cx="0" cy="3858768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65392" y="1481328"/>
            <a:ext cx="4901184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玄女自学习范式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048256"/>
            <a:ext cx="1024128" cy="53035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176272"/>
            <a:ext cx="877824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多模态对齐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16368" y="2313432"/>
            <a:ext cx="128015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44383" y="2048256"/>
            <a:ext cx="1024128" cy="53035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7536" y="2176272"/>
            <a:ext cx="877824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时空规律学习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68512" y="2313432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796528" y="2048256"/>
            <a:ext cx="1024128" cy="53035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176272"/>
            <a:ext cx="877824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DV 地理嵌入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20656" y="2313432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48672" y="2048256"/>
            <a:ext cx="1024128" cy="53035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1824" y="2176272"/>
            <a:ext cx="877824" cy="3474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多任务激活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944368"/>
            <a:ext cx="4590288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Noto Sans SC"/>
              </a:rPr>
              <a:t>快：底座先学习通用表征，下游任务轻量适配。</a:t>
            </a:r>
          </a:p>
        </p:txBody>
      </p:sp>
      <p:pic>
        <p:nvPicPr>
          <p:cNvPr id="35" name="Picture 34" descr="patch_000339_s2_hr_2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3493008"/>
            <a:ext cx="1005840" cy="1005840"/>
          </a:xfrm>
          <a:prstGeom prst="rect">
            <a:avLst/>
          </a:prstGeom>
        </p:spPr>
      </p:pic>
      <p:pic>
        <p:nvPicPr>
          <p:cNvPr id="36" name="Picture 35" descr="patch_000339_d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493008"/>
            <a:ext cx="1005840" cy="1005840"/>
          </a:xfrm>
          <a:prstGeom prst="rect">
            <a:avLst/>
          </a:prstGeom>
        </p:spPr>
      </p:pic>
      <p:pic>
        <p:nvPicPr>
          <p:cNvPr id="37" name="Picture 36" descr="harbin_semantic_preset_fra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2645" y="3493008"/>
            <a:ext cx="1090341" cy="1005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技术变化的本质：从“人工解释影像”转向“模型自学习地理规律”。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核心原理：从“数字地球”到“嵌入地球”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数字地球解决数据存储；嵌入地球解决知识编码。玄女把同一地理位置的多源观测转成可计算的 DV 地理嵌入向量。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682496"/>
            <a:ext cx="2926080" cy="1060704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47088"/>
            <a:ext cx="263347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Noto Sans SC"/>
              </a:rPr>
              <a:t>数字地球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157984"/>
            <a:ext cx="2596896" cy="43891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Noto Sans SC"/>
              </a:rPr>
              <a:t>影像、矢量、DEM、专题数据分散存储，使用时仍需人工解读。</a:t>
            </a:r>
          </a:p>
        </p:txBody>
      </p:sp>
      <p:pic>
        <p:nvPicPr>
          <p:cNvPr id="8" name="Picture 7" descr="patch_000339_s2_202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017520"/>
            <a:ext cx="749808" cy="749808"/>
          </a:xfrm>
          <a:prstGeom prst="rect">
            <a:avLst/>
          </a:prstGeom>
        </p:spPr>
      </p:pic>
      <p:pic>
        <p:nvPicPr>
          <p:cNvPr id="9" name="Picture 8" descr="patch_000339_s1_2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3218688"/>
            <a:ext cx="749808" cy="749808"/>
          </a:xfrm>
          <a:prstGeom prst="rect">
            <a:avLst/>
          </a:prstGeom>
        </p:spPr>
      </p:pic>
      <p:pic>
        <p:nvPicPr>
          <p:cNvPr id="10" name="Picture 9" descr="patch_000339_d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32" y="3017520"/>
            <a:ext cx="749808" cy="749808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3913632" y="2798064"/>
            <a:ext cx="749808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28032" y="1591056"/>
            <a:ext cx="2798064" cy="12070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1755648"/>
            <a:ext cx="25054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Noto Sans SC"/>
              </a:rPr>
              <a:t>嵌入地球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2066543"/>
            <a:ext cx="2468880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Noto Sans SC"/>
              </a:rPr>
              <a:t>把时间、空间、频谱和语义压入统一表征，形成可比较、可检索、可复用的地理知识。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3072384"/>
            <a:ext cx="1993392" cy="7498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3310128"/>
            <a:ext cx="1591056" cy="1097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Noto Sans SC"/>
              </a:rPr>
              <a:t>DV 地理嵌入向量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4096512"/>
            <a:ext cx="34747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4169664"/>
            <a:ext cx="256032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4096512"/>
            <a:ext cx="34747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4169664"/>
            <a:ext cx="256032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X/Y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096512"/>
            <a:ext cx="34747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169664"/>
            <a:ext cx="256032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56831" y="4096512"/>
            <a:ext cx="34747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4169664"/>
            <a:ext cx="256032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08975" y="2798064"/>
            <a:ext cx="694945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86800" y="1682496"/>
            <a:ext cx="2651760" cy="1060704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33104" y="1847088"/>
            <a:ext cx="235915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Noto Sans SC"/>
              </a:rPr>
              <a:t>下游调用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2157984"/>
            <a:ext cx="2322576" cy="43891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Noto Sans SC"/>
              </a:rPr>
              <a:t>变化检测、地物分类、检索、预测、问答和报告生成共用同一套底座表征。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59952" y="3145536"/>
            <a:ext cx="56692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5672" y="3218688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变化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73184" y="3145536"/>
            <a:ext cx="56692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3218688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分类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86416" y="3145536"/>
            <a:ext cx="56692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32136" y="3218688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检索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749039"/>
            <a:ext cx="56692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3822191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报告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57232" y="3749039"/>
            <a:ext cx="56692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02952" y="3822191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问答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GPT 先把文本转成 token；玄女先把地球观测转成地理嵌入。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模型架构：多模态观测进入统一地理嵌入空间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玄女底座通过时空多模态编码器，将不同传感器、不同时间、不同分辨率的数据对齐到同一套 DV 地理嵌入向量。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54480"/>
            <a:ext cx="2084831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SC"/>
              </a:rPr>
              <a:t>Input</a:t>
            </a:r>
          </a:p>
        </p:txBody>
      </p:sp>
      <p:pic>
        <p:nvPicPr>
          <p:cNvPr id="6" name="Picture 5" descr="patch_000339_s2_202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883664"/>
            <a:ext cx="768096" cy="768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2706624"/>
            <a:ext cx="84124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光学</a:t>
            </a:r>
          </a:p>
        </p:txBody>
      </p:sp>
      <p:pic>
        <p:nvPicPr>
          <p:cNvPr id="8" name="Picture 7" descr="patch_000339_s1_2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883664"/>
            <a:ext cx="768096" cy="7680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01952" y="2706624"/>
            <a:ext cx="84124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SAR</a:t>
            </a:r>
          </a:p>
        </p:txBody>
      </p:sp>
      <p:pic>
        <p:nvPicPr>
          <p:cNvPr id="10" name="Picture 9" descr="patch_000339_d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980944"/>
            <a:ext cx="768096" cy="768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3803904"/>
            <a:ext cx="84124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DEM</a:t>
            </a:r>
          </a:p>
        </p:txBody>
      </p:sp>
      <p:pic>
        <p:nvPicPr>
          <p:cNvPr id="12" name="Picture 11" descr="patch_000339_landsat_2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528" y="2980944"/>
            <a:ext cx="768096" cy="7680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01952" y="3803904"/>
            <a:ext cx="84124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多光谱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07792" y="2743200"/>
            <a:ext cx="658368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0752" y="1938528"/>
            <a:ext cx="1847088" cy="1609344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267712"/>
            <a:ext cx="1517904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SC"/>
              </a:rPr>
              <a:t>时空多模态编码器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670048"/>
            <a:ext cx="148132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334155"/>
                </a:solidFill>
                <a:latin typeface="Noto Sans SC"/>
              </a:rPr>
              <a:t>时空对齐 / 跨模态融合 / 时序学习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0" y="2743200"/>
            <a:ext cx="694944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37376" y="1920240"/>
            <a:ext cx="1810512" cy="16459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286000"/>
            <a:ext cx="1481328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Noto Sans SC"/>
              </a:rPr>
              <a:t>DV 地理嵌入向量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88336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像素级 / 格网级
可复用表征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47888" y="2743200"/>
            <a:ext cx="658368" cy="0"/>
          </a:xfrm>
          <a:prstGeom prst="line">
            <a:avLst/>
          </a:prstGeom>
          <a:ln w="177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52560" y="1554480"/>
            <a:ext cx="2340864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SC"/>
              </a:rPr>
              <a:t>Task Heads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1901952"/>
            <a:ext cx="932688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88552" y="1975104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LUCC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3536" y="1901952"/>
            <a:ext cx="932688" cy="310896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975104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变化检测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42832" y="2468880"/>
            <a:ext cx="932688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8552" y="2542032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高程回归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03536" y="2468880"/>
            <a:ext cx="932688" cy="310896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9256" y="2542032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地物分类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42832" y="3035808"/>
            <a:ext cx="932688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8552" y="3108960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检索问答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03536" y="3035808"/>
            <a:ext cx="932688" cy="310896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6" y="3108960"/>
            <a:ext cx="84124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Noto Sans SC"/>
              </a:rPr>
              <a:t>报告生成</a:t>
            </a:r>
          </a:p>
        </p:txBody>
      </p:sp>
      <p:pic>
        <p:nvPicPr>
          <p:cNvPr id="36" name="Picture 35" descr="architecture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06717"/>
            <a:ext cx="2852928" cy="8792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5840" y="5413248"/>
            <a:ext cx="285292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工程化模型架构示意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87952" y="4773168"/>
            <a:ext cx="630936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SC"/>
              </a:rPr>
              <a:t>一套底座表征，多个任务出口。新增业务不必从原始影像重新开始。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能力的复用来自统一嵌入空间，而不是为每个场景重新堆模型。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产品架构：一个通用底座，支撑多类场景应用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玄女不是交付一个模型文件，而是把数据、模型、任务头、智能体和报告工作流封装成可调用的产品能力。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" y="1664208"/>
            <a:ext cx="10314432" cy="7498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792224"/>
            <a:ext cx="1426464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Noto Sans SC"/>
              </a:rPr>
              <a:t>数据层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1819656"/>
            <a:ext cx="8595359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Noto Sans SC"/>
              </a:rPr>
              <a:t>遥感 / DEM / 气象 / 社会经济 / 本土标签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761488"/>
            <a:ext cx="10314432" cy="7498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2889504"/>
            <a:ext cx="1426464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Noto Sans SC"/>
              </a:rPr>
              <a:t>底座层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916936"/>
            <a:ext cx="8595359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Noto Sans SC"/>
              </a:rPr>
              <a:t>多模态编码器 / DV 地理嵌入库 / 向量检索 / 任务头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3858768"/>
            <a:ext cx="10314432" cy="74980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3986783"/>
            <a:ext cx="1426464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Noto Sans SC"/>
              </a:rPr>
              <a:t>应用层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014215"/>
            <a:ext cx="8595359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Noto Sans SC"/>
              </a:rPr>
              <a:t>政务监测 / 城市治理 / 水电站监测 / 智能体报告 / API/SDK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432304"/>
            <a:ext cx="0" cy="29260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3529584"/>
            <a:ext cx="0" cy="292607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7824" y="499262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Noto Sans SC"/>
              </a:rPr>
              <a:t>业务范式变化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4974336"/>
            <a:ext cx="95097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Noto Sans SC"/>
              </a:rPr>
              <a:t>专家项目制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49039" y="5047488"/>
            <a:ext cx="347473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51376" y="4974336"/>
            <a:ext cx="95097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底座调用式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4974336"/>
            <a:ext cx="95097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Noto Sans SC"/>
              </a:rPr>
              <a:t>一次性交付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4223" y="5047488"/>
            <a:ext cx="347473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6560" y="4974336"/>
            <a:ext cx="95097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持续服务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974336"/>
            <a:ext cx="95097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Noto Sans SC"/>
              </a:rPr>
              <a:t>人力扩张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79408" y="5047488"/>
            <a:ext cx="347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81744" y="4974336"/>
            <a:ext cx="950976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数据闭环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商业价值来自底座复用：把高成本定制服务，变成可持续调用的地理智能能力。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三年路径：从技术验证到地理智能普惠化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未来的玄女底座不仅理解遥感影像，也将接入人口、产业、交通、用地、夜光等社会经济数据，让地理智能进入更多公共服务和商业场景。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10512"/>
            <a:ext cx="3054096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Noto Sans SC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48256"/>
            <a:ext cx="1700784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Noto Sans SC"/>
              </a:rPr>
              <a:t>技术验证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542032"/>
            <a:ext cx="265176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完成中国区域 DV 地理嵌入底座验证；形成哈尔滨、海淀、雅江等标杆案例。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91056" y="3346704"/>
            <a:ext cx="14630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6776" y="3419856"/>
            <a:ext cx="1371600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试点收入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95344" y="2852928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17136" y="1810512"/>
            <a:ext cx="3054096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2011680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Noto Sans SC"/>
              </a:rP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048256"/>
            <a:ext cx="1700784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Noto Sans SC"/>
              </a:rPr>
              <a:t>商业验证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3" y="2542032"/>
            <a:ext cx="265176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行业专用模型、API/License 和智能体报告产品化，覆盖政务与企业客户。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3346704"/>
            <a:ext cx="14630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3419856"/>
            <a:ext cx="1371600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Noto Sans SC"/>
              </a:rPr>
              <a:t>千万级目标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71231" y="2852928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93023" y="1810512"/>
            <a:ext cx="3054096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2011680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Noto Sans SC"/>
              </a:rPr>
              <a:t>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048256"/>
            <a:ext cx="1700784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Noto Sans SC"/>
              </a:rPr>
              <a:t>规模化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542032"/>
            <a:ext cx="265176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融合社会经济数据，向城市治理、农业保险、自然资源、公众服务扩展。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3346704"/>
            <a:ext cx="1463040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3419856"/>
            <a:ext cx="1371600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亿元级目标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52544"/>
            <a:ext cx="1938528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Noto Sans SC"/>
              </a:rPr>
              <a:t>社会经济数据接入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71216" y="4315968"/>
            <a:ext cx="566928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16936" y="4389120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人口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39312" y="4315968"/>
            <a:ext cx="566928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4389120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产业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4315968"/>
            <a:ext cx="566928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4389120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交通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75504" y="4315968"/>
            <a:ext cx="566928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21224" y="4389120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用地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315968"/>
            <a:ext cx="566928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4389120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夜光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11696" y="4315968"/>
            <a:ext cx="566928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57416" y="4389120"/>
            <a:ext cx="475488" cy="914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Noto Sans SC"/>
              </a:rPr>
              <a:t>POI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82896"/>
            <a:ext cx="5797296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Noto Sans SC"/>
              </a:rPr>
              <a:t>让模型从“看见地表变化”，进一步走向“理解变化背后的社会经济活动”。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389120"/>
            <a:ext cx="1243584" cy="65836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8352" y="4517136"/>
            <a:ext cx="10972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SC"/>
              </a:rPr>
              <a:t>基层治理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8352" y="4809744"/>
            <a:ext cx="1097280" cy="1097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更低门槛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14816" y="4389120"/>
            <a:ext cx="1243584" cy="65836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87968" y="4517136"/>
            <a:ext cx="10972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Noto Sans SC"/>
              </a:rPr>
              <a:t>中小企业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8" y="4809744"/>
            <a:ext cx="1097280" cy="1097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按需调用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14432" y="4389120"/>
            <a:ext cx="1243584" cy="65836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87584" y="4517136"/>
            <a:ext cx="10972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Noto Sans SC"/>
              </a:rPr>
              <a:t>公众服务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7584" y="4809744"/>
            <a:ext cx="1097280" cy="1097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普惠应用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" y="601675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长期愿景：让遥感能力像用地图一样简单，让地理智能成为社会经济运行的基础服务。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