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jp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geo_embedding_cover_pastel.png"/>
          <p:cNvPicPr>
            <a:picLocks noChangeAspect="1"/>
          </p:cNvPicPr>
          <p:nvPr/>
        </p:nvPicPr>
        <p:blipFill>
          <a:blip r:embed="rId2"/>
          <a:stretch>
            <a:fillRect/>
          </a:stretch>
        </p:blipFill>
        <p:spPr>
          <a:xfrm>
            <a:off x="4937760" y="0"/>
            <a:ext cx="7269480" cy="6858000"/>
          </a:xfrm>
          <a:prstGeom prst="rect">
            <a:avLst/>
          </a:prstGeom>
        </p:spPr>
      </p:pic>
      <p:sp>
        <p:nvSpPr>
          <p:cNvPr id="3" name="Rounded Rectangle 2"/>
          <p:cNvSpPr/>
          <p:nvPr/>
        </p:nvSpPr>
        <p:spPr>
          <a:xfrm>
            <a:off x="786384" y="786384"/>
            <a:ext cx="1078992" cy="292608"/>
          </a:xfrm>
          <a:prstGeom prst="roundRect">
            <a:avLst/>
          </a:prstGeom>
          <a:solidFill>
            <a:srgbClr val="F7FAFC"/>
          </a:solidFill>
          <a:ln w="10160">
            <a:solidFill>
              <a:srgbClr val="529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850392"/>
            <a:ext cx="932688" cy="128016"/>
          </a:xfrm>
          <a:prstGeom prst="rect">
            <a:avLst/>
          </a:prstGeom>
          <a:noFill/>
        </p:spPr>
        <p:txBody>
          <a:bodyPr wrap="square">
            <a:normAutofit/>
          </a:bodyPr>
          <a:lstStyle/>
          <a:p>
            <a:pPr algn="ctr"/>
            <a:r>
              <a:rPr sz="700" b="1">
                <a:solidFill>
                  <a:srgbClr val="5294E2"/>
                </a:solidFill>
                <a:latin typeface="Noto Sans SC"/>
              </a:rPr>
              <a:t>商业计划书</a:t>
            </a:r>
          </a:p>
        </p:txBody>
      </p:sp>
      <p:sp>
        <p:nvSpPr>
          <p:cNvPr id="5" name="TextBox 4"/>
          <p:cNvSpPr txBox="1"/>
          <p:nvPr/>
        </p:nvSpPr>
        <p:spPr>
          <a:xfrm>
            <a:off x="786384" y="1444752"/>
            <a:ext cx="3840480" cy="438912"/>
          </a:xfrm>
          <a:prstGeom prst="rect">
            <a:avLst/>
          </a:prstGeom>
          <a:noFill/>
        </p:spPr>
        <p:txBody>
          <a:bodyPr wrap="square">
            <a:normAutofit/>
          </a:bodyPr>
          <a:lstStyle/>
          <a:p>
            <a:pPr algn="l"/>
            <a:r>
              <a:rPr sz="2500" b="1">
                <a:solidFill>
                  <a:srgbClr val="111827"/>
                </a:solidFill>
                <a:latin typeface="Noto Sans SC"/>
              </a:rPr>
              <a:t>玄女科技</a:t>
            </a:r>
          </a:p>
        </p:txBody>
      </p:sp>
      <p:sp>
        <p:nvSpPr>
          <p:cNvPr id="6" name="TextBox 5"/>
          <p:cNvSpPr txBox="1"/>
          <p:nvPr/>
        </p:nvSpPr>
        <p:spPr>
          <a:xfrm>
            <a:off x="786384" y="1993392"/>
            <a:ext cx="5212080" cy="621792"/>
          </a:xfrm>
          <a:prstGeom prst="rect">
            <a:avLst/>
          </a:prstGeom>
          <a:noFill/>
        </p:spPr>
        <p:txBody>
          <a:bodyPr wrap="square">
            <a:normAutofit/>
          </a:bodyPr>
          <a:lstStyle/>
          <a:p>
            <a:pPr algn="l"/>
            <a:r>
              <a:rPr sz="2800" b="1">
                <a:solidFill>
                  <a:srgbClr val="111827"/>
                </a:solidFill>
                <a:latin typeface="Noto Sans SC"/>
              </a:rPr>
              <a:t>用地理嵌入赋能遥感智能应用</a:t>
            </a:r>
          </a:p>
        </p:txBody>
      </p:sp>
      <p:sp>
        <p:nvSpPr>
          <p:cNvPr id="7" name="TextBox 6"/>
          <p:cNvSpPr txBox="1"/>
          <p:nvPr/>
        </p:nvSpPr>
        <p:spPr>
          <a:xfrm>
            <a:off x="822960" y="2880360"/>
            <a:ext cx="4754880" cy="274320"/>
          </a:xfrm>
          <a:prstGeom prst="rect">
            <a:avLst/>
          </a:prstGeom>
          <a:noFill/>
        </p:spPr>
        <p:txBody>
          <a:bodyPr wrap="square">
            <a:normAutofit/>
          </a:bodyPr>
          <a:lstStyle/>
          <a:p>
            <a:pPr algn="l"/>
            <a:r>
              <a:rPr sz="1500" b="0">
                <a:solidFill>
                  <a:srgbClr val="64748B"/>
                </a:solidFill>
                <a:latin typeface="Noto Sans SC"/>
              </a:rPr>
              <a:t>地球观测，一次表征，多任务复用</a:t>
            </a:r>
          </a:p>
        </p:txBody>
      </p:sp>
      <p:sp>
        <p:nvSpPr>
          <p:cNvPr id="8" name="TextBox 7"/>
          <p:cNvSpPr txBox="1"/>
          <p:nvPr/>
        </p:nvSpPr>
        <p:spPr>
          <a:xfrm>
            <a:off x="822960" y="3310128"/>
            <a:ext cx="4754880" cy="237744"/>
          </a:xfrm>
          <a:prstGeom prst="rect">
            <a:avLst/>
          </a:prstGeom>
          <a:noFill/>
        </p:spPr>
        <p:txBody>
          <a:bodyPr wrap="square">
            <a:normAutofit/>
          </a:bodyPr>
          <a:lstStyle/>
          <a:p>
            <a:pPr algn="l"/>
            <a:r>
              <a:rPr sz="1200" b="1">
                <a:solidFill>
                  <a:srgbClr val="5294E2"/>
                </a:solidFill>
                <a:latin typeface="Noto Sans SC"/>
              </a:rPr>
              <a:t>让中国拥有自己的地理智能底座</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47472"/>
            <a:ext cx="384048" cy="182880"/>
          </a:xfrm>
          <a:prstGeom prst="rect">
            <a:avLst/>
          </a:prstGeom>
          <a:noFill/>
        </p:spPr>
        <p:txBody>
          <a:bodyPr wrap="square">
            <a:normAutofit/>
          </a:bodyPr>
          <a:lstStyle/>
          <a:p>
            <a:pPr algn="l"/>
            <a:r>
              <a:rPr sz="800" b="1">
                <a:solidFill>
                  <a:srgbClr val="5294E2"/>
                </a:solidFill>
                <a:latin typeface="Noto Sans SC"/>
              </a:rPr>
              <a:t>02</a:t>
            </a:r>
          </a:p>
        </p:txBody>
      </p:sp>
      <p:sp>
        <p:nvSpPr>
          <p:cNvPr id="3" name="TextBox 2"/>
          <p:cNvSpPr txBox="1"/>
          <p:nvPr/>
        </p:nvSpPr>
        <p:spPr>
          <a:xfrm>
            <a:off x="987552" y="274320"/>
            <a:ext cx="9875520" cy="502920"/>
          </a:xfrm>
          <a:prstGeom prst="rect">
            <a:avLst/>
          </a:prstGeom>
          <a:noFill/>
        </p:spPr>
        <p:txBody>
          <a:bodyPr wrap="square">
            <a:normAutofit/>
          </a:bodyPr>
          <a:lstStyle/>
          <a:p>
            <a:pPr algn="l"/>
            <a:r>
              <a:rPr sz="2300" b="1">
                <a:solidFill>
                  <a:srgbClr val="111827"/>
                </a:solidFill>
                <a:latin typeface="Noto Sans SC"/>
              </a:rPr>
              <a:t>企业简介：玄女底座在做什么</a:t>
            </a:r>
          </a:p>
        </p:txBody>
      </p:sp>
      <p:sp>
        <p:nvSpPr>
          <p:cNvPr id="4" name="TextBox 3"/>
          <p:cNvSpPr txBox="1"/>
          <p:nvPr/>
        </p:nvSpPr>
        <p:spPr>
          <a:xfrm>
            <a:off x="1005840" y="850392"/>
            <a:ext cx="9784080" cy="256032"/>
          </a:xfrm>
          <a:prstGeom prst="rect">
            <a:avLst/>
          </a:prstGeom>
          <a:noFill/>
        </p:spPr>
        <p:txBody>
          <a:bodyPr wrap="square">
            <a:normAutofit/>
          </a:bodyPr>
          <a:lstStyle/>
          <a:p>
            <a:pPr algn="l"/>
            <a:r>
              <a:rPr sz="1000" b="0">
                <a:solidFill>
                  <a:srgbClr val="64748B"/>
                </a:solidFill>
                <a:latin typeface="Noto Sans SC"/>
              </a:rPr>
              <a:t>一句话让投资人看懂公司定位与产品形态。</a:t>
            </a:r>
          </a:p>
        </p:txBody>
      </p:sp>
      <p:sp>
        <p:nvSpPr>
          <p:cNvPr id="5" name="TextBox 4"/>
          <p:cNvSpPr txBox="1"/>
          <p:nvPr/>
        </p:nvSpPr>
        <p:spPr>
          <a:xfrm>
            <a:off x="987552" y="1170432"/>
            <a:ext cx="9966960" cy="411480"/>
          </a:xfrm>
          <a:prstGeom prst="rect">
            <a:avLst/>
          </a:prstGeom>
          <a:noFill/>
        </p:spPr>
        <p:txBody>
          <a:bodyPr wrap="square">
            <a:normAutofit/>
          </a:bodyPr>
          <a:lstStyle/>
          <a:p>
            <a:pPr algn="l"/>
            <a:r>
              <a:rPr sz="1500" b="1">
                <a:solidFill>
                  <a:srgbClr val="111827"/>
                </a:solidFill>
                <a:latin typeface="Noto Sans SC"/>
              </a:rPr>
              <a:t>玄女科技是一家面向地球空间智能的 AI 基础底座公司，将多源地球观测数据转化为可复用地理嵌入，支撑变化检测、分类、预测和问答等下游任务。</a:t>
            </a:r>
          </a:p>
        </p:txBody>
      </p:sp>
      <p:sp>
        <p:nvSpPr>
          <p:cNvPr id="6" name="Rounded Rectangle 5"/>
          <p:cNvSpPr/>
          <p:nvPr/>
        </p:nvSpPr>
        <p:spPr>
          <a:xfrm>
            <a:off x="685800" y="2148840"/>
            <a:ext cx="381000" cy="530352"/>
          </a:xfrm>
          <a:prstGeom prst="roundRect">
            <a:avLst/>
          </a:prstGeom>
          <a:solidFill>
            <a:srgbClr val="F7FAFC"/>
          </a:solidFill>
          <a:ln w="10160">
            <a:solidFill>
              <a:srgbClr val="529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313432"/>
            <a:ext cx="289560" cy="137160"/>
          </a:xfrm>
          <a:prstGeom prst="rect">
            <a:avLst/>
          </a:prstGeom>
          <a:noFill/>
        </p:spPr>
        <p:txBody>
          <a:bodyPr wrap="square">
            <a:normAutofit/>
          </a:bodyPr>
          <a:lstStyle/>
          <a:p>
            <a:pPr algn="ctr"/>
            <a:r>
              <a:rPr sz="800" b="1">
                <a:solidFill>
                  <a:srgbClr val="111827"/>
                </a:solidFill>
                <a:latin typeface="Noto Sans SC"/>
              </a:rPr>
              <a:t>光学</a:t>
            </a:r>
          </a:p>
        </p:txBody>
      </p:sp>
      <p:sp>
        <p:nvSpPr>
          <p:cNvPr id="8" name="TextBox 7"/>
          <p:cNvSpPr txBox="1"/>
          <p:nvPr/>
        </p:nvSpPr>
        <p:spPr>
          <a:xfrm>
            <a:off x="1094232" y="232257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9" name="Rounded Rectangle 8"/>
          <p:cNvSpPr/>
          <p:nvPr/>
        </p:nvSpPr>
        <p:spPr>
          <a:xfrm>
            <a:off x="1194816" y="2148840"/>
            <a:ext cx="381000" cy="530352"/>
          </a:xfrm>
          <a:prstGeom prst="roundRect">
            <a:avLst/>
          </a:prstGeom>
          <a:solidFill>
            <a:srgbClr val="F7FAFC"/>
          </a:solidFill>
          <a:ln w="10160">
            <a:solidFill>
              <a:srgbClr val="529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0536" y="2313432"/>
            <a:ext cx="289560" cy="137160"/>
          </a:xfrm>
          <a:prstGeom prst="rect">
            <a:avLst/>
          </a:prstGeom>
          <a:noFill/>
        </p:spPr>
        <p:txBody>
          <a:bodyPr wrap="square">
            <a:normAutofit/>
          </a:bodyPr>
          <a:lstStyle/>
          <a:p>
            <a:pPr algn="ctr"/>
            <a:r>
              <a:rPr sz="800" b="1">
                <a:solidFill>
                  <a:srgbClr val="111827"/>
                </a:solidFill>
                <a:latin typeface="Noto Sans SC"/>
              </a:rPr>
              <a:t>SAR</a:t>
            </a:r>
          </a:p>
        </p:txBody>
      </p:sp>
      <p:sp>
        <p:nvSpPr>
          <p:cNvPr id="11" name="TextBox 10"/>
          <p:cNvSpPr txBox="1"/>
          <p:nvPr/>
        </p:nvSpPr>
        <p:spPr>
          <a:xfrm>
            <a:off x="1603248" y="232257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12" name="Rounded Rectangle 11"/>
          <p:cNvSpPr/>
          <p:nvPr/>
        </p:nvSpPr>
        <p:spPr>
          <a:xfrm>
            <a:off x="1703832" y="2148840"/>
            <a:ext cx="381000" cy="530352"/>
          </a:xfrm>
          <a:prstGeom prst="roundRect">
            <a:avLst/>
          </a:prstGeom>
          <a:solidFill>
            <a:srgbClr val="F7FAFC"/>
          </a:solidFill>
          <a:ln w="10160">
            <a:solidFill>
              <a:srgbClr val="529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49552" y="2313432"/>
            <a:ext cx="289560" cy="137160"/>
          </a:xfrm>
          <a:prstGeom prst="rect">
            <a:avLst/>
          </a:prstGeom>
          <a:noFill/>
        </p:spPr>
        <p:txBody>
          <a:bodyPr wrap="square">
            <a:normAutofit/>
          </a:bodyPr>
          <a:lstStyle/>
          <a:p>
            <a:pPr algn="ctr"/>
            <a:r>
              <a:rPr sz="800" b="1">
                <a:solidFill>
                  <a:srgbClr val="111827"/>
                </a:solidFill>
                <a:latin typeface="Noto Sans SC"/>
              </a:rPr>
              <a:t>Landsat</a:t>
            </a:r>
          </a:p>
        </p:txBody>
      </p:sp>
      <p:sp>
        <p:nvSpPr>
          <p:cNvPr id="14" name="TextBox 13"/>
          <p:cNvSpPr txBox="1"/>
          <p:nvPr/>
        </p:nvSpPr>
        <p:spPr>
          <a:xfrm>
            <a:off x="2112263" y="232257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15" name="Rounded Rectangle 14"/>
          <p:cNvSpPr/>
          <p:nvPr/>
        </p:nvSpPr>
        <p:spPr>
          <a:xfrm>
            <a:off x="2212848" y="2148840"/>
            <a:ext cx="381000" cy="530352"/>
          </a:xfrm>
          <a:prstGeom prst="roundRect">
            <a:avLst/>
          </a:prstGeom>
          <a:solidFill>
            <a:srgbClr val="F7FAFC"/>
          </a:solidFill>
          <a:ln w="10160">
            <a:solidFill>
              <a:srgbClr val="529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58568" y="2313432"/>
            <a:ext cx="289560" cy="137160"/>
          </a:xfrm>
          <a:prstGeom prst="rect">
            <a:avLst/>
          </a:prstGeom>
          <a:noFill/>
        </p:spPr>
        <p:txBody>
          <a:bodyPr wrap="square">
            <a:normAutofit/>
          </a:bodyPr>
          <a:lstStyle/>
          <a:p>
            <a:pPr algn="ctr"/>
            <a:r>
              <a:rPr sz="800" b="1">
                <a:solidFill>
                  <a:srgbClr val="111827"/>
                </a:solidFill>
                <a:latin typeface="Noto Sans SC"/>
              </a:rPr>
              <a:t>高分</a:t>
            </a:r>
          </a:p>
        </p:txBody>
      </p:sp>
      <p:sp>
        <p:nvSpPr>
          <p:cNvPr id="17" name="TextBox 16"/>
          <p:cNvSpPr txBox="1"/>
          <p:nvPr/>
        </p:nvSpPr>
        <p:spPr>
          <a:xfrm>
            <a:off x="2621279" y="232257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18" name="Rounded Rectangle 17"/>
          <p:cNvSpPr/>
          <p:nvPr/>
        </p:nvSpPr>
        <p:spPr>
          <a:xfrm>
            <a:off x="2721864" y="2148840"/>
            <a:ext cx="381000" cy="530352"/>
          </a:xfrm>
          <a:prstGeom prst="roundRect">
            <a:avLst/>
          </a:prstGeom>
          <a:solidFill>
            <a:srgbClr val="F7FAFC"/>
          </a:solidFill>
          <a:ln w="10160">
            <a:solidFill>
              <a:srgbClr val="529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7583" y="2313432"/>
            <a:ext cx="289560" cy="137160"/>
          </a:xfrm>
          <a:prstGeom prst="rect">
            <a:avLst/>
          </a:prstGeom>
          <a:noFill/>
        </p:spPr>
        <p:txBody>
          <a:bodyPr wrap="square">
            <a:normAutofit/>
          </a:bodyPr>
          <a:lstStyle/>
          <a:p>
            <a:pPr algn="ctr"/>
            <a:r>
              <a:rPr sz="800" b="1">
                <a:solidFill>
                  <a:srgbClr val="111827"/>
                </a:solidFill>
                <a:latin typeface="Noto Sans SC"/>
              </a:rPr>
              <a:t>DEM</a:t>
            </a:r>
          </a:p>
        </p:txBody>
      </p:sp>
      <p:sp>
        <p:nvSpPr>
          <p:cNvPr id="20" name="TextBox 19"/>
          <p:cNvSpPr txBox="1"/>
          <p:nvPr/>
        </p:nvSpPr>
        <p:spPr>
          <a:xfrm>
            <a:off x="3130295" y="232257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21" name="Rounded Rectangle 20"/>
          <p:cNvSpPr/>
          <p:nvPr/>
        </p:nvSpPr>
        <p:spPr>
          <a:xfrm>
            <a:off x="3230880" y="2148840"/>
            <a:ext cx="381000" cy="530352"/>
          </a:xfrm>
          <a:prstGeom prst="roundRect">
            <a:avLst/>
          </a:prstGeom>
          <a:solidFill>
            <a:srgbClr val="F7FAFC"/>
          </a:solidFill>
          <a:ln w="10160">
            <a:solidFill>
              <a:srgbClr val="529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76599" y="2313432"/>
            <a:ext cx="289560" cy="137160"/>
          </a:xfrm>
          <a:prstGeom prst="rect">
            <a:avLst/>
          </a:prstGeom>
          <a:noFill/>
        </p:spPr>
        <p:txBody>
          <a:bodyPr wrap="square">
            <a:normAutofit/>
          </a:bodyPr>
          <a:lstStyle/>
          <a:p>
            <a:pPr algn="ctr"/>
            <a:r>
              <a:rPr sz="800" b="1">
                <a:solidFill>
                  <a:srgbClr val="111827"/>
                </a:solidFill>
                <a:latin typeface="Noto Sans SC"/>
              </a:rPr>
              <a:t>气象</a:t>
            </a:r>
          </a:p>
        </p:txBody>
      </p:sp>
      <p:sp>
        <p:nvSpPr>
          <p:cNvPr id="23" name="Rounded Rectangle 22"/>
          <p:cNvSpPr/>
          <p:nvPr/>
        </p:nvSpPr>
        <p:spPr>
          <a:xfrm>
            <a:off x="4005072" y="1755648"/>
            <a:ext cx="3063240" cy="3063240"/>
          </a:xfrm>
          <a:prstGeom prst="roundRect">
            <a:avLst/>
          </a:prstGeom>
          <a:solidFill>
            <a:srgbClr val="FAFCFF"/>
          </a:solidFill>
          <a:ln w="10160">
            <a:solidFill>
              <a:srgbClr val="529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harbin_embedding_pca.png"/>
          <p:cNvPicPr>
            <a:picLocks noChangeAspect="1"/>
          </p:cNvPicPr>
          <p:nvPr/>
        </p:nvPicPr>
        <p:blipFill>
          <a:blip r:embed="rId2"/>
          <a:stretch>
            <a:fillRect/>
          </a:stretch>
        </p:blipFill>
        <p:spPr>
          <a:xfrm>
            <a:off x="4160520" y="1901952"/>
            <a:ext cx="2743200" cy="2743200"/>
          </a:xfrm>
          <a:prstGeom prst="rect">
            <a:avLst/>
          </a:prstGeom>
        </p:spPr>
      </p:pic>
      <p:sp>
        <p:nvSpPr>
          <p:cNvPr id="25" name="TextBox 24"/>
          <p:cNvSpPr txBox="1"/>
          <p:nvPr/>
        </p:nvSpPr>
        <p:spPr>
          <a:xfrm>
            <a:off x="4160520" y="4800600"/>
            <a:ext cx="2743200" cy="182880"/>
          </a:xfrm>
          <a:prstGeom prst="rect">
            <a:avLst/>
          </a:prstGeom>
          <a:noFill/>
        </p:spPr>
        <p:txBody>
          <a:bodyPr wrap="square">
            <a:normAutofit/>
          </a:bodyPr>
          <a:lstStyle/>
          <a:p>
            <a:pPr algn="ctr"/>
            <a:r>
              <a:rPr sz="800" b="0">
                <a:solidFill>
                  <a:srgbClr val="64748B"/>
                </a:solidFill>
                <a:latin typeface="Noto Sans SC"/>
              </a:rPr>
              <a:t>地理嵌入 PCA 可视化</a:t>
            </a:r>
          </a:p>
        </p:txBody>
      </p:sp>
      <p:pic>
        <p:nvPicPr>
          <p:cNvPr id="26" name="Picture 25" descr="harbin_prediction.png"/>
          <p:cNvPicPr>
            <a:picLocks noChangeAspect="1"/>
          </p:cNvPicPr>
          <p:nvPr/>
        </p:nvPicPr>
        <p:blipFill>
          <a:blip r:embed="rId3"/>
          <a:stretch>
            <a:fillRect/>
          </a:stretch>
        </p:blipFill>
        <p:spPr>
          <a:xfrm>
            <a:off x="7635240" y="1920240"/>
            <a:ext cx="1051560" cy="1051560"/>
          </a:xfrm>
          <a:prstGeom prst="rect">
            <a:avLst/>
          </a:prstGeom>
        </p:spPr>
      </p:pic>
      <p:sp>
        <p:nvSpPr>
          <p:cNvPr id="27" name="TextBox 26"/>
          <p:cNvSpPr txBox="1"/>
          <p:nvPr/>
        </p:nvSpPr>
        <p:spPr>
          <a:xfrm>
            <a:off x="7635240" y="3035808"/>
            <a:ext cx="1051560" cy="137160"/>
          </a:xfrm>
          <a:prstGeom prst="rect">
            <a:avLst/>
          </a:prstGeom>
          <a:noFill/>
        </p:spPr>
        <p:txBody>
          <a:bodyPr wrap="square">
            <a:normAutofit/>
          </a:bodyPr>
          <a:lstStyle/>
          <a:p>
            <a:pPr algn="ctr"/>
            <a:r>
              <a:rPr sz="700" b="1">
                <a:solidFill>
                  <a:srgbClr val="64748B"/>
                </a:solidFill>
                <a:latin typeface="Noto Sans SC"/>
              </a:rPr>
              <a:t>施工</a:t>
            </a:r>
          </a:p>
        </p:txBody>
      </p:sp>
      <p:pic>
        <p:nvPicPr>
          <p:cNvPr id="28" name="Picture 27" descr="harbin_highres_optical.png"/>
          <p:cNvPicPr>
            <a:picLocks noChangeAspect="1"/>
          </p:cNvPicPr>
          <p:nvPr/>
        </p:nvPicPr>
        <p:blipFill>
          <a:blip r:embed="rId4"/>
          <a:stretch>
            <a:fillRect/>
          </a:stretch>
        </p:blipFill>
        <p:spPr>
          <a:xfrm>
            <a:off x="9144000" y="1920240"/>
            <a:ext cx="1051560" cy="1051560"/>
          </a:xfrm>
          <a:prstGeom prst="rect">
            <a:avLst/>
          </a:prstGeom>
        </p:spPr>
      </p:pic>
      <p:sp>
        <p:nvSpPr>
          <p:cNvPr id="29" name="TextBox 28"/>
          <p:cNvSpPr txBox="1"/>
          <p:nvPr/>
        </p:nvSpPr>
        <p:spPr>
          <a:xfrm>
            <a:off x="9144000" y="3035808"/>
            <a:ext cx="1051560" cy="137160"/>
          </a:xfrm>
          <a:prstGeom prst="rect">
            <a:avLst/>
          </a:prstGeom>
          <a:noFill/>
        </p:spPr>
        <p:txBody>
          <a:bodyPr wrap="square">
            <a:normAutofit/>
          </a:bodyPr>
          <a:lstStyle/>
          <a:p>
            <a:pPr algn="ctr"/>
            <a:r>
              <a:rPr sz="700" b="1">
                <a:solidFill>
                  <a:srgbClr val="64748B"/>
                </a:solidFill>
                <a:latin typeface="Noto Sans SC"/>
              </a:rPr>
              <a:t>建筑</a:t>
            </a:r>
          </a:p>
        </p:txBody>
      </p:sp>
      <p:pic>
        <p:nvPicPr>
          <p:cNvPr id="30" name="Picture 29" descr="harbin_worldcover.png"/>
          <p:cNvPicPr>
            <a:picLocks noChangeAspect="1"/>
          </p:cNvPicPr>
          <p:nvPr/>
        </p:nvPicPr>
        <p:blipFill>
          <a:blip r:embed="rId5"/>
          <a:stretch>
            <a:fillRect/>
          </a:stretch>
        </p:blipFill>
        <p:spPr>
          <a:xfrm>
            <a:off x="7635240" y="3520440"/>
            <a:ext cx="1051560" cy="1051560"/>
          </a:xfrm>
          <a:prstGeom prst="rect">
            <a:avLst/>
          </a:prstGeom>
        </p:spPr>
      </p:pic>
      <p:sp>
        <p:nvSpPr>
          <p:cNvPr id="31" name="TextBox 30"/>
          <p:cNvSpPr txBox="1"/>
          <p:nvPr/>
        </p:nvSpPr>
        <p:spPr>
          <a:xfrm>
            <a:off x="7635240" y="4636008"/>
            <a:ext cx="1051560" cy="137160"/>
          </a:xfrm>
          <a:prstGeom prst="rect">
            <a:avLst/>
          </a:prstGeom>
          <a:noFill/>
        </p:spPr>
        <p:txBody>
          <a:bodyPr wrap="square">
            <a:normAutofit/>
          </a:bodyPr>
          <a:lstStyle/>
          <a:p>
            <a:pPr algn="ctr"/>
            <a:r>
              <a:rPr sz="700" b="1">
                <a:solidFill>
                  <a:srgbClr val="64748B"/>
                </a:solidFill>
                <a:latin typeface="Noto Sans SC"/>
              </a:rPr>
              <a:t>农用地</a:t>
            </a:r>
          </a:p>
        </p:txBody>
      </p:sp>
      <p:pic>
        <p:nvPicPr>
          <p:cNvPr id="32" name="Picture 31" descr="image16.png"/>
          <p:cNvPicPr>
            <a:picLocks noChangeAspect="1"/>
          </p:cNvPicPr>
          <p:nvPr/>
        </p:nvPicPr>
        <p:blipFill>
          <a:blip r:embed="rId6"/>
          <a:stretch>
            <a:fillRect/>
          </a:stretch>
        </p:blipFill>
        <p:spPr>
          <a:xfrm>
            <a:off x="9144000" y="3520440"/>
            <a:ext cx="1051560" cy="1051560"/>
          </a:xfrm>
          <a:prstGeom prst="rect">
            <a:avLst/>
          </a:prstGeom>
        </p:spPr>
      </p:pic>
      <p:sp>
        <p:nvSpPr>
          <p:cNvPr id="33" name="TextBox 32"/>
          <p:cNvSpPr txBox="1"/>
          <p:nvPr/>
        </p:nvSpPr>
        <p:spPr>
          <a:xfrm>
            <a:off x="9144000" y="4636008"/>
            <a:ext cx="1051560" cy="137160"/>
          </a:xfrm>
          <a:prstGeom prst="rect">
            <a:avLst/>
          </a:prstGeom>
          <a:noFill/>
        </p:spPr>
        <p:txBody>
          <a:bodyPr wrap="square">
            <a:normAutofit/>
          </a:bodyPr>
          <a:lstStyle/>
          <a:p>
            <a:pPr algn="ctr"/>
            <a:r>
              <a:rPr sz="700" b="1">
                <a:solidFill>
                  <a:srgbClr val="64748B"/>
                </a:solidFill>
                <a:latin typeface="Noto Sans SC"/>
              </a:rPr>
              <a:t>灾害</a:t>
            </a:r>
          </a:p>
        </p:txBody>
      </p:sp>
      <p:sp>
        <p:nvSpPr>
          <p:cNvPr id="34" name="TextBox 33"/>
          <p:cNvSpPr txBox="1"/>
          <p:nvPr/>
        </p:nvSpPr>
        <p:spPr>
          <a:xfrm>
            <a:off x="1325880" y="3218688"/>
            <a:ext cx="1097280" cy="164592"/>
          </a:xfrm>
          <a:prstGeom prst="rect">
            <a:avLst/>
          </a:prstGeom>
          <a:noFill/>
        </p:spPr>
        <p:txBody>
          <a:bodyPr wrap="square">
            <a:normAutofit/>
          </a:bodyPr>
          <a:lstStyle/>
          <a:p>
            <a:pPr algn="ctr"/>
            <a:r>
              <a:rPr sz="1000" b="1">
                <a:solidFill>
                  <a:srgbClr val="5294E2"/>
                </a:solidFill>
                <a:latin typeface="Noto Sans SC"/>
              </a:rPr>
              <a:t>输入源数据</a:t>
            </a:r>
          </a:p>
        </p:txBody>
      </p:sp>
      <p:sp>
        <p:nvSpPr>
          <p:cNvPr id="35" name="TextBox 34"/>
          <p:cNvSpPr txBox="1"/>
          <p:nvPr/>
        </p:nvSpPr>
        <p:spPr>
          <a:xfrm>
            <a:off x="4572000" y="1572768"/>
            <a:ext cx="2103120" cy="164592"/>
          </a:xfrm>
          <a:prstGeom prst="rect">
            <a:avLst/>
          </a:prstGeom>
          <a:noFill/>
        </p:spPr>
        <p:txBody>
          <a:bodyPr wrap="square">
            <a:normAutofit/>
          </a:bodyPr>
          <a:lstStyle/>
          <a:p>
            <a:pPr algn="ctr"/>
            <a:r>
              <a:rPr sz="1000" b="1">
                <a:solidFill>
                  <a:srgbClr val="5294E2"/>
                </a:solidFill>
                <a:latin typeface="Noto Sans SC"/>
              </a:rPr>
              <a:t>统一地理嵌入</a:t>
            </a:r>
          </a:p>
        </p:txBody>
      </p:sp>
      <p:sp>
        <p:nvSpPr>
          <p:cNvPr id="36" name="TextBox 35"/>
          <p:cNvSpPr txBox="1"/>
          <p:nvPr/>
        </p:nvSpPr>
        <p:spPr>
          <a:xfrm>
            <a:off x="8001000" y="1572768"/>
            <a:ext cx="2103120" cy="164592"/>
          </a:xfrm>
          <a:prstGeom prst="rect">
            <a:avLst/>
          </a:prstGeom>
          <a:noFill/>
        </p:spPr>
        <p:txBody>
          <a:bodyPr wrap="square">
            <a:normAutofit/>
          </a:bodyPr>
          <a:lstStyle/>
          <a:p>
            <a:pPr algn="ctr"/>
            <a:r>
              <a:rPr sz="1000" b="1">
                <a:solidFill>
                  <a:srgbClr val="5294E2"/>
                </a:solidFill>
                <a:latin typeface="Noto Sans SC"/>
              </a:rPr>
              <a:t>下游任务</a:t>
            </a:r>
          </a:p>
        </p:txBody>
      </p:sp>
      <p:sp>
        <p:nvSpPr>
          <p:cNvPr id="37" name="TextBox 36"/>
          <p:cNvSpPr txBox="1"/>
          <p:nvPr/>
        </p:nvSpPr>
        <p:spPr>
          <a:xfrm>
            <a:off x="566928" y="6537960"/>
            <a:ext cx="4389120" cy="164592"/>
          </a:xfrm>
          <a:prstGeom prst="rect">
            <a:avLst/>
          </a:prstGeom>
          <a:noFill/>
        </p:spPr>
        <p:txBody>
          <a:bodyPr wrap="square">
            <a:normAutofit/>
          </a:bodyPr>
          <a:lstStyle/>
          <a:p>
            <a:pPr algn="l"/>
            <a:r>
              <a:rPr sz="700" b="0">
                <a:solidFill>
                  <a:srgbClr val="64748B"/>
                </a:solidFill>
                <a:latin typeface="Noto Sans SC"/>
              </a:rPr>
              <a:t>玄女科技商业计划书｜前置叙事 v0.1</a:t>
            </a:r>
          </a:p>
        </p:txBody>
      </p:sp>
      <p:sp>
        <p:nvSpPr>
          <p:cNvPr id="38" name="TextBox 37"/>
          <p:cNvSpPr txBox="1"/>
          <p:nvPr/>
        </p:nvSpPr>
        <p:spPr>
          <a:xfrm>
            <a:off x="11064240" y="6510528"/>
            <a:ext cx="411480" cy="164592"/>
          </a:xfrm>
          <a:prstGeom prst="rect">
            <a:avLst/>
          </a:prstGeom>
          <a:noFill/>
        </p:spPr>
        <p:txBody>
          <a:bodyPr wrap="square">
            <a:normAutofit/>
          </a:bodyPr>
          <a:lstStyle/>
          <a:p>
            <a:pPr algn="r"/>
            <a:r>
              <a:rPr sz="800" b="0">
                <a:solidFill>
                  <a:srgbClr val="64748B"/>
                </a:solidFill>
                <a:latin typeface="Noto Sans SC"/>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47472"/>
            <a:ext cx="384048" cy="182880"/>
          </a:xfrm>
          <a:prstGeom prst="rect">
            <a:avLst/>
          </a:prstGeom>
          <a:noFill/>
        </p:spPr>
        <p:txBody>
          <a:bodyPr wrap="square">
            <a:normAutofit/>
          </a:bodyPr>
          <a:lstStyle/>
          <a:p>
            <a:pPr algn="l"/>
            <a:r>
              <a:rPr sz="800" b="1">
                <a:solidFill>
                  <a:srgbClr val="5294E2"/>
                </a:solidFill>
                <a:latin typeface="Noto Sans SC"/>
              </a:rPr>
              <a:t>03</a:t>
            </a:r>
          </a:p>
        </p:txBody>
      </p:sp>
      <p:sp>
        <p:nvSpPr>
          <p:cNvPr id="3" name="TextBox 2"/>
          <p:cNvSpPr txBox="1"/>
          <p:nvPr/>
        </p:nvSpPr>
        <p:spPr>
          <a:xfrm>
            <a:off x="987552" y="274320"/>
            <a:ext cx="9875520" cy="502920"/>
          </a:xfrm>
          <a:prstGeom prst="rect">
            <a:avLst/>
          </a:prstGeom>
          <a:noFill/>
        </p:spPr>
        <p:txBody>
          <a:bodyPr wrap="square">
            <a:normAutofit/>
          </a:bodyPr>
          <a:lstStyle/>
          <a:p>
            <a:pPr algn="l"/>
            <a:r>
              <a:rPr sz="2300" b="1">
                <a:solidFill>
                  <a:srgbClr val="111827"/>
                </a:solidFill>
                <a:latin typeface="Noto Sans SC"/>
              </a:rPr>
              <a:t>为什么要做：同一块地表被反复编码，数据却仍是孤岛</a:t>
            </a:r>
          </a:p>
        </p:txBody>
      </p:sp>
      <p:pic>
        <p:nvPicPr>
          <p:cNvPr id="4" name="Picture 3" descr="grid_satellite_embedding.png"/>
          <p:cNvPicPr>
            <a:picLocks noChangeAspect="1"/>
          </p:cNvPicPr>
          <p:nvPr/>
        </p:nvPicPr>
        <p:blipFill>
          <a:blip r:embed="rId2"/>
          <a:stretch>
            <a:fillRect/>
          </a:stretch>
        </p:blipFill>
        <p:spPr>
          <a:xfrm>
            <a:off x="502920" y="1143000"/>
            <a:ext cx="5532120" cy="3977639"/>
          </a:xfrm>
          <a:prstGeom prst="rect">
            <a:avLst/>
          </a:prstGeom>
        </p:spPr>
      </p:pic>
      <p:sp>
        <p:nvSpPr>
          <p:cNvPr id="5" name="Rounded Rectangle 4"/>
          <p:cNvSpPr/>
          <p:nvPr/>
        </p:nvSpPr>
        <p:spPr>
          <a:xfrm>
            <a:off x="6400800" y="1417320"/>
            <a:ext cx="4754880" cy="96012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0" y="1563624"/>
            <a:ext cx="4389120" cy="201168"/>
          </a:xfrm>
          <a:prstGeom prst="rect">
            <a:avLst/>
          </a:prstGeom>
          <a:noFill/>
        </p:spPr>
        <p:txBody>
          <a:bodyPr wrap="square">
            <a:normAutofit/>
          </a:bodyPr>
          <a:lstStyle/>
          <a:p>
            <a:pPr algn="l"/>
            <a:r>
              <a:rPr sz="1100" b="1">
                <a:solidFill>
                  <a:srgbClr val="111827"/>
                </a:solidFill>
                <a:latin typeface="Noto Sans SC"/>
              </a:rPr>
              <a:t>重复造轮子</a:t>
            </a:r>
          </a:p>
        </p:txBody>
      </p:sp>
      <p:sp>
        <p:nvSpPr>
          <p:cNvPr id="7" name="TextBox 6"/>
          <p:cNvSpPr txBox="1"/>
          <p:nvPr/>
        </p:nvSpPr>
        <p:spPr>
          <a:xfrm>
            <a:off x="6583680" y="1892808"/>
            <a:ext cx="4389120" cy="393192"/>
          </a:xfrm>
          <a:prstGeom prst="rect">
            <a:avLst/>
          </a:prstGeom>
          <a:noFill/>
        </p:spPr>
        <p:txBody>
          <a:bodyPr wrap="square">
            <a:normAutofit/>
          </a:bodyPr>
          <a:lstStyle/>
          <a:p>
            <a:pPr algn="l"/>
            <a:r>
              <a:rPr sz="800" b="0">
                <a:solidFill>
                  <a:srgbClr val="64748B"/>
                </a:solidFill>
                <a:latin typeface="Noto Sans SC"/>
              </a:rPr>
              <a:t>气象、水文、分割、变化检测等模型，都从同一块地表影像重复做编码器和解码器。</a:t>
            </a:r>
          </a:p>
        </p:txBody>
      </p:sp>
      <p:cxnSp>
        <p:nvCxnSpPr>
          <p:cNvPr id="8" name="Connector 7"/>
          <p:cNvCxnSpPr/>
          <p:nvPr/>
        </p:nvCxnSpPr>
        <p:spPr>
          <a:xfrm>
            <a:off x="6583680" y="2249424"/>
            <a:ext cx="4389120" cy="0"/>
          </a:xfrm>
          <a:prstGeom prst="line">
            <a:avLst/>
          </a:prstGeom>
          <a:ln w="25400">
            <a:solidFill>
              <a:srgbClr val="5294E2"/>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400800" y="2670048"/>
            <a:ext cx="4754880" cy="96012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816352"/>
            <a:ext cx="4389120" cy="201168"/>
          </a:xfrm>
          <a:prstGeom prst="rect">
            <a:avLst/>
          </a:prstGeom>
          <a:noFill/>
        </p:spPr>
        <p:txBody>
          <a:bodyPr wrap="square">
            <a:normAutofit/>
          </a:bodyPr>
          <a:lstStyle/>
          <a:p>
            <a:pPr algn="l"/>
            <a:r>
              <a:rPr sz="1100" b="1">
                <a:solidFill>
                  <a:srgbClr val="111827"/>
                </a:solidFill>
                <a:latin typeface="Noto Sans SC"/>
              </a:rPr>
              <a:t>数据孤岛</a:t>
            </a:r>
          </a:p>
        </p:txBody>
      </p:sp>
      <p:sp>
        <p:nvSpPr>
          <p:cNvPr id="11" name="TextBox 10"/>
          <p:cNvSpPr txBox="1"/>
          <p:nvPr/>
        </p:nvSpPr>
        <p:spPr>
          <a:xfrm>
            <a:off x="6583680" y="3145536"/>
            <a:ext cx="4389120" cy="393192"/>
          </a:xfrm>
          <a:prstGeom prst="rect">
            <a:avLst/>
          </a:prstGeom>
          <a:noFill/>
        </p:spPr>
        <p:txBody>
          <a:bodyPr wrap="square">
            <a:normAutofit/>
          </a:bodyPr>
          <a:lstStyle/>
          <a:p>
            <a:pPr algn="l"/>
            <a:r>
              <a:rPr sz="800" b="0">
                <a:solidFill>
                  <a:srgbClr val="64748B"/>
                </a:solidFill>
                <a:latin typeface="Noto Sans SC"/>
              </a:rPr>
              <a:t>光学、SAR、气象、水文、DEM、高分数据各自处理，难以形成统一资产。</a:t>
            </a:r>
          </a:p>
        </p:txBody>
      </p:sp>
      <p:cxnSp>
        <p:nvCxnSpPr>
          <p:cNvPr id="12" name="Connector 11"/>
          <p:cNvCxnSpPr/>
          <p:nvPr/>
        </p:nvCxnSpPr>
        <p:spPr>
          <a:xfrm>
            <a:off x="6583680" y="3502151"/>
            <a:ext cx="4389120" cy="0"/>
          </a:xfrm>
          <a:prstGeom prst="line">
            <a:avLst/>
          </a:prstGeom>
          <a:ln w="25400">
            <a:solidFill>
              <a:srgbClr val="48BB8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400800" y="3922776"/>
            <a:ext cx="4754880" cy="96012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4069080"/>
            <a:ext cx="4389120" cy="201168"/>
          </a:xfrm>
          <a:prstGeom prst="rect">
            <a:avLst/>
          </a:prstGeom>
          <a:noFill/>
        </p:spPr>
        <p:txBody>
          <a:bodyPr wrap="square">
            <a:normAutofit/>
          </a:bodyPr>
          <a:lstStyle/>
          <a:p>
            <a:pPr algn="l"/>
            <a:r>
              <a:rPr sz="1100" b="1">
                <a:solidFill>
                  <a:srgbClr val="111827"/>
                </a:solidFill>
                <a:latin typeface="Noto Sans SC"/>
              </a:rPr>
              <a:t>玄女底座</a:t>
            </a:r>
          </a:p>
        </p:txBody>
      </p:sp>
      <p:sp>
        <p:nvSpPr>
          <p:cNvPr id="15" name="TextBox 14"/>
          <p:cNvSpPr txBox="1"/>
          <p:nvPr/>
        </p:nvSpPr>
        <p:spPr>
          <a:xfrm>
            <a:off x="6583680" y="4398264"/>
            <a:ext cx="4389120" cy="393192"/>
          </a:xfrm>
          <a:prstGeom prst="rect">
            <a:avLst/>
          </a:prstGeom>
          <a:noFill/>
        </p:spPr>
        <p:txBody>
          <a:bodyPr wrap="square">
            <a:normAutofit/>
          </a:bodyPr>
          <a:lstStyle/>
          <a:p>
            <a:pPr algn="l"/>
            <a:r>
              <a:rPr sz="800" b="0">
                <a:solidFill>
                  <a:srgbClr val="64748B"/>
                </a:solidFill>
                <a:latin typeface="Noto Sans SC"/>
              </a:rPr>
              <a:t>联合多源观测生成统一地理嵌入，减少冗余计算，并为下游任务提供更稳定表征。</a:t>
            </a:r>
          </a:p>
        </p:txBody>
      </p:sp>
      <p:cxnSp>
        <p:nvCxnSpPr>
          <p:cNvPr id="16" name="Connector 15"/>
          <p:cNvCxnSpPr/>
          <p:nvPr/>
        </p:nvCxnSpPr>
        <p:spPr>
          <a:xfrm>
            <a:off x="6583680" y="4754880"/>
            <a:ext cx="4389120" cy="0"/>
          </a:xfrm>
          <a:prstGeom prst="line">
            <a:avLst/>
          </a:prstGeom>
          <a:ln w="25400">
            <a:solidFill>
              <a:srgbClr val="9784EC"/>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400" y="5623560"/>
            <a:ext cx="10241280" cy="274320"/>
          </a:xfrm>
          <a:prstGeom prst="rect">
            <a:avLst/>
          </a:prstGeom>
          <a:noFill/>
        </p:spPr>
        <p:txBody>
          <a:bodyPr wrap="square">
            <a:normAutofit/>
          </a:bodyPr>
          <a:lstStyle/>
          <a:p>
            <a:pPr algn="ctr"/>
            <a:r>
              <a:rPr sz="1800" b="1">
                <a:solidFill>
                  <a:srgbClr val="111827"/>
                </a:solidFill>
                <a:latin typeface="Noto Sans SC"/>
              </a:rPr>
              <a:t>从“每个任务重新编码”到“一个底座多任务复用”。</a:t>
            </a:r>
          </a:p>
        </p:txBody>
      </p:sp>
      <p:sp>
        <p:nvSpPr>
          <p:cNvPr id="18" name="TextBox 17"/>
          <p:cNvSpPr txBox="1"/>
          <p:nvPr/>
        </p:nvSpPr>
        <p:spPr>
          <a:xfrm>
            <a:off x="566928" y="6537960"/>
            <a:ext cx="4389120" cy="164592"/>
          </a:xfrm>
          <a:prstGeom prst="rect">
            <a:avLst/>
          </a:prstGeom>
          <a:noFill/>
        </p:spPr>
        <p:txBody>
          <a:bodyPr wrap="square">
            <a:normAutofit/>
          </a:bodyPr>
          <a:lstStyle/>
          <a:p>
            <a:pPr algn="l"/>
            <a:r>
              <a:rPr sz="700" b="0">
                <a:solidFill>
                  <a:srgbClr val="64748B"/>
                </a:solidFill>
                <a:latin typeface="Noto Sans SC"/>
              </a:rPr>
              <a:t>玄女科技商业计划书｜前置叙事 v0.1</a:t>
            </a:r>
          </a:p>
        </p:txBody>
      </p:sp>
      <p:sp>
        <p:nvSpPr>
          <p:cNvPr id="19" name="TextBox 18"/>
          <p:cNvSpPr txBox="1"/>
          <p:nvPr/>
        </p:nvSpPr>
        <p:spPr>
          <a:xfrm>
            <a:off x="11064240" y="6510528"/>
            <a:ext cx="411480" cy="164592"/>
          </a:xfrm>
          <a:prstGeom prst="rect">
            <a:avLst/>
          </a:prstGeom>
          <a:noFill/>
        </p:spPr>
        <p:txBody>
          <a:bodyPr wrap="square">
            <a:normAutofit/>
          </a:bodyPr>
          <a:lstStyle/>
          <a:p>
            <a:pPr algn="r"/>
            <a:r>
              <a:rPr sz="800" b="0">
                <a:solidFill>
                  <a:srgbClr val="64748B"/>
                </a:solidFill>
                <a:latin typeface="Noto Sans SC"/>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47472"/>
            <a:ext cx="384048" cy="182880"/>
          </a:xfrm>
          <a:prstGeom prst="rect">
            <a:avLst/>
          </a:prstGeom>
          <a:noFill/>
        </p:spPr>
        <p:txBody>
          <a:bodyPr wrap="square">
            <a:normAutofit/>
          </a:bodyPr>
          <a:lstStyle/>
          <a:p>
            <a:pPr algn="l"/>
            <a:r>
              <a:rPr sz="800" b="1">
                <a:solidFill>
                  <a:srgbClr val="5294E2"/>
                </a:solidFill>
                <a:latin typeface="Noto Sans SC"/>
              </a:rPr>
              <a:t>04</a:t>
            </a:r>
          </a:p>
        </p:txBody>
      </p:sp>
      <p:sp>
        <p:nvSpPr>
          <p:cNvPr id="3" name="TextBox 2"/>
          <p:cNvSpPr txBox="1"/>
          <p:nvPr/>
        </p:nvSpPr>
        <p:spPr>
          <a:xfrm>
            <a:off x="987552" y="274320"/>
            <a:ext cx="9875520" cy="502920"/>
          </a:xfrm>
          <a:prstGeom prst="rect">
            <a:avLst/>
          </a:prstGeom>
          <a:noFill/>
        </p:spPr>
        <p:txBody>
          <a:bodyPr wrap="square">
            <a:normAutofit/>
          </a:bodyPr>
          <a:lstStyle/>
          <a:p>
            <a:pPr algn="l"/>
            <a:r>
              <a:rPr sz="2300" b="1">
                <a:solidFill>
                  <a:srgbClr val="111827"/>
                </a:solidFill>
                <a:latin typeface="Noto Sans SC"/>
              </a:rPr>
              <a:t>国外已有 AlphaEarth 方向，玄女国内率先做中国自己的地理智能底座</a:t>
            </a:r>
          </a:p>
        </p:txBody>
      </p:sp>
      <p:pic>
        <p:nvPicPr>
          <p:cNvPr id="4" name="Picture 3" descr="image1.png"/>
          <p:cNvPicPr>
            <a:picLocks noChangeAspect="1"/>
          </p:cNvPicPr>
          <p:nvPr/>
        </p:nvPicPr>
        <p:blipFill>
          <a:blip r:embed="rId2"/>
          <a:stretch>
            <a:fillRect/>
          </a:stretch>
        </p:blipFill>
        <p:spPr>
          <a:xfrm>
            <a:off x="731520" y="1234440"/>
            <a:ext cx="2971800" cy="1691640"/>
          </a:xfrm>
          <a:prstGeom prst="rect">
            <a:avLst/>
          </a:prstGeom>
        </p:spPr>
      </p:pic>
      <p:sp>
        <p:nvSpPr>
          <p:cNvPr id="5" name="Rounded Rectangle 4"/>
          <p:cNvSpPr/>
          <p:nvPr/>
        </p:nvSpPr>
        <p:spPr>
          <a:xfrm>
            <a:off x="731520" y="3246120"/>
            <a:ext cx="2971800" cy="100584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392424"/>
            <a:ext cx="2606040" cy="201168"/>
          </a:xfrm>
          <a:prstGeom prst="rect">
            <a:avLst/>
          </a:prstGeom>
          <a:noFill/>
        </p:spPr>
        <p:txBody>
          <a:bodyPr wrap="square">
            <a:normAutofit/>
          </a:bodyPr>
          <a:lstStyle/>
          <a:p>
            <a:pPr algn="l"/>
            <a:r>
              <a:rPr sz="1100" b="1">
                <a:solidFill>
                  <a:srgbClr val="111827"/>
                </a:solidFill>
                <a:latin typeface="Noto Sans SC"/>
              </a:rPr>
              <a:t>国外趋势</a:t>
            </a:r>
          </a:p>
        </p:txBody>
      </p:sp>
      <p:sp>
        <p:nvSpPr>
          <p:cNvPr id="7" name="TextBox 6"/>
          <p:cNvSpPr txBox="1"/>
          <p:nvPr/>
        </p:nvSpPr>
        <p:spPr>
          <a:xfrm>
            <a:off x="914400" y="3721608"/>
            <a:ext cx="2606040" cy="438912"/>
          </a:xfrm>
          <a:prstGeom prst="rect">
            <a:avLst/>
          </a:prstGeom>
          <a:noFill/>
        </p:spPr>
        <p:txBody>
          <a:bodyPr wrap="square">
            <a:normAutofit/>
          </a:bodyPr>
          <a:lstStyle/>
          <a:p>
            <a:pPr algn="l"/>
            <a:r>
              <a:rPr sz="800" b="0">
                <a:solidFill>
                  <a:srgbClr val="64748B"/>
                </a:solidFill>
                <a:latin typeface="Noto Sans SC"/>
              </a:rPr>
              <a:t>AlphaEarth / Google Satellite Embedding 已经证明：把地球观测转成嵌入，是下一代地理计算入口。</a:t>
            </a:r>
          </a:p>
        </p:txBody>
      </p:sp>
      <p:cxnSp>
        <p:nvCxnSpPr>
          <p:cNvPr id="8" name="Connector 7"/>
          <p:cNvCxnSpPr/>
          <p:nvPr/>
        </p:nvCxnSpPr>
        <p:spPr>
          <a:xfrm>
            <a:off x="914400" y="4123944"/>
            <a:ext cx="2606039" cy="0"/>
          </a:xfrm>
          <a:prstGeom prst="line">
            <a:avLst/>
          </a:prstGeom>
          <a:ln w="25400">
            <a:solidFill>
              <a:srgbClr val="5294E2"/>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846320" y="1664207"/>
            <a:ext cx="365759" cy="1463040"/>
          </a:xfrm>
          <a:prstGeom prst="rect">
            <a:avLst/>
          </a:prstGeom>
          <a:solidFill>
            <a:srgbClr val="48BB8F"/>
          </a:solidFill>
          <a:ln w="10160">
            <a:solidFill>
              <a:srgbClr val="48B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3236976"/>
            <a:ext cx="822959" cy="164592"/>
          </a:xfrm>
          <a:prstGeom prst="rect">
            <a:avLst/>
          </a:prstGeom>
          <a:noFill/>
        </p:spPr>
        <p:txBody>
          <a:bodyPr wrap="square">
            <a:normAutofit/>
          </a:bodyPr>
          <a:lstStyle/>
          <a:p>
            <a:pPr algn="ctr"/>
            <a:r>
              <a:rPr sz="700" b="0">
                <a:solidFill>
                  <a:srgbClr val="64748B"/>
                </a:solidFill>
                <a:latin typeface="Noto Sans SC"/>
              </a:rPr>
              <a:t>频次</a:t>
            </a:r>
          </a:p>
        </p:txBody>
      </p:sp>
      <p:sp>
        <p:nvSpPr>
          <p:cNvPr id="11" name="TextBox 10"/>
          <p:cNvSpPr txBox="1"/>
          <p:nvPr/>
        </p:nvSpPr>
        <p:spPr>
          <a:xfrm>
            <a:off x="4709160" y="1463039"/>
            <a:ext cx="640080" cy="146304"/>
          </a:xfrm>
          <a:prstGeom prst="rect">
            <a:avLst/>
          </a:prstGeom>
          <a:noFill/>
        </p:spPr>
        <p:txBody>
          <a:bodyPr wrap="square">
            <a:normAutofit/>
          </a:bodyPr>
          <a:lstStyle/>
          <a:p>
            <a:pPr algn="ctr"/>
            <a:r>
              <a:rPr sz="700" b="1">
                <a:solidFill>
                  <a:srgbClr val="111827"/>
                </a:solidFill>
                <a:latin typeface="Noto Sans SC"/>
              </a:rPr>
              <a:t>11</a:t>
            </a:r>
          </a:p>
        </p:txBody>
      </p:sp>
      <p:sp>
        <p:nvSpPr>
          <p:cNvPr id="12" name="Rectangle 11"/>
          <p:cNvSpPr/>
          <p:nvPr/>
        </p:nvSpPr>
        <p:spPr>
          <a:xfrm>
            <a:off x="5577840" y="1797211"/>
            <a:ext cx="365759" cy="1330036"/>
          </a:xfrm>
          <a:prstGeom prst="rect">
            <a:avLst/>
          </a:prstGeom>
          <a:solidFill>
            <a:srgbClr val="48BB8F"/>
          </a:solidFill>
          <a:ln w="10160">
            <a:solidFill>
              <a:srgbClr val="48B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49240" y="3236976"/>
            <a:ext cx="822959" cy="164592"/>
          </a:xfrm>
          <a:prstGeom prst="rect">
            <a:avLst/>
          </a:prstGeom>
          <a:noFill/>
        </p:spPr>
        <p:txBody>
          <a:bodyPr wrap="square">
            <a:normAutofit/>
          </a:bodyPr>
          <a:lstStyle/>
          <a:p>
            <a:pPr algn="ctr"/>
            <a:r>
              <a:rPr sz="700" b="0">
                <a:solidFill>
                  <a:srgbClr val="64748B"/>
                </a:solidFill>
                <a:latin typeface="Noto Sans SC"/>
              </a:rPr>
              <a:t>分辨率</a:t>
            </a:r>
          </a:p>
        </p:txBody>
      </p:sp>
      <p:sp>
        <p:nvSpPr>
          <p:cNvPr id="14" name="TextBox 13"/>
          <p:cNvSpPr txBox="1"/>
          <p:nvPr/>
        </p:nvSpPr>
        <p:spPr>
          <a:xfrm>
            <a:off x="5440680" y="1596043"/>
            <a:ext cx="640080" cy="146304"/>
          </a:xfrm>
          <a:prstGeom prst="rect">
            <a:avLst/>
          </a:prstGeom>
          <a:noFill/>
        </p:spPr>
        <p:txBody>
          <a:bodyPr wrap="square">
            <a:normAutofit/>
          </a:bodyPr>
          <a:lstStyle/>
          <a:p>
            <a:pPr algn="ctr"/>
            <a:r>
              <a:rPr sz="700" b="1">
                <a:solidFill>
                  <a:srgbClr val="111827"/>
                </a:solidFill>
                <a:latin typeface="Noto Sans SC"/>
              </a:rPr>
              <a:t>10</a:t>
            </a:r>
          </a:p>
        </p:txBody>
      </p:sp>
      <p:sp>
        <p:nvSpPr>
          <p:cNvPr id="15" name="Rectangle 14"/>
          <p:cNvSpPr/>
          <p:nvPr/>
        </p:nvSpPr>
        <p:spPr>
          <a:xfrm>
            <a:off x="6309360" y="1930215"/>
            <a:ext cx="365759" cy="1197032"/>
          </a:xfrm>
          <a:prstGeom prst="rect">
            <a:avLst/>
          </a:prstGeom>
          <a:solidFill>
            <a:srgbClr val="48BB8F"/>
          </a:solidFill>
          <a:ln w="10160">
            <a:solidFill>
              <a:srgbClr val="48B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3236976"/>
            <a:ext cx="822959" cy="164592"/>
          </a:xfrm>
          <a:prstGeom prst="rect">
            <a:avLst/>
          </a:prstGeom>
          <a:noFill/>
        </p:spPr>
        <p:txBody>
          <a:bodyPr wrap="square">
            <a:normAutofit/>
          </a:bodyPr>
          <a:lstStyle/>
          <a:p>
            <a:pPr algn="ctr"/>
            <a:r>
              <a:rPr sz="700" b="0">
                <a:solidFill>
                  <a:srgbClr val="64748B"/>
                </a:solidFill>
                <a:latin typeface="Noto Sans SC"/>
              </a:rPr>
              <a:t>本土化</a:t>
            </a:r>
          </a:p>
        </p:txBody>
      </p:sp>
      <p:sp>
        <p:nvSpPr>
          <p:cNvPr id="17" name="TextBox 16"/>
          <p:cNvSpPr txBox="1"/>
          <p:nvPr/>
        </p:nvSpPr>
        <p:spPr>
          <a:xfrm>
            <a:off x="6172200" y="1729047"/>
            <a:ext cx="640080" cy="146304"/>
          </a:xfrm>
          <a:prstGeom prst="rect">
            <a:avLst/>
          </a:prstGeom>
          <a:noFill/>
        </p:spPr>
        <p:txBody>
          <a:bodyPr wrap="square">
            <a:normAutofit/>
          </a:bodyPr>
          <a:lstStyle/>
          <a:p>
            <a:pPr algn="ctr"/>
            <a:r>
              <a:rPr sz="700" b="1">
                <a:solidFill>
                  <a:srgbClr val="111827"/>
                </a:solidFill>
                <a:latin typeface="Noto Sans SC"/>
              </a:rPr>
              <a:t>9</a:t>
            </a:r>
          </a:p>
        </p:txBody>
      </p:sp>
      <p:sp>
        <p:nvSpPr>
          <p:cNvPr id="18" name="Rounded Rectangle 17"/>
          <p:cNvSpPr/>
          <p:nvPr/>
        </p:nvSpPr>
        <p:spPr>
          <a:xfrm>
            <a:off x="7635240" y="1234440"/>
            <a:ext cx="3383280" cy="786384"/>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18119" y="1380744"/>
            <a:ext cx="3017520" cy="201168"/>
          </a:xfrm>
          <a:prstGeom prst="rect">
            <a:avLst/>
          </a:prstGeom>
          <a:noFill/>
        </p:spPr>
        <p:txBody>
          <a:bodyPr wrap="square">
            <a:normAutofit/>
          </a:bodyPr>
          <a:lstStyle/>
          <a:p>
            <a:pPr algn="l"/>
            <a:r>
              <a:rPr sz="1100" b="1">
                <a:solidFill>
                  <a:srgbClr val="111827"/>
                </a:solidFill>
                <a:latin typeface="Noto Sans SC"/>
              </a:rPr>
              <a:t>玄女优势 1：频次更高</a:t>
            </a:r>
          </a:p>
        </p:txBody>
      </p:sp>
      <p:sp>
        <p:nvSpPr>
          <p:cNvPr id="20" name="TextBox 19"/>
          <p:cNvSpPr txBox="1"/>
          <p:nvPr/>
        </p:nvSpPr>
        <p:spPr>
          <a:xfrm>
            <a:off x="7818119" y="1709928"/>
            <a:ext cx="3017520" cy="219456"/>
          </a:xfrm>
          <a:prstGeom prst="rect">
            <a:avLst/>
          </a:prstGeom>
          <a:noFill/>
        </p:spPr>
        <p:txBody>
          <a:bodyPr wrap="square">
            <a:normAutofit/>
          </a:bodyPr>
          <a:lstStyle/>
          <a:p>
            <a:pPr algn="l"/>
            <a:r>
              <a:rPr sz="800" b="0">
                <a:solidFill>
                  <a:srgbClr val="64748B"/>
                </a:solidFill>
                <a:latin typeface="Noto Sans SC"/>
              </a:rPr>
              <a:t>最快可做到 11 天一次嵌入，支撑更高频变化监测。</a:t>
            </a:r>
          </a:p>
        </p:txBody>
      </p:sp>
      <p:cxnSp>
        <p:nvCxnSpPr>
          <p:cNvPr id="21" name="Connector 20"/>
          <p:cNvCxnSpPr/>
          <p:nvPr/>
        </p:nvCxnSpPr>
        <p:spPr>
          <a:xfrm>
            <a:off x="7818119" y="1892807"/>
            <a:ext cx="3017521" cy="0"/>
          </a:xfrm>
          <a:prstGeom prst="line">
            <a:avLst/>
          </a:prstGeom>
          <a:ln w="25400">
            <a:solidFill>
              <a:srgbClr val="48BB8F"/>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635240" y="2304288"/>
            <a:ext cx="3383280" cy="786384"/>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18119" y="2450592"/>
            <a:ext cx="3017520" cy="201168"/>
          </a:xfrm>
          <a:prstGeom prst="rect">
            <a:avLst/>
          </a:prstGeom>
          <a:noFill/>
        </p:spPr>
        <p:txBody>
          <a:bodyPr wrap="square">
            <a:normAutofit/>
          </a:bodyPr>
          <a:lstStyle/>
          <a:p>
            <a:pPr algn="l"/>
            <a:r>
              <a:rPr sz="1100" b="1">
                <a:solidFill>
                  <a:srgbClr val="111827"/>
                </a:solidFill>
                <a:latin typeface="Noto Sans SC"/>
              </a:rPr>
              <a:t>玄女优势 2：分辨率更高</a:t>
            </a:r>
          </a:p>
        </p:txBody>
      </p:sp>
      <p:sp>
        <p:nvSpPr>
          <p:cNvPr id="24" name="TextBox 23"/>
          <p:cNvSpPr txBox="1"/>
          <p:nvPr/>
        </p:nvSpPr>
        <p:spPr>
          <a:xfrm>
            <a:off x="7818119" y="2779776"/>
            <a:ext cx="3017520" cy="219456"/>
          </a:xfrm>
          <a:prstGeom prst="rect">
            <a:avLst/>
          </a:prstGeom>
          <a:noFill/>
        </p:spPr>
        <p:txBody>
          <a:bodyPr wrap="square">
            <a:normAutofit/>
          </a:bodyPr>
          <a:lstStyle/>
          <a:p>
            <a:pPr algn="l"/>
            <a:r>
              <a:rPr sz="800" b="0">
                <a:solidFill>
                  <a:srgbClr val="64748B"/>
                </a:solidFill>
                <a:latin typeface="Noto Sans SC"/>
              </a:rPr>
              <a:t>对标国外 10 米级，并面向高分光学 / SAR 等更高分模态融合。</a:t>
            </a:r>
          </a:p>
        </p:txBody>
      </p:sp>
      <p:cxnSp>
        <p:nvCxnSpPr>
          <p:cNvPr id="25" name="Connector 24"/>
          <p:cNvCxnSpPr/>
          <p:nvPr/>
        </p:nvCxnSpPr>
        <p:spPr>
          <a:xfrm>
            <a:off x="7818119" y="2962656"/>
            <a:ext cx="3017521" cy="0"/>
          </a:xfrm>
          <a:prstGeom prst="line">
            <a:avLst/>
          </a:prstGeom>
          <a:ln w="25400">
            <a:solidFill>
              <a:srgbClr val="5294E2"/>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635240" y="3374136"/>
            <a:ext cx="3383280" cy="786384"/>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18119" y="3520440"/>
            <a:ext cx="3017520" cy="201168"/>
          </a:xfrm>
          <a:prstGeom prst="rect">
            <a:avLst/>
          </a:prstGeom>
          <a:noFill/>
        </p:spPr>
        <p:txBody>
          <a:bodyPr wrap="square">
            <a:normAutofit/>
          </a:bodyPr>
          <a:lstStyle/>
          <a:p>
            <a:pPr algn="l"/>
            <a:r>
              <a:rPr sz="1100" b="1">
                <a:solidFill>
                  <a:srgbClr val="111827"/>
                </a:solidFill>
                <a:latin typeface="Noto Sans SC"/>
              </a:rPr>
              <a:t>玄女优势 3：更本土</a:t>
            </a:r>
          </a:p>
        </p:txBody>
      </p:sp>
      <p:sp>
        <p:nvSpPr>
          <p:cNvPr id="28" name="TextBox 27"/>
          <p:cNvSpPr txBox="1"/>
          <p:nvPr/>
        </p:nvSpPr>
        <p:spPr>
          <a:xfrm>
            <a:off x="7818119" y="3849624"/>
            <a:ext cx="3017520" cy="219456"/>
          </a:xfrm>
          <a:prstGeom prst="rect">
            <a:avLst/>
          </a:prstGeom>
          <a:noFill/>
        </p:spPr>
        <p:txBody>
          <a:bodyPr wrap="square">
            <a:normAutofit/>
          </a:bodyPr>
          <a:lstStyle/>
          <a:p>
            <a:pPr algn="l"/>
            <a:r>
              <a:rPr sz="800" b="0">
                <a:solidFill>
                  <a:srgbClr val="64748B"/>
                </a:solidFill>
                <a:latin typeface="Noto Sans SC"/>
              </a:rPr>
              <a:t>适配中国卫星数据、国产算力和本土政企场景。</a:t>
            </a:r>
          </a:p>
        </p:txBody>
      </p:sp>
      <p:cxnSp>
        <p:nvCxnSpPr>
          <p:cNvPr id="29" name="Connector 28"/>
          <p:cNvCxnSpPr/>
          <p:nvPr/>
        </p:nvCxnSpPr>
        <p:spPr>
          <a:xfrm>
            <a:off x="7818119" y="4032504"/>
            <a:ext cx="3017521" cy="0"/>
          </a:xfrm>
          <a:prstGeom prst="line">
            <a:avLst/>
          </a:prstGeom>
          <a:ln w="25400">
            <a:solidFill>
              <a:srgbClr val="9784EC"/>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 y="6537960"/>
            <a:ext cx="4389120" cy="164592"/>
          </a:xfrm>
          <a:prstGeom prst="rect">
            <a:avLst/>
          </a:prstGeom>
          <a:noFill/>
        </p:spPr>
        <p:txBody>
          <a:bodyPr wrap="square">
            <a:normAutofit/>
          </a:bodyPr>
          <a:lstStyle/>
          <a:p>
            <a:pPr algn="l"/>
            <a:r>
              <a:rPr sz="700" b="0">
                <a:solidFill>
                  <a:srgbClr val="64748B"/>
                </a:solidFill>
                <a:latin typeface="Noto Sans SC"/>
              </a:rPr>
              <a:t>玄女科技商业计划书｜前置叙事 v0.1</a:t>
            </a:r>
          </a:p>
        </p:txBody>
      </p:sp>
      <p:sp>
        <p:nvSpPr>
          <p:cNvPr id="31" name="TextBox 30"/>
          <p:cNvSpPr txBox="1"/>
          <p:nvPr/>
        </p:nvSpPr>
        <p:spPr>
          <a:xfrm>
            <a:off x="11064240" y="6510528"/>
            <a:ext cx="411480" cy="164592"/>
          </a:xfrm>
          <a:prstGeom prst="rect">
            <a:avLst/>
          </a:prstGeom>
          <a:noFill/>
        </p:spPr>
        <p:txBody>
          <a:bodyPr wrap="square">
            <a:normAutofit/>
          </a:bodyPr>
          <a:lstStyle/>
          <a:p>
            <a:pPr algn="r"/>
            <a:r>
              <a:rPr sz="800" b="0">
                <a:solidFill>
                  <a:srgbClr val="64748B"/>
                </a:solidFill>
                <a:latin typeface="Noto Sans SC"/>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47472"/>
            <a:ext cx="384048" cy="182880"/>
          </a:xfrm>
          <a:prstGeom prst="rect">
            <a:avLst/>
          </a:prstGeom>
          <a:noFill/>
        </p:spPr>
        <p:txBody>
          <a:bodyPr wrap="square">
            <a:normAutofit/>
          </a:bodyPr>
          <a:lstStyle/>
          <a:p>
            <a:pPr algn="l"/>
            <a:r>
              <a:rPr sz="800" b="1">
                <a:solidFill>
                  <a:srgbClr val="5294E2"/>
                </a:solidFill>
                <a:latin typeface="Noto Sans SC"/>
              </a:rPr>
              <a:t>05</a:t>
            </a:r>
          </a:p>
        </p:txBody>
      </p:sp>
      <p:sp>
        <p:nvSpPr>
          <p:cNvPr id="3" name="TextBox 2"/>
          <p:cNvSpPr txBox="1"/>
          <p:nvPr/>
        </p:nvSpPr>
        <p:spPr>
          <a:xfrm>
            <a:off x="987552" y="274320"/>
            <a:ext cx="9875520" cy="502920"/>
          </a:xfrm>
          <a:prstGeom prst="rect">
            <a:avLst/>
          </a:prstGeom>
          <a:noFill/>
        </p:spPr>
        <p:txBody>
          <a:bodyPr wrap="square">
            <a:normAutofit/>
          </a:bodyPr>
          <a:lstStyle/>
          <a:p>
            <a:pPr algn="l"/>
            <a:r>
              <a:rPr sz="2300" b="1">
                <a:solidFill>
                  <a:srgbClr val="111827"/>
                </a:solidFill>
                <a:latin typeface="Noto Sans SC"/>
              </a:rPr>
              <a:t>为什么现在急需做：商业航天很热，但数据处理链条仍滞后</a:t>
            </a:r>
          </a:p>
        </p:txBody>
      </p:sp>
      <p:sp>
        <p:nvSpPr>
          <p:cNvPr id="4" name="Rounded Rectangle 3"/>
          <p:cNvSpPr/>
          <p:nvPr/>
        </p:nvSpPr>
        <p:spPr>
          <a:xfrm>
            <a:off x="731520" y="1600200"/>
            <a:ext cx="1661160" cy="530352"/>
          </a:xfrm>
          <a:prstGeom prst="roundRect">
            <a:avLst/>
          </a:prstGeom>
          <a:solidFill>
            <a:srgbClr val="F7FAFC"/>
          </a:solidFill>
          <a:ln w="10160">
            <a:solidFill>
              <a:srgbClr val="529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64792"/>
            <a:ext cx="1569720" cy="137160"/>
          </a:xfrm>
          <a:prstGeom prst="rect">
            <a:avLst/>
          </a:prstGeom>
          <a:noFill/>
        </p:spPr>
        <p:txBody>
          <a:bodyPr wrap="square">
            <a:normAutofit/>
          </a:bodyPr>
          <a:lstStyle/>
          <a:p>
            <a:pPr algn="ctr"/>
            <a:r>
              <a:rPr sz="800" b="1">
                <a:solidFill>
                  <a:srgbClr val="111827"/>
                </a:solidFill>
                <a:latin typeface="Noto Sans SC"/>
              </a:rPr>
              <a:t>卫星制造</a:t>
            </a:r>
          </a:p>
        </p:txBody>
      </p:sp>
      <p:sp>
        <p:nvSpPr>
          <p:cNvPr id="6" name="TextBox 5"/>
          <p:cNvSpPr txBox="1"/>
          <p:nvPr/>
        </p:nvSpPr>
        <p:spPr>
          <a:xfrm>
            <a:off x="2420112" y="177393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7" name="Rounded Rectangle 6"/>
          <p:cNvSpPr/>
          <p:nvPr/>
        </p:nvSpPr>
        <p:spPr>
          <a:xfrm>
            <a:off x="2520696" y="1600200"/>
            <a:ext cx="1661160" cy="530352"/>
          </a:xfrm>
          <a:prstGeom prst="roundRect">
            <a:avLst/>
          </a:prstGeom>
          <a:solidFill>
            <a:srgbClr val="F7FAFC"/>
          </a:solidFill>
          <a:ln w="10160">
            <a:solidFill>
              <a:srgbClr val="529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6416" y="1764792"/>
            <a:ext cx="1569720" cy="137160"/>
          </a:xfrm>
          <a:prstGeom prst="rect">
            <a:avLst/>
          </a:prstGeom>
          <a:noFill/>
        </p:spPr>
        <p:txBody>
          <a:bodyPr wrap="square">
            <a:normAutofit/>
          </a:bodyPr>
          <a:lstStyle/>
          <a:p>
            <a:pPr algn="ctr"/>
            <a:r>
              <a:rPr sz="800" b="1">
                <a:solidFill>
                  <a:srgbClr val="111827"/>
                </a:solidFill>
                <a:latin typeface="Noto Sans SC"/>
              </a:rPr>
              <a:t>火箭发射</a:t>
            </a:r>
          </a:p>
        </p:txBody>
      </p:sp>
      <p:sp>
        <p:nvSpPr>
          <p:cNvPr id="9" name="TextBox 8"/>
          <p:cNvSpPr txBox="1"/>
          <p:nvPr/>
        </p:nvSpPr>
        <p:spPr>
          <a:xfrm>
            <a:off x="4209288" y="177393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10" name="Rounded Rectangle 9"/>
          <p:cNvSpPr/>
          <p:nvPr/>
        </p:nvSpPr>
        <p:spPr>
          <a:xfrm>
            <a:off x="4309872" y="1600200"/>
            <a:ext cx="1661160" cy="530352"/>
          </a:xfrm>
          <a:prstGeom prst="roundRect">
            <a:avLst/>
          </a:prstGeom>
          <a:solidFill>
            <a:srgbClr val="F7FAFC"/>
          </a:solidFill>
          <a:ln w="10160">
            <a:solidFill>
              <a:srgbClr val="529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55591" y="1764792"/>
            <a:ext cx="1569720" cy="137160"/>
          </a:xfrm>
          <a:prstGeom prst="rect">
            <a:avLst/>
          </a:prstGeom>
          <a:noFill/>
        </p:spPr>
        <p:txBody>
          <a:bodyPr wrap="square">
            <a:normAutofit/>
          </a:bodyPr>
          <a:lstStyle/>
          <a:p>
            <a:pPr algn="ctr"/>
            <a:r>
              <a:rPr sz="800" b="1">
                <a:solidFill>
                  <a:srgbClr val="111827"/>
                </a:solidFill>
                <a:latin typeface="Noto Sans SC"/>
              </a:rPr>
              <a:t>星座运营</a:t>
            </a:r>
          </a:p>
        </p:txBody>
      </p:sp>
      <p:sp>
        <p:nvSpPr>
          <p:cNvPr id="12" name="TextBox 11"/>
          <p:cNvSpPr txBox="1"/>
          <p:nvPr/>
        </p:nvSpPr>
        <p:spPr>
          <a:xfrm>
            <a:off x="5998464" y="177393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13" name="Rounded Rectangle 12"/>
          <p:cNvSpPr/>
          <p:nvPr/>
        </p:nvSpPr>
        <p:spPr>
          <a:xfrm>
            <a:off x="6099047" y="1600200"/>
            <a:ext cx="1661160" cy="530352"/>
          </a:xfrm>
          <a:prstGeom prst="roundRect">
            <a:avLst/>
          </a:prstGeom>
          <a:solidFill>
            <a:srgbClr val="F7FAFC"/>
          </a:solidFill>
          <a:ln w="10160">
            <a:solidFill>
              <a:srgbClr val="529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44767" y="1764792"/>
            <a:ext cx="1569720" cy="137160"/>
          </a:xfrm>
          <a:prstGeom prst="rect">
            <a:avLst/>
          </a:prstGeom>
          <a:noFill/>
        </p:spPr>
        <p:txBody>
          <a:bodyPr wrap="square">
            <a:normAutofit/>
          </a:bodyPr>
          <a:lstStyle/>
          <a:p>
            <a:pPr algn="ctr"/>
            <a:r>
              <a:rPr sz="800" b="1">
                <a:solidFill>
                  <a:srgbClr val="111827"/>
                </a:solidFill>
                <a:latin typeface="Noto Sans SC"/>
              </a:rPr>
              <a:t>数据下行</a:t>
            </a:r>
          </a:p>
        </p:txBody>
      </p:sp>
      <p:sp>
        <p:nvSpPr>
          <p:cNvPr id="15" name="TextBox 14"/>
          <p:cNvSpPr txBox="1"/>
          <p:nvPr/>
        </p:nvSpPr>
        <p:spPr>
          <a:xfrm>
            <a:off x="7787639" y="177393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16" name="Rounded Rectangle 15"/>
          <p:cNvSpPr/>
          <p:nvPr/>
        </p:nvSpPr>
        <p:spPr>
          <a:xfrm>
            <a:off x="7888224" y="1600200"/>
            <a:ext cx="1661160" cy="530352"/>
          </a:xfrm>
          <a:prstGeom prst="roundRect">
            <a:avLst/>
          </a:prstGeom>
          <a:solidFill>
            <a:srgbClr val="F7FAFC"/>
          </a:solidFill>
          <a:ln w="10160">
            <a:solidFill>
              <a:srgbClr val="529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33944" y="1764792"/>
            <a:ext cx="1569720" cy="137160"/>
          </a:xfrm>
          <a:prstGeom prst="rect">
            <a:avLst/>
          </a:prstGeom>
          <a:noFill/>
        </p:spPr>
        <p:txBody>
          <a:bodyPr wrap="square">
            <a:normAutofit/>
          </a:bodyPr>
          <a:lstStyle/>
          <a:p>
            <a:pPr algn="ctr"/>
            <a:r>
              <a:rPr sz="800" b="1">
                <a:solidFill>
                  <a:srgbClr val="111827"/>
                </a:solidFill>
                <a:latin typeface="Noto Sans SC"/>
              </a:rPr>
              <a:t>数据处理</a:t>
            </a:r>
          </a:p>
        </p:txBody>
      </p:sp>
      <p:sp>
        <p:nvSpPr>
          <p:cNvPr id="18" name="TextBox 17"/>
          <p:cNvSpPr txBox="1"/>
          <p:nvPr/>
        </p:nvSpPr>
        <p:spPr>
          <a:xfrm>
            <a:off x="9576816" y="177393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19" name="Rounded Rectangle 18"/>
          <p:cNvSpPr/>
          <p:nvPr/>
        </p:nvSpPr>
        <p:spPr>
          <a:xfrm>
            <a:off x="9677400" y="1600200"/>
            <a:ext cx="1661160" cy="530352"/>
          </a:xfrm>
          <a:prstGeom prst="roundRect">
            <a:avLst/>
          </a:prstGeom>
          <a:solidFill>
            <a:srgbClr val="F7FAFC"/>
          </a:solidFill>
          <a:ln w="10160">
            <a:solidFill>
              <a:srgbClr val="529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23120" y="1764792"/>
            <a:ext cx="1569720" cy="137160"/>
          </a:xfrm>
          <a:prstGeom prst="rect">
            <a:avLst/>
          </a:prstGeom>
          <a:noFill/>
        </p:spPr>
        <p:txBody>
          <a:bodyPr wrap="square">
            <a:normAutofit/>
          </a:bodyPr>
          <a:lstStyle/>
          <a:p>
            <a:pPr algn="ctr"/>
            <a:r>
              <a:rPr sz="800" b="1">
                <a:solidFill>
                  <a:srgbClr val="111827"/>
                </a:solidFill>
                <a:latin typeface="Noto Sans SC"/>
              </a:rPr>
              <a:t>智能应用</a:t>
            </a:r>
          </a:p>
        </p:txBody>
      </p:sp>
      <p:sp>
        <p:nvSpPr>
          <p:cNvPr id="21" name="Rounded Rectangle 20"/>
          <p:cNvSpPr/>
          <p:nvPr/>
        </p:nvSpPr>
        <p:spPr>
          <a:xfrm>
            <a:off x="7699248" y="1481328"/>
            <a:ext cx="3611880" cy="777240"/>
          </a:xfrm>
          <a:prstGeom prst="roundRect">
            <a:avLst/>
          </a:prstGeom>
          <a:solidFill>
            <a:srgbClr val="F1F8FF"/>
          </a:solidFill>
          <a:ln w="10160">
            <a:solidFill>
              <a:srgbClr val="48B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32520" y="1298448"/>
            <a:ext cx="1097280" cy="164592"/>
          </a:xfrm>
          <a:prstGeom prst="rect">
            <a:avLst/>
          </a:prstGeom>
          <a:noFill/>
        </p:spPr>
        <p:txBody>
          <a:bodyPr wrap="square">
            <a:normAutofit/>
          </a:bodyPr>
          <a:lstStyle/>
          <a:p>
            <a:pPr algn="ctr"/>
            <a:r>
              <a:rPr sz="900" b="1">
                <a:solidFill>
                  <a:srgbClr val="48BB8F"/>
                </a:solidFill>
                <a:latin typeface="Noto Sans SC"/>
              </a:rPr>
              <a:t>行业断点</a:t>
            </a:r>
          </a:p>
        </p:txBody>
      </p:sp>
      <p:pic>
        <p:nvPicPr>
          <p:cNvPr id="23" name="Picture 22" descr="image1.png"/>
          <p:cNvPicPr>
            <a:picLocks noChangeAspect="1"/>
          </p:cNvPicPr>
          <p:nvPr/>
        </p:nvPicPr>
        <p:blipFill>
          <a:blip r:embed="rId2"/>
          <a:stretch>
            <a:fillRect/>
          </a:stretch>
        </p:blipFill>
        <p:spPr>
          <a:xfrm>
            <a:off x="777240" y="2743200"/>
            <a:ext cx="2743200" cy="1554480"/>
          </a:xfrm>
          <a:prstGeom prst="rect">
            <a:avLst/>
          </a:prstGeom>
        </p:spPr>
      </p:pic>
      <p:pic>
        <p:nvPicPr>
          <p:cNvPr id="24" name="Picture 23" descr="image15.jpeg"/>
          <p:cNvPicPr>
            <a:picLocks noChangeAspect="1"/>
          </p:cNvPicPr>
          <p:nvPr/>
        </p:nvPicPr>
        <p:blipFill>
          <a:blip r:embed="rId3"/>
          <a:stretch>
            <a:fillRect/>
          </a:stretch>
        </p:blipFill>
        <p:spPr>
          <a:xfrm>
            <a:off x="3840480" y="2743200"/>
            <a:ext cx="2743200" cy="1554480"/>
          </a:xfrm>
          <a:prstGeom prst="rect">
            <a:avLst/>
          </a:prstGeom>
        </p:spPr>
      </p:pic>
      <p:pic>
        <p:nvPicPr>
          <p:cNvPr id="25" name="Picture 24" descr="image16.png"/>
          <p:cNvPicPr>
            <a:picLocks noChangeAspect="1"/>
          </p:cNvPicPr>
          <p:nvPr/>
        </p:nvPicPr>
        <p:blipFill>
          <a:blip r:embed="rId4"/>
          <a:stretch>
            <a:fillRect/>
          </a:stretch>
        </p:blipFill>
        <p:spPr>
          <a:xfrm>
            <a:off x="6903720" y="2743200"/>
            <a:ext cx="2743200" cy="1554480"/>
          </a:xfrm>
          <a:prstGeom prst="rect">
            <a:avLst/>
          </a:prstGeom>
        </p:spPr>
      </p:pic>
      <p:sp>
        <p:nvSpPr>
          <p:cNvPr id="26" name="Rounded Rectangle 25"/>
          <p:cNvSpPr/>
          <p:nvPr/>
        </p:nvSpPr>
        <p:spPr>
          <a:xfrm>
            <a:off x="1143000" y="4892040"/>
            <a:ext cx="9784080" cy="713232"/>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25880" y="5038344"/>
            <a:ext cx="9418319" cy="201168"/>
          </a:xfrm>
          <a:prstGeom prst="rect">
            <a:avLst/>
          </a:prstGeom>
          <a:noFill/>
        </p:spPr>
        <p:txBody>
          <a:bodyPr wrap="square">
            <a:normAutofit/>
          </a:bodyPr>
          <a:lstStyle/>
          <a:p>
            <a:pPr algn="l"/>
            <a:r>
              <a:rPr sz="1100" b="1">
                <a:solidFill>
                  <a:srgbClr val="111827"/>
                </a:solidFill>
                <a:latin typeface="Noto Sans SC"/>
              </a:rPr>
              <a:t>玄女切入点</a:t>
            </a:r>
          </a:p>
        </p:txBody>
      </p:sp>
      <p:sp>
        <p:nvSpPr>
          <p:cNvPr id="28" name="TextBox 27"/>
          <p:cNvSpPr txBox="1"/>
          <p:nvPr/>
        </p:nvSpPr>
        <p:spPr>
          <a:xfrm>
            <a:off x="1325880" y="5367527"/>
            <a:ext cx="9418319" cy="146304"/>
          </a:xfrm>
          <a:prstGeom prst="rect">
            <a:avLst/>
          </a:prstGeom>
          <a:noFill/>
        </p:spPr>
        <p:txBody>
          <a:bodyPr wrap="square">
            <a:normAutofit/>
          </a:bodyPr>
          <a:lstStyle/>
          <a:p>
            <a:pPr algn="l"/>
            <a:r>
              <a:rPr sz="800" b="0">
                <a:solidFill>
                  <a:srgbClr val="64748B"/>
                </a:solidFill>
                <a:latin typeface="Noto Sans SC"/>
              </a:rPr>
              <a:t>卫星越来越多，数据越来越多；真正缺的是把数据处理成可复用智能应用的底座。</a:t>
            </a:r>
          </a:p>
        </p:txBody>
      </p:sp>
      <p:cxnSp>
        <p:nvCxnSpPr>
          <p:cNvPr id="29" name="Connector 28"/>
          <p:cNvCxnSpPr/>
          <p:nvPr/>
        </p:nvCxnSpPr>
        <p:spPr>
          <a:xfrm>
            <a:off x="1325880" y="5477256"/>
            <a:ext cx="9418320" cy="0"/>
          </a:xfrm>
          <a:prstGeom prst="line">
            <a:avLst/>
          </a:prstGeom>
          <a:ln w="25400">
            <a:solidFill>
              <a:srgbClr val="48BB8F"/>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 y="6537960"/>
            <a:ext cx="4389120" cy="164592"/>
          </a:xfrm>
          <a:prstGeom prst="rect">
            <a:avLst/>
          </a:prstGeom>
          <a:noFill/>
        </p:spPr>
        <p:txBody>
          <a:bodyPr wrap="square">
            <a:normAutofit/>
          </a:bodyPr>
          <a:lstStyle/>
          <a:p>
            <a:pPr algn="l"/>
            <a:r>
              <a:rPr sz="700" b="0">
                <a:solidFill>
                  <a:srgbClr val="64748B"/>
                </a:solidFill>
                <a:latin typeface="Noto Sans SC"/>
              </a:rPr>
              <a:t>玄女科技商业计划书｜前置叙事 v0.1</a:t>
            </a:r>
          </a:p>
        </p:txBody>
      </p:sp>
      <p:sp>
        <p:nvSpPr>
          <p:cNvPr id="31" name="TextBox 30"/>
          <p:cNvSpPr txBox="1"/>
          <p:nvPr/>
        </p:nvSpPr>
        <p:spPr>
          <a:xfrm>
            <a:off x="11064240" y="6510528"/>
            <a:ext cx="411480" cy="164592"/>
          </a:xfrm>
          <a:prstGeom prst="rect">
            <a:avLst/>
          </a:prstGeom>
          <a:noFill/>
        </p:spPr>
        <p:txBody>
          <a:bodyPr wrap="square">
            <a:normAutofit/>
          </a:bodyPr>
          <a:lstStyle/>
          <a:p>
            <a:pPr algn="r"/>
            <a:r>
              <a:rPr sz="800" b="0">
                <a:solidFill>
                  <a:srgbClr val="64748B"/>
                </a:solidFill>
                <a:latin typeface="Noto Sans SC"/>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47472"/>
            <a:ext cx="384048" cy="182880"/>
          </a:xfrm>
          <a:prstGeom prst="rect">
            <a:avLst/>
          </a:prstGeom>
          <a:noFill/>
        </p:spPr>
        <p:txBody>
          <a:bodyPr wrap="square">
            <a:normAutofit/>
          </a:bodyPr>
          <a:lstStyle/>
          <a:p>
            <a:pPr algn="l"/>
            <a:r>
              <a:rPr sz="800" b="1">
                <a:solidFill>
                  <a:srgbClr val="5294E2"/>
                </a:solidFill>
                <a:latin typeface="Noto Sans SC"/>
              </a:rPr>
              <a:t>06</a:t>
            </a:r>
          </a:p>
        </p:txBody>
      </p:sp>
      <p:sp>
        <p:nvSpPr>
          <p:cNvPr id="3" name="TextBox 2"/>
          <p:cNvSpPr txBox="1"/>
          <p:nvPr/>
        </p:nvSpPr>
        <p:spPr>
          <a:xfrm>
            <a:off x="987552" y="274320"/>
            <a:ext cx="9875520" cy="502920"/>
          </a:xfrm>
          <a:prstGeom prst="rect">
            <a:avLst/>
          </a:prstGeom>
          <a:noFill/>
        </p:spPr>
        <p:txBody>
          <a:bodyPr wrap="square">
            <a:normAutofit/>
          </a:bodyPr>
          <a:lstStyle/>
          <a:p>
            <a:pPr algn="l"/>
            <a:r>
              <a:rPr sz="2300" b="1">
                <a:solidFill>
                  <a:srgbClr val="111827"/>
                </a:solidFill>
                <a:latin typeface="Noto Sans SC"/>
              </a:rPr>
              <a:t>为什么遥感行业还没有真正发展起来：用不起、用不好、用不快</a:t>
            </a:r>
          </a:p>
        </p:txBody>
      </p:sp>
      <p:sp>
        <p:nvSpPr>
          <p:cNvPr id="4" name="Rounded Rectangle 3"/>
          <p:cNvSpPr/>
          <p:nvPr/>
        </p:nvSpPr>
        <p:spPr>
          <a:xfrm>
            <a:off x="777240" y="1389888"/>
            <a:ext cx="3154680" cy="960120"/>
          </a:xfrm>
          <a:prstGeom prst="roundRect">
            <a:avLst/>
          </a:prstGeom>
          <a:solidFill>
            <a:srgbClr val="EBF5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36192"/>
            <a:ext cx="2788920" cy="201168"/>
          </a:xfrm>
          <a:prstGeom prst="rect">
            <a:avLst/>
          </a:prstGeom>
          <a:noFill/>
        </p:spPr>
        <p:txBody>
          <a:bodyPr wrap="square">
            <a:normAutofit/>
          </a:bodyPr>
          <a:lstStyle/>
          <a:p>
            <a:pPr algn="l"/>
            <a:r>
              <a:rPr sz="1100" b="1">
                <a:solidFill>
                  <a:srgbClr val="111827"/>
                </a:solidFill>
                <a:latin typeface="Noto Sans SC"/>
              </a:rPr>
              <a:t>用不起</a:t>
            </a:r>
          </a:p>
        </p:txBody>
      </p:sp>
      <p:sp>
        <p:nvSpPr>
          <p:cNvPr id="6" name="TextBox 5"/>
          <p:cNvSpPr txBox="1"/>
          <p:nvPr/>
        </p:nvSpPr>
        <p:spPr>
          <a:xfrm>
            <a:off x="960120" y="1865376"/>
            <a:ext cx="2788920" cy="393192"/>
          </a:xfrm>
          <a:prstGeom prst="rect">
            <a:avLst/>
          </a:prstGeom>
          <a:noFill/>
        </p:spPr>
        <p:txBody>
          <a:bodyPr wrap="square">
            <a:normAutofit/>
          </a:bodyPr>
          <a:lstStyle/>
          <a:p>
            <a:pPr algn="l"/>
            <a:r>
              <a:rPr sz="800" b="0">
                <a:solidFill>
                  <a:srgbClr val="64748B"/>
                </a:solidFill>
                <a:latin typeface="Noto Sans SC"/>
              </a:rPr>
              <a:t>项目制、专家制、标注成本高，边际成本降不下来。</a:t>
            </a:r>
          </a:p>
        </p:txBody>
      </p:sp>
      <p:cxnSp>
        <p:nvCxnSpPr>
          <p:cNvPr id="7" name="Connector 6"/>
          <p:cNvCxnSpPr/>
          <p:nvPr/>
        </p:nvCxnSpPr>
        <p:spPr>
          <a:xfrm>
            <a:off x="960120" y="2221992"/>
            <a:ext cx="2788919" cy="0"/>
          </a:xfrm>
          <a:prstGeom prst="line">
            <a:avLst/>
          </a:prstGeom>
          <a:ln w="25400">
            <a:solidFill>
              <a:srgbClr val="5294E2"/>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480560" y="1389888"/>
            <a:ext cx="3154680" cy="960120"/>
          </a:xfrm>
          <a:prstGeom prst="roundRect">
            <a:avLst/>
          </a:prstGeom>
          <a:solidFill>
            <a:srgbClr val="EBFAF3"/>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536192"/>
            <a:ext cx="2788920" cy="201168"/>
          </a:xfrm>
          <a:prstGeom prst="rect">
            <a:avLst/>
          </a:prstGeom>
          <a:noFill/>
        </p:spPr>
        <p:txBody>
          <a:bodyPr wrap="square">
            <a:normAutofit/>
          </a:bodyPr>
          <a:lstStyle/>
          <a:p>
            <a:pPr algn="l"/>
            <a:r>
              <a:rPr sz="1100" b="1">
                <a:solidFill>
                  <a:srgbClr val="111827"/>
                </a:solidFill>
                <a:latin typeface="Noto Sans SC"/>
              </a:rPr>
              <a:t>用不好</a:t>
            </a:r>
          </a:p>
        </p:txBody>
      </p:sp>
      <p:sp>
        <p:nvSpPr>
          <p:cNvPr id="10" name="TextBox 9"/>
          <p:cNvSpPr txBox="1"/>
          <p:nvPr/>
        </p:nvSpPr>
        <p:spPr>
          <a:xfrm>
            <a:off x="4663440" y="1865376"/>
            <a:ext cx="2788920" cy="393192"/>
          </a:xfrm>
          <a:prstGeom prst="rect">
            <a:avLst/>
          </a:prstGeom>
          <a:noFill/>
        </p:spPr>
        <p:txBody>
          <a:bodyPr wrap="square">
            <a:normAutofit/>
          </a:bodyPr>
          <a:lstStyle/>
          <a:p>
            <a:pPr algn="l"/>
            <a:r>
              <a:rPr sz="800" b="0">
                <a:solidFill>
                  <a:srgbClr val="64748B"/>
                </a:solidFill>
                <a:latin typeface="Noto Sans SC"/>
              </a:rPr>
              <a:t>跨区域泛化差，换任务、换地物、换传感器就要重做。</a:t>
            </a:r>
          </a:p>
        </p:txBody>
      </p:sp>
      <p:cxnSp>
        <p:nvCxnSpPr>
          <p:cNvPr id="11" name="Connector 10"/>
          <p:cNvCxnSpPr/>
          <p:nvPr/>
        </p:nvCxnSpPr>
        <p:spPr>
          <a:xfrm>
            <a:off x="4663440" y="2221992"/>
            <a:ext cx="2788920" cy="0"/>
          </a:xfrm>
          <a:prstGeom prst="line">
            <a:avLst/>
          </a:prstGeom>
          <a:ln w="25400">
            <a:solidFill>
              <a:srgbClr val="48BB8F"/>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83879" y="1389888"/>
            <a:ext cx="3154680" cy="960120"/>
          </a:xfrm>
          <a:prstGeom prst="roundRect">
            <a:avLst/>
          </a:prstGeom>
          <a:solidFill>
            <a:srgbClr val="F4F1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59" y="1536192"/>
            <a:ext cx="2788920" cy="201168"/>
          </a:xfrm>
          <a:prstGeom prst="rect">
            <a:avLst/>
          </a:prstGeom>
          <a:noFill/>
        </p:spPr>
        <p:txBody>
          <a:bodyPr wrap="square">
            <a:normAutofit/>
          </a:bodyPr>
          <a:lstStyle/>
          <a:p>
            <a:pPr algn="l"/>
            <a:r>
              <a:rPr sz="1100" b="1">
                <a:solidFill>
                  <a:srgbClr val="111827"/>
                </a:solidFill>
                <a:latin typeface="Noto Sans SC"/>
              </a:rPr>
              <a:t>用不快</a:t>
            </a:r>
          </a:p>
        </p:txBody>
      </p:sp>
      <p:sp>
        <p:nvSpPr>
          <p:cNvPr id="14" name="TextBox 13"/>
          <p:cNvSpPr txBox="1"/>
          <p:nvPr/>
        </p:nvSpPr>
        <p:spPr>
          <a:xfrm>
            <a:off x="8366759" y="1865376"/>
            <a:ext cx="2788920" cy="393192"/>
          </a:xfrm>
          <a:prstGeom prst="rect">
            <a:avLst/>
          </a:prstGeom>
          <a:noFill/>
        </p:spPr>
        <p:txBody>
          <a:bodyPr wrap="square">
            <a:normAutofit/>
          </a:bodyPr>
          <a:lstStyle/>
          <a:p>
            <a:pPr algn="l"/>
            <a:r>
              <a:rPr sz="800" b="0">
                <a:solidFill>
                  <a:srgbClr val="64748B"/>
                </a:solidFill>
                <a:latin typeface="Noto Sans SC"/>
              </a:rPr>
              <a:t>交付周期长，从需求提出到结果交付常常错过决策窗口。</a:t>
            </a:r>
          </a:p>
        </p:txBody>
      </p:sp>
      <p:cxnSp>
        <p:nvCxnSpPr>
          <p:cNvPr id="15" name="Connector 14"/>
          <p:cNvCxnSpPr/>
          <p:nvPr/>
        </p:nvCxnSpPr>
        <p:spPr>
          <a:xfrm>
            <a:off x="8366759" y="2221992"/>
            <a:ext cx="2788921" cy="0"/>
          </a:xfrm>
          <a:prstGeom prst="line">
            <a:avLst/>
          </a:prstGeom>
          <a:ln w="25400">
            <a:solidFill>
              <a:srgbClr val="9784EC"/>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68680" y="3063240"/>
            <a:ext cx="885139" cy="530352"/>
          </a:xfrm>
          <a:prstGeom prst="roundRect">
            <a:avLst/>
          </a:prstGeom>
          <a:solidFill>
            <a:srgbClr val="F7FAFC"/>
          </a:solidFill>
          <a:ln w="1016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227832"/>
            <a:ext cx="793699" cy="137160"/>
          </a:xfrm>
          <a:prstGeom prst="rect">
            <a:avLst/>
          </a:prstGeom>
          <a:noFill/>
        </p:spPr>
        <p:txBody>
          <a:bodyPr wrap="square">
            <a:normAutofit/>
          </a:bodyPr>
          <a:lstStyle/>
          <a:p>
            <a:pPr algn="ctr"/>
            <a:r>
              <a:rPr sz="800" b="1">
                <a:solidFill>
                  <a:srgbClr val="111827"/>
                </a:solidFill>
                <a:latin typeface="Noto Sans SC"/>
              </a:rPr>
              <a:t>数据采购</a:t>
            </a:r>
          </a:p>
        </p:txBody>
      </p:sp>
      <p:sp>
        <p:nvSpPr>
          <p:cNvPr id="18" name="TextBox 17"/>
          <p:cNvSpPr txBox="1"/>
          <p:nvPr/>
        </p:nvSpPr>
        <p:spPr>
          <a:xfrm>
            <a:off x="1781251" y="323697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19" name="Rounded Rectangle 18"/>
          <p:cNvSpPr/>
          <p:nvPr/>
        </p:nvSpPr>
        <p:spPr>
          <a:xfrm>
            <a:off x="1881835" y="3063240"/>
            <a:ext cx="885139" cy="530352"/>
          </a:xfrm>
          <a:prstGeom prst="roundRect">
            <a:avLst/>
          </a:prstGeom>
          <a:solidFill>
            <a:srgbClr val="F7FAFC"/>
          </a:solidFill>
          <a:ln w="1016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27555" y="3227832"/>
            <a:ext cx="793699" cy="137160"/>
          </a:xfrm>
          <a:prstGeom prst="rect">
            <a:avLst/>
          </a:prstGeom>
          <a:noFill/>
        </p:spPr>
        <p:txBody>
          <a:bodyPr wrap="square">
            <a:normAutofit/>
          </a:bodyPr>
          <a:lstStyle/>
          <a:p>
            <a:pPr algn="ctr"/>
            <a:r>
              <a:rPr sz="800" b="1">
                <a:solidFill>
                  <a:srgbClr val="111827"/>
                </a:solidFill>
                <a:latin typeface="Noto Sans SC"/>
              </a:rPr>
              <a:t>预处理</a:t>
            </a:r>
          </a:p>
        </p:txBody>
      </p:sp>
      <p:sp>
        <p:nvSpPr>
          <p:cNvPr id="21" name="TextBox 20"/>
          <p:cNvSpPr txBox="1"/>
          <p:nvPr/>
        </p:nvSpPr>
        <p:spPr>
          <a:xfrm>
            <a:off x="2794406" y="323697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22" name="Rounded Rectangle 21"/>
          <p:cNvSpPr/>
          <p:nvPr/>
        </p:nvSpPr>
        <p:spPr>
          <a:xfrm>
            <a:off x="2894990" y="3063240"/>
            <a:ext cx="885139" cy="530352"/>
          </a:xfrm>
          <a:prstGeom prst="roundRect">
            <a:avLst/>
          </a:prstGeom>
          <a:solidFill>
            <a:srgbClr val="F7FAFC"/>
          </a:solidFill>
          <a:ln w="1016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40710" y="3227832"/>
            <a:ext cx="793699" cy="137160"/>
          </a:xfrm>
          <a:prstGeom prst="rect">
            <a:avLst/>
          </a:prstGeom>
          <a:noFill/>
        </p:spPr>
        <p:txBody>
          <a:bodyPr wrap="square">
            <a:normAutofit/>
          </a:bodyPr>
          <a:lstStyle/>
          <a:p>
            <a:pPr algn="ctr"/>
            <a:r>
              <a:rPr sz="800" b="1">
                <a:solidFill>
                  <a:srgbClr val="111827"/>
                </a:solidFill>
                <a:latin typeface="Noto Sans SC"/>
              </a:rPr>
              <a:t>专家建模</a:t>
            </a:r>
          </a:p>
        </p:txBody>
      </p:sp>
      <p:sp>
        <p:nvSpPr>
          <p:cNvPr id="24" name="TextBox 23"/>
          <p:cNvSpPr txBox="1"/>
          <p:nvPr/>
        </p:nvSpPr>
        <p:spPr>
          <a:xfrm>
            <a:off x="3807561" y="323697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25" name="Rounded Rectangle 24"/>
          <p:cNvSpPr/>
          <p:nvPr/>
        </p:nvSpPr>
        <p:spPr>
          <a:xfrm>
            <a:off x="3908145" y="3063240"/>
            <a:ext cx="885139" cy="530352"/>
          </a:xfrm>
          <a:prstGeom prst="roundRect">
            <a:avLst/>
          </a:prstGeom>
          <a:solidFill>
            <a:srgbClr val="F7FAFC"/>
          </a:solidFill>
          <a:ln w="1016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53865" y="3227832"/>
            <a:ext cx="793699" cy="137160"/>
          </a:xfrm>
          <a:prstGeom prst="rect">
            <a:avLst/>
          </a:prstGeom>
          <a:noFill/>
        </p:spPr>
        <p:txBody>
          <a:bodyPr wrap="square">
            <a:normAutofit/>
          </a:bodyPr>
          <a:lstStyle/>
          <a:p>
            <a:pPr algn="ctr"/>
            <a:r>
              <a:rPr sz="800" b="1">
                <a:solidFill>
                  <a:srgbClr val="111827"/>
                </a:solidFill>
                <a:latin typeface="Noto Sans SC"/>
              </a:rPr>
              <a:t>特征提取</a:t>
            </a:r>
          </a:p>
        </p:txBody>
      </p:sp>
      <p:sp>
        <p:nvSpPr>
          <p:cNvPr id="27" name="TextBox 26"/>
          <p:cNvSpPr txBox="1"/>
          <p:nvPr/>
        </p:nvSpPr>
        <p:spPr>
          <a:xfrm>
            <a:off x="4820716" y="323697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28" name="Rounded Rectangle 27"/>
          <p:cNvSpPr/>
          <p:nvPr/>
        </p:nvSpPr>
        <p:spPr>
          <a:xfrm>
            <a:off x="4921300" y="3063240"/>
            <a:ext cx="885139" cy="530352"/>
          </a:xfrm>
          <a:prstGeom prst="roundRect">
            <a:avLst/>
          </a:prstGeom>
          <a:solidFill>
            <a:srgbClr val="F7FAFC"/>
          </a:solidFill>
          <a:ln w="1016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67020" y="3227832"/>
            <a:ext cx="793699" cy="137160"/>
          </a:xfrm>
          <a:prstGeom prst="rect">
            <a:avLst/>
          </a:prstGeom>
          <a:noFill/>
        </p:spPr>
        <p:txBody>
          <a:bodyPr wrap="square">
            <a:normAutofit/>
          </a:bodyPr>
          <a:lstStyle/>
          <a:p>
            <a:pPr algn="ctr"/>
            <a:r>
              <a:rPr sz="800" b="1">
                <a:solidFill>
                  <a:srgbClr val="111827"/>
                </a:solidFill>
                <a:latin typeface="Noto Sans SC"/>
              </a:rPr>
              <a:t>制图交付</a:t>
            </a:r>
          </a:p>
        </p:txBody>
      </p:sp>
      <p:sp>
        <p:nvSpPr>
          <p:cNvPr id="30" name="Rounded Rectangle 29"/>
          <p:cNvSpPr/>
          <p:nvPr/>
        </p:nvSpPr>
        <p:spPr>
          <a:xfrm>
            <a:off x="6400800" y="3063240"/>
            <a:ext cx="1001268" cy="530352"/>
          </a:xfrm>
          <a:prstGeom prst="roundRect">
            <a:avLst/>
          </a:prstGeom>
          <a:solidFill>
            <a:srgbClr val="F7FAFC"/>
          </a:solidFill>
          <a:ln w="10160">
            <a:solidFill>
              <a:srgbClr val="48B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3227832"/>
            <a:ext cx="909828" cy="137160"/>
          </a:xfrm>
          <a:prstGeom prst="rect">
            <a:avLst/>
          </a:prstGeom>
          <a:noFill/>
        </p:spPr>
        <p:txBody>
          <a:bodyPr wrap="square">
            <a:normAutofit/>
          </a:bodyPr>
          <a:lstStyle/>
          <a:p>
            <a:pPr algn="ctr"/>
            <a:r>
              <a:rPr sz="800" b="1">
                <a:solidFill>
                  <a:srgbClr val="111827"/>
                </a:solidFill>
                <a:latin typeface="Noto Sans SC"/>
              </a:rPr>
              <a:t>地理嵌入</a:t>
            </a:r>
          </a:p>
        </p:txBody>
      </p:sp>
      <p:sp>
        <p:nvSpPr>
          <p:cNvPr id="32" name="TextBox 31"/>
          <p:cNvSpPr txBox="1"/>
          <p:nvPr/>
        </p:nvSpPr>
        <p:spPr>
          <a:xfrm>
            <a:off x="7429500" y="323697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33" name="Rounded Rectangle 32"/>
          <p:cNvSpPr/>
          <p:nvPr/>
        </p:nvSpPr>
        <p:spPr>
          <a:xfrm>
            <a:off x="7530083" y="3063240"/>
            <a:ext cx="1001268" cy="530352"/>
          </a:xfrm>
          <a:prstGeom prst="roundRect">
            <a:avLst/>
          </a:prstGeom>
          <a:solidFill>
            <a:srgbClr val="F7FAFC"/>
          </a:solidFill>
          <a:ln w="10160">
            <a:solidFill>
              <a:srgbClr val="48B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5804" y="3227832"/>
            <a:ext cx="909828" cy="137160"/>
          </a:xfrm>
          <a:prstGeom prst="rect">
            <a:avLst/>
          </a:prstGeom>
          <a:noFill/>
        </p:spPr>
        <p:txBody>
          <a:bodyPr wrap="square">
            <a:normAutofit/>
          </a:bodyPr>
          <a:lstStyle/>
          <a:p>
            <a:pPr algn="ctr"/>
            <a:r>
              <a:rPr sz="800" b="1">
                <a:solidFill>
                  <a:srgbClr val="111827"/>
                </a:solidFill>
                <a:latin typeface="Noto Sans SC"/>
              </a:rPr>
              <a:t>任务适配</a:t>
            </a:r>
          </a:p>
        </p:txBody>
      </p:sp>
      <p:sp>
        <p:nvSpPr>
          <p:cNvPr id="35" name="TextBox 34"/>
          <p:cNvSpPr txBox="1"/>
          <p:nvPr/>
        </p:nvSpPr>
        <p:spPr>
          <a:xfrm>
            <a:off x="8558784" y="323697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36" name="Rounded Rectangle 35"/>
          <p:cNvSpPr/>
          <p:nvPr/>
        </p:nvSpPr>
        <p:spPr>
          <a:xfrm>
            <a:off x="8659367" y="3063240"/>
            <a:ext cx="1001268" cy="530352"/>
          </a:xfrm>
          <a:prstGeom prst="roundRect">
            <a:avLst/>
          </a:prstGeom>
          <a:solidFill>
            <a:srgbClr val="F7FAFC"/>
          </a:solidFill>
          <a:ln w="10160">
            <a:solidFill>
              <a:srgbClr val="48B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05088" y="3227832"/>
            <a:ext cx="909828" cy="137160"/>
          </a:xfrm>
          <a:prstGeom prst="rect">
            <a:avLst/>
          </a:prstGeom>
          <a:noFill/>
        </p:spPr>
        <p:txBody>
          <a:bodyPr wrap="square">
            <a:normAutofit/>
          </a:bodyPr>
          <a:lstStyle/>
          <a:p>
            <a:pPr algn="ctr"/>
            <a:r>
              <a:rPr sz="800" b="1">
                <a:solidFill>
                  <a:srgbClr val="111827"/>
                </a:solidFill>
                <a:latin typeface="Noto Sans SC"/>
              </a:rPr>
              <a:t>候选图斑</a:t>
            </a:r>
          </a:p>
        </p:txBody>
      </p:sp>
      <p:sp>
        <p:nvSpPr>
          <p:cNvPr id="38" name="TextBox 37"/>
          <p:cNvSpPr txBox="1"/>
          <p:nvPr/>
        </p:nvSpPr>
        <p:spPr>
          <a:xfrm>
            <a:off x="9688067" y="323697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39" name="Rounded Rectangle 38"/>
          <p:cNvSpPr/>
          <p:nvPr/>
        </p:nvSpPr>
        <p:spPr>
          <a:xfrm>
            <a:off x="9788652" y="3063240"/>
            <a:ext cx="1001268" cy="530352"/>
          </a:xfrm>
          <a:prstGeom prst="roundRect">
            <a:avLst/>
          </a:prstGeom>
          <a:solidFill>
            <a:srgbClr val="F7FAFC"/>
          </a:solidFill>
          <a:ln w="10160">
            <a:solidFill>
              <a:srgbClr val="48B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834372" y="3227832"/>
            <a:ext cx="909828" cy="137160"/>
          </a:xfrm>
          <a:prstGeom prst="rect">
            <a:avLst/>
          </a:prstGeom>
          <a:noFill/>
        </p:spPr>
        <p:txBody>
          <a:bodyPr wrap="square">
            <a:normAutofit/>
          </a:bodyPr>
          <a:lstStyle/>
          <a:p>
            <a:pPr algn="ctr"/>
            <a:r>
              <a:rPr sz="800" b="1">
                <a:solidFill>
                  <a:srgbClr val="111827"/>
                </a:solidFill>
                <a:latin typeface="Noto Sans SC"/>
              </a:rPr>
              <a:t>证据链</a:t>
            </a:r>
          </a:p>
        </p:txBody>
      </p:sp>
      <p:sp>
        <p:nvSpPr>
          <p:cNvPr id="41" name="TextBox 40"/>
          <p:cNvSpPr txBox="1"/>
          <p:nvPr/>
        </p:nvSpPr>
        <p:spPr>
          <a:xfrm>
            <a:off x="914400" y="5074920"/>
            <a:ext cx="10241280" cy="347472"/>
          </a:xfrm>
          <a:prstGeom prst="rect">
            <a:avLst/>
          </a:prstGeom>
          <a:noFill/>
        </p:spPr>
        <p:txBody>
          <a:bodyPr wrap="square">
            <a:normAutofit/>
          </a:bodyPr>
          <a:lstStyle/>
          <a:p>
            <a:pPr algn="ctr"/>
            <a:r>
              <a:rPr sz="1900" b="1">
                <a:solidFill>
                  <a:srgbClr val="111827"/>
                </a:solidFill>
                <a:latin typeface="Noto Sans SC"/>
              </a:rPr>
              <a:t>问题不在于没有卫星数据，而在于每个应用都要重新走一遍重流程。</a:t>
            </a:r>
          </a:p>
        </p:txBody>
      </p:sp>
      <p:sp>
        <p:nvSpPr>
          <p:cNvPr id="42" name="TextBox 41"/>
          <p:cNvSpPr txBox="1"/>
          <p:nvPr/>
        </p:nvSpPr>
        <p:spPr>
          <a:xfrm>
            <a:off x="566928" y="6537960"/>
            <a:ext cx="4389120" cy="164592"/>
          </a:xfrm>
          <a:prstGeom prst="rect">
            <a:avLst/>
          </a:prstGeom>
          <a:noFill/>
        </p:spPr>
        <p:txBody>
          <a:bodyPr wrap="square">
            <a:normAutofit/>
          </a:bodyPr>
          <a:lstStyle/>
          <a:p>
            <a:pPr algn="l"/>
            <a:r>
              <a:rPr sz="700" b="0">
                <a:solidFill>
                  <a:srgbClr val="64748B"/>
                </a:solidFill>
                <a:latin typeface="Noto Sans SC"/>
              </a:rPr>
              <a:t>玄女科技商业计划书｜前置叙事 v0.1</a:t>
            </a:r>
          </a:p>
        </p:txBody>
      </p:sp>
      <p:sp>
        <p:nvSpPr>
          <p:cNvPr id="43" name="TextBox 42"/>
          <p:cNvSpPr txBox="1"/>
          <p:nvPr/>
        </p:nvSpPr>
        <p:spPr>
          <a:xfrm>
            <a:off x="11064240" y="6510528"/>
            <a:ext cx="411480" cy="164592"/>
          </a:xfrm>
          <a:prstGeom prst="rect">
            <a:avLst/>
          </a:prstGeom>
          <a:noFill/>
        </p:spPr>
        <p:txBody>
          <a:bodyPr wrap="square">
            <a:normAutofit/>
          </a:bodyPr>
          <a:lstStyle/>
          <a:p>
            <a:pPr algn="r"/>
            <a:r>
              <a:rPr sz="800" b="0">
                <a:solidFill>
                  <a:srgbClr val="64748B"/>
                </a:solidFill>
                <a:latin typeface="Noto Sans SC"/>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47472"/>
            <a:ext cx="384048" cy="182880"/>
          </a:xfrm>
          <a:prstGeom prst="rect">
            <a:avLst/>
          </a:prstGeom>
          <a:noFill/>
        </p:spPr>
        <p:txBody>
          <a:bodyPr wrap="square">
            <a:normAutofit/>
          </a:bodyPr>
          <a:lstStyle/>
          <a:p>
            <a:pPr algn="l"/>
            <a:r>
              <a:rPr sz="800" b="1">
                <a:solidFill>
                  <a:srgbClr val="5294E2"/>
                </a:solidFill>
                <a:latin typeface="Noto Sans SC"/>
              </a:rPr>
              <a:t>07</a:t>
            </a:r>
          </a:p>
        </p:txBody>
      </p:sp>
      <p:sp>
        <p:nvSpPr>
          <p:cNvPr id="3" name="TextBox 2"/>
          <p:cNvSpPr txBox="1"/>
          <p:nvPr/>
        </p:nvSpPr>
        <p:spPr>
          <a:xfrm>
            <a:off x="987552" y="274320"/>
            <a:ext cx="9875520" cy="502920"/>
          </a:xfrm>
          <a:prstGeom prst="rect">
            <a:avLst/>
          </a:prstGeom>
          <a:noFill/>
        </p:spPr>
        <p:txBody>
          <a:bodyPr wrap="square">
            <a:normAutofit/>
          </a:bodyPr>
          <a:lstStyle/>
          <a:p>
            <a:pPr algn="l"/>
            <a:r>
              <a:rPr sz="2300" b="1">
                <a:solidFill>
                  <a:srgbClr val="111827"/>
                </a:solidFill>
                <a:latin typeface="Noto Sans SC"/>
              </a:rPr>
              <a:t>天使用户与目标用户：政府、企业、学校，未来开放给个人</a:t>
            </a:r>
          </a:p>
        </p:txBody>
      </p:sp>
      <p:pic>
        <p:nvPicPr>
          <p:cNvPr id="4" name="Picture 3" descr="persona_government.png"/>
          <p:cNvPicPr>
            <a:picLocks noChangeAspect="1"/>
          </p:cNvPicPr>
          <p:nvPr/>
        </p:nvPicPr>
        <p:blipFill>
          <a:blip r:embed="rId2"/>
          <a:stretch>
            <a:fillRect/>
          </a:stretch>
        </p:blipFill>
        <p:spPr>
          <a:xfrm>
            <a:off x="777240" y="1325880"/>
            <a:ext cx="2880360" cy="2148840"/>
          </a:xfrm>
          <a:prstGeom prst="rect">
            <a:avLst/>
          </a:prstGeom>
        </p:spPr>
      </p:pic>
      <p:sp>
        <p:nvSpPr>
          <p:cNvPr id="5" name="TextBox 4"/>
          <p:cNvSpPr txBox="1"/>
          <p:nvPr/>
        </p:nvSpPr>
        <p:spPr>
          <a:xfrm>
            <a:off x="777240" y="3675887"/>
            <a:ext cx="2880360" cy="201168"/>
          </a:xfrm>
          <a:prstGeom prst="rect">
            <a:avLst/>
          </a:prstGeom>
          <a:noFill/>
        </p:spPr>
        <p:txBody>
          <a:bodyPr wrap="square">
            <a:normAutofit/>
          </a:bodyPr>
          <a:lstStyle/>
          <a:p>
            <a:pPr algn="ctr"/>
            <a:r>
              <a:rPr sz="1400" b="1">
                <a:solidFill>
                  <a:srgbClr val="111827"/>
                </a:solidFill>
                <a:latin typeface="Noto Sans SC"/>
              </a:rPr>
              <a:t>政府</a:t>
            </a:r>
          </a:p>
        </p:txBody>
      </p:sp>
      <p:sp>
        <p:nvSpPr>
          <p:cNvPr id="6" name="TextBox 5"/>
          <p:cNvSpPr txBox="1"/>
          <p:nvPr/>
        </p:nvSpPr>
        <p:spPr>
          <a:xfrm>
            <a:off x="941832" y="4069080"/>
            <a:ext cx="2560320" cy="182880"/>
          </a:xfrm>
          <a:prstGeom prst="rect">
            <a:avLst/>
          </a:prstGeom>
          <a:noFill/>
        </p:spPr>
        <p:txBody>
          <a:bodyPr wrap="square">
            <a:normAutofit/>
          </a:bodyPr>
          <a:lstStyle/>
          <a:p>
            <a:pPr algn="ctr"/>
            <a:r>
              <a:rPr sz="1000" b="1">
                <a:solidFill>
                  <a:srgbClr val="5294E2"/>
                </a:solidFill>
                <a:latin typeface="Noto Sans SC"/>
              </a:rPr>
              <a:t>需要变化证据链</a:t>
            </a:r>
          </a:p>
        </p:txBody>
      </p:sp>
      <p:sp>
        <p:nvSpPr>
          <p:cNvPr id="7" name="TextBox 6"/>
          <p:cNvSpPr txBox="1"/>
          <p:nvPr/>
        </p:nvSpPr>
        <p:spPr>
          <a:xfrm>
            <a:off x="941832" y="4434840"/>
            <a:ext cx="2560320" cy="384048"/>
          </a:xfrm>
          <a:prstGeom prst="rect">
            <a:avLst/>
          </a:prstGeom>
          <a:noFill/>
        </p:spPr>
        <p:txBody>
          <a:bodyPr wrap="square">
            <a:normAutofit/>
          </a:bodyPr>
          <a:lstStyle/>
          <a:p>
            <a:pPr algn="ctr"/>
            <a:r>
              <a:rPr sz="800" b="0">
                <a:solidFill>
                  <a:srgbClr val="64748B"/>
                </a:solidFill>
                <a:latin typeface="Noto Sans SC"/>
              </a:rPr>
              <a:t>图斑优先级、历史过程、核查闭环</a:t>
            </a:r>
          </a:p>
        </p:txBody>
      </p:sp>
      <p:pic>
        <p:nvPicPr>
          <p:cNvPr id="8" name="Picture 7" descr="persona_enterprise.png"/>
          <p:cNvPicPr>
            <a:picLocks noChangeAspect="1"/>
          </p:cNvPicPr>
          <p:nvPr/>
        </p:nvPicPr>
        <p:blipFill>
          <a:blip r:embed="rId3"/>
          <a:stretch>
            <a:fillRect/>
          </a:stretch>
        </p:blipFill>
        <p:spPr>
          <a:xfrm>
            <a:off x="4544568" y="1325880"/>
            <a:ext cx="2880360" cy="2148840"/>
          </a:xfrm>
          <a:prstGeom prst="rect">
            <a:avLst/>
          </a:prstGeom>
        </p:spPr>
      </p:pic>
      <p:sp>
        <p:nvSpPr>
          <p:cNvPr id="9" name="TextBox 8"/>
          <p:cNvSpPr txBox="1"/>
          <p:nvPr/>
        </p:nvSpPr>
        <p:spPr>
          <a:xfrm>
            <a:off x="4544568" y="3675887"/>
            <a:ext cx="2880360" cy="201168"/>
          </a:xfrm>
          <a:prstGeom prst="rect">
            <a:avLst/>
          </a:prstGeom>
          <a:noFill/>
        </p:spPr>
        <p:txBody>
          <a:bodyPr wrap="square">
            <a:normAutofit/>
          </a:bodyPr>
          <a:lstStyle/>
          <a:p>
            <a:pPr algn="ctr"/>
            <a:r>
              <a:rPr sz="1400" b="1">
                <a:solidFill>
                  <a:srgbClr val="111827"/>
                </a:solidFill>
                <a:latin typeface="Noto Sans SC"/>
              </a:rPr>
              <a:t>企业</a:t>
            </a:r>
          </a:p>
        </p:txBody>
      </p:sp>
      <p:sp>
        <p:nvSpPr>
          <p:cNvPr id="10" name="TextBox 9"/>
          <p:cNvSpPr txBox="1"/>
          <p:nvPr/>
        </p:nvSpPr>
        <p:spPr>
          <a:xfrm>
            <a:off x="4709159" y="4069080"/>
            <a:ext cx="2560320" cy="182880"/>
          </a:xfrm>
          <a:prstGeom prst="rect">
            <a:avLst/>
          </a:prstGeom>
          <a:noFill/>
        </p:spPr>
        <p:txBody>
          <a:bodyPr wrap="square">
            <a:normAutofit/>
          </a:bodyPr>
          <a:lstStyle/>
          <a:p>
            <a:pPr algn="ctr"/>
            <a:r>
              <a:rPr sz="1000" b="1">
                <a:solidFill>
                  <a:srgbClr val="5294E2"/>
                </a:solidFill>
                <a:latin typeface="Noto Sans SC"/>
              </a:rPr>
              <a:t>项目越多越重</a:t>
            </a:r>
          </a:p>
        </p:txBody>
      </p:sp>
      <p:sp>
        <p:nvSpPr>
          <p:cNvPr id="11" name="TextBox 10"/>
          <p:cNvSpPr txBox="1"/>
          <p:nvPr/>
        </p:nvSpPr>
        <p:spPr>
          <a:xfrm>
            <a:off x="4709159" y="4434840"/>
            <a:ext cx="2560320" cy="384048"/>
          </a:xfrm>
          <a:prstGeom prst="rect">
            <a:avLst/>
          </a:prstGeom>
          <a:noFill/>
        </p:spPr>
        <p:txBody>
          <a:bodyPr wrap="square">
            <a:normAutofit/>
          </a:bodyPr>
          <a:lstStyle/>
          <a:p>
            <a:pPr algn="ctr"/>
            <a:r>
              <a:rPr sz="800" b="0">
                <a:solidFill>
                  <a:srgbClr val="64748B"/>
                </a:solidFill>
                <a:latin typeface="Noto Sans SC"/>
              </a:rPr>
              <a:t>底座复用、少样本适配、降本增效</a:t>
            </a:r>
          </a:p>
        </p:txBody>
      </p:sp>
      <p:pic>
        <p:nvPicPr>
          <p:cNvPr id="12" name="Picture 11" descr="persona_university.png"/>
          <p:cNvPicPr>
            <a:picLocks noChangeAspect="1"/>
          </p:cNvPicPr>
          <p:nvPr/>
        </p:nvPicPr>
        <p:blipFill>
          <a:blip r:embed="rId4"/>
          <a:stretch>
            <a:fillRect/>
          </a:stretch>
        </p:blipFill>
        <p:spPr>
          <a:xfrm>
            <a:off x="8311896" y="1325880"/>
            <a:ext cx="2880360" cy="2148840"/>
          </a:xfrm>
          <a:prstGeom prst="rect">
            <a:avLst/>
          </a:prstGeom>
        </p:spPr>
      </p:pic>
      <p:sp>
        <p:nvSpPr>
          <p:cNvPr id="13" name="TextBox 12"/>
          <p:cNvSpPr txBox="1"/>
          <p:nvPr/>
        </p:nvSpPr>
        <p:spPr>
          <a:xfrm>
            <a:off x="8311896" y="3675887"/>
            <a:ext cx="2880360" cy="201168"/>
          </a:xfrm>
          <a:prstGeom prst="rect">
            <a:avLst/>
          </a:prstGeom>
          <a:noFill/>
        </p:spPr>
        <p:txBody>
          <a:bodyPr wrap="square">
            <a:normAutofit/>
          </a:bodyPr>
          <a:lstStyle/>
          <a:p>
            <a:pPr algn="ctr"/>
            <a:r>
              <a:rPr sz="1400" b="1">
                <a:solidFill>
                  <a:srgbClr val="111827"/>
                </a:solidFill>
                <a:latin typeface="Noto Sans SC"/>
              </a:rPr>
              <a:t>学校</a:t>
            </a:r>
          </a:p>
        </p:txBody>
      </p:sp>
      <p:sp>
        <p:nvSpPr>
          <p:cNvPr id="14" name="TextBox 13"/>
          <p:cNvSpPr txBox="1"/>
          <p:nvPr/>
        </p:nvSpPr>
        <p:spPr>
          <a:xfrm>
            <a:off x="8476488" y="4069080"/>
            <a:ext cx="2560320" cy="182880"/>
          </a:xfrm>
          <a:prstGeom prst="rect">
            <a:avLst/>
          </a:prstGeom>
          <a:noFill/>
        </p:spPr>
        <p:txBody>
          <a:bodyPr wrap="square">
            <a:normAutofit/>
          </a:bodyPr>
          <a:lstStyle/>
          <a:p>
            <a:pPr algn="ctr"/>
            <a:r>
              <a:rPr sz="1000" b="1">
                <a:solidFill>
                  <a:srgbClr val="5294E2"/>
                </a:solidFill>
                <a:latin typeface="Noto Sans SC"/>
              </a:rPr>
              <a:t>数据工程吃掉周期</a:t>
            </a:r>
          </a:p>
        </p:txBody>
      </p:sp>
      <p:sp>
        <p:nvSpPr>
          <p:cNvPr id="15" name="TextBox 14"/>
          <p:cNvSpPr txBox="1"/>
          <p:nvPr/>
        </p:nvSpPr>
        <p:spPr>
          <a:xfrm>
            <a:off x="8476488" y="4434840"/>
            <a:ext cx="2560320" cy="384048"/>
          </a:xfrm>
          <a:prstGeom prst="rect">
            <a:avLst/>
          </a:prstGeom>
          <a:noFill/>
        </p:spPr>
        <p:txBody>
          <a:bodyPr wrap="square">
            <a:normAutofit/>
          </a:bodyPr>
          <a:lstStyle/>
          <a:p>
            <a:pPr algn="ctr"/>
            <a:r>
              <a:rPr sz="800" b="0">
                <a:solidFill>
                  <a:srgbClr val="64748B"/>
                </a:solidFill>
                <a:latin typeface="Noto Sans SC"/>
              </a:rPr>
              <a:t>现成嵌入、预标注、难例检索</a:t>
            </a:r>
          </a:p>
        </p:txBody>
      </p:sp>
      <p:sp>
        <p:nvSpPr>
          <p:cNvPr id="16" name="TextBox 15"/>
          <p:cNvSpPr txBox="1"/>
          <p:nvPr/>
        </p:nvSpPr>
        <p:spPr>
          <a:xfrm>
            <a:off x="914400" y="5577840"/>
            <a:ext cx="10241280" cy="237744"/>
          </a:xfrm>
          <a:prstGeom prst="rect">
            <a:avLst/>
          </a:prstGeom>
          <a:noFill/>
        </p:spPr>
        <p:txBody>
          <a:bodyPr wrap="square">
            <a:normAutofit/>
          </a:bodyPr>
          <a:lstStyle/>
          <a:p>
            <a:pPr algn="ctr"/>
            <a:r>
              <a:rPr sz="1400" b="0">
                <a:solidFill>
                  <a:srgbClr val="64748B"/>
                </a:solidFill>
                <a:latin typeface="Noto Sans SC"/>
              </a:rPr>
              <a:t>规模做上来后，可把地块异常提醒和证据包开放给个人用户。</a:t>
            </a:r>
          </a:p>
        </p:txBody>
      </p:sp>
      <p:sp>
        <p:nvSpPr>
          <p:cNvPr id="17" name="TextBox 16"/>
          <p:cNvSpPr txBox="1"/>
          <p:nvPr/>
        </p:nvSpPr>
        <p:spPr>
          <a:xfrm>
            <a:off x="566928" y="6537960"/>
            <a:ext cx="4389120" cy="164592"/>
          </a:xfrm>
          <a:prstGeom prst="rect">
            <a:avLst/>
          </a:prstGeom>
          <a:noFill/>
        </p:spPr>
        <p:txBody>
          <a:bodyPr wrap="square">
            <a:normAutofit/>
          </a:bodyPr>
          <a:lstStyle/>
          <a:p>
            <a:pPr algn="l"/>
            <a:r>
              <a:rPr sz="700" b="0">
                <a:solidFill>
                  <a:srgbClr val="64748B"/>
                </a:solidFill>
                <a:latin typeface="Noto Sans SC"/>
              </a:rPr>
              <a:t>玄女科技商业计划书｜前置叙事 v0.1</a:t>
            </a:r>
          </a:p>
        </p:txBody>
      </p:sp>
      <p:sp>
        <p:nvSpPr>
          <p:cNvPr id="18" name="TextBox 17"/>
          <p:cNvSpPr txBox="1"/>
          <p:nvPr/>
        </p:nvSpPr>
        <p:spPr>
          <a:xfrm>
            <a:off x="11064240" y="6510528"/>
            <a:ext cx="411480" cy="164592"/>
          </a:xfrm>
          <a:prstGeom prst="rect">
            <a:avLst/>
          </a:prstGeom>
          <a:noFill/>
        </p:spPr>
        <p:txBody>
          <a:bodyPr wrap="square">
            <a:normAutofit/>
          </a:bodyPr>
          <a:lstStyle/>
          <a:p>
            <a:pPr algn="r"/>
            <a:r>
              <a:rPr sz="800" b="0">
                <a:solidFill>
                  <a:srgbClr val="64748B"/>
                </a:solidFill>
                <a:latin typeface="Noto Sans SC"/>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47472"/>
            <a:ext cx="384048" cy="182880"/>
          </a:xfrm>
          <a:prstGeom prst="rect">
            <a:avLst/>
          </a:prstGeom>
          <a:noFill/>
        </p:spPr>
        <p:txBody>
          <a:bodyPr wrap="square">
            <a:normAutofit/>
          </a:bodyPr>
          <a:lstStyle/>
          <a:p>
            <a:pPr algn="l"/>
            <a:r>
              <a:rPr sz="800" b="1">
                <a:solidFill>
                  <a:srgbClr val="5294E2"/>
                </a:solidFill>
                <a:latin typeface="Noto Sans SC"/>
              </a:rPr>
              <a:t>08</a:t>
            </a:r>
          </a:p>
        </p:txBody>
      </p:sp>
      <p:sp>
        <p:nvSpPr>
          <p:cNvPr id="3" name="TextBox 2"/>
          <p:cNvSpPr txBox="1"/>
          <p:nvPr/>
        </p:nvSpPr>
        <p:spPr>
          <a:xfrm>
            <a:off x="987552" y="274320"/>
            <a:ext cx="9875520" cy="502920"/>
          </a:xfrm>
          <a:prstGeom prst="rect">
            <a:avLst/>
          </a:prstGeom>
          <a:noFill/>
        </p:spPr>
        <p:txBody>
          <a:bodyPr wrap="square">
            <a:normAutofit/>
          </a:bodyPr>
          <a:lstStyle/>
          <a:p>
            <a:pPr algn="l"/>
            <a:r>
              <a:rPr sz="2300" b="1">
                <a:solidFill>
                  <a:srgbClr val="111827"/>
                </a:solidFill>
                <a:latin typeface="Noto Sans SC"/>
              </a:rPr>
              <a:t>How might we：把地球观测转成可复用的地理智能底座</a:t>
            </a:r>
          </a:p>
        </p:txBody>
      </p:sp>
      <p:sp>
        <p:nvSpPr>
          <p:cNvPr id="4" name="TextBox 3"/>
          <p:cNvSpPr txBox="1"/>
          <p:nvPr/>
        </p:nvSpPr>
        <p:spPr>
          <a:xfrm>
            <a:off x="914400" y="1389888"/>
            <a:ext cx="10241280" cy="749808"/>
          </a:xfrm>
          <a:prstGeom prst="rect">
            <a:avLst/>
          </a:prstGeom>
          <a:noFill/>
        </p:spPr>
        <p:txBody>
          <a:bodyPr wrap="square">
            <a:normAutofit/>
          </a:bodyPr>
          <a:lstStyle/>
          <a:p>
            <a:pPr algn="ctr"/>
            <a:r>
              <a:rPr sz="2500" b="1">
                <a:solidFill>
                  <a:srgbClr val="111827"/>
                </a:solidFill>
                <a:latin typeface="Noto Sans SC"/>
              </a:rPr>
              <a:t>我们如何把爆发式增长的地球观测数据转化为可复用的地理智能底座，让不同用户不再为每个遥感任务重复采购、标注、建模和计算？</a:t>
            </a:r>
          </a:p>
        </p:txBody>
      </p:sp>
      <p:sp>
        <p:nvSpPr>
          <p:cNvPr id="5" name="Rounded Rectangle 4"/>
          <p:cNvSpPr/>
          <p:nvPr/>
        </p:nvSpPr>
        <p:spPr>
          <a:xfrm>
            <a:off x="1234440" y="3063240"/>
            <a:ext cx="4114800" cy="1051560"/>
          </a:xfrm>
          <a:prstGeom prst="roundRect">
            <a:avLst/>
          </a:prstGeom>
          <a:solidFill>
            <a:srgbClr val="EBF5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17320" y="3209544"/>
            <a:ext cx="3749039" cy="201168"/>
          </a:xfrm>
          <a:prstGeom prst="rect">
            <a:avLst/>
          </a:prstGeom>
          <a:noFill/>
        </p:spPr>
        <p:txBody>
          <a:bodyPr wrap="square">
            <a:normAutofit/>
          </a:bodyPr>
          <a:lstStyle/>
          <a:p>
            <a:pPr algn="l"/>
            <a:r>
              <a:rPr sz="1100" b="1">
                <a:solidFill>
                  <a:srgbClr val="111827"/>
                </a:solidFill>
                <a:latin typeface="Noto Sans SC"/>
              </a:rPr>
              <a:t>GPT</a:t>
            </a:r>
          </a:p>
        </p:txBody>
      </p:sp>
      <p:sp>
        <p:nvSpPr>
          <p:cNvPr id="7" name="TextBox 6"/>
          <p:cNvSpPr txBox="1"/>
          <p:nvPr/>
        </p:nvSpPr>
        <p:spPr>
          <a:xfrm>
            <a:off x="1417320" y="3538728"/>
            <a:ext cx="3749039" cy="484631"/>
          </a:xfrm>
          <a:prstGeom prst="rect">
            <a:avLst/>
          </a:prstGeom>
          <a:noFill/>
        </p:spPr>
        <p:txBody>
          <a:bodyPr wrap="square">
            <a:normAutofit/>
          </a:bodyPr>
          <a:lstStyle/>
          <a:p>
            <a:pPr algn="l"/>
            <a:r>
              <a:rPr sz="800" b="0">
                <a:solidFill>
                  <a:srgbClr val="64748B"/>
                </a:solidFill>
                <a:latin typeface="Noto Sans SC"/>
              </a:rPr>
              <a:t>文本 → token → 理解 / 检索 / 生成</a:t>
            </a:r>
          </a:p>
        </p:txBody>
      </p:sp>
      <p:cxnSp>
        <p:nvCxnSpPr>
          <p:cNvPr id="8" name="Connector 7"/>
          <p:cNvCxnSpPr/>
          <p:nvPr/>
        </p:nvCxnSpPr>
        <p:spPr>
          <a:xfrm>
            <a:off x="1417320" y="3986784"/>
            <a:ext cx="3749039" cy="0"/>
          </a:xfrm>
          <a:prstGeom prst="line">
            <a:avLst/>
          </a:prstGeom>
          <a:ln w="25400">
            <a:solidFill>
              <a:srgbClr val="5294E2"/>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720840" y="3063240"/>
            <a:ext cx="4114800" cy="1051560"/>
          </a:xfrm>
          <a:prstGeom prst="roundRect">
            <a:avLst/>
          </a:prstGeom>
          <a:solidFill>
            <a:srgbClr val="EBFAF3"/>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03720" y="3209544"/>
            <a:ext cx="3749039" cy="201168"/>
          </a:xfrm>
          <a:prstGeom prst="rect">
            <a:avLst/>
          </a:prstGeom>
          <a:noFill/>
        </p:spPr>
        <p:txBody>
          <a:bodyPr wrap="square">
            <a:normAutofit/>
          </a:bodyPr>
          <a:lstStyle/>
          <a:p>
            <a:pPr algn="l"/>
            <a:r>
              <a:rPr sz="1100" b="1">
                <a:solidFill>
                  <a:srgbClr val="111827"/>
                </a:solidFill>
                <a:latin typeface="Noto Sans SC"/>
              </a:rPr>
              <a:t>玄女</a:t>
            </a:r>
          </a:p>
        </p:txBody>
      </p:sp>
      <p:sp>
        <p:nvSpPr>
          <p:cNvPr id="11" name="TextBox 10"/>
          <p:cNvSpPr txBox="1"/>
          <p:nvPr/>
        </p:nvSpPr>
        <p:spPr>
          <a:xfrm>
            <a:off x="6903720" y="3538728"/>
            <a:ext cx="3749039" cy="484631"/>
          </a:xfrm>
          <a:prstGeom prst="rect">
            <a:avLst/>
          </a:prstGeom>
          <a:noFill/>
        </p:spPr>
        <p:txBody>
          <a:bodyPr wrap="square">
            <a:normAutofit/>
          </a:bodyPr>
          <a:lstStyle/>
          <a:p>
            <a:pPr algn="l"/>
            <a:r>
              <a:rPr sz="800" b="0">
                <a:solidFill>
                  <a:srgbClr val="64748B"/>
                </a:solidFill>
                <a:latin typeface="Noto Sans SC"/>
              </a:rPr>
              <a:t>地球观测 → 地理嵌入 → 变化检测 / 分类 / 预测 / 问答</a:t>
            </a:r>
          </a:p>
        </p:txBody>
      </p:sp>
      <p:cxnSp>
        <p:nvCxnSpPr>
          <p:cNvPr id="12" name="Connector 11"/>
          <p:cNvCxnSpPr/>
          <p:nvPr/>
        </p:nvCxnSpPr>
        <p:spPr>
          <a:xfrm>
            <a:off x="6903720" y="3986784"/>
            <a:ext cx="3749040" cy="0"/>
          </a:xfrm>
          <a:prstGeom prst="line">
            <a:avLst/>
          </a:prstGeom>
          <a:ln w="25400">
            <a:solidFill>
              <a:srgbClr val="48BB8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14400" y="5212080"/>
            <a:ext cx="10241280" cy="310896"/>
          </a:xfrm>
          <a:prstGeom prst="rect">
            <a:avLst/>
          </a:prstGeom>
          <a:noFill/>
        </p:spPr>
        <p:txBody>
          <a:bodyPr wrap="square">
            <a:normAutofit/>
          </a:bodyPr>
          <a:lstStyle/>
          <a:p>
            <a:pPr algn="ctr"/>
            <a:r>
              <a:rPr sz="1800" b="1">
                <a:solidFill>
                  <a:srgbClr val="5294E2"/>
                </a:solidFill>
                <a:latin typeface="Noto Sans SC"/>
              </a:rPr>
              <a:t>商业航天解决“看见地球”，地理嵌入解决“理解地球”。</a:t>
            </a:r>
          </a:p>
        </p:txBody>
      </p:sp>
      <p:sp>
        <p:nvSpPr>
          <p:cNvPr id="14" name="TextBox 13"/>
          <p:cNvSpPr txBox="1"/>
          <p:nvPr/>
        </p:nvSpPr>
        <p:spPr>
          <a:xfrm>
            <a:off x="566928" y="6537960"/>
            <a:ext cx="4389120" cy="164592"/>
          </a:xfrm>
          <a:prstGeom prst="rect">
            <a:avLst/>
          </a:prstGeom>
          <a:noFill/>
        </p:spPr>
        <p:txBody>
          <a:bodyPr wrap="square">
            <a:normAutofit/>
          </a:bodyPr>
          <a:lstStyle/>
          <a:p>
            <a:pPr algn="l"/>
            <a:r>
              <a:rPr sz="700" b="0">
                <a:solidFill>
                  <a:srgbClr val="64748B"/>
                </a:solidFill>
                <a:latin typeface="Noto Sans SC"/>
              </a:rPr>
              <a:t>玄女科技商业计划书｜前置叙事 v0.1</a:t>
            </a:r>
          </a:p>
        </p:txBody>
      </p:sp>
      <p:sp>
        <p:nvSpPr>
          <p:cNvPr id="15" name="TextBox 14"/>
          <p:cNvSpPr txBox="1"/>
          <p:nvPr/>
        </p:nvSpPr>
        <p:spPr>
          <a:xfrm>
            <a:off x="11064240" y="6510528"/>
            <a:ext cx="411480" cy="164592"/>
          </a:xfrm>
          <a:prstGeom prst="rect">
            <a:avLst/>
          </a:prstGeom>
          <a:noFill/>
        </p:spPr>
        <p:txBody>
          <a:bodyPr wrap="square">
            <a:normAutofit/>
          </a:bodyPr>
          <a:lstStyle/>
          <a:p>
            <a:pPr algn="r"/>
            <a:r>
              <a:rPr sz="800" b="0">
                <a:solidFill>
                  <a:srgbClr val="64748B"/>
                </a:solidFill>
                <a:latin typeface="Noto Sans SC"/>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47472"/>
            <a:ext cx="384048" cy="182880"/>
          </a:xfrm>
          <a:prstGeom prst="rect">
            <a:avLst/>
          </a:prstGeom>
          <a:noFill/>
        </p:spPr>
        <p:txBody>
          <a:bodyPr wrap="square">
            <a:normAutofit/>
          </a:bodyPr>
          <a:lstStyle/>
          <a:p>
            <a:pPr algn="l"/>
            <a:r>
              <a:rPr sz="800" b="1">
                <a:solidFill>
                  <a:srgbClr val="5294E2"/>
                </a:solidFill>
                <a:latin typeface="Noto Sans SC"/>
              </a:rPr>
              <a:t>09</a:t>
            </a:r>
          </a:p>
        </p:txBody>
      </p:sp>
      <p:sp>
        <p:nvSpPr>
          <p:cNvPr id="3" name="TextBox 2"/>
          <p:cNvSpPr txBox="1"/>
          <p:nvPr/>
        </p:nvSpPr>
        <p:spPr>
          <a:xfrm>
            <a:off x="987552" y="274320"/>
            <a:ext cx="9875520" cy="502920"/>
          </a:xfrm>
          <a:prstGeom prst="rect">
            <a:avLst/>
          </a:prstGeom>
          <a:noFill/>
        </p:spPr>
        <p:txBody>
          <a:bodyPr wrap="square">
            <a:normAutofit/>
          </a:bodyPr>
          <a:lstStyle/>
          <a:p>
            <a:pPr algn="l"/>
            <a:r>
              <a:rPr sz="2300" b="1">
                <a:solidFill>
                  <a:srgbClr val="111827"/>
                </a:solidFill>
                <a:latin typeface="Noto Sans SC"/>
              </a:rPr>
              <a:t>技术与业务范式：从重复处理到统一底座调用</a:t>
            </a:r>
          </a:p>
        </p:txBody>
      </p:sp>
      <p:sp>
        <p:nvSpPr>
          <p:cNvPr id="4" name="Rounded Rectangle 3"/>
          <p:cNvSpPr/>
          <p:nvPr/>
        </p:nvSpPr>
        <p:spPr>
          <a:xfrm>
            <a:off x="685800" y="1417320"/>
            <a:ext cx="1691640" cy="530352"/>
          </a:xfrm>
          <a:prstGeom prst="roundRect">
            <a:avLst/>
          </a:prstGeom>
          <a:solidFill>
            <a:srgbClr val="F7FAFC"/>
          </a:solidFill>
          <a:ln w="1016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81912"/>
            <a:ext cx="1600200" cy="137160"/>
          </a:xfrm>
          <a:prstGeom prst="rect">
            <a:avLst/>
          </a:prstGeom>
          <a:noFill/>
        </p:spPr>
        <p:txBody>
          <a:bodyPr wrap="square">
            <a:normAutofit/>
          </a:bodyPr>
          <a:lstStyle/>
          <a:p>
            <a:pPr algn="ctr"/>
            <a:r>
              <a:rPr sz="800" b="1">
                <a:solidFill>
                  <a:srgbClr val="111827"/>
                </a:solidFill>
                <a:latin typeface="Noto Sans SC"/>
              </a:rPr>
              <a:t>遥感数据采集</a:t>
            </a:r>
          </a:p>
        </p:txBody>
      </p:sp>
      <p:sp>
        <p:nvSpPr>
          <p:cNvPr id="6" name="TextBox 5"/>
          <p:cNvSpPr txBox="1"/>
          <p:nvPr/>
        </p:nvSpPr>
        <p:spPr>
          <a:xfrm>
            <a:off x="2404872" y="159105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7" name="Rounded Rectangle 6"/>
          <p:cNvSpPr/>
          <p:nvPr/>
        </p:nvSpPr>
        <p:spPr>
          <a:xfrm>
            <a:off x="2505456" y="1417320"/>
            <a:ext cx="1691640" cy="530352"/>
          </a:xfrm>
          <a:prstGeom prst="roundRect">
            <a:avLst/>
          </a:prstGeom>
          <a:solidFill>
            <a:srgbClr val="F7FAFC"/>
          </a:solidFill>
          <a:ln w="1016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51176" y="1581912"/>
            <a:ext cx="1600200" cy="137160"/>
          </a:xfrm>
          <a:prstGeom prst="rect">
            <a:avLst/>
          </a:prstGeom>
          <a:noFill/>
        </p:spPr>
        <p:txBody>
          <a:bodyPr wrap="square">
            <a:normAutofit/>
          </a:bodyPr>
          <a:lstStyle/>
          <a:p>
            <a:pPr algn="ctr"/>
            <a:r>
              <a:rPr sz="800" b="1">
                <a:solidFill>
                  <a:srgbClr val="111827"/>
                </a:solidFill>
                <a:latin typeface="Noto Sans SC"/>
              </a:rPr>
              <a:t>数据预处理</a:t>
            </a:r>
          </a:p>
        </p:txBody>
      </p:sp>
      <p:sp>
        <p:nvSpPr>
          <p:cNvPr id="9" name="TextBox 8"/>
          <p:cNvSpPr txBox="1"/>
          <p:nvPr/>
        </p:nvSpPr>
        <p:spPr>
          <a:xfrm>
            <a:off x="4224528" y="159105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10" name="Rounded Rectangle 9"/>
          <p:cNvSpPr/>
          <p:nvPr/>
        </p:nvSpPr>
        <p:spPr>
          <a:xfrm>
            <a:off x="4325112" y="1417320"/>
            <a:ext cx="1691640" cy="530352"/>
          </a:xfrm>
          <a:prstGeom prst="roundRect">
            <a:avLst/>
          </a:prstGeom>
          <a:solidFill>
            <a:srgbClr val="F7FAFC"/>
          </a:solidFill>
          <a:ln w="1016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70832" y="1581912"/>
            <a:ext cx="1600200" cy="137160"/>
          </a:xfrm>
          <a:prstGeom prst="rect">
            <a:avLst/>
          </a:prstGeom>
          <a:noFill/>
        </p:spPr>
        <p:txBody>
          <a:bodyPr wrap="square">
            <a:normAutofit/>
          </a:bodyPr>
          <a:lstStyle/>
          <a:p>
            <a:pPr algn="ctr"/>
            <a:r>
              <a:rPr sz="800" b="1">
                <a:solidFill>
                  <a:srgbClr val="111827"/>
                </a:solidFill>
                <a:latin typeface="Noto Sans SC"/>
              </a:rPr>
              <a:t>建模</a:t>
            </a:r>
          </a:p>
        </p:txBody>
      </p:sp>
      <p:sp>
        <p:nvSpPr>
          <p:cNvPr id="12" name="TextBox 11"/>
          <p:cNvSpPr txBox="1"/>
          <p:nvPr/>
        </p:nvSpPr>
        <p:spPr>
          <a:xfrm>
            <a:off x="6044184" y="159105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13" name="Rounded Rectangle 12"/>
          <p:cNvSpPr/>
          <p:nvPr/>
        </p:nvSpPr>
        <p:spPr>
          <a:xfrm>
            <a:off x="6144768" y="1417320"/>
            <a:ext cx="1691640" cy="530352"/>
          </a:xfrm>
          <a:prstGeom prst="roundRect">
            <a:avLst/>
          </a:prstGeom>
          <a:solidFill>
            <a:srgbClr val="F7FAFC"/>
          </a:solidFill>
          <a:ln w="1016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90488" y="1581912"/>
            <a:ext cx="1600200" cy="137160"/>
          </a:xfrm>
          <a:prstGeom prst="rect">
            <a:avLst/>
          </a:prstGeom>
          <a:noFill/>
        </p:spPr>
        <p:txBody>
          <a:bodyPr wrap="square">
            <a:normAutofit/>
          </a:bodyPr>
          <a:lstStyle/>
          <a:p>
            <a:pPr algn="ctr"/>
            <a:r>
              <a:rPr sz="800" b="1">
                <a:solidFill>
                  <a:srgbClr val="111827"/>
                </a:solidFill>
                <a:latin typeface="Noto Sans SC"/>
              </a:rPr>
              <a:t>特征提取</a:t>
            </a:r>
          </a:p>
        </p:txBody>
      </p:sp>
      <p:sp>
        <p:nvSpPr>
          <p:cNvPr id="15" name="TextBox 14"/>
          <p:cNvSpPr txBox="1"/>
          <p:nvPr/>
        </p:nvSpPr>
        <p:spPr>
          <a:xfrm>
            <a:off x="7863840" y="159105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16" name="Rounded Rectangle 15"/>
          <p:cNvSpPr/>
          <p:nvPr/>
        </p:nvSpPr>
        <p:spPr>
          <a:xfrm>
            <a:off x="7964424" y="1417320"/>
            <a:ext cx="1691640" cy="530352"/>
          </a:xfrm>
          <a:prstGeom prst="roundRect">
            <a:avLst/>
          </a:prstGeom>
          <a:solidFill>
            <a:srgbClr val="F7FAFC"/>
          </a:solidFill>
          <a:ln w="1016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10144" y="1581912"/>
            <a:ext cx="1600200" cy="137160"/>
          </a:xfrm>
          <a:prstGeom prst="rect">
            <a:avLst/>
          </a:prstGeom>
          <a:noFill/>
        </p:spPr>
        <p:txBody>
          <a:bodyPr wrap="square">
            <a:normAutofit/>
          </a:bodyPr>
          <a:lstStyle/>
          <a:p>
            <a:pPr algn="ctr"/>
            <a:r>
              <a:rPr sz="800" b="1">
                <a:solidFill>
                  <a:srgbClr val="111827"/>
                </a:solidFill>
                <a:latin typeface="Noto Sans SC"/>
              </a:rPr>
              <a:t>制图</a:t>
            </a:r>
          </a:p>
        </p:txBody>
      </p:sp>
      <p:sp>
        <p:nvSpPr>
          <p:cNvPr id="18" name="TextBox 17"/>
          <p:cNvSpPr txBox="1"/>
          <p:nvPr/>
        </p:nvSpPr>
        <p:spPr>
          <a:xfrm>
            <a:off x="9683496" y="159105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19" name="Rounded Rectangle 18"/>
          <p:cNvSpPr/>
          <p:nvPr/>
        </p:nvSpPr>
        <p:spPr>
          <a:xfrm>
            <a:off x="9784080" y="1417320"/>
            <a:ext cx="1691640" cy="530352"/>
          </a:xfrm>
          <a:prstGeom prst="roundRect">
            <a:avLst/>
          </a:prstGeom>
          <a:solidFill>
            <a:srgbClr val="F7FAFC"/>
          </a:solidFill>
          <a:ln w="1016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29800" y="1581912"/>
            <a:ext cx="1600200" cy="137160"/>
          </a:xfrm>
          <a:prstGeom prst="rect">
            <a:avLst/>
          </a:prstGeom>
          <a:noFill/>
        </p:spPr>
        <p:txBody>
          <a:bodyPr wrap="square">
            <a:normAutofit/>
          </a:bodyPr>
          <a:lstStyle/>
          <a:p>
            <a:pPr algn="ctr"/>
            <a:r>
              <a:rPr sz="800" b="1">
                <a:solidFill>
                  <a:srgbClr val="111827"/>
                </a:solidFill>
                <a:latin typeface="Noto Sans SC"/>
              </a:rPr>
              <a:t>交付</a:t>
            </a:r>
          </a:p>
        </p:txBody>
      </p:sp>
      <p:sp>
        <p:nvSpPr>
          <p:cNvPr id="21" name="TextBox 20"/>
          <p:cNvSpPr txBox="1"/>
          <p:nvPr/>
        </p:nvSpPr>
        <p:spPr>
          <a:xfrm>
            <a:off x="822960" y="2212848"/>
            <a:ext cx="4206240" cy="164592"/>
          </a:xfrm>
          <a:prstGeom prst="rect">
            <a:avLst/>
          </a:prstGeom>
          <a:noFill/>
        </p:spPr>
        <p:txBody>
          <a:bodyPr wrap="square">
            <a:normAutofit/>
          </a:bodyPr>
          <a:lstStyle/>
          <a:p>
            <a:pPr algn="l"/>
            <a:r>
              <a:rPr sz="900" b="1">
                <a:solidFill>
                  <a:srgbClr val="64748B"/>
                </a:solidFill>
                <a:latin typeface="Noto Sans SC"/>
              </a:rPr>
              <a:t>传统流程：每个项目重复走长链条</a:t>
            </a:r>
          </a:p>
        </p:txBody>
      </p:sp>
      <p:sp>
        <p:nvSpPr>
          <p:cNvPr id="22" name="Rounded Rectangle 21"/>
          <p:cNvSpPr/>
          <p:nvPr/>
        </p:nvSpPr>
        <p:spPr>
          <a:xfrm>
            <a:off x="685800" y="3063240"/>
            <a:ext cx="2055571" cy="530352"/>
          </a:xfrm>
          <a:prstGeom prst="roundRect">
            <a:avLst/>
          </a:prstGeom>
          <a:solidFill>
            <a:srgbClr val="F7FAFC"/>
          </a:solidFill>
          <a:ln w="10160">
            <a:solidFill>
              <a:srgbClr val="48B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227832"/>
            <a:ext cx="1964131" cy="137160"/>
          </a:xfrm>
          <a:prstGeom prst="rect">
            <a:avLst/>
          </a:prstGeom>
          <a:noFill/>
        </p:spPr>
        <p:txBody>
          <a:bodyPr wrap="square">
            <a:normAutofit/>
          </a:bodyPr>
          <a:lstStyle/>
          <a:p>
            <a:pPr algn="ctr"/>
            <a:r>
              <a:rPr sz="800" b="1">
                <a:solidFill>
                  <a:srgbClr val="111827"/>
                </a:solidFill>
                <a:latin typeface="Noto Sans SC"/>
              </a:rPr>
              <a:t>多源输入</a:t>
            </a:r>
          </a:p>
        </p:txBody>
      </p:sp>
      <p:sp>
        <p:nvSpPr>
          <p:cNvPr id="24" name="TextBox 23"/>
          <p:cNvSpPr txBox="1"/>
          <p:nvPr/>
        </p:nvSpPr>
        <p:spPr>
          <a:xfrm>
            <a:off x="2768803" y="323697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25" name="Rounded Rectangle 24"/>
          <p:cNvSpPr/>
          <p:nvPr/>
        </p:nvSpPr>
        <p:spPr>
          <a:xfrm>
            <a:off x="2869387" y="3063240"/>
            <a:ext cx="2055571" cy="530352"/>
          </a:xfrm>
          <a:prstGeom prst="roundRect">
            <a:avLst/>
          </a:prstGeom>
          <a:solidFill>
            <a:srgbClr val="F7FAFC"/>
          </a:solidFill>
          <a:ln w="10160">
            <a:solidFill>
              <a:srgbClr val="48B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15107" y="3227832"/>
            <a:ext cx="1964131" cy="137160"/>
          </a:xfrm>
          <a:prstGeom prst="rect">
            <a:avLst/>
          </a:prstGeom>
          <a:noFill/>
        </p:spPr>
        <p:txBody>
          <a:bodyPr wrap="square">
            <a:normAutofit/>
          </a:bodyPr>
          <a:lstStyle/>
          <a:p>
            <a:pPr algn="ctr"/>
            <a:r>
              <a:rPr sz="800" b="1">
                <a:solidFill>
                  <a:srgbClr val="111827"/>
                </a:solidFill>
                <a:latin typeface="Noto Sans SC"/>
              </a:rPr>
              <a:t>时空对齐</a:t>
            </a:r>
          </a:p>
        </p:txBody>
      </p:sp>
      <p:sp>
        <p:nvSpPr>
          <p:cNvPr id="27" name="TextBox 26"/>
          <p:cNvSpPr txBox="1"/>
          <p:nvPr/>
        </p:nvSpPr>
        <p:spPr>
          <a:xfrm>
            <a:off x="4952390" y="323697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28" name="Rounded Rectangle 27"/>
          <p:cNvSpPr/>
          <p:nvPr/>
        </p:nvSpPr>
        <p:spPr>
          <a:xfrm>
            <a:off x="5052974" y="3063240"/>
            <a:ext cx="2055571" cy="530352"/>
          </a:xfrm>
          <a:prstGeom prst="roundRect">
            <a:avLst/>
          </a:prstGeom>
          <a:solidFill>
            <a:srgbClr val="F7FAFC"/>
          </a:solidFill>
          <a:ln w="10160">
            <a:solidFill>
              <a:srgbClr val="48B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98694" y="3227832"/>
            <a:ext cx="1964131" cy="137160"/>
          </a:xfrm>
          <a:prstGeom prst="rect">
            <a:avLst/>
          </a:prstGeom>
          <a:noFill/>
        </p:spPr>
        <p:txBody>
          <a:bodyPr wrap="square">
            <a:normAutofit/>
          </a:bodyPr>
          <a:lstStyle/>
          <a:p>
            <a:pPr algn="ctr"/>
            <a:r>
              <a:rPr sz="800" b="1">
                <a:solidFill>
                  <a:srgbClr val="111827"/>
                </a:solidFill>
                <a:latin typeface="Noto Sans SC"/>
              </a:rPr>
              <a:t>地理嵌入</a:t>
            </a:r>
          </a:p>
        </p:txBody>
      </p:sp>
      <p:sp>
        <p:nvSpPr>
          <p:cNvPr id="30" name="TextBox 29"/>
          <p:cNvSpPr txBox="1"/>
          <p:nvPr/>
        </p:nvSpPr>
        <p:spPr>
          <a:xfrm>
            <a:off x="7135977" y="323697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31" name="Rounded Rectangle 30"/>
          <p:cNvSpPr/>
          <p:nvPr/>
        </p:nvSpPr>
        <p:spPr>
          <a:xfrm>
            <a:off x="7236561" y="3063240"/>
            <a:ext cx="2055571" cy="530352"/>
          </a:xfrm>
          <a:prstGeom prst="roundRect">
            <a:avLst/>
          </a:prstGeom>
          <a:solidFill>
            <a:srgbClr val="F7FAFC"/>
          </a:solidFill>
          <a:ln w="10160">
            <a:solidFill>
              <a:srgbClr val="48B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82281" y="3227832"/>
            <a:ext cx="1964131" cy="137160"/>
          </a:xfrm>
          <a:prstGeom prst="rect">
            <a:avLst/>
          </a:prstGeom>
          <a:noFill/>
        </p:spPr>
        <p:txBody>
          <a:bodyPr wrap="square">
            <a:normAutofit/>
          </a:bodyPr>
          <a:lstStyle/>
          <a:p>
            <a:pPr algn="ctr"/>
            <a:r>
              <a:rPr sz="800" b="1">
                <a:solidFill>
                  <a:srgbClr val="111827"/>
                </a:solidFill>
                <a:latin typeface="Noto Sans SC"/>
              </a:rPr>
              <a:t>任务库</a:t>
            </a:r>
          </a:p>
        </p:txBody>
      </p:sp>
      <p:sp>
        <p:nvSpPr>
          <p:cNvPr id="33" name="TextBox 32"/>
          <p:cNvSpPr txBox="1"/>
          <p:nvPr/>
        </p:nvSpPr>
        <p:spPr>
          <a:xfrm>
            <a:off x="9319564" y="3236976"/>
            <a:ext cx="73152" cy="137160"/>
          </a:xfrm>
          <a:prstGeom prst="rect">
            <a:avLst/>
          </a:prstGeom>
          <a:noFill/>
        </p:spPr>
        <p:txBody>
          <a:bodyPr wrap="square">
            <a:normAutofit/>
          </a:bodyPr>
          <a:lstStyle/>
          <a:p>
            <a:pPr algn="l"/>
            <a:r>
              <a:rPr sz="800" b="1">
                <a:solidFill>
                  <a:srgbClr val="64748B"/>
                </a:solidFill>
                <a:latin typeface="Noto Sans SC"/>
              </a:rPr>
              <a:t>→</a:t>
            </a:r>
          </a:p>
        </p:txBody>
      </p:sp>
      <p:sp>
        <p:nvSpPr>
          <p:cNvPr id="34" name="Rounded Rectangle 33"/>
          <p:cNvSpPr/>
          <p:nvPr/>
        </p:nvSpPr>
        <p:spPr>
          <a:xfrm>
            <a:off x="9420148" y="3063240"/>
            <a:ext cx="2055571" cy="530352"/>
          </a:xfrm>
          <a:prstGeom prst="roundRect">
            <a:avLst/>
          </a:prstGeom>
          <a:solidFill>
            <a:srgbClr val="F7FAFC"/>
          </a:solidFill>
          <a:ln w="10160">
            <a:solidFill>
              <a:srgbClr val="48B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65868" y="3227832"/>
            <a:ext cx="1964131" cy="137160"/>
          </a:xfrm>
          <a:prstGeom prst="rect">
            <a:avLst/>
          </a:prstGeom>
          <a:noFill/>
        </p:spPr>
        <p:txBody>
          <a:bodyPr wrap="square">
            <a:normAutofit/>
          </a:bodyPr>
          <a:lstStyle/>
          <a:p>
            <a:pPr algn="ctr"/>
            <a:r>
              <a:rPr sz="800" b="1">
                <a:solidFill>
                  <a:srgbClr val="111827"/>
                </a:solidFill>
                <a:latin typeface="Noto Sans SC"/>
              </a:rPr>
              <a:t>证据链 / 报告</a:t>
            </a:r>
          </a:p>
        </p:txBody>
      </p:sp>
      <p:sp>
        <p:nvSpPr>
          <p:cNvPr id="36" name="TextBox 35"/>
          <p:cNvSpPr txBox="1"/>
          <p:nvPr/>
        </p:nvSpPr>
        <p:spPr>
          <a:xfrm>
            <a:off x="822960" y="3858768"/>
            <a:ext cx="4206240" cy="164592"/>
          </a:xfrm>
          <a:prstGeom prst="rect">
            <a:avLst/>
          </a:prstGeom>
          <a:noFill/>
        </p:spPr>
        <p:txBody>
          <a:bodyPr wrap="square">
            <a:normAutofit/>
          </a:bodyPr>
          <a:lstStyle/>
          <a:p>
            <a:pPr algn="l"/>
            <a:r>
              <a:rPr sz="900" b="1">
                <a:solidFill>
                  <a:srgbClr val="48BB8F"/>
                </a:solidFill>
                <a:latin typeface="Noto Sans SC"/>
              </a:rPr>
              <a:t>玄女流程：一次底座，多任务复用</a:t>
            </a:r>
          </a:p>
        </p:txBody>
      </p:sp>
      <p:pic>
        <p:nvPicPr>
          <p:cNvPr id="37" name="Picture 36" descr="image17.png"/>
          <p:cNvPicPr>
            <a:picLocks noChangeAspect="1"/>
          </p:cNvPicPr>
          <p:nvPr/>
        </p:nvPicPr>
        <p:blipFill>
          <a:blip r:embed="rId2"/>
          <a:stretch>
            <a:fillRect/>
          </a:stretch>
        </p:blipFill>
        <p:spPr>
          <a:xfrm>
            <a:off x="868680" y="4617720"/>
            <a:ext cx="2148840" cy="1115568"/>
          </a:xfrm>
          <a:prstGeom prst="rect">
            <a:avLst/>
          </a:prstGeom>
        </p:spPr>
      </p:pic>
      <p:pic>
        <p:nvPicPr>
          <p:cNvPr id="38" name="Picture 37" descr="image16.png"/>
          <p:cNvPicPr>
            <a:picLocks noChangeAspect="1"/>
          </p:cNvPicPr>
          <p:nvPr/>
        </p:nvPicPr>
        <p:blipFill>
          <a:blip r:embed="rId3"/>
          <a:stretch>
            <a:fillRect/>
          </a:stretch>
        </p:blipFill>
        <p:spPr>
          <a:xfrm>
            <a:off x="3337560" y="4617720"/>
            <a:ext cx="2148840" cy="1115568"/>
          </a:xfrm>
          <a:prstGeom prst="rect">
            <a:avLst/>
          </a:prstGeom>
        </p:spPr>
      </p:pic>
      <p:pic>
        <p:nvPicPr>
          <p:cNvPr id="39" name="Picture 38" descr="harbin_embedding_pca.png"/>
          <p:cNvPicPr>
            <a:picLocks noChangeAspect="1"/>
          </p:cNvPicPr>
          <p:nvPr/>
        </p:nvPicPr>
        <p:blipFill>
          <a:blip r:embed="rId4"/>
          <a:stretch>
            <a:fillRect/>
          </a:stretch>
        </p:blipFill>
        <p:spPr>
          <a:xfrm>
            <a:off x="5806440" y="4617720"/>
            <a:ext cx="2148840" cy="1115568"/>
          </a:xfrm>
          <a:prstGeom prst="rect">
            <a:avLst/>
          </a:prstGeom>
        </p:spPr>
      </p:pic>
      <p:pic>
        <p:nvPicPr>
          <p:cNvPr id="40" name="Picture 39" descr="harbin_prediction.png"/>
          <p:cNvPicPr>
            <a:picLocks noChangeAspect="1"/>
          </p:cNvPicPr>
          <p:nvPr/>
        </p:nvPicPr>
        <p:blipFill>
          <a:blip r:embed="rId5"/>
          <a:stretch>
            <a:fillRect/>
          </a:stretch>
        </p:blipFill>
        <p:spPr>
          <a:xfrm>
            <a:off x="8275320" y="4617720"/>
            <a:ext cx="2148840" cy="1115568"/>
          </a:xfrm>
          <a:prstGeom prst="rect">
            <a:avLst/>
          </a:prstGeom>
        </p:spPr>
      </p:pic>
      <p:sp>
        <p:nvSpPr>
          <p:cNvPr id="41" name="TextBox 40"/>
          <p:cNvSpPr txBox="1"/>
          <p:nvPr/>
        </p:nvSpPr>
        <p:spPr>
          <a:xfrm>
            <a:off x="566928" y="6537960"/>
            <a:ext cx="4389120" cy="164592"/>
          </a:xfrm>
          <a:prstGeom prst="rect">
            <a:avLst/>
          </a:prstGeom>
          <a:noFill/>
        </p:spPr>
        <p:txBody>
          <a:bodyPr wrap="square">
            <a:normAutofit/>
          </a:bodyPr>
          <a:lstStyle/>
          <a:p>
            <a:pPr algn="l"/>
            <a:r>
              <a:rPr sz="700" b="0">
                <a:solidFill>
                  <a:srgbClr val="64748B"/>
                </a:solidFill>
                <a:latin typeface="Noto Sans SC"/>
              </a:rPr>
              <a:t>玄女科技商业计划书｜前置叙事 v0.1</a:t>
            </a:r>
          </a:p>
        </p:txBody>
      </p:sp>
      <p:sp>
        <p:nvSpPr>
          <p:cNvPr id="42" name="TextBox 41"/>
          <p:cNvSpPr txBox="1"/>
          <p:nvPr/>
        </p:nvSpPr>
        <p:spPr>
          <a:xfrm>
            <a:off x="11064240" y="6510528"/>
            <a:ext cx="411480" cy="164592"/>
          </a:xfrm>
          <a:prstGeom prst="rect">
            <a:avLst/>
          </a:prstGeom>
          <a:noFill/>
        </p:spPr>
        <p:txBody>
          <a:bodyPr wrap="square">
            <a:normAutofit/>
          </a:bodyPr>
          <a:lstStyle/>
          <a:p>
            <a:pPr algn="r"/>
            <a:r>
              <a:rPr sz="800" b="0">
                <a:solidFill>
                  <a:srgbClr val="64748B"/>
                </a:solidFill>
                <a:latin typeface="Noto Sans SC"/>
              </a:rP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