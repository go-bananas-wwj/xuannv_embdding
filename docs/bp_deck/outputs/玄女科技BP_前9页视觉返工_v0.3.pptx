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玄女底座和 AlphaEarth 有什么不一样</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我们是国内较早系统性推进地理嵌入底座的团队：既有国际项目积累，也有面向中国数据与业务的工程化路径。</a:t>
            </a:r>
          </a:p>
        </p:txBody>
      </p:sp>
      <p:sp>
        <p:nvSpPr>
          <p:cNvPr id="5" name="TextBox 4"/>
          <p:cNvSpPr txBox="1"/>
          <p:nvPr/>
        </p:nvSpPr>
        <p:spPr>
          <a:xfrm>
            <a:off x="804672" y="1298448"/>
            <a:ext cx="4434840" cy="237744"/>
          </a:xfrm>
          <a:prstGeom prst="rect">
            <a:avLst/>
          </a:prstGeom>
          <a:noFill/>
        </p:spPr>
        <p:txBody>
          <a:bodyPr wrap="square" anchor="ctr" lIns="0" rIns="0" tIns="0" bIns="0">
            <a:normAutofit/>
          </a:bodyPr>
          <a:lstStyle/>
          <a:p>
            <a:pPr algn="l"/>
            <a:r>
              <a:rPr sz="1500" b="1">
                <a:solidFill>
                  <a:srgbClr val="0F172A"/>
                </a:solidFill>
                <a:latin typeface="Noto Sans SC"/>
              </a:rPr>
              <a:t>技术储备：全球数据检索已经跑通</a:t>
            </a:r>
          </a:p>
        </p:txBody>
      </p:sp>
      <p:pic>
        <p:nvPicPr>
          <p:cNvPr id="6" name="Picture 5" descr="Text_Search_2024.png"/>
          <p:cNvPicPr>
            <a:picLocks noChangeAspect="1"/>
          </p:cNvPicPr>
          <p:nvPr/>
        </p:nvPicPr>
        <p:blipFill>
          <a:blip r:embed="rId2"/>
          <a:stretch>
            <a:fillRect/>
          </a:stretch>
        </p:blipFill>
        <p:spPr>
          <a:xfrm>
            <a:off x="786384" y="1700784"/>
            <a:ext cx="4480560" cy="2212848"/>
          </a:xfrm>
          <a:prstGeom prst="rect">
            <a:avLst/>
          </a:prstGeom>
        </p:spPr>
      </p:pic>
      <p:sp>
        <p:nvSpPr>
          <p:cNvPr id="7" name="TextBox 6"/>
          <p:cNvSpPr txBox="1"/>
          <p:nvPr/>
        </p:nvSpPr>
        <p:spPr>
          <a:xfrm>
            <a:off x="896112" y="4069080"/>
            <a:ext cx="4261104" cy="164592"/>
          </a:xfrm>
          <a:prstGeom prst="rect">
            <a:avLst/>
          </a:prstGeom>
          <a:noFill/>
        </p:spPr>
        <p:txBody>
          <a:bodyPr wrap="square" anchor="ctr" lIns="0" rIns="0" tIns="0" bIns="0">
            <a:normAutofit/>
          </a:bodyPr>
          <a:lstStyle/>
          <a:p>
            <a:pPr algn="ctr"/>
            <a:r>
              <a:rPr sz="900" b="1">
                <a:solidFill>
                  <a:srgbClr val="0F172A"/>
                </a:solidFill>
                <a:latin typeface="Noto Sans SC"/>
              </a:rPr>
              <a:t>OpenGeoScope / EarthEmbeddingExplorer</a:t>
            </a:r>
          </a:p>
        </p:txBody>
      </p:sp>
      <p:sp>
        <p:nvSpPr>
          <p:cNvPr id="8" name="TextBox 7"/>
          <p:cNvSpPr txBox="1"/>
          <p:nvPr/>
        </p:nvSpPr>
        <p:spPr>
          <a:xfrm>
            <a:off x="896112" y="4361688"/>
            <a:ext cx="4261104" cy="420624"/>
          </a:xfrm>
          <a:prstGeom prst="rect">
            <a:avLst/>
          </a:prstGeom>
          <a:noFill/>
        </p:spPr>
        <p:txBody>
          <a:bodyPr wrap="square" anchor="ctr" lIns="0" rIns="0" tIns="0" bIns="0">
            <a:normAutofit/>
          </a:bodyPr>
          <a:lstStyle/>
          <a:p>
            <a:pPr algn="ctr"/>
            <a:r>
              <a:rPr sz="800" b="0">
                <a:solidFill>
                  <a:srgbClr val="334155"/>
                </a:solidFill>
                <a:latin typeface="Noto Sans SC"/>
              </a:rPr>
              <a:t>基于 ESA PhiLab MajorTOM 数据集，支持自然语言、图像、坐标检索全球卫星影像；证明团队具备大规模嵌入检索与可视化系统能力。</a:t>
            </a:r>
          </a:p>
        </p:txBody>
      </p:sp>
      <p:pic>
        <p:nvPicPr>
          <p:cNvPr id="9" name="Picture 8" descr="embedding.png"/>
          <p:cNvPicPr>
            <a:picLocks noChangeAspect="1"/>
          </p:cNvPicPr>
          <p:nvPr/>
        </p:nvPicPr>
        <p:blipFill>
          <a:blip r:embed="rId3"/>
          <a:stretch>
            <a:fillRect/>
          </a:stretch>
        </p:blipFill>
        <p:spPr>
          <a:xfrm>
            <a:off x="1140069" y="5047488"/>
            <a:ext cx="1596917" cy="896112"/>
          </a:xfrm>
          <a:prstGeom prst="rect">
            <a:avLst/>
          </a:prstGeom>
        </p:spPr>
      </p:pic>
      <p:sp>
        <p:nvSpPr>
          <p:cNvPr id="10" name="Rounded Rectangle 9"/>
          <p:cNvSpPr/>
          <p:nvPr/>
        </p:nvSpPr>
        <p:spPr>
          <a:xfrm>
            <a:off x="3127248" y="5065776"/>
            <a:ext cx="1874519" cy="877824"/>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3552" y="5193792"/>
            <a:ext cx="1572768" cy="182880"/>
          </a:xfrm>
          <a:prstGeom prst="rect">
            <a:avLst/>
          </a:prstGeom>
          <a:noFill/>
        </p:spPr>
        <p:txBody>
          <a:bodyPr wrap="square" anchor="ctr" lIns="0" rIns="0" tIns="0" bIns="0">
            <a:normAutofit/>
          </a:bodyPr>
          <a:lstStyle/>
          <a:p>
            <a:pPr algn="ctr"/>
            <a:r>
              <a:rPr sz="1500" b="1">
                <a:solidFill>
                  <a:srgbClr val="2563EB"/>
                </a:solidFill>
                <a:latin typeface="Noto Sans SC"/>
              </a:rPr>
              <a:t>约 24.9 万</a:t>
            </a:r>
          </a:p>
        </p:txBody>
      </p:sp>
      <p:sp>
        <p:nvSpPr>
          <p:cNvPr id="12" name="TextBox 11"/>
          <p:cNvSpPr txBox="1"/>
          <p:nvPr/>
        </p:nvSpPr>
        <p:spPr>
          <a:xfrm>
            <a:off x="3273552" y="5541264"/>
            <a:ext cx="1572768" cy="128016"/>
          </a:xfrm>
          <a:prstGeom prst="rect">
            <a:avLst/>
          </a:prstGeom>
          <a:noFill/>
        </p:spPr>
        <p:txBody>
          <a:bodyPr wrap="square" anchor="ctr" lIns="0" rIns="0" tIns="0" bIns="0">
            <a:normAutofit/>
          </a:bodyPr>
          <a:lstStyle/>
          <a:p>
            <a:pPr algn="ctr"/>
            <a:r>
              <a:rPr sz="700" b="0">
                <a:solidFill>
                  <a:srgbClr val="334155"/>
                </a:solidFill>
                <a:latin typeface="Noto Sans SC"/>
              </a:rPr>
              <a:t>全球卫星影像嵌入</a:t>
            </a:r>
          </a:p>
        </p:txBody>
      </p:sp>
      <p:cxnSp>
        <p:nvCxnSpPr>
          <p:cNvPr id="13" name="Connector 12"/>
          <p:cNvCxnSpPr/>
          <p:nvPr/>
        </p:nvCxnSpPr>
        <p:spPr>
          <a:xfrm>
            <a:off x="5504688" y="1280160"/>
            <a:ext cx="0" cy="461772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742432" y="1298448"/>
            <a:ext cx="5440680" cy="274320"/>
          </a:xfrm>
          <a:prstGeom prst="rect">
            <a:avLst/>
          </a:prstGeom>
          <a:noFill/>
        </p:spPr>
        <p:txBody>
          <a:bodyPr wrap="square" anchor="ctr" lIns="0" rIns="0" tIns="0" bIns="0">
            <a:normAutofit/>
          </a:bodyPr>
          <a:lstStyle/>
          <a:p>
            <a:pPr algn="l"/>
            <a:r>
              <a:rPr sz="1300" b="1">
                <a:solidFill>
                  <a:srgbClr val="0F172A"/>
                </a:solidFill>
                <a:latin typeface="Noto Sans SC"/>
              </a:rPr>
              <a:t>对标 AlphaEarth：玄女不是复刻，而是做中国场景的高频高分辨率底座</a:t>
            </a:r>
          </a:p>
        </p:txBody>
      </p:sp>
      <p:sp>
        <p:nvSpPr>
          <p:cNvPr id="15" name="Rounded Rectangle 14"/>
          <p:cNvSpPr/>
          <p:nvPr/>
        </p:nvSpPr>
        <p:spPr>
          <a:xfrm>
            <a:off x="5742432" y="1755648"/>
            <a:ext cx="1097280" cy="3657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39712" y="1755648"/>
            <a:ext cx="2029968" cy="3657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69680" y="1755648"/>
            <a:ext cx="2468880" cy="36576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1865376"/>
            <a:ext cx="841248" cy="109728"/>
          </a:xfrm>
          <a:prstGeom prst="rect">
            <a:avLst/>
          </a:prstGeom>
          <a:noFill/>
        </p:spPr>
        <p:txBody>
          <a:bodyPr wrap="square" anchor="ctr" lIns="0" rIns="0" tIns="0" bIns="0">
            <a:normAutofit/>
          </a:bodyPr>
          <a:lstStyle/>
          <a:p>
            <a:pPr algn="ctr"/>
            <a:r>
              <a:rPr sz="700" b="1">
                <a:solidFill>
                  <a:srgbClr val="64748B"/>
                </a:solidFill>
                <a:latin typeface="Noto Sans SC"/>
              </a:rPr>
              <a:t>维度</a:t>
            </a:r>
          </a:p>
        </p:txBody>
      </p:sp>
      <p:sp>
        <p:nvSpPr>
          <p:cNvPr id="19" name="TextBox 18"/>
          <p:cNvSpPr txBox="1"/>
          <p:nvPr/>
        </p:nvSpPr>
        <p:spPr>
          <a:xfrm>
            <a:off x="6949440" y="1865376"/>
            <a:ext cx="1810512" cy="109728"/>
          </a:xfrm>
          <a:prstGeom prst="rect">
            <a:avLst/>
          </a:prstGeom>
          <a:noFill/>
        </p:spPr>
        <p:txBody>
          <a:bodyPr wrap="square" anchor="ctr" lIns="0" rIns="0" tIns="0" bIns="0">
            <a:normAutofit/>
          </a:bodyPr>
          <a:lstStyle/>
          <a:p>
            <a:pPr algn="ctr"/>
            <a:r>
              <a:rPr sz="700" b="1">
                <a:solidFill>
                  <a:srgbClr val="64748B"/>
                </a:solidFill>
                <a:latin typeface="Noto Sans SC"/>
              </a:rPr>
              <a:t>AlphaEarth</a:t>
            </a:r>
          </a:p>
        </p:txBody>
      </p:sp>
      <p:sp>
        <p:nvSpPr>
          <p:cNvPr id="20" name="TextBox 19"/>
          <p:cNvSpPr txBox="1"/>
          <p:nvPr/>
        </p:nvSpPr>
        <p:spPr>
          <a:xfrm>
            <a:off x="8997696" y="1865376"/>
            <a:ext cx="2212848" cy="109728"/>
          </a:xfrm>
          <a:prstGeom prst="rect">
            <a:avLst/>
          </a:prstGeom>
          <a:noFill/>
        </p:spPr>
        <p:txBody>
          <a:bodyPr wrap="square" anchor="ctr" lIns="0" rIns="0" tIns="0" bIns="0">
            <a:normAutofit/>
          </a:bodyPr>
          <a:lstStyle/>
          <a:p>
            <a:pPr algn="ctr"/>
            <a:r>
              <a:rPr sz="700" b="1">
                <a:solidFill>
                  <a:srgbClr val="10B981"/>
                </a:solidFill>
                <a:latin typeface="Noto Sans SC"/>
              </a:rPr>
              <a:t>玄女底座</a:t>
            </a:r>
          </a:p>
        </p:txBody>
      </p:sp>
      <p:sp>
        <p:nvSpPr>
          <p:cNvPr id="21" name="Rounded Rectangle 20"/>
          <p:cNvSpPr/>
          <p:nvPr/>
        </p:nvSpPr>
        <p:spPr>
          <a:xfrm>
            <a:off x="5742432" y="2212848"/>
            <a:ext cx="1097280"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39712" y="2212848"/>
            <a:ext cx="2029968"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869680" y="2212848"/>
            <a:ext cx="2468880"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2350008"/>
            <a:ext cx="841248" cy="128016"/>
          </a:xfrm>
          <a:prstGeom prst="rect">
            <a:avLst/>
          </a:prstGeom>
          <a:noFill/>
        </p:spPr>
        <p:txBody>
          <a:bodyPr wrap="square" anchor="ctr" lIns="0" rIns="0" tIns="0" bIns="0">
            <a:normAutofit/>
          </a:bodyPr>
          <a:lstStyle/>
          <a:p>
            <a:pPr algn="ctr"/>
            <a:r>
              <a:rPr sz="700" b="1">
                <a:solidFill>
                  <a:srgbClr val="0F172A"/>
                </a:solidFill>
                <a:latin typeface="Noto Sans SC"/>
              </a:rPr>
              <a:t>开放性</a:t>
            </a:r>
          </a:p>
        </p:txBody>
      </p:sp>
      <p:sp>
        <p:nvSpPr>
          <p:cNvPr id="25" name="TextBox 24"/>
          <p:cNvSpPr txBox="1"/>
          <p:nvPr/>
        </p:nvSpPr>
        <p:spPr>
          <a:xfrm>
            <a:off x="6949440" y="2304288"/>
            <a:ext cx="1810512" cy="219456"/>
          </a:xfrm>
          <a:prstGeom prst="rect">
            <a:avLst/>
          </a:prstGeom>
          <a:noFill/>
        </p:spPr>
        <p:txBody>
          <a:bodyPr wrap="square" anchor="ctr" lIns="0" rIns="0" tIns="0" bIns="0">
            <a:normAutofit/>
          </a:bodyPr>
          <a:lstStyle/>
          <a:p>
            <a:pPr algn="ctr"/>
            <a:r>
              <a:rPr sz="700" b="1">
                <a:solidFill>
                  <a:srgbClr val="334155"/>
                </a:solidFill>
                <a:latin typeface="Noto Sans SC"/>
              </a:rPr>
              <a:t>模型不开源</a:t>
            </a:r>
          </a:p>
        </p:txBody>
      </p:sp>
      <p:sp>
        <p:nvSpPr>
          <p:cNvPr id="26" name="TextBox 25"/>
          <p:cNvSpPr txBox="1"/>
          <p:nvPr/>
        </p:nvSpPr>
        <p:spPr>
          <a:xfrm>
            <a:off x="8997696" y="2295144"/>
            <a:ext cx="2212848" cy="237744"/>
          </a:xfrm>
          <a:prstGeom prst="rect">
            <a:avLst/>
          </a:prstGeom>
          <a:noFill/>
        </p:spPr>
        <p:txBody>
          <a:bodyPr wrap="square" anchor="ctr" lIns="0" rIns="0" tIns="0" bIns="0">
            <a:normAutofit/>
          </a:bodyPr>
          <a:lstStyle/>
          <a:p>
            <a:pPr algn="ctr"/>
            <a:r>
              <a:rPr sz="700" b="1">
                <a:solidFill>
                  <a:srgbClr val="334155"/>
                </a:solidFill>
                <a:latin typeface="Noto Sans SC"/>
              </a:rPr>
              <a:t>自研底座，可面向政企部署</a:t>
            </a:r>
          </a:p>
        </p:txBody>
      </p:sp>
      <p:sp>
        <p:nvSpPr>
          <p:cNvPr id="27" name="Rounded Rectangle 26"/>
          <p:cNvSpPr/>
          <p:nvPr/>
        </p:nvSpPr>
        <p:spPr>
          <a:xfrm>
            <a:off x="5742432" y="2761488"/>
            <a:ext cx="1097280"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839712" y="2761488"/>
            <a:ext cx="2029968"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869680" y="2761488"/>
            <a:ext cx="2468880"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70448" y="2898648"/>
            <a:ext cx="841248" cy="128016"/>
          </a:xfrm>
          <a:prstGeom prst="rect">
            <a:avLst/>
          </a:prstGeom>
          <a:noFill/>
        </p:spPr>
        <p:txBody>
          <a:bodyPr wrap="square" anchor="ctr" lIns="0" rIns="0" tIns="0" bIns="0">
            <a:normAutofit/>
          </a:bodyPr>
          <a:lstStyle/>
          <a:p>
            <a:pPr algn="ctr"/>
            <a:r>
              <a:rPr sz="700" b="1">
                <a:solidFill>
                  <a:srgbClr val="0F172A"/>
                </a:solidFill>
                <a:latin typeface="Noto Sans SC"/>
              </a:rPr>
              <a:t>数据体系</a:t>
            </a:r>
          </a:p>
        </p:txBody>
      </p:sp>
      <p:sp>
        <p:nvSpPr>
          <p:cNvPr id="31" name="TextBox 30"/>
          <p:cNvSpPr txBox="1"/>
          <p:nvPr/>
        </p:nvSpPr>
        <p:spPr>
          <a:xfrm>
            <a:off x="6949440" y="2852928"/>
            <a:ext cx="1810512" cy="219456"/>
          </a:xfrm>
          <a:prstGeom prst="rect">
            <a:avLst/>
          </a:prstGeom>
          <a:noFill/>
        </p:spPr>
        <p:txBody>
          <a:bodyPr wrap="square" anchor="ctr" lIns="0" rIns="0" tIns="0" bIns="0">
            <a:normAutofit/>
          </a:bodyPr>
          <a:lstStyle/>
          <a:p>
            <a:pPr algn="ctr"/>
            <a:r>
              <a:rPr sz="700" b="1">
                <a:solidFill>
                  <a:srgbClr val="334155"/>
                </a:solidFill>
                <a:latin typeface="Noto Sans SC"/>
              </a:rPr>
              <a:t>全球公开多源数据</a:t>
            </a:r>
          </a:p>
        </p:txBody>
      </p:sp>
      <p:sp>
        <p:nvSpPr>
          <p:cNvPr id="32" name="TextBox 31"/>
          <p:cNvSpPr txBox="1"/>
          <p:nvPr/>
        </p:nvSpPr>
        <p:spPr>
          <a:xfrm>
            <a:off x="8997696" y="2843784"/>
            <a:ext cx="2212848" cy="237744"/>
          </a:xfrm>
          <a:prstGeom prst="rect">
            <a:avLst/>
          </a:prstGeom>
          <a:noFill/>
        </p:spPr>
        <p:txBody>
          <a:bodyPr wrap="square" anchor="ctr" lIns="0" rIns="0" tIns="0" bIns="0">
            <a:normAutofit/>
          </a:bodyPr>
          <a:lstStyle/>
          <a:p>
            <a:pPr algn="ctr"/>
            <a:r>
              <a:rPr sz="700" b="1">
                <a:solidFill>
                  <a:srgbClr val="334155"/>
                </a:solidFill>
                <a:latin typeface="Noto Sans SC"/>
              </a:rPr>
              <a:t>加入中国高分/商业遥感数据</a:t>
            </a:r>
          </a:p>
        </p:txBody>
      </p:sp>
      <p:sp>
        <p:nvSpPr>
          <p:cNvPr id="33" name="Rounded Rectangle 32"/>
          <p:cNvSpPr/>
          <p:nvPr/>
        </p:nvSpPr>
        <p:spPr>
          <a:xfrm>
            <a:off x="5742432" y="3310128"/>
            <a:ext cx="1097280" cy="475488"/>
          </a:xfrm>
          <a:prstGeom prst="roundRect">
            <a:avLst/>
          </a:prstGeom>
          <a:solidFill>
            <a:srgbClr val="EFF6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839712" y="3310128"/>
            <a:ext cx="2029968" cy="475488"/>
          </a:xfrm>
          <a:prstGeom prst="roundRect">
            <a:avLst/>
          </a:prstGeom>
          <a:solidFill>
            <a:srgbClr val="EFF6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869680" y="3310128"/>
            <a:ext cx="2468880" cy="47548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70448" y="3447288"/>
            <a:ext cx="841248" cy="128016"/>
          </a:xfrm>
          <a:prstGeom prst="rect">
            <a:avLst/>
          </a:prstGeom>
          <a:noFill/>
        </p:spPr>
        <p:txBody>
          <a:bodyPr wrap="square" anchor="ctr" lIns="0" rIns="0" tIns="0" bIns="0">
            <a:normAutofit/>
          </a:bodyPr>
          <a:lstStyle/>
          <a:p>
            <a:pPr algn="ctr"/>
            <a:r>
              <a:rPr sz="700" b="1">
                <a:solidFill>
                  <a:srgbClr val="0F172A"/>
                </a:solidFill>
                <a:latin typeface="Noto Sans SC"/>
              </a:rPr>
              <a:t>空间粒度</a:t>
            </a:r>
          </a:p>
        </p:txBody>
      </p:sp>
      <p:sp>
        <p:nvSpPr>
          <p:cNvPr id="37" name="TextBox 36"/>
          <p:cNvSpPr txBox="1"/>
          <p:nvPr/>
        </p:nvSpPr>
        <p:spPr>
          <a:xfrm>
            <a:off x="6949440" y="3401568"/>
            <a:ext cx="1810512" cy="219456"/>
          </a:xfrm>
          <a:prstGeom prst="rect">
            <a:avLst/>
          </a:prstGeom>
          <a:noFill/>
        </p:spPr>
        <p:txBody>
          <a:bodyPr wrap="square" anchor="ctr" lIns="0" rIns="0" tIns="0" bIns="0">
            <a:normAutofit/>
          </a:bodyPr>
          <a:lstStyle/>
          <a:p>
            <a:pPr algn="ctr"/>
            <a:r>
              <a:rPr sz="700" b="1">
                <a:solidFill>
                  <a:srgbClr val="334155"/>
                </a:solidFill>
                <a:latin typeface="Noto Sans SC"/>
              </a:rPr>
              <a:t>10 米</a:t>
            </a:r>
          </a:p>
        </p:txBody>
      </p:sp>
      <p:sp>
        <p:nvSpPr>
          <p:cNvPr id="38" name="TextBox 37"/>
          <p:cNvSpPr txBox="1"/>
          <p:nvPr/>
        </p:nvSpPr>
        <p:spPr>
          <a:xfrm>
            <a:off x="8997696" y="3392424"/>
            <a:ext cx="2212848" cy="237744"/>
          </a:xfrm>
          <a:prstGeom prst="rect">
            <a:avLst/>
          </a:prstGeom>
          <a:noFill/>
        </p:spPr>
        <p:txBody>
          <a:bodyPr wrap="square" anchor="ctr" lIns="0" rIns="0" tIns="0" bIns="0">
            <a:normAutofit/>
          </a:bodyPr>
          <a:lstStyle/>
          <a:p>
            <a:pPr algn="ctr"/>
            <a:r>
              <a:rPr sz="700" b="1">
                <a:solidFill>
                  <a:srgbClr val="0F172A"/>
                </a:solidFill>
                <a:latin typeface="Noto Sans SC"/>
              </a:rPr>
              <a:t>最高 0.5 米</a:t>
            </a:r>
          </a:p>
        </p:txBody>
      </p:sp>
      <p:sp>
        <p:nvSpPr>
          <p:cNvPr id="39" name="Rounded Rectangle 38"/>
          <p:cNvSpPr/>
          <p:nvPr/>
        </p:nvSpPr>
        <p:spPr>
          <a:xfrm>
            <a:off x="5742432" y="3858768"/>
            <a:ext cx="1097280" cy="475488"/>
          </a:xfrm>
          <a:prstGeom prst="roundRect">
            <a:avLst/>
          </a:prstGeom>
          <a:solidFill>
            <a:srgbClr val="EFF6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839712" y="3858768"/>
            <a:ext cx="2029968" cy="475488"/>
          </a:xfrm>
          <a:prstGeom prst="roundRect">
            <a:avLst/>
          </a:prstGeom>
          <a:solidFill>
            <a:srgbClr val="EFF6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869680" y="3858768"/>
            <a:ext cx="2468880" cy="47548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70448" y="3995928"/>
            <a:ext cx="841248" cy="128016"/>
          </a:xfrm>
          <a:prstGeom prst="rect">
            <a:avLst/>
          </a:prstGeom>
          <a:noFill/>
        </p:spPr>
        <p:txBody>
          <a:bodyPr wrap="square" anchor="ctr" lIns="0" rIns="0" tIns="0" bIns="0">
            <a:normAutofit/>
          </a:bodyPr>
          <a:lstStyle/>
          <a:p>
            <a:pPr algn="ctr"/>
            <a:r>
              <a:rPr sz="700" b="1">
                <a:solidFill>
                  <a:srgbClr val="0F172A"/>
                </a:solidFill>
                <a:latin typeface="Noto Sans SC"/>
              </a:rPr>
              <a:t>时间粒度</a:t>
            </a:r>
          </a:p>
        </p:txBody>
      </p:sp>
      <p:sp>
        <p:nvSpPr>
          <p:cNvPr id="43" name="TextBox 42"/>
          <p:cNvSpPr txBox="1"/>
          <p:nvPr/>
        </p:nvSpPr>
        <p:spPr>
          <a:xfrm>
            <a:off x="6949440" y="3950207"/>
            <a:ext cx="1810512" cy="219456"/>
          </a:xfrm>
          <a:prstGeom prst="rect">
            <a:avLst/>
          </a:prstGeom>
          <a:noFill/>
        </p:spPr>
        <p:txBody>
          <a:bodyPr wrap="square" anchor="ctr" lIns="0" rIns="0" tIns="0" bIns="0">
            <a:normAutofit/>
          </a:bodyPr>
          <a:lstStyle/>
          <a:p>
            <a:pPr algn="ctr"/>
            <a:r>
              <a:rPr sz="700" b="1">
                <a:solidFill>
                  <a:srgbClr val="334155"/>
                </a:solidFill>
                <a:latin typeface="Noto Sans SC"/>
              </a:rPr>
              <a:t>一年一景</a:t>
            </a:r>
          </a:p>
        </p:txBody>
      </p:sp>
      <p:sp>
        <p:nvSpPr>
          <p:cNvPr id="44" name="TextBox 43"/>
          <p:cNvSpPr txBox="1"/>
          <p:nvPr/>
        </p:nvSpPr>
        <p:spPr>
          <a:xfrm>
            <a:off x="8997696" y="3941063"/>
            <a:ext cx="2212848" cy="237744"/>
          </a:xfrm>
          <a:prstGeom prst="rect">
            <a:avLst/>
          </a:prstGeom>
          <a:noFill/>
        </p:spPr>
        <p:txBody>
          <a:bodyPr wrap="square" anchor="ctr" lIns="0" rIns="0" tIns="0" bIns="0">
            <a:normAutofit/>
          </a:bodyPr>
          <a:lstStyle/>
          <a:p>
            <a:pPr algn="ctr"/>
            <a:r>
              <a:rPr sz="700" b="1">
                <a:solidFill>
                  <a:srgbClr val="0F172A"/>
                </a:solidFill>
                <a:latin typeface="Noto Sans SC"/>
              </a:rPr>
              <a:t>最快 11 天一个嵌入</a:t>
            </a:r>
          </a:p>
        </p:txBody>
      </p:sp>
      <p:sp>
        <p:nvSpPr>
          <p:cNvPr id="45" name="Rounded Rectangle 44"/>
          <p:cNvSpPr/>
          <p:nvPr/>
        </p:nvSpPr>
        <p:spPr>
          <a:xfrm>
            <a:off x="5742432" y="4407408"/>
            <a:ext cx="1097280" cy="475488"/>
          </a:xfrm>
          <a:prstGeom prst="roundRect">
            <a:avLst/>
          </a:prstGeom>
          <a:solidFill>
            <a:srgbClr val="EFF6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839712" y="4407408"/>
            <a:ext cx="2029968" cy="475488"/>
          </a:xfrm>
          <a:prstGeom prst="roundRect">
            <a:avLst/>
          </a:prstGeom>
          <a:solidFill>
            <a:srgbClr val="EFF6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8869680" y="4407408"/>
            <a:ext cx="2468880" cy="47548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70448" y="4544568"/>
            <a:ext cx="841248" cy="128016"/>
          </a:xfrm>
          <a:prstGeom prst="rect">
            <a:avLst/>
          </a:prstGeom>
          <a:noFill/>
        </p:spPr>
        <p:txBody>
          <a:bodyPr wrap="square" anchor="ctr" lIns="0" rIns="0" tIns="0" bIns="0">
            <a:normAutofit/>
          </a:bodyPr>
          <a:lstStyle/>
          <a:p>
            <a:pPr algn="ctr"/>
            <a:r>
              <a:rPr sz="700" b="1">
                <a:solidFill>
                  <a:srgbClr val="0F172A"/>
                </a:solidFill>
                <a:latin typeface="Noto Sans SC"/>
              </a:rPr>
              <a:t>变化检测</a:t>
            </a:r>
          </a:p>
        </p:txBody>
      </p:sp>
      <p:sp>
        <p:nvSpPr>
          <p:cNvPr id="49" name="TextBox 48"/>
          <p:cNvSpPr txBox="1"/>
          <p:nvPr/>
        </p:nvSpPr>
        <p:spPr>
          <a:xfrm>
            <a:off x="6949440" y="4498848"/>
            <a:ext cx="1810512" cy="219456"/>
          </a:xfrm>
          <a:prstGeom prst="rect">
            <a:avLst/>
          </a:prstGeom>
          <a:noFill/>
        </p:spPr>
        <p:txBody>
          <a:bodyPr wrap="square" anchor="ctr" lIns="0" rIns="0" tIns="0" bIns="0">
            <a:normAutofit/>
          </a:bodyPr>
          <a:lstStyle/>
          <a:p>
            <a:pPr algn="ctr"/>
            <a:r>
              <a:rPr sz="700" b="1">
                <a:solidFill>
                  <a:srgbClr val="334155"/>
                </a:solidFill>
                <a:latin typeface="Noto Sans SC"/>
              </a:rPr>
              <a:t>通用表征可迁移</a:t>
            </a:r>
          </a:p>
        </p:txBody>
      </p:sp>
      <p:sp>
        <p:nvSpPr>
          <p:cNvPr id="50" name="TextBox 49"/>
          <p:cNvSpPr txBox="1"/>
          <p:nvPr/>
        </p:nvSpPr>
        <p:spPr>
          <a:xfrm>
            <a:off x="8997696" y="4489704"/>
            <a:ext cx="2212848" cy="237744"/>
          </a:xfrm>
          <a:prstGeom prst="rect">
            <a:avLst/>
          </a:prstGeom>
          <a:noFill/>
        </p:spPr>
        <p:txBody>
          <a:bodyPr wrap="square" anchor="ctr" lIns="0" rIns="0" tIns="0" bIns="0">
            <a:normAutofit/>
          </a:bodyPr>
          <a:lstStyle/>
          <a:p>
            <a:pPr algn="ctr"/>
            <a:r>
              <a:rPr sz="700" b="1">
                <a:solidFill>
                  <a:srgbClr val="0F172A"/>
                </a:solidFill>
                <a:latin typeface="Noto Sans SC"/>
              </a:rPr>
              <a:t>实验中优于 AlphaEarth</a:t>
            </a:r>
          </a:p>
        </p:txBody>
      </p:sp>
      <p:sp>
        <p:nvSpPr>
          <p:cNvPr id="51" name="Rounded Rectangle 50"/>
          <p:cNvSpPr/>
          <p:nvPr/>
        </p:nvSpPr>
        <p:spPr>
          <a:xfrm>
            <a:off x="5742432" y="4956048"/>
            <a:ext cx="1097280"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839712" y="4956048"/>
            <a:ext cx="2029968"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869680" y="4956048"/>
            <a:ext cx="2468880" cy="47548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70448" y="5093208"/>
            <a:ext cx="841248" cy="128016"/>
          </a:xfrm>
          <a:prstGeom prst="rect">
            <a:avLst/>
          </a:prstGeom>
          <a:noFill/>
        </p:spPr>
        <p:txBody>
          <a:bodyPr wrap="square" anchor="ctr" lIns="0" rIns="0" tIns="0" bIns="0">
            <a:normAutofit/>
          </a:bodyPr>
          <a:lstStyle/>
          <a:p>
            <a:pPr algn="ctr"/>
            <a:r>
              <a:rPr sz="700" b="1">
                <a:solidFill>
                  <a:srgbClr val="0F172A"/>
                </a:solidFill>
                <a:latin typeface="Noto Sans SC"/>
              </a:rPr>
              <a:t>目标识别</a:t>
            </a:r>
          </a:p>
        </p:txBody>
      </p:sp>
      <p:sp>
        <p:nvSpPr>
          <p:cNvPr id="55" name="TextBox 54"/>
          <p:cNvSpPr txBox="1"/>
          <p:nvPr/>
        </p:nvSpPr>
        <p:spPr>
          <a:xfrm>
            <a:off x="6949440" y="5047488"/>
            <a:ext cx="1810512" cy="219456"/>
          </a:xfrm>
          <a:prstGeom prst="rect">
            <a:avLst/>
          </a:prstGeom>
          <a:noFill/>
        </p:spPr>
        <p:txBody>
          <a:bodyPr wrap="square" anchor="ctr" lIns="0" rIns="0" tIns="0" bIns="0">
            <a:normAutofit/>
          </a:bodyPr>
          <a:lstStyle/>
          <a:p>
            <a:pPr algn="ctr"/>
            <a:r>
              <a:rPr sz="700" b="1">
                <a:solidFill>
                  <a:srgbClr val="334155"/>
                </a:solidFill>
                <a:latin typeface="Noto Sans SC"/>
              </a:rPr>
              <a:t>数据规模领先</a:t>
            </a:r>
          </a:p>
        </p:txBody>
      </p:sp>
      <p:sp>
        <p:nvSpPr>
          <p:cNvPr id="56" name="TextBox 55"/>
          <p:cNvSpPr txBox="1"/>
          <p:nvPr/>
        </p:nvSpPr>
        <p:spPr>
          <a:xfrm>
            <a:off x="8997696" y="5038344"/>
            <a:ext cx="2212848" cy="237744"/>
          </a:xfrm>
          <a:prstGeom prst="rect">
            <a:avLst/>
          </a:prstGeom>
          <a:noFill/>
        </p:spPr>
        <p:txBody>
          <a:bodyPr wrap="square" anchor="ctr" lIns="0" rIns="0" tIns="0" bIns="0">
            <a:normAutofit/>
          </a:bodyPr>
          <a:lstStyle/>
          <a:p>
            <a:pPr algn="ctr"/>
            <a:r>
              <a:rPr sz="700" b="1">
                <a:solidFill>
                  <a:srgbClr val="334155"/>
                </a:solidFill>
                <a:latin typeface="Noto Sans SC"/>
              </a:rPr>
              <a:t>当前仍需继续堆训练数据</a:t>
            </a:r>
          </a:p>
        </p:txBody>
      </p:sp>
      <p:sp>
        <p:nvSpPr>
          <p:cNvPr id="57" name="TextBox 56"/>
          <p:cNvSpPr txBox="1"/>
          <p:nvPr/>
        </p:nvSpPr>
        <p:spPr>
          <a:xfrm>
            <a:off x="5870448" y="5596128"/>
            <a:ext cx="5212080" cy="237744"/>
          </a:xfrm>
          <a:prstGeom prst="rect">
            <a:avLst/>
          </a:prstGeom>
          <a:noFill/>
        </p:spPr>
        <p:txBody>
          <a:bodyPr wrap="square" anchor="ctr" lIns="0" rIns="0" tIns="0" bIns="0">
            <a:normAutofit/>
          </a:bodyPr>
          <a:lstStyle/>
          <a:p>
            <a:pPr algn="ctr"/>
            <a:r>
              <a:rPr sz="900" b="1">
                <a:solidFill>
                  <a:srgbClr val="334155"/>
                </a:solidFill>
                <a:latin typeface="Noto Sans SC"/>
              </a:rPr>
              <a:t>诚实判断：玄女在高频变化检测上更贴近中国政企业务，在目标识别等任务上仍需通过数据规模继续追赶。</a:t>
            </a:r>
          </a:p>
        </p:txBody>
      </p:sp>
      <p:sp>
        <p:nvSpPr>
          <p:cNvPr id="58" name="TextBox 57"/>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证明方向，玄女把方向落到中国高分辨率、高频更新、可部署的业务场景。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09</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