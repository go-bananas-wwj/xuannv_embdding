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292352"/>
            <a:ext cx="5806440" cy="3870960"/>
          </a:xfrm>
          <a:prstGeom prst="rect">
            <a:avLst/>
          </a:prstGeom>
        </p:spPr>
      </p:pic>
      <p:sp>
        <p:nvSpPr>
          <p:cNvPr id="5" name="TextBox 4"/>
          <p:cNvSpPr txBox="1"/>
          <p:nvPr/>
        </p:nvSpPr>
        <p:spPr>
          <a:xfrm>
            <a:off x="896112" y="5431536"/>
            <a:ext cx="5321808" cy="201168"/>
          </a:xfrm>
          <a:prstGeom prst="rect">
            <a:avLst/>
          </a:prstGeom>
          <a:noFill/>
        </p:spPr>
        <p:txBody>
          <a:bodyPr wrap="square" anchor="ctr" lIns="0" rIns="0" tIns="0" bIns="0">
            <a:normAutofit/>
          </a:bodyPr>
          <a:lstStyle/>
          <a:p>
            <a:pPr algn="ctr"/>
            <a:r>
              <a:rPr sz="800" b="0">
                <a:solidFill>
                  <a:srgbClr val="64748B"/>
                </a:solidFill>
                <a:latin typeface="Noto Sans SC"/>
              </a:rPr>
              <a:t>不同地理模型都在对同一地物的多源图像重复编码、解码，造成大量算力与工程成本浪费。</a:t>
            </a:r>
          </a:p>
        </p:txBody>
      </p:sp>
      <p:cxnSp>
        <p:nvCxnSpPr>
          <p:cNvPr id="6" name="Connector 5"/>
          <p:cNvCxnSpPr/>
          <p:nvPr/>
        </p:nvCxnSpPr>
        <p:spPr>
          <a:xfrm>
            <a:off x="6565392" y="1298448"/>
            <a:ext cx="0" cy="3968496"/>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2" name="TextBox 11"/>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3" name="TextBox 12"/>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4" name="Connector 13"/>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2" name="TextBox 21"/>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3" name="Connector 22"/>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5" name="TextBox 34"/>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6" name="Connector 35"/>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地理嵌入方向，我们走在前列</a:t>
            </a:r>
          </a:p>
        </p:txBody>
      </p:sp>
      <p:sp>
        <p:nvSpPr>
          <p:cNvPr id="4" name="TextBox 3"/>
          <p:cNvSpPr txBox="1"/>
          <p:nvPr/>
        </p:nvSpPr>
        <p:spPr>
          <a:xfrm>
            <a:off x="950976" y="932688"/>
            <a:ext cx="9875520" cy="219456"/>
          </a:xfrm>
          <a:prstGeom prst="rect">
            <a:avLst/>
          </a:prstGeom>
          <a:noFill/>
        </p:spPr>
        <p:txBody>
          <a:bodyPr wrap="square" anchor="ctr" lIns="0" rIns="0" tIns="0" bIns="0">
            <a:normAutofit/>
          </a:bodyPr>
          <a:lstStyle/>
          <a:p>
            <a:pPr algn="l"/>
            <a:r>
              <a:rPr sz="1000" b="0">
                <a:solidFill>
                  <a:srgbClr val="64748B"/>
                </a:solidFill>
                <a:latin typeface="Noto Sans SC"/>
              </a:rPr>
              <a:t>AlphaEarth Foundations 已经把遥感从“影像处理”推向“统一地球表征”。</a:t>
            </a:r>
          </a:p>
        </p:txBody>
      </p:sp>
      <p:pic>
        <p:nvPicPr>
          <p:cNvPr id="5" name="Picture 4" descr="slide04_img10_24c66b14_1853.png"/>
          <p:cNvPicPr>
            <a:picLocks noChangeAspect="1"/>
          </p:cNvPicPr>
          <p:nvPr/>
        </p:nvPicPr>
        <p:blipFill>
          <a:blip r:embed="rId2"/>
          <a:stretch>
            <a:fillRect/>
          </a:stretch>
        </p:blipFill>
        <p:spPr>
          <a:xfrm>
            <a:off x="786384" y="1261872"/>
            <a:ext cx="5559552" cy="2999232"/>
          </a:xfrm>
          <a:prstGeom prst="rect">
            <a:avLst/>
          </a:prstGeom>
        </p:spPr>
      </p:pic>
      <p:sp>
        <p:nvSpPr>
          <p:cNvPr id="6" name="TextBox 5"/>
          <p:cNvSpPr txBox="1"/>
          <p:nvPr/>
        </p:nvSpPr>
        <p:spPr>
          <a:xfrm>
            <a:off x="896112" y="4407408"/>
            <a:ext cx="5340096" cy="164592"/>
          </a:xfrm>
          <a:prstGeom prst="rect">
            <a:avLst/>
          </a:prstGeom>
          <a:noFill/>
        </p:spPr>
        <p:txBody>
          <a:bodyPr wrap="square" anchor="ctr" lIns="0" rIns="0" tIns="0" bIns="0">
            <a:normAutofit/>
          </a:bodyPr>
          <a:lstStyle/>
          <a:p>
            <a:pPr algn="ctr"/>
            <a:r>
              <a:rPr sz="800" b="1">
                <a:solidFill>
                  <a:srgbClr val="334155"/>
                </a:solidFill>
                <a:latin typeface="Noto Sans SC"/>
              </a:rPr>
              <a:t>AlphaEarth 全球嵌入可视化：把多源地球观测压缩为可计算的语义空间。</a:t>
            </a:r>
          </a:p>
        </p:txBody>
      </p:sp>
      <p:cxnSp>
        <p:nvCxnSpPr>
          <p:cNvPr id="7" name="Connector 6"/>
          <p:cNvCxnSpPr/>
          <p:nvPr/>
        </p:nvCxnSpPr>
        <p:spPr>
          <a:xfrm>
            <a:off x="6565392" y="1280160"/>
            <a:ext cx="0" cy="3127248"/>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39712" y="1298448"/>
            <a:ext cx="4069080" cy="237744"/>
          </a:xfrm>
          <a:prstGeom prst="rect">
            <a:avLst/>
          </a:prstGeom>
          <a:noFill/>
        </p:spPr>
        <p:txBody>
          <a:bodyPr wrap="square" anchor="ctr" lIns="0" rIns="0" tIns="0" bIns="0">
            <a:normAutofit/>
          </a:bodyPr>
          <a:lstStyle/>
          <a:p>
            <a:pPr algn="l"/>
            <a:r>
              <a:rPr sz="1500" b="1">
                <a:solidFill>
                  <a:srgbClr val="0F172A"/>
                </a:solidFill>
                <a:latin typeface="Noto Sans SC"/>
              </a:rPr>
              <a:t>最前列的 AlphaEarth 证明了什么</a:t>
            </a:r>
          </a:p>
        </p:txBody>
      </p:sp>
      <p:sp>
        <p:nvSpPr>
          <p:cNvPr id="9" name="TextBox 8"/>
          <p:cNvSpPr txBox="1"/>
          <p:nvPr/>
        </p:nvSpPr>
        <p:spPr>
          <a:xfrm>
            <a:off x="6839712" y="1700784"/>
            <a:ext cx="3977639" cy="438912"/>
          </a:xfrm>
          <a:prstGeom prst="rect">
            <a:avLst/>
          </a:prstGeom>
          <a:noFill/>
        </p:spPr>
        <p:txBody>
          <a:bodyPr wrap="square" anchor="ctr" lIns="0" rIns="0" tIns="0" bIns="0">
            <a:normAutofit/>
          </a:bodyPr>
          <a:lstStyle/>
          <a:p>
            <a:pPr algn="l"/>
            <a:r>
              <a:rPr sz="900" b="0">
                <a:solidFill>
                  <a:srgbClr val="334155"/>
                </a:solidFill>
                <a:latin typeface="Noto Sans SC"/>
              </a:rPr>
              <a:t>不是再训练一个单任务模型，而是把光学、雷达、Landsat、地形与生态观测融合成年度像素级嵌入。</a:t>
            </a:r>
          </a:p>
        </p:txBody>
      </p:sp>
      <p:sp>
        <p:nvSpPr>
          <p:cNvPr id="10" name="TextBox 9"/>
          <p:cNvSpPr txBox="1"/>
          <p:nvPr/>
        </p:nvSpPr>
        <p:spPr>
          <a:xfrm>
            <a:off x="6839712" y="2377440"/>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1. 数据形态：从多源影像变成 64 维向量</a:t>
            </a:r>
          </a:p>
        </p:txBody>
      </p:sp>
      <p:sp>
        <p:nvSpPr>
          <p:cNvPr id="11" name="TextBox 10"/>
          <p:cNvSpPr txBox="1"/>
          <p:nvPr/>
        </p:nvSpPr>
        <p:spPr>
          <a:xfrm>
            <a:off x="6839712" y="2761488"/>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2. 使用方式：从专家流程变成直接检索、分类、回归</a:t>
            </a:r>
          </a:p>
        </p:txBody>
      </p:sp>
      <p:sp>
        <p:nvSpPr>
          <p:cNvPr id="12" name="TextBox 11"/>
          <p:cNvSpPr txBox="1"/>
          <p:nvPr/>
        </p:nvSpPr>
        <p:spPr>
          <a:xfrm>
            <a:off x="6839712" y="3145536"/>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3. 行业意义：地理嵌入正在成为遥感应用的新入口</a:t>
            </a:r>
          </a:p>
        </p:txBody>
      </p:sp>
      <p:sp>
        <p:nvSpPr>
          <p:cNvPr id="13" name="Rounded Rectangle 12"/>
          <p:cNvSpPr/>
          <p:nvPr/>
        </p:nvSpPr>
        <p:spPr>
          <a:xfrm>
            <a:off x="6839712" y="3749039"/>
            <a:ext cx="1078992" cy="56692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12864" y="3840479"/>
            <a:ext cx="932688" cy="164592"/>
          </a:xfrm>
          <a:prstGeom prst="rect">
            <a:avLst/>
          </a:prstGeom>
          <a:noFill/>
        </p:spPr>
        <p:txBody>
          <a:bodyPr wrap="square" anchor="ctr" lIns="0" rIns="0" tIns="0" bIns="0">
            <a:normAutofit/>
          </a:bodyPr>
          <a:lstStyle/>
          <a:p>
            <a:pPr algn="ctr"/>
            <a:r>
              <a:rPr sz="1100" b="1">
                <a:solidFill>
                  <a:srgbClr val="2563EB"/>
                </a:solidFill>
                <a:latin typeface="Noto Sans SC"/>
              </a:rPr>
              <a:t>10 m</a:t>
            </a:r>
          </a:p>
        </p:txBody>
      </p:sp>
      <p:sp>
        <p:nvSpPr>
          <p:cNvPr id="15" name="TextBox 14"/>
          <p:cNvSpPr txBox="1"/>
          <p:nvPr/>
        </p:nvSpPr>
        <p:spPr>
          <a:xfrm>
            <a:off x="6912864"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像素级表征</a:t>
            </a:r>
          </a:p>
        </p:txBody>
      </p:sp>
      <p:sp>
        <p:nvSpPr>
          <p:cNvPr id="16" name="Rounded Rectangle 15"/>
          <p:cNvSpPr/>
          <p:nvPr/>
        </p:nvSpPr>
        <p:spPr>
          <a:xfrm>
            <a:off x="7955279" y="3749039"/>
            <a:ext cx="1078992" cy="56692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8431" y="3840479"/>
            <a:ext cx="932688" cy="164592"/>
          </a:xfrm>
          <a:prstGeom prst="rect">
            <a:avLst/>
          </a:prstGeom>
          <a:noFill/>
        </p:spPr>
        <p:txBody>
          <a:bodyPr wrap="square" anchor="ctr" lIns="0" rIns="0" tIns="0" bIns="0">
            <a:normAutofit/>
          </a:bodyPr>
          <a:lstStyle/>
          <a:p>
            <a:pPr algn="ctr"/>
            <a:r>
              <a:rPr sz="1100" b="1">
                <a:solidFill>
                  <a:srgbClr val="10B981"/>
                </a:solidFill>
                <a:latin typeface="Noto Sans SC"/>
              </a:rPr>
              <a:t>64 维</a:t>
            </a:r>
          </a:p>
        </p:txBody>
      </p:sp>
      <p:sp>
        <p:nvSpPr>
          <p:cNvPr id="18" name="TextBox 17"/>
          <p:cNvSpPr txBox="1"/>
          <p:nvPr/>
        </p:nvSpPr>
        <p:spPr>
          <a:xfrm>
            <a:off x="8028431"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嵌入向量</a:t>
            </a:r>
          </a:p>
        </p:txBody>
      </p:sp>
      <p:sp>
        <p:nvSpPr>
          <p:cNvPr id="19" name="Rounded Rectangle 18"/>
          <p:cNvSpPr/>
          <p:nvPr/>
        </p:nvSpPr>
        <p:spPr>
          <a:xfrm>
            <a:off x="9070848" y="3749039"/>
            <a:ext cx="1078992" cy="56692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3840479"/>
            <a:ext cx="932688" cy="164592"/>
          </a:xfrm>
          <a:prstGeom prst="rect">
            <a:avLst/>
          </a:prstGeom>
          <a:noFill/>
        </p:spPr>
        <p:txBody>
          <a:bodyPr wrap="square" anchor="ctr" lIns="0" rIns="0" tIns="0" bIns="0">
            <a:normAutofit/>
          </a:bodyPr>
          <a:lstStyle/>
          <a:p>
            <a:pPr algn="ctr"/>
            <a:r>
              <a:rPr sz="1100" b="1">
                <a:solidFill>
                  <a:srgbClr val="7C3AED"/>
                </a:solidFill>
                <a:latin typeface="Noto Sans SC"/>
              </a:rPr>
              <a:t>1.4 万亿+</a:t>
            </a:r>
          </a:p>
        </p:txBody>
      </p:sp>
      <p:sp>
        <p:nvSpPr>
          <p:cNvPr id="21" name="TextBox 20"/>
          <p:cNvSpPr txBox="1"/>
          <p:nvPr/>
        </p:nvSpPr>
        <p:spPr>
          <a:xfrm>
            <a:off x="9144000"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年度足迹</a:t>
            </a:r>
          </a:p>
        </p:txBody>
      </p:sp>
      <p:sp>
        <p:nvSpPr>
          <p:cNvPr id="22" name="Rounded Rectangle 21"/>
          <p:cNvSpPr/>
          <p:nvPr/>
        </p:nvSpPr>
        <p:spPr>
          <a:xfrm>
            <a:off x="10186416" y="3749039"/>
            <a:ext cx="1078992" cy="56692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59568" y="3840479"/>
            <a:ext cx="932688" cy="164592"/>
          </a:xfrm>
          <a:prstGeom prst="rect">
            <a:avLst/>
          </a:prstGeom>
          <a:noFill/>
        </p:spPr>
        <p:txBody>
          <a:bodyPr wrap="square" anchor="ctr" lIns="0" rIns="0" tIns="0" bIns="0">
            <a:normAutofit/>
          </a:bodyPr>
          <a:lstStyle/>
          <a:p>
            <a:pPr algn="ctr"/>
            <a:r>
              <a:rPr sz="1100" b="1">
                <a:solidFill>
                  <a:srgbClr val="F59E0B"/>
                </a:solidFill>
                <a:latin typeface="Noto Sans SC"/>
              </a:rPr>
              <a:t>2017-2024</a:t>
            </a:r>
          </a:p>
        </p:txBody>
      </p:sp>
      <p:sp>
        <p:nvSpPr>
          <p:cNvPr id="24" name="TextBox 23"/>
          <p:cNvSpPr txBox="1"/>
          <p:nvPr/>
        </p:nvSpPr>
        <p:spPr>
          <a:xfrm>
            <a:off x="10259568"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年度数据</a:t>
            </a:r>
          </a:p>
        </p:txBody>
      </p:sp>
      <p:sp>
        <p:nvSpPr>
          <p:cNvPr id="25" name="TextBox 24"/>
          <p:cNvSpPr txBox="1"/>
          <p:nvPr/>
        </p:nvSpPr>
        <p:spPr>
          <a:xfrm>
            <a:off x="6876288" y="4407408"/>
            <a:ext cx="3986784" cy="109728"/>
          </a:xfrm>
          <a:prstGeom prst="rect">
            <a:avLst/>
          </a:prstGeom>
          <a:noFill/>
        </p:spPr>
        <p:txBody>
          <a:bodyPr wrap="square" anchor="ctr" lIns="0" rIns="0" tIns="0" bIns="0">
            <a:normAutofit/>
          </a:bodyPr>
          <a:lstStyle/>
          <a:p>
            <a:pPr algn="l"/>
            <a:r>
              <a:rPr sz="500" b="0">
                <a:solidFill>
                  <a:srgbClr val="64748B"/>
                </a:solidFill>
                <a:latin typeface="Noto Sans SC"/>
              </a:rPr>
              <a:t>数据来源：Google Earth Engine Satellite Embedding 数据集</a:t>
            </a:r>
          </a:p>
        </p:txBody>
      </p:sp>
      <p:sp>
        <p:nvSpPr>
          <p:cNvPr id="26" name="TextBox 25"/>
          <p:cNvSpPr txBox="1"/>
          <p:nvPr/>
        </p:nvSpPr>
        <p:spPr>
          <a:xfrm>
            <a:off x="822960" y="4700016"/>
            <a:ext cx="4572000" cy="164592"/>
          </a:xfrm>
          <a:prstGeom prst="rect">
            <a:avLst/>
          </a:prstGeom>
          <a:noFill/>
        </p:spPr>
        <p:txBody>
          <a:bodyPr wrap="square" anchor="ctr" lIns="0" rIns="0" tIns="0" bIns="0">
            <a:normAutofit/>
          </a:bodyPr>
          <a:lstStyle/>
          <a:p>
            <a:pPr algn="l"/>
            <a:r>
              <a:rPr sz="1000" b="1">
                <a:solidFill>
                  <a:srgbClr val="0F172A"/>
                </a:solidFill>
                <a:latin typeface="Noto Sans SC"/>
              </a:rPr>
              <a:t>一个嵌入，已经覆盖多类下游任务</a:t>
            </a:r>
          </a:p>
        </p:txBody>
      </p:sp>
      <p:sp>
        <p:nvSpPr>
          <p:cNvPr id="27" name="Rounded Rectangle 26"/>
          <p:cNvSpPr/>
          <p:nvPr/>
        </p:nvSpPr>
        <p:spPr>
          <a:xfrm>
            <a:off x="786384"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lide09_img04_f5b957e4_4119.png"/>
          <p:cNvPicPr>
            <a:picLocks noChangeAspect="1"/>
          </p:cNvPicPr>
          <p:nvPr/>
        </p:nvPicPr>
        <p:blipFill>
          <a:blip r:embed="rId3"/>
          <a:stretch>
            <a:fillRect/>
          </a:stretch>
        </p:blipFill>
        <p:spPr>
          <a:xfrm>
            <a:off x="841247" y="5065776"/>
            <a:ext cx="3163824" cy="768096"/>
          </a:xfrm>
          <a:prstGeom prst="rect">
            <a:avLst/>
          </a:prstGeom>
        </p:spPr>
      </p:pic>
      <p:sp>
        <p:nvSpPr>
          <p:cNvPr id="29" name="TextBox 28"/>
          <p:cNvSpPr txBox="1"/>
          <p:nvPr/>
        </p:nvSpPr>
        <p:spPr>
          <a:xfrm>
            <a:off x="877824"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相似性识别 / 变化检测</a:t>
            </a:r>
          </a:p>
        </p:txBody>
      </p:sp>
      <p:sp>
        <p:nvSpPr>
          <p:cNvPr id="30" name="Rounded Rectangle 29"/>
          <p:cNvSpPr/>
          <p:nvPr/>
        </p:nvSpPr>
        <p:spPr>
          <a:xfrm>
            <a:off x="4462272"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lide11_img01_ea269f1d_4119.png"/>
          <p:cNvPicPr>
            <a:picLocks noChangeAspect="1"/>
          </p:cNvPicPr>
          <p:nvPr/>
        </p:nvPicPr>
        <p:blipFill>
          <a:blip r:embed="rId4"/>
          <a:stretch>
            <a:fillRect/>
          </a:stretch>
        </p:blipFill>
        <p:spPr>
          <a:xfrm>
            <a:off x="4517136" y="5065776"/>
            <a:ext cx="3163824" cy="768096"/>
          </a:xfrm>
          <a:prstGeom prst="rect">
            <a:avLst/>
          </a:prstGeom>
        </p:spPr>
      </p:pic>
      <p:sp>
        <p:nvSpPr>
          <p:cNvPr id="32" name="TextBox 31"/>
          <p:cNvSpPr txBox="1"/>
          <p:nvPr/>
        </p:nvSpPr>
        <p:spPr>
          <a:xfrm>
            <a:off x="4553712"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目标检索 / 光伏识别</a:t>
            </a:r>
          </a:p>
        </p:txBody>
      </p:sp>
      <p:sp>
        <p:nvSpPr>
          <p:cNvPr id="33" name="Rounded Rectangle 32"/>
          <p:cNvSpPr/>
          <p:nvPr/>
        </p:nvSpPr>
        <p:spPr>
          <a:xfrm>
            <a:off x="8138160"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lide18_img14_6da1eb9d_4119.png"/>
          <p:cNvPicPr>
            <a:picLocks noChangeAspect="1"/>
          </p:cNvPicPr>
          <p:nvPr/>
        </p:nvPicPr>
        <p:blipFill>
          <a:blip r:embed="rId5"/>
          <a:stretch>
            <a:fillRect/>
          </a:stretch>
        </p:blipFill>
        <p:spPr>
          <a:xfrm>
            <a:off x="8193024" y="5065776"/>
            <a:ext cx="3163824" cy="768096"/>
          </a:xfrm>
          <a:prstGeom prst="rect">
            <a:avLst/>
          </a:prstGeom>
        </p:spPr>
      </p:pic>
      <p:sp>
        <p:nvSpPr>
          <p:cNvPr id="35" name="TextBox 34"/>
          <p:cNvSpPr txBox="1"/>
          <p:nvPr/>
        </p:nvSpPr>
        <p:spPr>
          <a:xfrm>
            <a:off x="8229600"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土地分类 / 农用地识别</a:t>
            </a:r>
          </a:p>
        </p:txBody>
      </p:sp>
      <p:sp>
        <p:nvSpPr>
          <p:cNvPr id="36" name="TextBox 35"/>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验证了方向：地理嵌入会成为遥感应用的基础层。</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对标 AlphaEarth：玄女的差异化路径</a:t>
            </a:r>
          </a:p>
        </p:txBody>
      </p:sp>
      <p:sp>
        <p:nvSpPr>
          <p:cNvPr id="4" name="TextBox 3"/>
          <p:cNvSpPr txBox="1"/>
          <p:nvPr/>
        </p:nvSpPr>
        <p:spPr>
          <a:xfrm>
            <a:off x="950976" y="932688"/>
            <a:ext cx="9784080" cy="219456"/>
          </a:xfrm>
          <a:prstGeom prst="rect">
            <a:avLst/>
          </a:prstGeom>
          <a:noFill/>
        </p:spPr>
        <p:txBody>
          <a:bodyPr wrap="square" anchor="ctr" lIns="0" rIns="0" tIns="0" bIns="0">
            <a:normAutofit/>
          </a:bodyPr>
          <a:lstStyle/>
          <a:p>
            <a:pPr algn="l"/>
            <a:r>
              <a:rPr sz="1000" b="0">
                <a:solidFill>
                  <a:srgbClr val="64748B"/>
                </a:solidFill>
                <a:latin typeface="Noto Sans SC"/>
              </a:rPr>
              <a:t>国内较早系统性推进地理嵌入底座的团队，面向中国遥感数据与政企业务场景做高频、高分辨率、可部署的基础设施。</a:t>
            </a:r>
          </a:p>
        </p:txBody>
      </p:sp>
      <p:sp>
        <p:nvSpPr>
          <p:cNvPr id="5" name="TextBox 4"/>
          <p:cNvSpPr txBox="1"/>
          <p:nvPr/>
        </p:nvSpPr>
        <p:spPr>
          <a:xfrm>
            <a:off x="804672" y="1298448"/>
            <a:ext cx="4434840" cy="237744"/>
          </a:xfrm>
          <a:prstGeom prst="rect">
            <a:avLst/>
          </a:prstGeom>
          <a:noFill/>
        </p:spPr>
        <p:txBody>
          <a:bodyPr wrap="square" anchor="ctr" lIns="0" rIns="0" tIns="0" bIns="0">
            <a:normAutofit/>
          </a:bodyPr>
          <a:lstStyle/>
          <a:p>
            <a:pPr algn="l"/>
            <a:r>
              <a:rPr sz="1500" b="1">
                <a:solidFill>
                  <a:srgbClr val="0F172A"/>
                </a:solidFill>
                <a:latin typeface="Noto Sans SC"/>
              </a:rPr>
              <a:t>团队具备全球数据嵌入项目开发经验</a:t>
            </a:r>
          </a:p>
        </p:txBody>
      </p:sp>
      <p:pic>
        <p:nvPicPr>
          <p:cNvPr id="6" name="Picture 5" descr="Text_Search_1929.png"/>
          <p:cNvPicPr>
            <a:picLocks noChangeAspect="1"/>
          </p:cNvPicPr>
          <p:nvPr/>
        </p:nvPicPr>
        <p:blipFill>
          <a:blip r:embed="rId2"/>
          <a:stretch>
            <a:fillRect/>
          </a:stretch>
        </p:blipFill>
        <p:spPr>
          <a:xfrm>
            <a:off x="786384" y="1700784"/>
            <a:ext cx="4480560" cy="2322576"/>
          </a:xfrm>
          <a:prstGeom prst="rect">
            <a:avLst/>
          </a:prstGeom>
        </p:spPr>
      </p:pic>
      <p:sp>
        <p:nvSpPr>
          <p:cNvPr id="7" name="TextBox 6"/>
          <p:cNvSpPr txBox="1"/>
          <p:nvPr/>
        </p:nvSpPr>
        <p:spPr>
          <a:xfrm>
            <a:off x="896112" y="4187952"/>
            <a:ext cx="4261104" cy="164592"/>
          </a:xfrm>
          <a:prstGeom prst="rect">
            <a:avLst/>
          </a:prstGeom>
          <a:noFill/>
        </p:spPr>
        <p:txBody>
          <a:bodyPr wrap="square" anchor="ctr" lIns="0" rIns="0" tIns="0" bIns="0">
            <a:normAutofit/>
          </a:bodyPr>
          <a:lstStyle/>
          <a:p>
            <a:pPr algn="ctr"/>
            <a:r>
              <a:rPr sz="900" b="1">
                <a:solidFill>
                  <a:srgbClr val="0F172A"/>
                </a:solidFill>
                <a:latin typeface="Noto Sans SC"/>
              </a:rPr>
              <a:t>OpenGeoScope / EarthEmbeddingExplorer</a:t>
            </a:r>
          </a:p>
        </p:txBody>
      </p:sp>
      <p:sp>
        <p:nvSpPr>
          <p:cNvPr id="8" name="TextBox 7"/>
          <p:cNvSpPr txBox="1"/>
          <p:nvPr/>
        </p:nvSpPr>
        <p:spPr>
          <a:xfrm>
            <a:off x="896112" y="4498848"/>
            <a:ext cx="4261104" cy="530352"/>
          </a:xfrm>
          <a:prstGeom prst="rect">
            <a:avLst/>
          </a:prstGeom>
          <a:noFill/>
        </p:spPr>
        <p:txBody>
          <a:bodyPr wrap="square" anchor="ctr" lIns="0" rIns="0" tIns="0" bIns="0">
            <a:normAutofit/>
          </a:bodyPr>
          <a:lstStyle/>
          <a:p>
            <a:pPr algn="ctr"/>
            <a:r>
              <a:rPr sz="900" b="0">
                <a:solidFill>
                  <a:srgbClr val="334155"/>
                </a:solidFill>
                <a:latin typeface="Noto Sans SC"/>
              </a:rPr>
              <a:t>团队此前参与开发的全球卫星影像嵌入检索项目，与欧空局 ESA PhiLab / MajorTOM 生态合作，获得国际社区广泛关注与好评。</a:t>
            </a:r>
          </a:p>
        </p:txBody>
      </p:sp>
      <p:sp>
        <p:nvSpPr>
          <p:cNvPr id="9" name="Rounded Rectangle 8"/>
          <p:cNvSpPr/>
          <p:nvPr/>
        </p:nvSpPr>
        <p:spPr>
          <a:xfrm>
            <a:off x="1005840" y="5358384"/>
            <a:ext cx="4059936" cy="3840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5449824"/>
            <a:ext cx="3584448" cy="128016"/>
          </a:xfrm>
          <a:prstGeom prst="rect">
            <a:avLst/>
          </a:prstGeom>
          <a:noFill/>
        </p:spPr>
        <p:txBody>
          <a:bodyPr wrap="square" anchor="ctr" lIns="0" rIns="0" tIns="0" bIns="0">
            <a:normAutofit/>
          </a:bodyPr>
          <a:lstStyle/>
          <a:p>
            <a:pPr algn="ctr"/>
            <a:r>
              <a:rPr sz="900" b="1">
                <a:solidFill>
                  <a:srgbClr val="2563EB"/>
                </a:solidFill>
                <a:latin typeface="Noto Sans SC"/>
              </a:rPr>
              <a:t>国际项目经验，是玄女底座能力的早期验证。</a:t>
            </a:r>
          </a:p>
        </p:txBody>
      </p:sp>
      <p:cxnSp>
        <p:nvCxnSpPr>
          <p:cNvPr id="11" name="Connector 10"/>
          <p:cNvCxnSpPr/>
          <p:nvPr/>
        </p:nvCxnSpPr>
        <p:spPr>
          <a:xfrm>
            <a:off x="5504688" y="1280160"/>
            <a:ext cx="0" cy="461772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742432" y="1298448"/>
            <a:ext cx="5440680" cy="274320"/>
          </a:xfrm>
          <a:prstGeom prst="rect">
            <a:avLst/>
          </a:prstGeom>
          <a:noFill/>
        </p:spPr>
        <p:txBody>
          <a:bodyPr wrap="square" anchor="ctr" lIns="0" rIns="0" tIns="0" bIns="0">
            <a:normAutofit/>
          </a:bodyPr>
          <a:lstStyle/>
          <a:p>
            <a:pPr algn="l"/>
            <a:r>
              <a:rPr sz="1400" b="1">
                <a:solidFill>
                  <a:srgbClr val="0F172A"/>
                </a:solidFill>
                <a:latin typeface="Noto Sans SC"/>
              </a:rPr>
              <a:t>差异化定位：面向中国场景的高频高分辨率地理嵌入</a:t>
            </a:r>
          </a:p>
        </p:txBody>
      </p:sp>
      <p:sp>
        <p:nvSpPr>
          <p:cNvPr id="13" name="Rounded Rectangle 12"/>
          <p:cNvSpPr/>
          <p:nvPr/>
        </p:nvSpPr>
        <p:spPr>
          <a:xfrm>
            <a:off x="574243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0702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数据体系</a:t>
            </a:r>
          </a:p>
        </p:txBody>
      </p:sp>
      <p:cxnSp>
        <p:nvCxnSpPr>
          <p:cNvPr id="15" name="Connector 14"/>
          <p:cNvCxnSpPr/>
          <p:nvPr/>
        </p:nvCxnSpPr>
        <p:spPr>
          <a:xfrm>
            <a:off x="599846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17" name="TextBox 16"/>
          <p:cNvSpPr txBox="1"/>
          <p:nvPr/>
        </p:nvSpPr>
        <p:spPr>
          <a:xfrm>
            <a:off x="7187184" y="2441448"/>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18" name="TextBox 17"/>
          <p:cNvSpPr txBox="1"/>
          <p:nvPr/>
        </p:nvSpPr>
        <p:spPr>
          <a:xfrm>
            <a:off x="588873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全球公开数据</a:t>
            </a:r>
          </a:p>
        </p:txBody>
      </p:sp>
      <p:sp>
        <p:nvSpPr>
          <p:cNvPr id="19" name="TextBox 18"/>
          <p:cNvSpPr txBox="1"/>
          <p:nvPr/>
        </p:nvSpPr>
        <p:spPr>
          <a:xfrm>
            <a:off x="7077456" y="2615184"/>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加入中国遥感数据</a:t>
            </a:r>
          </a:p>
        </p:txBody>
      </p:sp>
      <p:sp>
        <p:nvSpPr>
          <p:cNvPr id="20" name="Rectangle 19"/>
          <p:cNvSpPr/>
          <p:nvPr/>
        </p:nvSpPr>
        <p:spPr>
          <a:xfrm>
            <a:off x="7004304" y="2523744"/>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6851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3310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空间粒度</a:t>
            </a:r>
          </a:p>
        </p:txBody>
      </p:sp>
      <p:cxnSp>
        <p:nvCxnSpPr>
          <p:cNvPr id="23" name="Connector 22"/>
          <p:cNvCxnSpPr/>
          <p:nvPr/>
        </p:nvCxnSpPr>
        <p:spPr>
          <a:xfrm>
            <a:off x="892454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6968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25" name="TextBox 24"/>
          <p:cNvSpPr txBox="1"/>
          <p:nvPr/>
        </p:nvSpPr>
        <p:spPr>
          <a:xfrm>
            <a:off x="10113264" y="2441448"/>
            <a:ext cx="841248" cy="128016"/>
          </a:xfrm>
          <a:prstGeom prst="rect">
            <a:avLst/>
          </a:prstGeom>
          <a:noFill/>
        </p:spPr>
        <p:txBody>
          <a:bodyPr wrap="square" anchor="ctr" lIns="0" rIns="0" tIns="0" bIns="0">
            <a:normAutofit/>
          </a:bodyPr>
          <a:lstStyle/>
          <a:p>
            <a:pPr algn="ctr"/>
            <a:r>
              <a:rPr sz="600" b="1">
                <a:solidFill>
                  <a:srgbClr val="2563EB"/>
                </a:solidFill>
                <a:latin typeface="Noto Sans SC"/>
              </a:rPr>
              <a:t>玄女</a:t>
            </a:r>
          </a:p>
        </p:txBody>
      </p:sp>
      <p:sp>
        <p:nvSpPr>
          <p:cNvPr id="26" name="TextBox 25"/>
          <p:cNvSpPr txBox="1"/>
          <p:nvPr/>
        </p:nvSpPr>
        <p:spPr>
          <a:xfrm>
            <a:off x="881481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10 米</a:t>
            </a:r>
          </a:p>
        </p:txBody>
      </p:sp>
      <p:sp>
        <p:nvSpPr>
          <p:cNvPr id="27" name="TextBox 26"/>
          <p:cNvSpPr txBox="1"/>
          <p:nvPr/>
        </p:nvSpPr>
        <p:spPr>
          <a:xfrm>
            <a:off x="10003536" y="2615184"/>
            <a:ext cx="1078992" cy="237744"/>
          </a:xfrm>
          <a:prstGeom prst="rect">
            <a:avLst/>
          </a:prstGeom>
          <a:noFill/>
        </p:spPr>
        <p:txBody>
          <a:bodyPr wrap="square" anchor="ctr" lIns="0" rIns="0" tIns="0" bIns="0">
            <a:normAutofit/>
          </a:bodyPr>
          <a:lstStyle/>
          <a:p>
            <a:pPr algn="ctr"/>
            <a:r>
              <a:rPr sz="900" b="1">
                <a:solidFill>
                  <a:srgbClr val="2563EB"/>
                </a:solidFill>
                <a:latin typeface="Noto Sans SC"/>
              </a:rPr>
              <a:t>最高 0.5 米</a:t>
            </a:r>
          </a:p>
        </p:txBody>
      </p:sp>
      <p:sp>
        <p:nvSpPr>
          <p:cNvPr id="28" name="Rectangle 27"/>
          <p:cNvSpPr/>
          <p:nvPr/>
        </p:nvSpPr>
        <p:spPr>
          <a:xfrm>
            <a:off x="9930384" y="2523744"/>
            <a:ext cx="18288" cy="384048"/>
          </a:xfrm>
          <a:prstGeom prst="rect">
            <a:avLst/>
          </a:prstGeom>
          <a:solidFill>
            <a:srgbClr val="EFF6FF"/>
          </a:solidFill>
          <a:ln w="10160">
            <a:solidFill>
              <a:srgbClr val="EFF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74243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0702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时间频率</a:t>
            </a:r>
          </a:p>
        </p:txBody>
      </p:sp>
      <p:cxnSp>
        <p:nvCxnSpPr>
          <p:cNvPr id="31" name="Connector 30"/>
          <p:cNvCxnSpPr/>
          <p:nvPr/>
        </p:nvCxnSpPr>
        <p:spPr>
          <a:xfrm>
            <a:off x="599846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4360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33" name="TextBox 32"/>
          <p:cNvSpPr txBox="1"/>
          <p:nvPr/>
        </p:nvSpPr>
        <p:spPr>
          <a:xfrm>
            <a:off x="7187184" y="4014215"/>
            <a:ext cx="841248" cy="128016"/>
          </a:xfrm>
          <a:prstGeom prst="rect">
            <a:avLst/>
          </a:prstGeom>
          <a:noFill/>
        </p:spPr>
        <p:txBody>
          <a:bodyPr wrap="square" anchor="ctr" lIns="0" rIns="0" tIns="0" bIns="0">
            <a:normAutofit/>
          </a:bodyPr>
          <a:lstStyle/>
          <a:p>
            <a:pPr algn="ctr"/>
            <a:r>
              <a:rPr sz="600" b="1">
                <a:solidFill>
                  <a:srgbClr val="7C3AED"/>
                </a:solidFill>
                <a:latin typeface="Noto Sans SC"/>
              </a:rPr>
              <a:t>玄女</a:t>
            </a:r>
          </a:p>
        </p:txBody>
      </p:sp>
      <p:sp>
        <p:nvSpPr>
          <p:cNvPr id="34" name="TextBox 33"/>
          <p:cNvSpPr txBox="1"/>
          <p:nvPr/>
        </p:nvSpPr>
        <p:spPr>
          <a:xfrm>
            <a:off x="588873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一年一景</a:t>
            </a:r>
          </a:p>
        </p:txBody>
      </p:sp>
      <p:sp>
        <p:nvSpPr>
          <p:cNvPr id="35" name="TextBox 34"/>
          <p:cNvSpPr txBox="1"/>
          <p:nvPr/>
        </p:nvSpPr>
        <p:spPr>
          <a:xfrm>
            <a:off x="7077456" y="4187952"/>
            <a:ext cx="1078992" cy="237744"/>
          </a:xfrm>
          <a:prstGeom prst="rect">
            <a:avLst/>
          </a:prstGeom>
          <a:noFill/>
        </p:spPr>
        <p:txBody>
          <a:bodyPr wrap="square" anchor="ctr" lIns="0" rIns="0" tIns="0" bIns="0">
            <a:normAutofit/>
          </a:bodyPr>
          <a:lstStyle/>
          <a:p>
            <a:pPr algn="ctr"/>
            <a:r>
              <a:rPr sz="900" b="1">
                <a:solidFill>
                  <a:srgbClr val="7C3AED"/>
                </a:solidFill>
                <a:latin typeface="Noto Sans SC"/>
              </a:rPr>
              <a:t>最快 11 天</a:t>
            </a:r>
          </a:p>
        </p:txBody>
      </p:sp>
      <p:sp>
        <p:nvSpPr>
          <p:cNvPr id="36" name="Rectangle 35"/>
          <p:cNvSpPr/>
          <p:nvPr/>
        </p:nvSpPr>
        <p:spPr>
          <a:xfrm>
            <a:off x="7004304" y="4096511"/>
            <a:ext cx="18288" cy="384048"/>
          </a:xfrm>
          <a:prstGeom prst="rect">
            <a:avLst/>
          </a:prstGeom>
          <a:solidFill>
            <a:srgbClr val="F5F3FF"/>
          </a:solidFill>
          <a:ln w="10160">
            <a:solidFill>
              <a:srgbClr val="F5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66851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3310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业务部署</a:t>
            </a:r>
          </a:p>
        </p:txBody>
      </p:sp>
      <p:cxnSp>
        <p:nvCxnSpPr>
          <p:cNvPr id="39" name="Connector 38"/>
          <p:cNvCxnSpPr/>
          <p:nvPr/>
        </p:nvCxnSpPr>
        <p:spPr>
          <a:xfrm>
            <a:off x="892454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86968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41" name="TextBox 40"/>
          <p:cNvSpPr txBox="1"/>
          <p:nvPr/>
        </p:nvSpPr>
        <p:spPr>
          <a:xfrm>
            <a:off x="10113264" y="4014215"/>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42" name="TextBox 41"/>
          <p:cNvSpPr txBox="1"/>
          <p:nvPr/>
        </p:nvSpPr>
        <p:spPr>
          <a:xfrm>
            <a:off x="881481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模型不开源</a:t>
            </a:r>
          </a:p>
        </p:txBody>
      </p:sp>
      <p:sp>
        <p:nvSpPr>
          <p:cNvPr id="43" name="TextBox 42"/>
          <p:cNvSpPr txBox="1"/>
          <p:nvPr/>
        </p:nvSpPr>
        <p:spPr>
          <a:xfrm>
            <a:off x="10003536" y="4187952"/>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可面向政企部署</a:t>
            </a:r>
          </a:p>
        </p:txBody>
      </p:sp>
      <p:sp>
        <p:nvSpPr>
          <p:cNvPr id="44" name="Rectangle 43"/>
          <p:cNvSpPr/>
          <p:nvPr/>
        </p:nvSpPr>
        <p:spPr>
          <a:xfrm>
            <a:off x="9930384" y="4096511"/>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852160" y="5230368"/>
            <a:ext cx="5266944" cy="530352"/>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0" y="5394960"/>
            <a:ext cx="4718304" cy="164592"/>
          </a:xfrm>
          <a:prstGeom prst="rect">
            <a:avLst/>
          </a:prstGeom>
          <a:noFill/>
        </p:spPr>
        <p:txBody>
          <a:bodyPr wrap="square" anchor="ctr" lIns="0" rIns="0" tIns="0" bIns="0">
            <a:normAutofit/>
          </a:bodyPr>
          <a:lstStyle/>
          <a:p>
            <a:pPr algn="ctr"/>
            <a:r>
              <a:rPr sz="1000" b="1">
                <a:solidFill>
                  <a:srgbClr val="F59E0B"/>
                </a:solidFill>
                <a:latin typeface="Noto Sans SC"/>
              </a:rPr>
              <a:t>阶段性结论：变化检测实验优于 AlphaEarth；目标识别仍需继续提升训练数据规模。</a:t>
            </a:r>
          </a:p>
        </p:txBody>
      </p:sp>
      <p:sp>
        <p:nvSpPr>
          <p:cNvPr id="47" name="TextBox 46"/>
          <p:cNvSpPr txBox="1"/>
          <p:nvPr/>
        </p:nvSpPr>
        <p:spPr>
          <a:xfrm>
            <a:off x="7333488" y="5852160"/>
            <a:ext cx="3767328" cy="128016"/>
          </a:xfrm>
          <a:prstGeom prst="rect">
            <a:avLst/>
          </a:prstGeom>
          <a:noFill/>
        </p:spPr>
        <p:txBody>
          <a:bodyPr wrap="square" anchor="ctr" lIns="0" rIns="0" tIns="0" bIns="0">
            <a:normAutofit/>
          </a:bodyPr>
          <a:lstStyle/>
          <a:p>
            <a:pPr algn="r"/>
            <a:r>
              <a:rPr sz="600" b="1">
                <a:solidFill>
                  <a:srgbClr val="2563EB"/>
                </a:solidFill>
                <a:latin typeface="Noto Sans SC"/>
              </a:rPr>
              <a:t>GitHub: github.com/OpenGeoScope/EarthEmbeddingExplorer</a:t>
            </a:r>
          </a:p>
        </p:txBody>
      </p:sp>
      <p:sp>
        <p:nvSpPr>
          <p:cNvPr id="48" name="TextBox 47"/>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证明方向，玄女把方向落到中国高分辨率、高频更新、可部署的业务场景。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09</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