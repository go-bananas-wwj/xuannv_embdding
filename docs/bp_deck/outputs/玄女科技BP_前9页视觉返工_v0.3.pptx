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mov" ContentType="video/quicktime"/>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gif"/><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microsoft.com/office/2007/relationships/media" Target="../media/media1.mov"/><Relationship Id="rId4" Type="http://schemas.openxmlformats.org/officeDocument/2006/relationships/video" Target="../media/media1.mov"/><Relationship Id="rId5"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下游任务</a:t>
            </a:r>
          </a:p>
        </p:txBody>
      </p:sp>
      <p:pic>
        <p:nvPicPr>
          <p:cNvPr id="9" name="Picture 8" descr="diamond_patch_000339_s2_2025-04_360.png"/>
          <p:cNvPicPr>
            <a:picLocks noChangeAspect="1"/>
          </p:cNvPicPr>
          <p:nvPr/>
        </p:nvPicPr>
        <p:blipFill>
          <a:blip r:embed="rId2"/>
          <a:stretch>
            <a:fillRect/>
          </a:stretch>
        </p:blipFill>
        <p:spPr>
          <a:xfrm>
            <a:off x="1005840" y="2761488"/>
            <a:ext cx="804672" cy="804672"/>
          </a:xfrm>
          <a:prstGeom prst="rect">
            <a:avLst/>
          </a:prstGeom>
        </p:spPr>
      </p:pic>
      <p:sp>
        <p:nvSpPr>
          <p:cNvPr id="10" name="TextBox 9"/>
          <p:cNvSpPr txBox="1"/>
          <p:nvPr/>
        </p:nvSpPr>
        <p:spPr>
          <a:xfrm>
            <a:off x="1847088" y="3017520"/>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哨兵二号光学</a:t>
            </a:r>
          </a:p>
        </p:txBody>
      </p:sp>
      <p:pic>
        <p:nvPicPr>
          <p:cNvPr id="11" name="Picture 10" descr="diamond_patch_000339_s1_2025-04_360.png"/>
          <p:cNvPicPr>
            <a:picLocks noChangeAspect="1"/>
          </p:cNvPicPr>
          <p:nvPr/>
        </p:nvPicPr>
        <p:blipFill>
          <a:blip r:embed="rId3"/>
          <a:stretch>
            <a:fillRect/>
          </a:stretch>
        </p:blipFill>
        <p:spPr>
          <a:xfrm>
            <a:off x="1005840" y="3191256"/>
            <a:ext cx="804672" cy="804672"/>
          </a:xfrm>
          <a:prstGeom prst="rect">
            <a:avLst/>
          </a:prstGeom>
        </p:spPr>
      </p:pic>
      <p:sp>
        <p:nvSpPr>
          <p:cNvPr id="12" name="TextBox 11"/>
          <p:cNvSpPr txBox="1"/>
          <p:nvPr/>
        </p:nvSpPr>
        <p:spPr>
          <a:xfrm>
            <a:off x="1847088" y="3447288"/>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雷达影像</a:t>
            </a:r>
          </a:p>
        </p:txBody>
      </p:sp>
      <p:pic>
        <p:nvPicPr>
          <p:cNvPr id="13" name="Picture 12" descr="diamond_patch_000339_s2_hr_2025-04_360.png"/>
          <p:cNvPicPr>
            <a:picLocks noChangeAspect="1"/>
          </p:cNvPicPr>
          <p:nvPr/>
        </p:nvPicPr>
        <p:blipFill>
          <a:blip r:embed="rId4"/>
          <a:stretch>
            <a:fillRect/>
          </a:stretch>
        </p:blipFill>
        <p:spPr>
          <a:xfrm>
            <a:off x="1005840" y="3621024"/>
            <a:ext cx="804672" cy="804672"/>
          </a:xfrm>
          <a:prstGeom prst="rect">
            <a:avLst/>
          </a:prstGeom>
        </p:spPr>
      </p:pic>
      <p:sp>
        <p:nvSpPr>
          <p:cNvPr id="14" name="TextBox 13"/>
          <p:cNvSpPr txBox="1"/>
          <p:nvPr/>
        </p:nvSpPr>
        <p:spPr>
          <a:xfrm>
            <a:off x="1847088" y="3877056"/>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高分光学</a:t>
            </a:r>
          </a:p>
        </p:txBody>
      </p:sp>
      <p:sp>
        <p:nvSpPr>
          <p:cNvPr id="15" name="TextBox 14"/>
          <p:cNvSpPr txBox="1"/>
          <p:nvPr/>
        </p:nvSpPr>
        <p:spPr>
          <a:xfrm>
            <a:off x="1188720" y="4270248"/>
            <a:ext cx="438912" cy="201168"/>
          </a:xfrm>
          <a:prstGeom prst="rect">
            <a:avLst/>
          </a:prstGeom>
          <a:noFill/>
        </p:spPr>
        <p:txBody>
          <a:bodyPr wrap="square" anchor="ctr" lIns="0" rIns="0" tIns="0" bIns="0">
            <a:normAutofit/>
          </a:bodyPr>
          <a:lstStyle/>
          <a:p>
            <a:pPr algn="ctr"/>
            <a:r>
              <a:rPr sz="1800" b="1">
                <a:solidFill>
                  <a:srgbClr val="64748B"/>
                </a:solidFill>
                <a:latin typeface="Noto Sans SC"/>
              </a:rPr>
              <a:t>…</a:t>
            </a:r>
          </a:p>
        </p:txBody>
      </p:sp>
      <p:pic>
        <p:nvPicPr>
          <p:cNvPr id="16" name="Picture 15" descr="diamond_patch_000339_dem_360.png"/>
          <p:cNvPicPr>
            <a:picLocks noChangeAspect="1"/>
          </p:cNvPicPr>
          <p:nvPr/>
        </p:nvPicPr>
        <p:blipFill>
          <a:blip r:embed="rId5"/>
          <a:stretch>
            <a:fillRect/>
          </a:stretch>
        </p:blipFill>
        <p:spPr>
          <a:xfrm>
            <a:off x="1005840" y="4480560"/>
            <a:ext cx="804672" cy="804672"/>
          </a:xfrm>
          <a:prstGeom prst="rect">
            <a:avLst/>
          </a:prstGeom>
        </p:spPr>
      </p:pic>
      <p:sp>
        <p:nvSpPr>
          <p:cNvPr id="17" name="TextBox 16"/>
          <p:cNvSpPr txBox="1"/>
          <p:nvPr/>
        </p:nvSpPr>
        <p:spPr>
          <a:xfrm>
            <a:off x="1847088" y="4736592"/>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高程数据</a:t>
            </a:r>
          </a:p>
        </p:txBody>
      </p:sp>
      <p:sp>
        <p:nvSpPr>
          <p:cNvPr id="18" name="TextBox 17"/>
          <p:cNvSpPr txBox="1"/>
          <p:nvPr/>
        </p:nvSpPr>
        <p:spPr>
          <a:xfrm>
            <a:off x="32186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19" name="Picture 18" descr="harbin_migration_animated.gif"/>
          <p:cNvPicPr>
            <a:picLocks noChangeAspect="1"/>
          </p:cNvPicPr>
          <p:nvPr/>
        </p:nvPicPr>
        <p:blipFill>
          <a:blip r:embed="rId6"/>
          <a:stretch>
            <a:fillRect/>
          </a:stretch>
        </p:blipFill>
        <p:spPr>
          <a:xfrm>
            <a:off x="4193205" y="2788920"/>
            <a:ext cx="2696117" cy="2487168"/>
          </a:xfrm>
          <a:prstGeom prst="rect">
            <a:avLst/>
          </a:prstGeom>
        </p:spPr>
      </p:pic>
      <p:sp>
        <p:nvSpPr>
          <p:cNvPr id="20" name="TextBox 19"/>
          <p:cNvSpPr txBox="1"/>
          <p:nvPr/>
        </p:nvSpPr>
        <p:spPr>
          <a:xfrm>
            <a:off x="73334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21" name="Picture 20" descr="image5.png"/>
          <p:cNvPicPr>
            <a:picLocks noChangeAspect="1"/>
          </p:cNvPicPr>
          <p:nvPr/>
        </p:nvPicPr>
        <p:blipFill>
          <a:blip r:embed="rId7"/>
          <a:stretch>
            <a:fillRect/>
          </a:stretch>
        </p:blipFill>
        <p:spPr>
          <a:xfrm>
            <a:off x="8217786" y="2816352"/>
            <a:ext cx="974603" cy="896112"/>
          </a:xfrm>
          <a:prstGeom prst="rect">
            <a:avLst/>
          </a:prstGeom>
        </p:spPr>
      </p:pic>
      <p:sp>
        <p:nvSpPr>
          <p:cNvPr id="22" name="TextBox 21"/>
          <p:cNvSpPr txBox="1"/>
          <p:nvPr/>
        </p:nvSpPr>
        <p:spPr>
          <a:xfrm>
            <a:off x="8119872"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土地分类</a:t>
            </a:r>
          </a:p>
        </p:txBody>
      </p:sp>
      <p:pic>
        <p:nvPicPr>
          <p:cNvPr id="23" name="Picture 22" descr="image7.png"/>
          <p:cNvPicPr>
            <a:picLocks noChangeAspect="1"/>
          </p:cNvPicPr>
          <p:nvPr/>
        </p:nvPicPr>
        <p:blipFill>
          <a:blip r:embed="rId8"/>
          <a:stretch>
            <a:fillRect/>
          </a:stretch>
        </p:blipFill>
        <p:spPr>
          <a:xfrm>
            <a:off x="9904970" y="2816352"/>
            <a:ext cx="965227" cy="896112"/>
          </a:xfrm>
          <a:prstGeom prst="rect">
            <a:avLst/>
          </a:prstGeom>
        </p:spPr>
      </p:pic>
      <p:sp>
        <p:nvSpPr>
          <p:cNvPr id="24" name="TextBox 23"/>
          <p:cNvSpPr txBox="1"/>
          <p:nvPr/>
        </p:nvSpPr>
        <p:spPr>
          <a:xfrm>
            <a:off x="9802368"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路网分割</a:t>
            </a:r>
          </a:p>
        </p:txBody>
      </p:sp>
      <p:pic>
        <p:nvPicPr>
          <p:cNvPr id="25" name="Picture 24" descr="image8.png"/>
          <p:cNvPicPr>
            <a:picLocks noChangeAspect="1"/>
          </p:cNvPicPr>
          <p:nvPr/>
        </p:nvPicPr>
        <p:blipFill>
          <a:blip r:embed="rId9"/>
          <a:stretch>
            <a:fillRect/>
          </a:stretch>
        </p:blipFill>
        <p:spPr>
          <a:xfrm>
            <a:off x="8222488" y="4151376"/>
            <a:ext cx="965200" cy="896112"/>
          </a:xfrm>
          <a:prstGeom prst="rect">
            <a:avLst/>
          </a:prstGeom>
        </p:spPr>
      </p:pic>
      <p:sp>
        <p:nvSpPr>
          <p:cNvPr id="26" name="TextBox 25"/>
          <p:cNvSpPr txBox="1"/>
          <p:nvPr/>
        </p:nvSpPr>
        <p:spPr>
          <a:xfrm>
            <a:off x="8119872" y="5120640"/>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土地利用</a:t>
            </a:r>
          </a:p>
        </p:txBody>
      </p:sp>
      <p:sp>
        <p:nvSpPr>
          <p:cNvPr id="27" name="TextBox 26"/>
          <p:cNvSpPr txBox="1"/>
          <p:nvPr/>
        </p:nvSpPr>
        <p:spPr>
          <a:xfrm>
            <a:off x="9802368" y="4398264"/>
            <a:ext cx="1170432" cy="237744"/>
          </a:xfrm>
          <a:prstGeom prst="rect">
            <a:avLst/>
          </a:prstGeom>
          <a:noFill/>
        </p:spPr>
        <p:txBody>
          <a:bodyPr wrap="square" anchor="ctr" lIns="0" rIns="0" tIns="0" bIns="0">
            <a:normAutofit/>
          </a:bodyPr>
          <a:lstStyle/>
          <a:p>
            <a:pPr algn="ctr"/>
            <a:r>
              <a:rPr sz="2200" b="1">
                <a:solidFill>
                  <a:srgbClr val="64748B"/>
                </a:solidFill>
                <a:latin typeface="Noto Sans SC"/>
              </a:rPr>
              <a:t>…</a:t>
            </a:r>
          </a:p>
        </p:txBody>
      </p:sp>
      <p:sp>
        <p:nvSpPr>
          <p:cNvPr id="28" name="TextBox 27"/>
          <p:cNvSpPr txBox="1"/>
          <p:nvPr/>
        </p:nvSpPr>
        <p:spPr>
          <a:xfrm>
            <a:off x="1444752" y="5413248"/>
            <a:ext cx="9326880" cy="201168"/>
          </a:xfrm>
          <a:prstGeom prst="rect">
            <a:avLst/>
          </a:prstGeom>
          <a:noFill/>
        </p:spPr>
        <p:txBody>
          <a:bodyPr wrap="square" anchor="ctr" lIns="0" rIns="0" tIns="0" bIns="0">
            <a:normAutofit/>
          </a:bodyPr>
          <a:lstStyle/>
          <a:p>
            <a:pPr algn="ctr"/>
            <a:r>
              <a:rPr sz="1000" b="0">
                <a:solidFill>
                  <a:srgbClr val="64748B"/>
                </a:solidFill>
                <a:latin typeface="Noto Sans SC"/>
              </a:rPr>
              <a:t>玄女底座融合多元观测数据，生成统一地理嵌入，支撑不同下游任务复用。</a:t>
            </a:r>
          </a:p>
        </p:txBody>
      </p:sp>
      <p:sp>
        <p:nvSpPr>
          <p:cNvPr id="29" name="TextBox 28"/>
          <p:cNvSpPr txBox="1"/>
          <p:nvPr/>
        </p:nvSpPr>
        <p:spPr>
          <a:xfrm>
            <a:off x="786384" y="5980176"/>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一次融合生成统一嵌入，多任务持续复用。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我们为什么要做这样一件事情</a:t>
            </a:r>
          </a:p>
        </p:txBody>
      </p:sp>
      <p:pic>
        <p:nvPicPr>
          <p:cNvPr id="4" name="Picture 3" descr="same_land_multi_satellite_models.png"/>
          <p:cNvPicPr>
            <a:picLocks noChangeAspect="1"/>
          </p:cNvPicPr>
          <p:nvPr/>
        </p:nvPicPr>
        <p:blipFill>
          <a:blip r:embed="rId2"/>
          <a:stretch>
            <a:fillRect/>
          </a:stretch>
        </p:blipFill>
        <p:spPr>
          <a:xfrm>
            <a:off x="658368" y="1292352"/>
            <a:ext cx="5806440" cy="3870960"/>
          </a:xfrm>
          <a:prstGeom prst="rect">
            <a:avLst/>
          </a:prstGeom>
        </p:spPr>
      </p:pic>
      <p:sp>
        <p:nvSpPr>
          <p:cNvPr id="5" name="TextBox 4"/>
          <p:cNvSpPr txBox="1"/>
          <p:nvPr/>
        </p:nvSpPr>
        <p:spPr>
          <a:xfrm>
            <a:off x="896112" y="5431536"/>
            <a:ext cx="5321808" cy="201168"/>
          </a:xfrm>
          <a:prstGeom prst="rect">
            <a:avLst/>
          </a:prstGeom>
          <a:noFill/>
        </p:spPr>
        <p:txBody>
          <a:bodyPr wrap="square" anchor="ctr" lIns="0" rIns="0" tIns="0" bIns="0">
            <a:normAutofit/>
          </a:bodyPr>
          <a:lstStyle/>
          <a:p>
            <a:pPr algn="ctr"/>
            <a:r>
              <a:rPr sz="800" b="0">
                <a:solidFill>
                  <a:srgbClr val="64748B"/>
                </a:solidFill>
                <a:latin typeface="Noto Sans SC"/>
              </a:rPr>
              <a:t>不同地理模型都在对同一地物的多源图像重复编码、解码，造成大量算力与工程成本浪费。</a:t>
            </a:r>
          </a:p>
        </p:txBody>
      </p:sp>
      <p:cxnSp>
        <p:nvCxnSpPr>
          <p:cNvPr id="6" name="Connector 5"/>
          <p:cNvCxnSpPr/>
          <p:nvPr/>
        </p:nvCxnSpPr>
        <p:spPr>
          <a:xfrm>
            <a:off x="6565392" y="1298448"/>
            <a:ext cx="0" cy="3968496"/>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903720" y="1463040"/>
            <a:ext cx="676656" cy="676656"/>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86600" y="1664208"/>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41464" y="1719072"/>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96328" y="1773936"/>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68312" y="1773936"/>
            <a:ext cx="347472" cy="182880"/>
          </a:xfrm>
          <a:prstGeom prst="rect">
            <a:avLst/>
          </a:prstGeom>
          <a:noFill/>
        </p:spPr>
        <p:txBody>
          <a:bodyPr wrap="square" anchor="ctr" lIns="0" rIns="0" tIns="0" bIns="0">
            <a:normAutofit/>
          </a:bodyPr>
          <a:lstStyle/>
          <a:p>
            <a:pPr algn="ctr"/>
            <a:r>
              <a:rPr sz="1100" b="1">
                <a:solidFill>
                  <a:srgbClr val="2563EB"/>
                </a:solidFill>
                <a:latin typeface="Noto Sans SC"/>
              </a:rPr>
              <a:t>↻</a:t>
            </a:r>
          </a:p>
        </p:txBody>
      </p:sp>
      <p:sp>
        <p:nvSpPr>
          <p:cNvPr id="12" name="TextBox 11"/>
          <p:cNvSpPr txBox="1"/>
          <p:nvPr/>
        </p:nvSpPr>
        <p:spPr>
          <a:xfrm>
            <a:off x="7772400" y="1463040"/>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同一批观测，被反复训练</a:t>
            </a:r>
          </a:p>
        </p:txBody>
      </p:sp>
      <p:sp>
        <p:nvSpPr>
          <p:cNvPr id="13" name="TextBox 12"/>
          <p:cNvSpPr txBox="1"/>
          <p:nvPr/>
        </p:nvSpPr>
        <p:spPr>
          <a:xfrm>
            <a:off x="7772400" y="1828800"/>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气象、分割、变化检测模型，各自重建底层特征。</a:t>
            </a:r>
          </a:p>
        </p:txBody>
      </p:sp>
      <p:cxnSp>
        <p:nvCxnSpPr>
          <p:cNvPr id="14" name="Connector 13"/>
          <p:cNvCxnSpPr/>
          <p:nvPr/>
        </p:nvCxnSpPr>
        <p:spPr>
          <a:xfrm>
            <a:off x="7772400" y="2313432"/>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03720" y="2807208"/>
            <a:ext cx="676656" cy="676656"/>
          </a:xfrm>
          <a:prstGeom prst="ellipse">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14032" y="3017520"/>
            <a:ext cx="256032" cy="256032"/>
          </a:xfrm>
          <a:prstGeom prst="rect">
            <a:avLst/>
          </a:prstGeom>
          <a:solidFill>
            <a:srgbClr val="FFFFFF"/>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31736"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15783"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1736"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415783"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2807208"/>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成本耗在重复编码</a:t>
            </a:r>
          </a:p>
        </p:txBody>
      </p:sp>
      <p:sp>
        <p:nvSpPr>
          <p:cNvPr id="22" name="TextBox 21"/>
          <p:cNvSpPr txBox="1"/>
          <p:nvPr/>
        </p:nvSpPr>
        <p:spPr>
          <a:xfrm>
            <a:off x="7772400" y="3172968"/>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数据处理、标注、训练无法复用，任务越多成本越高。</a:t>
            </a:r>
          </a:p>
        </p:txBody>
      </p:sp>
      <p:cxnSp>
        <p:nvCxnSpPr>
          <p:cNvPr id="23" name="Connector 22"/>
          <p:cNvCxnSpPr/>
          <p:nvPr/>
        </p:nvCxnSpPr>
        <p:spPr>
          <a:xfrm>
            <a:off x="7772400" y="3657600"/>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903720" y="4151376"/>
            <a:ext cx="676656" cy="676656"/>
          </a:xfrm>
          <a:prstGeom prst="ellipse">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178040" y="4425696"/>
            <a:ext cx="128016" cy="128016"/>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H="1" flipV="1">
            <a:off x="7086600"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054596"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flipV="1">
            <a:off x="7242048"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365492"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flipH="1">
            <a:off x="7086600"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054596"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7242048"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7365492"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0" y="4151376"/>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缺少通用嵌入层</a:t>
            </a:r>
          </a:p>
        </p:txBody>
      </p:sp>
      <p:sp>
        <p:nvSpPr>
          <p:cNvPr id="35" name="TextBox 34"/>
          <p:cNvSpPr txBox="1"/>
          <p:nvPr/>
        </p:nvSpPr>
        <p:spPr>
          <a:xfrm>
            <a:off x="7772400" y="4517136"/>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行业需要统一地理表征，连接多源观测与下游应用。</a:t>
            </a:r>
          </a:p>
        </p:txBody>
      </p:sp>
      <p:cxnSp>
        <p:nvCxnSpPr>
          <p:cNvPr id="36" name="Connector 35"/>
          <p:cNvCxnSpPr/>
          <p:nvPr/>
        </p:nvCxnSpPr>
        <p:spPr>
          <a:xfrm>
            <a:off x="7772400" y="5001768"/>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从每个任务重训，走向一次嵌入、多任务复用。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地理嵌入方向，我们走在前列</a:t>
            </a:r>
          </a:p>
        </p:txBody>
      </p:sp>
      <p:sp>
        <p:nvSpPr>
          <p:cNvPr id="4" name="TextBox 3"/>
          <p:cNvSpPr txBox="1"/>
          <p:nvPr/>
        </p:nvSpPr>
        <p:spPr>
          <a:xfrm>
            <a:off x="950976" y="932688"/>
            <a:ext cx="9875520" cy="219456"/>
          </a:xfrm>
          <a:prstGeom prst="rect">
            <a:avLst/>
          </a:prstGeom>
          <a:noFill/>
        </p:spPr>
        <p:txBody>
          <a:bodyPr wrap="square" anchor="ctr" lIns="0" rIns="0" tIns="0" bIns="0">
            <a:normAutofit/>
          </a:bodyPr>
          <a:lstStyle/>
          <a:p>
            <a:pPr algn="l"/>
            <a:r>
              <a:rPr sz="1000" b="0">
                <a:solidFill>
                  <a:srgbClr val="64748B"/>
                </a:solidFill>
                <a:latin typeface="Noto Sans SC"/>
              </a:rPr>
              <a:t>AlphaEarth Foundations 已经把遥感从“影像处理”推向“统一地球表征”。</a:t>
            </a:r>
          </a:p>
        </p:txBody>
      </p:sp>
      <p:pic>
        <p:nvPicPr>
          <p:cNvPr id="5" name="Picture 4" descr="slide04_img10_24c66b14_1853.png"/>
          <p:cNvPicPr>
            <a:picLocks noChangeAspect="1"/>
          </p:cNvPicPr>
          <p:nvPr/>
        </p:nvPicPr>
        <p:blipFill>
          <a:blip r:embed="rId2"/>
          <a:stretch>
            <a:fillRect/>
          </a:stretch>
        </p:blipFill>
        <p:spPr>
          <a:xfrm>
            <a:off x="786384" y="1261872"/>
            <a:ext cx="5559552" cy="2999232"/>
          </a:xfrm>
          <a:prstGeom prst="rect">
            <a:avLst/>
          </a:prstGeom>
        </p:spPr>
      </p:pic>
      <p:sp>
        <p:nvSpPr>
          <p:cNvPr id="6" name="TextBox 5"/>
          <p:cNvSpPr txBox="1"/>
          <p:nvPr/>
        </p:nvSpPr>
        <p:spPr>
          <a:xfrm>
            <a:off x="896112" y="4407408"/>
            <a:ext cx="5340096" cy="164592"/>
          </a:xfrm>
          <a:prstGeom prst="rect">
            <a:avLst/>
          </a:prstGeom>
          <a:noFill/>
        </p:spPr>
        <p:txBody>
          <a:bodyPr wrap="square" anchor="ctr" lIns="0" rIns="0" tIns="0" bIns="0">
            <a:normAutofit/>
          </a:bodyPr>
          <a:lstStyle/>
          <a:p>
            <a:pPr algn="ctr"/>
            <a:r>
              <a:rPr sz="800" b="1">
                <a:solidFill>
                  <a:srgbClr val="334155"/>
                </a:solidFill>
                <a:latin typeface="Noto Sans SC"/>
              </a:rPr>
              <a:t>AlphaEarth 全球嵌入可视化：把多源地球观测压缩为可计算的语义空间。</a:t>
            </a:r>
          </a:p>
        </p:txBody>
      </p:sp>
      <p:cxnSp>
        <p:nvCxnSpPr>
          <p:cNvPr id="7" name="Connector 6"/>
          <p:cNvCxnSpPr/>
          <p:nvPr/>
        </p:nvCxnSpPr>
        <p:spPr>
          <a:xfrm>
            <a:off x="6565392" y="1280160"/>
            <a:ext cx="0" cy="3127248"/>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39712" y="1298448"/>
            <a:ext cx="4069080" cy="237744"/>
          </a:xfrm>
          <a:prstGeom prst="rect">
            <a:avLst/>
          </a:prstGeom>
          <a:noFill/>
        </p:spPr>
        <p:txBody>
          <a:bodyPr wrap="square" anchor="ctr" lIns="0" rIns="0" tIns="0" bIns="0">
            <a:normAutofit/>
          </a:bodyPr>
          <a:lstStyle/>
          <a:p>
            <a:pPr algn="l"/>
            <a:r>
              <a:rPr sz="1500" b="1">
                <a:solidFill>
                  <a:srgbClr val="0F172A"/>
                </a:solidFill>
                <a:latin typeface="Noto Sans SC"/>
              </a:rPr>
              <a:t>最前列的 AlphaEarth 证明了什么</a:t>
            </a:r>
          </a:p>
        </p:txBody>
      </p:sp>
      <p:sp>
        <p:nvSpPr>
          <p:cNvPr id="9" name="TextBox 8"/>
          <p:cNvSpPr txBox="1"/>
          <p:nvPr/>
        </p:nvSpPr>
        <p:spPr>
          <a:xfrm>
            <a:off x="6839712" y="1700784"/>
            <a:ext cx="3977639" cy="438912"/>
          </a:xfrm>
          <a:prstGeom prst="rect">
            <a:avLst/>
          </a:prstGeom>
          <a:noFill/>
        </p:spPr>
        <p:txBody>
          <a:bodyPr wrap="square" anchor="ctr" lIns="0" rIns="0" tIns="0" bIns="0">
            <a:normAutofit/>
          </a:bodyPr>
          <a:lstStyle/>
          <a:p>
            <a:pPr algn="l"/>
            <a:r>
              <a:rPr sz="900" b="0">
                <a:solidFill>
                  <a:srgbClr val="334155"/>
                </a:solidFill>
                <a:latin typeface="Noto Sans SC"/>
              </a:rPr>
              <a:t>不是再训练一个单任务模型，而是把光学、雷达、Landsat、地形与生态观测融合成年度像素级嵌入。</a:t>
            </a:r>
          </a:p>
        </p:txBody>
      </p:sp>
      <p:sp>
        <p:nvSpPr>
          <p:cNvPr id="10" name="TextBox 9"/>
          <p:cNvSpPr txBox="1"/>
          <p:nvPr/>
        </p:nvSpPr>
        <p:spPr>
          <a:xfrm>
            <a:off x="6839712" y="2377440"/>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1. 数据形态：从多源影像变成 64 维向量</a:t>
            </a:r>
          </a:p>
        </p:txBody>
      </p:sp>
      <p:sp>
        <p:nvSpPr>
          <p:cNvPr id="11" name="TextBox 10"/>
          <p:cNvSpPr txBox="1"/>
          <p:nvPr/>
        </p:nvSpPr>
        <p:spPr>
          <a:xfrm>
            <a:off x="6839712" y="2761488"/>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2. 使用方式：从专家流程变成直接检索、分类、回归</a:t>
            </a:r>
          </a:p>
        </p:txBody>
      </p:sp>
      <p:sp>
        <p:nvSpPr>
          <p:cNvPr id="12" name="TextBox 11"/>
          <p:cNvSpPr txBox="1"/>
          <p:nvPr/>
        </p:nvSpPr>
        <p:spPr>
          <a:xfrm>
            <a:off x="6839712" y="3145536"/>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3. 行业意义：地理嵌入正在成为遥感应用的新入口</a:t>
            </a:r>
          </a:p>
        </p:txBody>
      </p:sp>
      <p:sp>
        <p:nvSpPr>
          <p:cNvPr id="13" name="Rounded Rectangle 12"/>
          <p:cNvSpPr/>
          <p:nvPr/>
        </p:nvSpPr>
        <p:spPr>
          <a:xfrm>
            <a:off x="6839712" y="3749039"/>
            <a:ext cx="1078992" cy="56692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12864" y="3840479"/>
            <a:ext cx="932688" cy="164592"/>
          </a:xfrm>
          <a:prstGeom prst="rect">
            <a:avLst/>
          </a:prstGeom>
          <a:noFill/>
        </p:spPr>
        <p:txBody>
          <a:bodyPr wrap="square" anchor="ctr" lIns="0" rIns="0" tIns="0" bIns="0">
            <a:normAutofit/>
          </a:bodyPr>
          <a:lstStyle/>
          <a:p>
            <a:pPr algn="ctr"/>
            <a:r>
              <a:rPr sz="1100" b="1">
                <a:solidFill>
                  <a:srgbClr val="2563EB"/>
                </a:solidFill>
                <a:latin typeface="Noto Sans SC"/>
              </a:rPr>
              <a:t>10 m</a:t>
            </a:r>
          </a:p>
        </p:txBody>
      </p:sp>
      <p:sp>
        <p:nvSpPr>
          <p:cNvPr id="15" name="TextBox 14"/>
          <p:cNvSpPr txBox="1"/>
          <p:nvPr/>
        </p:nvSpPr>
        <p:spPr>
          <a:xfrm>
            <a:off x="6912864"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像素级表征</a:t>
            </a:r>
          </a:p>
        </p:txBody>
      </p:sp>
      <p:sp>
        <p:nvSpPr>
          <p:cNvPr id="16" name="Rounded Rectangle 15"/>
          <p:cNvSpPr/>
          <p:nvPr/>
        </p:nvSpPr>
        <p:spPr>
          <a:xfrm>
            <a:off x="7955279" y="3749039"/>
            <a:ext cx="1078992" cy="56692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8431" y="3840479"/>
            <a:ext cx="932688" cy="164592"/>
          </a:xfrm>
          <a:prstGeom prst="rect">
            <a:avLst/>
          </a:prstGeom>
          <a:noFill/>
        </p:spPr>
        <p:txBody>
          <a:bodyPr wrap="square" anchor="ctr" lIns="0" rIns="0" tIns="0" bIns="0">
            <a:normAutofit/>
          </a:bodyPr>
          <a:lstStyle/>
          <a:p>
            <a:pPr algn="ctr"/>
            <a:r>
              <a:rPr sz="1100" b="1">
                <a:solidFill>
                  <a:srgbClr val="10B981"/>
                </a:solidFill>
                <a:latin typeface="Noto Sans SC"/>
              </a:rPr>
              <a:t>64 维</a:t>
            </a:r>
          </a:p>
        </p:txBody>
      </p:sp>
      <p:sp>
        <p:nvSpPr>
          <p:cNvPr id="18" name="TextBox 17"/>
          <p:cNvSpPr txBox="1"/>
          <p:nvPr/>
        </p:nvSpPr>
        <p:spPr>
          <a:xfrm>
            <a:off x="8028431"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嵌入向量</a:t>
            </a:r>
          </a:p>
        </p:txBody>
      </p:sp>
      <p:sp>
        <p:nvSpPr>
          <p:cNvPr id="19" name="Rounded Rectangle 18"/>
          <p:cNvSpPr/>
          <p:nvPr/>
        </p:nvSpPr>
        <p:spPr>
          <a:xfrm>
            <a:off x="9070848" y="3749039"/>
            <a:ext cx="1078992" cy="56692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3840479"/>
            <a:ext cx="932688" cy="164592"/>
          </a:xfrm>
          <a:prstGeom prst="rect">
            <a:avLst/>
          </a:prstGeom>
          <a:noFill/>
        </p:spPr>
        <p:txBody>
          <a:bodyPr wrap="square" anchor="ctr" lIns="0" rIns="0" tIns="0" bIns="0">
            <a:normAutofit/>
          </a:bodyPr>
          <a:lstStyle/>
          <a:p>
            <a:pPr algn="ctr"/>
            <a:r>
              <a:rPr sz="1100" b="1">
                <a:solidFill>
                  <a:srgbClr val="7C3AED"/>
                </a:solidFill>
                <a:latin typeface="Noto Sans SC"/>
              </a:rPr>
              <a:t>1.4 万亿+</a:t>
            </a:r>
          </a:p>
        </p:txBody>
      </p:sp>
      <p:sp>
        <p:nvSpPr>
          <p:cNvPr id="21" name="TextBox 20"/>
          <p:cNvSpPr txBox="1"/>
          <p:nvPr/>
        </p:nvSpPr>
        <p:spPr>
          <a:xfrm>
            <a:off x="9144000"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年度足迹</a:t>
            </a:r>
          </a:p>
        </p:txBody>
      </p:sp>
      <p:sp>
        <p:nvSpPr>
          <p:cNvPr id="22" name="Rounded Rectangle 21"/>
          <p:cNvSpPr/>
          <p:nvPr/>
        </p:nvSpPr>
        <p:spPr>
          <a:xfrm>
            <a:off x="10186416" y="3749039"/>
            <a:ext cx="1078992" cy="56692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59568" y="3840479"/>
            <a:ext cx="932688" cy="164592"/>
          </a:xfrm>
          <a:prstGeom prst="rect">
            <a:avLst/>
          </a:prstGeom>
          <a:noFill/>
        </p:spPr>
        <p:txBody>
          <a:bodyPr wrap="square" anchor="ctr" lIns="0" rIns="0" tIns="0" bIns="0">
            <a:normAutofit/>
          </a:bodyPr>
          <a:lstStyle/>
          <a:p>
            <a:pPr algn="ctr"/>
            <a:r>
              <a:rPr sz="1100" b="1">
                <a:solidFill>
                  <a:srgbClr val="F59E0B"/>
                </a:solidFill>
                <a:latin typeface="Noto Sans SC"/>
              </a:rPr>
              <a:t>2017-2024</a:t>
            </a:r>
          </a:p>
        </p:txBody>
      </p:sp>
      <p:sp>
        <p:nvSpPr>
          <p:cNvPr id="24" name="TextBox 23"/>
          <p:cNvSpPr txBox="1"/>
          <p:nvPr/>
        </p:nvSpPr>
        <p:spPr>
          <a:xfrm>
            <a:off x="10259568"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年度数据</a:t>
            </a:r>
          </a:p>
        </p:txBody>
      </p:sp>
      <p:sp>
        <p:nvSpPr>
          <p:cNvPr id="25" name="TextBox 24"/>
          <p:cNvSpPr txBox="1"/>
          <p:nvPr/>
        </p:nvSpPr>
        <p:spPr>
          <a:xfrm>
            <a:off x="6876288" y="4407408"/>
            <a:ext cx="3986784" cy="109728"/>
          </a:xfrm>
          <a:prstGeom prst="rect">
            <a:avLst/>
          </a:prstGeom>
          <a:noFill/>
        </p:spPr>
        <p:txBody>
          <a:bodyPr wrap="square" anchor="ctr" lIns="0" rIns="0" tIns="0" bIns="0">
            <a:normAutofit/>
          </a:bodyPr>
          <a:lstStyle/>
          <a:p>
            <a:pPr algn="l"/>
            <a:r>
              <a:rPr sz="500" b="0">
                <a:solidFill>
                  <a:srgbClr val="64748B"/>
                </a:solidFill>
                <a:latin typeface="Noto Sans SC"/>
              </a:rPr>
              <a:t>数据来源：Google Earth Engine Satellite Embedding 数据集</a:t>
            </a:r>
          </a:p>
        </p:txBody>
      </p:sp>
      <p:sp>
        <p:nvSpPr>
          <p:cNvPr id="26" name="TextBox 25"/>
          <p:cNvSpPr txBox="1"/>
          <p:nvPr/>
        </p:nvSpPr>
        <p:spPr>
          <a:xfrm>
            <a:off x="822960" y="4700016"/>
            <a:ext cx="4572000" cy="164592"/>
          </a:xfrm>
          <a:prstGeom prst="rect">
            <a:avLst/>
          </a:prstGeom>
          <a:noFill/>
        </p:spPr>
        <p:txBody>
          <a:bodyPr wrap="square" anchor="ctr" lIns="0" rIns="0" tIns="0" bIns="0">
            <a:normAutofit/>
          </a:bodyPr>
          <a:lstStyle/>
          <a:p>
            <a:pPr algn="l"/>
            <a:r>
              <a:rPr sz="1000" b="1">
                <a:solidFill>
                  <a:srgbClr val="0F172A"/>
                </a:solidFill>
                <a:latin typeface="Noto Sans SC"/>
              </a:rPr>
              <a:t>一个嵌入，已经覆盖多类下游任务</a:t>
            </a:r>
          </a:p>
        </p:txBody>
      </p:sp>
      <p:sp>
        <p:nvSpPr>
          <p:cNvPr id="27" name="Rounded Rectangle 26"/>
          <p:cNvSpPr/>
          <p:nvPr/>
        </p:nvSpPr>
        <p:spPr>
          <a:xfrm>
            <a:off x="786384"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lide09_img04_f5b957e4_4119.png"/>
          <p:cNvPicPr>
            <a:picLocks noChangeAspect="1"/>
          </p:cNvPicPr>
          <p:nvPr/>
        </p:nvPicPr>
        <p:blipFill>
          <a:blip r:embed="rId3"/>
          <a:stretch>
            <a:fillRect/>
          </a:stretch>
        </p:blipFill>
        <p:spPr>
          <a:xfrm>
            <a:off x="841247" y="5065776"/>
            <a:ext cx="3163824" cy="768096"/>
          </a:xfrm>
          <a:prstGeom prst="rect">
            <a:avLst/>
          </a:prstGeom>
        </p:spPr>
      </p:pic>
      <p:sp>
        <p:nvSpPr>
          <p:cNvPr id="29" name="TextBox 28"/>
          <p:cNvSpPr txBox="1"/>
          <p:nvPr/>
        </p:nvSpPr>
        <p:spPr>
          <a:xfrm>
            <a:off x="877824"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相似性识别 / 变化检测</a:t>
            </a:r>
          </a:p>
        </p:txBody>
      </p:sp>
      <p:sp>
        <p:nvSpPr>
          <p:cNvPr id="30" name="Rounded Rectangle 29"/>
          <p:cNvSpPr/>
          <p:nvPr/>
        </p:nvSpPr>
        <p:spPr>
          <a:xfrm>
            <a:off x="4462272"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lide11_img01_ea269f1d_4119.png"/>
          <p:cNvPicPr>
            <a:picLocks noChangeAspect="1"/>
          </p:cNvPicPr>
          <p:nvPr/>
        </p:nvPicPr>
        <p:blipFill>
          <a:blip r:embed="rId4"/>
          <a:stretch>
            <a:fillRect/>
          </a:stretch>
        </p:blipFill>
        <p:spPr>
          <a:xfrm>
            <a:off x="4517136" y="5065776"/>
            <a:ext cx="3163824" cy="768096"/>
          </a:xfrm>
          <a:prstGeom prst="rect">
            <a:avLst/>
          </a:prstGeom>
        </p:spPr>
      </p:pic>
      <p:sp>
        <p:nvSpPr>
          <p:cNvPr id="32" name="TextBox 31"/>
          <p:cNvSpPr txBox="1"/>
          <p:nvPr/>
        </p:nvSpPr>
        <p:spPr>
          <a:xfrm>
            <a:off x="4553712"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目标检索 / 光伏识别</a:t>
            </a:r>
          </a:p>
        </p:txBody>
      </p:sp>
      <p:sp>
        <p:nvSpPr>
          <p:cNvPr id="33" name="Rounded Rectangle 32"/>
          <p:cNvSpPr/>
          <p:nvPr/>
        </p:nvSpPr>
        <p:spPr>
          <a:xfrm>
            <a:off x="8138160"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lide18_img14_6da1eb9d_4119.png"/>
          <p:cNvPicPr>
            <a:picLocks noChangeAspect="1"/>
          </p:cNvPicPr>
          <p:nvPr/>
        </p:nvPicPr>
        <p:blipFill>
          <a:blip r:embed="rId5"/>
          <a:stretch>
            <a:fillRect/>
          </a:stretch>
        </p:blipFill>
        <p:spPr>
          <a:xfrm>
            <a:off x="8193024" y="5065776"/>
            <a:ext cx="3163824" cy="768096"/>
          </a:xfrm>
          <a:prstGeom prst="rect">
            <a:avLst/>
          </a:prstGeom>
        </p:spPr>
      </p:pic>
      <p:sp>
        <p:nvSpPr>
          <p:cNvPr id="35" name="TextBox 34"/>
          <p:cNvSpPr txBox="1"/>
          <p:nvPr/>
        </p:nvSpPr>
        <p:spPr>
          <a:xfrm>
            <a:off x="8229600"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土地分类 / 农用地识别</a:t>
            </a:r>
          </a:p>
        </p:txBody>
      </p:sp>
      <p:sp>
        <p:nvSpPr>
          <p:cNvPr id="36" name="TextBox 35"/>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AlphaEarth 验证了方向：地理嵌入会成为遥感应用的基础层。</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对标 AlphaEarth：玄女的差异化路径</a:t>
            </a:r>
          </a:p>
        </p:txBody>
      </p:sp>
      <p:sp>
        <p:nvSpPr>
          <p:cNvPr id="4" name="TextBox 3"/>
          <p:cNvSpPr txBox="1"/>
          <p:nvPr/>
        </p:nvSpPr>
        <p:spPr>
          <a:xfrm>
            <a:off x="950976" y="932688"/>
            <a:ext cx="9784080" cy="219456"/>
          </a:xfrm>
          <a:prstGeom prst="rect">
            <a:avLst/>
          </a:prstGeom>
          <a:noFill/>
        </p:spPr>
        <p:txBody>
          <a:bodyPr wrap="square" anchor="ctr" lIns="0" rIns="0" tIns="0" bIns="0">
            <a:normAutofit/>
          </a:bodyPr>
          <a:lstStyle/>
          <a:p>
            <a:pPr algn="l"/>
            <a:r>
              <a:rPr sz="1000" b="0">
                <a:solidFill>
                  <a:srgbClr val="64748B"/>
                </a:solidFill>
                <a:latin typeface="Noto Sans SC"/>
              </a:rPr>
              <a:t>国内较早系统性推进地理嵌入底座的团队，面向中国遥感数据与政企业务场景做高频、高分辨率、可部署的基础设施。</a:t>
            </a:r>
          </a:p>
        </p:txBody>
      </p:sp>
      <p:sp>
        <p:nvSpPr>
          <p:cNvPr id="5" name="TextBox 4"/>
          <p:cNvSpPr txBox="1"/>
          <p:nvPr/>
        </p:nvSpPr>
        <p:spPr>
          <a:xfrm>
            <a:off x="804672" y="1298448"/>
            <a:ext cx="4434840" cy="237744"/>
          </a:xfrm>
          <a:prstGeom prst="rect">
            <a:avLst/>
          </a:prstGeom>
          <a:noFill/>
        </p:spPr>
        <p:txBody>
          <a:bodyPr wrap="square" anchor="ctr" lIns="0" rIns="0" tIns="0" bIns="0">
            <a:normAutofit/>
          </a:bodyPr>
          <a:lstStyle/>
          <a:p>
            <a:pPr algn="l"/>
            <a:r>
              <a:rPr sz="1500" b="1">
                <a:solidFill>
                  <a:srgbClr val="0F172A"/>
                </a:solidFill>
                <a:latin typeface="Noto Sans SC"/>
              </a:rPr>
              <a:t>团队具备全球数据嵌入项目开发经验</a:t>
            </a:r>
          </a:p>
        </p:txBody>
      </p:sp>
      <p:pic>
        <p:nvPicPr>
          <p:cNvPr id="6" name="Picture 5" descr="Text_Search_1929.png"/>
          <p:cNvPicPr>
            <a:picLocks noChangeAspect="1"/>
          </p:cNvPicPr>
          <p:nvPr/>
        </p:nvPicPr>
        <p:blipFill>
          <a:blip r:embed="rId2"/>
          <a:stretch>
            <a:fillRect/>
          </a:stretch>
        </p:blipFill>
        <p:spPr>
          <a:xfrm>
            <a:off x="786384" y="1700784"/>
            <a:ext cx="4480560" cy="2322576"/>
          </a:xfrm>
          <a:prstGeom prst="rect">
            <a:avLst/>
          </a:prstGeom>
        </p:spPr>
      </p:pic>
      <p:sp>
        <p:nvSpPr>
          <p:cNvPr id="7" name="TextBox 6"/>
          <p:cNvSpPr txBox="1"/>
          <p:nvPr/>
        </p:nvSpPr>
        <p:spPr>
          <a:xfrm>
            <a:off x="896112" y="4187952"/>
            <a:ext cx="4261104" cy="164592"/>
          </a:xfrm>
          <a:prstGeom prst="rect">
            <a:avLst/>
          </a:prstGeom>
          <a:noFill/>
        </p:spPr>
        <p:txBody>
          <a:bodyPr wrap="square" anchor="ctr" lIns="0" rIns="0" tIns="0" bIns="0">
            <a:normAutofit/>
          </a:bodyPr>
          <a:lstStyle/>
          <a:p>
            <a:pPr algn="ctr"/>
            <a:r>
              <a:rPr sz="900" b="1">
                <a:solidFill>
                  <a:srgbClr val="0F172A"/>
                </a:solidFill>
                <a:latin typeface="Noto Sans SC"/>
              </a:rPr>
              <a:t>OpenGeoScope / EarthEmbeddingExplorer</a:t>
            </a:r>
          </a:p>
        </p:txBody>
      </p:sp>
      <p:sp>
        <p:nvSpPr>
          <p:cNvPr id="8" name="TextBox 7"/>
          <p:cNvSpPr txBox="1"/>
          <p:nvPr/>
        </p:nvSpPr>
        <p:spPr>
          <a:xfrm>
            <a:off x="896112" y="4498848"/>
            <a:ext cx="4261104" cy="530352"/>
          </a:xfrm>
          <a:prstGeom prst="rect">
            <a:avLst/>
          </a:prstGeom>
          <a:noFill/>
        </p:spPr>
        <p:txBody>
          <a:bodyPr wrap="square" anchor="ctr" lIns="0" rIns="0" tIns="0" bIns="0">
            <a:normAutofit/>
          </a:bodyPr>
          <a:lstStyle/>
          <a:p>
            <a:pPr algn="ctr"/>
            <a:r>
              <a:rPr sz="900" b="0">
                <a:solidFill>
                  <a:srgbClr val="334155"/>
                </a:solidFill>
                <a:latin typeface="Noto Sans SC"/>
              </a:rPr>
              <a:t>团队此前参与开发的全球卫星影像嵌入检索项目，与欧空局 ESA PhiLab / MajorTOM 生态合作，获得国际社区广泛关注与好评。</a:t>
            </a:r>
          </a:p>
        </p:txBody>
      </p:sp>
      <p:sp>
        <p:nvSpPr>
          <p:cNvPr id="9" name="Rounded Rectangle 8"/>
          <p:cNvSpPr/>
          <p:nvPr/>
        </p:nvSpPr>
        <p:spPr>
          <a:xfrm>
            <a:off x="1005840" y="5358384"/>
            <a:ext cx="4059936" cy="38404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5449824"/>
            <a:ext cx="3584448" cy="128016"/>
          </a:xfrm>
          <a:prstGeom prst="rect">
            <a:avLst/>
          </a:prstGeom>
          <a:noFill/>
        </p:spPr>
        <p:txBody>
          <a:bodyPr wrap="square" anchor="ctr" lIns="0" rIns="0" tIns="0" bIns="0">
            <a:normAutofit/>
          </a:bodyPr>
          <a:lstStyle/>
          <a:p>
            <a:pPr algn="ctr"/>
            <a:r>
              <a:rPr sz="900" b="1">
                <a:solidFill>
                  <a:srgbClr val="2563EB"/>
                </a:solidFill>
                <a:latin typeface="Noto Sans SC"/>
              </a:rPr>
              <a:t>国际项目经验，是玄女底座能力的早期验证。</a:t>
            </a:r>
          </a:p>
        </p:txBody>
      </p:sp>
      <p:cxnSp>
        <p:nvCxnSpPr>
          <p:cNvPr id="11" name="Connector 10"/>
          <p:cNvCxnSpPr/>
          <p:nvPr/>
        </p:nvCxnSpPr>
        <p:spPr>
          <a:xfrm>
            <a:off x="5504688" y="1280160"/>
            <a:ext cx="0" cy="461772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742432" y="1298448"/>
            <a:ext cx="5440680" cy="274320"/>
          </a:xfrm>
          <a:prstGeom prst="rect">
            <a:avLst/>
          </a:prstGeom>
          <a:noFill/>
        </p:spPr>
        <p:txBody>
          <a:bodyPr wrap="square" anchor="ctr" lIns="0" rIns="0" tIns="0" bIns="0">
            <a:normAutofit/>
          </a:bodyPr>
          <a:lstStyle/>
          <a:p>
            <a:pPr algn="l"/>
            <a:r>
              <a:rPr sz="1400" b="1">
                <a:solidFill>
                  <a:srgbClr val="0F172A"/>
                </a:solidFill>
                <a:latin typeface="Noto Sans SC"/>
              </a:rPr>
              <a:t>差异化定位：面向中国场景的高频高分辨率地理嵌入</a:t>
            </a:r>
          </a:p>
        </p:txBody>
      </p:sp>
      <p:sp>
        <p:nvSpPr>
          <p:cNvPr id="13" name="Rounded Rectangle 12"/>
          <p:cNvSpPr/>
          <p:nvPr/>
        </p:nvSpPr>
        <p:spPr>
          <a:xfrm>
            <a:off x="5742432" y="1865376"/>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07024" y="2002536"/>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数据体系</a:t>
            </a:r>
          </a:p>
        </p:txBody>
      </p:sp>
      <p:cxnSp>
        <p:nvCxnSpPr>
          <p:cNvPr id="15" name="Connector 14"/>
          <p:cNvCxnSpPr/>
          <p:nvPr/>
        </p:nvCxnSpPr>
        <p:spPr>
          <a:xfrm>
            <a:off x="5998464" y="2304288"/>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0" y="2441448"/>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17" name="TextBox 16"/>
          <p:cNvSpPr txBox="1"/>
          <p:nvPr/>
        </p:nvSpPr>
        <p:spPr>
          <a:xfrm>
            <a:off x="7187184" y="2441448"/>
            <a:ext cx="841248" cy="128016"/>
          </a:xfrm>
          <a:prstGeom prst="rect">
            <a:avLst/>
          </a:prstGeom>
          <a:noFill/>
        </p:spPr>
        <p:txBody>
          <a:bodyPr wrap="square" anchor="ctr" lIns="0" rIns="0" tIns="0" bIns="0">
            <a:normAutofit/>
          </a:bodyPr>
          <a:lstStyle/>
          <a:p>
            <a:pPr algn="ctr"/>
            <a:r>
              <a:rPr sz="600" b="1">
                <a:solidFill>
                  <a:srgbClr val="10B981"/>
                </a:solidFill>
                <a:latin typeface="Noto Sans SC"/>
              </a:rPr>
              <a:t>玄女</a:t>
            </a:r>
          </a:p>
        </p:txBody>
      </p:sp>
      <p:sp>
        <p:nvSpPr>
          <p:cNvPr id="18" name="TextBox 17"/>
          <p:cNvSpPr txBox="1"/>
          <p:nvPr/>
        </p:nvSpPr>
        <p:spPr>
          <a:xfrm>
            <a:off x="5888736" y="2651760"/>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全球公开数据</a:t>
            </a:r>
          </a:p>
        </p:txBody>
      </p:sp>
      <p:sp>
        <p:nvSpPr>
          <p:cNvPr id="19" name="TextBox 18"/>
          <p:cNvSpPr txBox="1"/>
          <p:nvPr/>
        </p:nvSpPr>
        <p:spPr>
          <a:xfrm>
            <a:off x="7077456" y="2615184"/>
            <a:ext cx="1078992" cy="237744"/>
          </a:xfrm>
          <a:prstGeom prst="rect">
            <a:avLst/>
          </a:prstGeom>
          <a:noFill/>
        </p:spPr>
        <p:txBody>
          <a:bodyPr wrap="square" anchor="ctr" lIns="0" rIns="0" tIns="0" bIns="0">
            <a:normAutofit/>
          </a:bodyPr>
          <a:lstStyle/>
          <a:p>
            <a:pPr algn="ctr"/>
            <a:r>
              <a:rPr sz="900" b="1">
                <a:solidFill>
                  <a:srgbClr val="10B981"/>
                </a:solidFill>
                <a:latin typeface="Noto Sans SC"/>
              </a:rPr>
              <a:t>加入中国遥感数据</a:t>
            </a:r>
          </a:p>
        </p:txBody>
      </p:sp>
      <p:sp>
        <p:nvSpPr>
          <p:cNvPr id="20" name="Rectangle 19"/>
          <p:cNvSpPr/>
          <p:nvPr/>
        </p:nvSpPr>
        <p:spPr>
          <a:xfrm>
            <a:off x="7004304" y="2523744"/>
            <a:ext cx="18288" cy="384048"/>
          </a:xfrm>
          <a:prstGeom prst="rect">
            <a:avLst/>
          </a:prstGeom>
          <a:solidFill>
            <a:srgbClr val="ECFDF5"/>
          </a:solidFill>
          <a:ln w="10160">
            <a:solidFill>
              <a:srgbClr val="ECFD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668512" y="1865376"/>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33104" y="2002536"/>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空间粒度</a:t>
            </a:r>
          </a:p>
        </p:txBody>
      </p:sp>
      <p:cxnSp>
        <p:nvCxnSpPr>
          <p:cNvPr id="23" name="Connector 22"/>
          <p:cNvCxnSpPr/>
          <p:nvPr/>
        </p:nvCxnSpPr>
        <p:spPr>
          <a:xfrm>
            <a:off x="8924544" y="2304288"/>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69680" y="2441448"/>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25" name="TextBox 24"/>
          <p:cNvSpPr txBox="1"/>
          <p:nvPr/>
        </p:nvSpPr>
        <p:spPr>
          <a:xfrm>
            <a:off x="10113264" y="2441448"/>
            <a:ext cx="841248" cy="128016"/>
          </a:xfrm>
          <a:prstGeom prst="rect">
            <a:avLst/>
          </a:prstGeom>
          <a:noFill/>
        </p:spPr>
        <p:txBody>
          <a:bodyPr wrap="square" anchor="ctr" lIns="0" rIns="0" tIns="0" bIns="0">
            <a:normAutofit/>
          </a:bodyPr>
          <a:lstStyle/>
          <a:p>
            <a:pPr algn="ctr"/>
            <a:r>
              <a:rPr sz="600" b="1">
                <a:solidFill>
                  <a:srgbClr val="2563EB"/>
                </a:solidFill>
                <a:latin typeface="Noto Sans SC"/>
              </a:rPr>
              <a:t>玄女</a:t>
            </a:r>
          </a:p>
        </p:txBody>
      </p:sp>
      <p:sp>
        <p:nvSpPr>
          <p:cNvPr id="26" name="TextBox 25"/>
          <p:cNvSpPr txBox="1"/>
          <p:nvPr/>
        </p:nvSpPr>
        <p:spPr>
          <a:xfrm>
            <a:off x="8814816" y="2651760"/>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10 米</a:t>
            </a:r>
          </a:p>
        </p:txBody>
      </p:sp>
      <p:sp>
        <p:nvSpPr>
          <p:cNvPr id="27" name="TextBox 26"/>
          <p:cNvSpPr txBox="1"/>
          <p:nvPr/>
        </p:nvSpPr>
        <p:spPr>
          <a:xfrm>
            <a:off x="10003536" y="2615184"/>
            <a:ext cx="1078992" cy="237744"/>
          </a:xfrm>
          <a:prstGeom prst="rect">
            <a:avLst/>
          </a:prstGeom>
          <a:noFill/>
        </p:spPr>
        <p:txBody>
          <a:bodyPr wrap="square" anchor="ctr" lIns="0" rIns="0" tIns="0" bIns="0">
            <a:normAutofit/>
          </a:bodyPr>
          <a:lstStyle/>
          <a:p>
            <a:pPr algn="ctr"/>
            <a:r>
              <a:rPr sz="900" b="1">
                <a:solidFill>
                  <a:srgbClr val="2563EB"/>
                </a:solidFill>
                <a:latin typeface="Noto Sans SC"/>
              </a:rPr>
              <a:t>最高 0.5 米</a:t>
            </a:r>
          </a:p>
        </p:txBody>
      </p:sp>
      <p:sp>
        <p:nvSpPr>
          <p:cNvPr id="28" name="Rectangle 27"/>
          <p:cNvSpPr/>
          <p:nvPr/>
        </p:nvSpPr>
        <p:spPr>
          <a:xfrm>
            <a:off x="9930384" y="2523744"/>
            <a:ext cx="18288" cy="384048"/>
          </a:xfrm>
          <a:prstGeom prst="rect">
            <a:avLst/>
          </a:prstGeom>
          <a:solidFill>
            <a:srgbClr val="EFF6FF"/>
          </a:solidFill>
          <a:ln w="10160">
            <a:solidFill>
              <a:srgbClr val="EFF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742432" y="3438144"/>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07024" y="3575303"/>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时间频率</a:t>
            </a:r>
          </a:p>
        </p:txBody>
      </p:sp>
      <p:cxnSp>
        <p:nvCxnSpPr>
          <p:cNvPr id="31" name="Connector 30"/>
          <p:cNvCxnSpPr/>
          <p:nvPr/>
        </p:nvCxnSpPr>
        <p:spPr>
          <a:xfrm>
            <a:off x="5998464" y="3877056"/>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943600" y="4014215"/>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33" name="TextBox 32"/>
          <p:cNvSpPr txBox="1"/>
          <p:nvPr/>
        </p:nvSpPr>
        <p:spPr>
          <a:xfrm>
            <a:off x="7187184" y="4014215"/>
            <a:ext cx="841248" cy="128016"/>
          </a:xfrm>
          <a:prstGeom prst="rect">
            <a:avLst/>
          </a:prstGeom>
          <a:noFill/>
        </p:spPr>
        <p:txBody>
          <a:bodyPr wrap="square" anchor="ctr" lIns="0" rIns="0" tIns="0" bIns="0">
            <a:normAutofit/>
          </a:bodyPr>
          <a:lstStyle/>
          <a:p>
            <a:pPr algn="ctr"/>
            <a:r>
              <a:rPr sz="600" b="1">
                <a:solidFill>
                  <a:srgbClr val="7C3AED"/>
                </a:solidFill>
                <a:latin typeface="Noto Sans SC"/>
              </a:rPr>
              <a:t>玄女</a:t>
            </a:r>
          </a:p>
        </p:txBody>
      </p:sp>
      <p:sp>
        <p:nvSpPr>
          <p:cNvPr id="34" name="TextBox 33"/>
          <p:cNvSpPr txBox="1"/>
          <p:nvPr/>
        </p:nvSpPr>
        <p:spPr>
          <a:xfrm>
            <a:off x="5888736" y="4224528"/>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一年一景</a:t>
            </a:r>
          </a:p>
        </p:txBody>
      </p:sp>
      <p:sp>
        <p:nvSpPr>
          <p:cNvPr id="35" name="TextBox 34"/>
          <p:cNvSpPr txBox="1"/>
          <p:nvPr/>
        </p:nvSpPr>
        <p:spPr>
          <a:xfrm>
            <a:off x="7077456" y="4187952"/>
            <a:ext cx="1078992" cy="237744"/>
          </a:xfrm>
          <a:prstGeom prst="rect">
            <a:avLst/>
          </a:prstGeom>
          <a:noFill/>
        </p:spPr>
        <p:txBody>
          <a:bodyPr wrap="square" anchor="ctr" lIns="0" rIns="0" tIns="0" bIns="0">
            <a:normAutofit/>
          </a:bodyPr>
          <a:lstStyle/>
          <a:p>
            <a:pPr algn="ctr"/>
            <a:r>
              <a:rPr sz="900" b="1">
                <a:solidFill>
                  <a:srgbClr val="7C3AED"/>
                </a:solidFill>
                <a:latin typeface="Noto Sans SC"/>
              </a:rPr>
              <a:t>最快 11 天</a:t>
            </a:r>
          </a:p>
        </p:txBody>
      </p:sp>
      <p:sp>
        <p:nvSpPr>
          <p:cNvPr id="36" name="Rectangle 35"/>
          <p:cNvSpPr/>
          <p:nvPr/>
        </p:nvSpPr>
        <p:spPr>
          <a:xfrm>
            <a:off x="7004304" y="4096511"/>
            <a:ext cx="18288" cy="384048"/>
          </a:xfrm>
          <a:prstGeom prst="rect">
            <a:avLst/>
          </a:prstGeom>
          <a:solidFill>
            <a:srgbClr val="F5F3FF"/>
          </a:solidFill>
          <a:ln w="10160">
            <a:solidFill>
              <a:srgbClr val="F5F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668512" y="3438144"/>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33104" y="3575303"/>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业务部署</a:t>
            </a:r>
          </a:p>
        </p:txBody>
      </p:sp>
      <p:cxnSp>
        <p:nvCxnSpPr>
          <p:cNvPr id="39" name="Connector 38"/>
          <p:cNvCxnSpPr/>
          <p:nvPr/>
        </p:nvCxnSpPr>
        <p:spPr>
          <a:xfrm>
            <a:off x="8924544" y="3877056"/>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869680" y="4014215"/>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41" name="TextBox 40"/>
          <p:cNvSpPr txBox="1"/>
          <p:nvPr/>
        </p:nvSpPr>
        <p:spPr>
          <a:xfrm>
            <a:off x="10113264" y="4014215"/>
            <a:ext cx="841248" cy="128016"/>
          </a:xfrm>
          <a:prstGeom prst="rect">
            <a:avLst/>
          </a:prstGeom>
          <a:noFill/>
        </p:spPr>
        <p:txBody>
          <a:bodyPr wrap="square" anchor="ctr" lIns="0" rIns="0" tIns="0" bIns="0">
            <a:normAutofit/>
          </a:bodyPr>
          <a:lstStyle/>
          <a:p>
            <a:pPr algn="ctr"/>
            <a:r>
              <a:rPr sz="600" b="1">
                <a:solidFill>
                  <a:srgbClr val="10B981"/>
                </a:solidFill>
                <a:latin typeface="Noto Sans SC"/>
              </a:rPr>
              <a:t>玄女</a:t>
            </a:r>
          </a:p>
        </p:txBody>
      </p:sp>
      <p:sp>
        <p:nvSpPr>
          <p:cNvPr id="42" name="TextBox 41"/>
          <p:cNvSpPr txBox="1"/>
          <p:nvPr/>
        </p:nvSpPr>
        <p:spPr>
          <a:xfrm>
            <a:off x="8814816" y="4224528"/>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模型不开源</a:t>
            </a:r>
          </a:p>
        </p:txBody>
      </p:sp>
      <p:sp>
        <p:nvSpPr>
          <p:cNvPr id="43" name="TextBox 42"/>
          <p:cNvSpPr txBox="1"/>
          <p:nvPr/>
        </p:nvSpPr>
        <p:spPr>
          <a:xfrm>
            <a:off x="10003536" y="4187952"/>
            <a:ext cx="1078992" cy="237744"/>
          </a:xfrm>
          <a:prstGeom prst="rect">
            <a:avLst/>
          </a:prstGeom>
          <a:noFill/>
        </p:spPr>
        <p:txBody>
          <a:bodyPr wrap="square" anchor="ctr" lIns="0" rIns="0" tIns="0" bIns="0">
            <a:normAutofit/>
          </a:bodyPr>
          <a:lstStyle/>
          <a:p>
            <a:pPr algn="ctr"/>
            <a:r>
              <a:rPr sz="900" b="1">
                <a:solidFill>
                  <a:srgbClr val="10B981"/>
                </a:solidFill>
                <a:latin typeface="Noto Sans SC"/>
              </a:rPr>
              <a:t>可面向政企部署</a:t>
            </a:r>
          </a:p>
        </p:txBody>
      </p:sp>
      <p:sp>
        <p:nvSpPr>
          <p:cNvPr id="44" name="Rectangle 43"/>
          <p:cNvSpPr/>
          <p:nvPr/>
        </p:nvSpPr>
        <p:spPr>
          <a:xfrm>
            <a:off x="9930384" y="4096511"/>
            <a:ext cx="18288" cy="384048"/>
          </a:xfrm>
          <a:prstGeom prst="rect">
            <a:avLst/>
          </a:prstGeom>
          <a:solidFill>
            <a:srgbClr val="ECFDF5"/>
          </a:solidFill>
          <a:ln w="10160">
            <a:solidFill>
              <a:srgbClr val="ECFD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852160" y="5230368"/>
            <a:ext cx="5266944" cy="530352"/>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0" y="5394960"/>
            <a:ext cx="4718304" cy="164592"/>
          </a:xfrm>
          <a:prstGeom prst="rect">
            <a:avLst/>
          </a:prstGeom>
          <a:noFill/>
        </p:spPr>
        <p:txBody>
          <a:bodyPr wrap="square" anchor="ctr" lIns="0" rIns="0" tIns="0" bIns="0">
            <a:normAutofit/>
          </a:bodyPr>
          <a:lstStyle/>
          <a:p>
            <a:pPr algn="ctr"/>
            <a:r>
              <a:rPr sz="1000" b="1">
                <a:solidFill>
                  <a:srgbClr val="F59E0B"/>
                </a:solidFill>
                <a:latin typeface="Noto Sans SC"/>
              </a:rPr>
              <a:t>阶段性结论：变化检测实验优于 AlphaEarth；目标识别仍需继续提升训练数据规模。</a:t>
            </a:r>
          </a:p>
        </p:txBody>
      </p:sp>
      <p:sp>
        <p:nvSpPr>
          <p:cNvPr id="47" name="TextBox 46"/>
          <p:cNvSpPr txBox="1"/>
          <p:nvPr/>
        </p:nvSpPr>
        <p:spPr>
          <a:xfrm>
            <a:off x="7333488" y="5852160"/>
            <a:ext cx="3767328" cy="128016"/>
          </a:xfrm>
          <a:prstGeom prst="rect">
            <a:avLst/>
          </a:prstGeom>
          <a:noFill/>
        </p:spPr>
        <p:txBody>
          <a:bodyPr wrap="square" anchor="ctr" lIns="0" rIns="0" tIns="0" bIns="0">
            <a:normAutofit/>
          </a:bodyPr>
          <a:lstStyle/>
          <a:p>
            <a:pPr algn="r"/>
            <a:r>
              <a:rPr sz="600" b="1">
                <a:solidFill>
                  <a:srgbClr val="2563EB"/>
                </a:solidFill>
                <a:latin typeface="Noto Sans SC"/>
              </a:rPr>
              <a:t>GitHub: github.com/OpenGeoScope/EarthEmbeddingExplorer</a:t>
            </a:r>
          </a:p>
        </p:txBody>
      </p:sp>
      <p:sp>
        <p:nvSpPr>
          <p:cNvPr id="48" name="TextBox 47"/>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AlphaEarth 证明方向，玄女把方向落到中国高分辨率、高频更新、可部署的业务场景。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遥感应用正在迎来它的 GPT 时刻</a:t>
            </a:r>
          </a:p>
        </p:txBody>
      </p:sp>
      <p:sp>
        <p:nvSpPr>
          <p:cNvPr id="4" name="TextBox 3"/>
          <p:cNvSpPr txBox="1"/>
          <p:nvPr/>
        </p:nvSpPr>
        <p:spPr>
          <a:xfrm>
            <a:off x="950976" y="932688"/>
            <a:ext cx="9784080" cy="219456"/>
          </a:xfrm>
          <a:prstGeom prst="rect">
            <a:avLst/>
          </a:prstGeom>
          <a:noFill/>
        </p:spPr>
        <p:txBody>
          <a:bodyPr wrap="square" anchor="ctr" lIns="0" rIns="0" tIns="0" bIns="0">
            <a:normAutofit/>
          </a:bodyPr>
          <a:lstStyle/>
          <a:p>
            <a:pPr algn="l"/>
            <a:r>
              <a:rPr sz="1000" b="0">
                <a:solidFill>
                  <a:srgbClr val="64748B"/>
                </a:solidFill>
                <a:latin typeface="Noto Sans SC"/>
              </a:rPr>
              <a:t>商业航天快速发展打开数据供给，应用层需要新的基础设施。</a:t>
            </a:r>
          </a:p>
        </p:txBody>
      </p:sp>
      <p:pic>
        <p:nvPicPr>
          <p:cNvPr id="5" name="Picture 4" descr="commercial_space_data_boom.png"/>
          <p:cNvPicPr>
            <a:picLocks noChangeAspect="1"/>
          </p:cNvPicPr>
          <p:nvPr/>
        </p:nvPicPr>
        <p:blipFill>
          <a:blip r:embed="rId2"/>
          <a:stretch>
            <a:fillRect/>
          </a:stretch>
        </p:blipFill>
        <p:spPr>
          <a:xfrm>
            <a:off x="566928" y="1200521"/>
            <a:ext cx="5157216" cy="2902476"/>
          </a:xfrm>
          <a:prstGeom prst="rect">
            <a:avLst/>
          </a:prstGeom>
        </p:spPr>
      </p:pic>
      <p:sp>
        <p:nvSpPr>
          <p:cNvPr id="6" name="Rounded Rectangle 5"/>
          <p:cNvSpPr/>
          <p:nvPr/>
        </p:nvSpPr>
        <p:spPr>
          <a:xfrm>
            <a:off x="841248" y="1335024"/>
            <a:ext cx="2157984" cy="420624"/>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444752"/>
            <a:ext cx="1865376" cy="128016"/>
          </a:xfrm>
          <a:prstGeom prst="rect">
            <a:avLst/>
          </a:prstGeom>
          <a:noFill/>
        </p:spPr>
        <p:txBody>
          <a:bodyPr wrap="square" anchor="ctr" lIns="0" rIns="0" tIns="0" bIns="0">
            <a:normAutofit/>
          </a:bodyPr>
          <a:lstStyle/>
          <a:p>
            <a:pPr algn="ctr"/>
            <a:r>
              <a:rPr sz="800" b="1">
                <a:solidFill>
                  <a:srgbClr val="2563EB"/>
                </a:solidFill>
                <a:latin typeface="Noto Sans SC"/>
              </a:rPr>
              <a:t>商业航天快速发展</a:t>
            </a:r>
          </a:p>
        </p:txBody>
      </p:sp>
      <p:sp>
        <p:nvSpPr>
          <p:cNvPr id="8" name="Rounded Rectangle 7"/>
          <p:cNvSpPr/>
          <p:nvPr/>
        </p:nvSpPr>
        <p:spPr>
          <a:xfrm>
            <a:off x="3200400" y="1335024"/>
            <a:ext cx="1920240" cy="420624"/>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6704" y="1444752"/>
            <a:ext cx="1627632" cy="128016"/>
          </a:xfrm>
          <a:prstGeom prst="rect">
            <a:avLst/>
          </a:prstGeom>
          <a:noFill/>
        </p:spPr>
        <p:txBody>
          <a:bodyPr wrap="square" anchor="ctr" lIns="0" rIns="0" tIns="0" bIns="0">
            <a:normAutofit/>
          </a:bodyPr>
          <a:lstStyle/>
          <a:p>
            <a:pPr algn="ctr"/>
            <a:r>
              <a:rPr sz="800" b="1">
                <a:solidFill>
                  <a:srgbClr val="10B981"/>
                </a:solidFill>
                <a:latin typeface="Noto Sans SC"/>
              </a:rPr>
              <a:t>遥感数据海量增长</a:t>
            </a:r>
          </a:p>
        </p:txBody>
      </p:sp>
      <p:sp>
        <p:nvSpPr>
          <p:cNvPr id="10" name="TextBox 9"/>
          <p:cNvSpPr txBox="1"/>
          <p:nvPr/>
        </p:nvSpPr>
        <p:spPr>
          <a:xfrm>
            <a:off x="841248" y="4315968"/>
            <a:ext cx="4736592" cy="804672"/>
          </a:xfrm>
          <a:prstGeom prst="rect">
            <a:avLst/>
          </a:prstGeom>
          <a:noFill/>
        </p:spPr>
        <p:txBody>
          <a:bodyPr wrap="square" anchor="ctr" lIns="0" rIns="0" tIns="0" bIns="0">
            <a:normAutofit/>
          </a:bodyPr>
          <a:lstStyle/>
          <a:p>
            <a:pPr algn="l"/>
            <a:r>
              <a:rPr sz="1100" b="0">
                <a:solidFill>
                  <a:srgbClr val="334155"/>
                </a:solidFill>
                <a:latin typeface="Noto Sans SC"/>
              </a:rPr>
              <a:t>火箭、零部件、卫星制造与发射环节正在快速成熟，遥感数据供给从稀缺走向高频、海量、多模态。像 GPT 需要先把文本转成 token，遥感也需要先把同一地物的多源、多时相观测转成可复用的地理嵌入。</a:t>
            </a:r>
          </a:p>
        </p:txBody>
      </p:sp>
      <p:sp>
        <p:nvSpPr>
          <p:cNvPr id="11" name="TextBox 10"/>
          <p:cNvSpPr txBox="1"/>
          <p:nvPr/>
        </p:nvSpPr>
        <p:spPr>
          <a:xfrm>
            <a:off x="877824" y="5413248"/>
            <a:ext cx="4663440" cy="201168"/>
          </a:xfrm>
          <a:prstGeom prst="rect">
            <a:avLst/>
          </a:prstGeom>
          <a:noFill/>
        </p:spPr>
        <p:txBody>
          <a:bodyPr wrap="square" anchor="ctr" lIns="0" rIns="0" tIns="0" bIns="0">
            <a:normAutofit/>
          </a:bodyPr>
          <a:lstStyle/>
          <a:p>
            <a:pPr algn="ctr"/>
            <a:r>
              <a:rPr sz="1300" b="1">
                <a:solidFill>
                  <a:srgbClr val="2563EB"/>
                </a:solidFill>
                <a:latin typeface="Noto Sans SC"/>
              </a:rPr>
              <a:t>地理嵌入，就是遥感数据进入规模化应用的 token。</a:t>
            </a:r>
          </a:p>
        </p:txBody>
      </p:sp>
      <p:cxnSp>
        <p:nvCxnSpPr>
          <p:cNvPr id="12" name="Connector 11"/>
          <p:cNvCxnSpPr/>
          <p:nvPr/>
        </p:nvCxnSpPr>
        <p:spPr>
          <a:xfrm>
            <a:off x="6016752" y="1207008"/>
            <a:ext cx="0" cy="4553712"/>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327648" y="1225296"/>
            <a:ext cx="4956048" cy="237744"/>
          </a:xfrm>
          <a:prstGeom prst="rect">
            <a:avLst/>
          </a:prstGeom>
          <a:noFill/>
        </p:spPr>
        <p:txBody>
          <a:bodyPr wrap="square" anchor="ctr" lIns="0" rIns="0" tIns="0" bIns="0">
            <a:normAutofit/>
          </a:bodyPr>
          <a:lstStyle/>
          <a:p>
            <a:pPr algn="l"/>
            <a:r>
              <a:rPr sz="1400" b="1">
                <a:solidFill>
                  <a:srgbClr val="0F172A"/>
                </a:solidFill>
                <a:latin typeface="Noto Sans SC"/>
              </a:rPr>
              <a:t>应用层：从项目制训练，到嵌入驱动的少样本适配</a:t>
            </a:r>
          </a:p>
        </p:txBody>
      </p:sp>
      <p:sp>
        <p:nvSpPr>
          <p:cNvPr id="14" name="Rounded Rectangle 13"/>
          <p:cNvSpPr/>
          <p:nvPr/>
        </p:nvSpPr>
        <p:spPr>
          <a:xfrm>
            <a:off x="6382512" y="1755648"/>
            <a:ext cx="2176272" cy="493776"/>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47104" y="1901952"/>
            <a:ext cx="786384" cy="128016"/>
          </a:xfrm>
          <a:prstGeom prst="rect">
            <a:avLst/>
          </a:prstGeom>
          <a:noFill/>
        </p:spPr>
        <p:txBody>
          <a:bodyPr wrap="square" anchor="ctr" lIns="0" rIns="0" tIns="0" bIns="0">
            <a:normAutofit/>
          </a:bodyPr>
          <a:lstStyle/>
          <a:p>
            <a:pPr algn="ctr"/>
            <a:r>
              <a:rPr sz="800" b="1">
                <a:solidFill>
                  <a:srgbClr val="F59E0B"/>
                </a:solidFill>
                <a:latin typeface="Noto Sans SC"/>
              </a:rPr>
              <a:t>传统实现</a:t>
            </a:r>
          </a:p>
        </p:txBody>
      </p:sp>
      <p:sp>
        <p:nvSpPr>
          <p:cNvPr id="16" name="TextBox 15"/>
          <p:cNvSpPr txBox="1"/>
          <p:nvPr/>
        </p:nvSpPr>
        <p:spPr>
          <a:xfrm>
            <a:off x="7333488" y="1901952"/>
            <a:ext cx="1097280" cy="128016"/>
          </a:xfrm>
          <a:prstGeom prst="rect">
            <a:avLst/>
          </a:prstGeom>
          <a:noFill/>
        </p:spPr>
        <p:txBody>
          <a:bodyPr wrap="square" anchor="ctr" lIns="0" rIns="0" tIns="0" bIns="0">
            <a:normAutofit/>
          </a:bodyPr>
          <a:lstStyle/>
          <a:p>
            <a:pPr algn="ctr"/>
            <a:r>
              <a:rPr sz="600" b="1">
                <a:solidFill>
                  <a:srgbClr val="334155"/>
                </a:solidFill>
                <a:latin typeface="Noto Sans SC"/>
              </a:rPr>
              <a:t>下载 - 标注 - 训练 - 重来</a:t>
            </a:r>
          </a:p>
        </p:txBody>
      </p:sp>
      <p:sp>
        <p:nvSpPr>
          <p:cNvPr id="17" name="Rounded Rectangle 16"/>
          <p:cNvSpPr/>
          <p:nvPr/>
        </p:nvSpPr>
        <p:spPr>
          <a:xfrm>
            <a:off x="8924544" y="1755648"/>
            <a:ext cx="2176272" cy="49377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89136" y="1901952"/>
            <a:ext cx="786384" cy="128016"/>
          </a:xfrm>
          <a:prstGeom prst="rect">
            <a:avLst/>
          </a:prstGeom>
          <a:noFill/>
        </p:spPr>
        <p:txBody>
          <a:bodyPr wrap="square" anchor="ctr" lIns="0" rIns="0" tIns="0" bIns="0">
            <a:normAutofit/>
          </a:bodyPr>
          <a:lstStyle/>
          <a:p>
            <a:pPr algn="ctr"/>
            <a:r>
              <a:rPr sz="800" b="1">
                <a:solidFill>
                  <a:srgbClr val="10B981"/>
                </a:solidFill>
                <a:latin typeface="Noto Sans SC"/>
              </a:rPr>
              <a:t>玄女实现</a:t>
            </a:r>
          </a:p>
        </p:txBody>
      </p:sp>
      <p:sp>
        <p:nvSpPr>
          <p:cNvPr id="19" name="TextBox 18"/>
          <p:cNvSpPr txBox="1"/>
          <p:nvPr/>
        </p:nvSpPr>
        <p:spPr>
          <a:xfrm>
            <a:off x="9893808" y="1901952"/>
            <a:ext cx="1042415" cy="128016"/>
          </a:xfrm>
          <a:prstGeom prst="rect">
            <a:avLst/>
          </a:prstGeom>
          <a:noFill/>
        </p:spPr>
        <p:txBody>
          <a:bodyPr wrap="square" anchor="ctr" lIns="0" rIns="0" tIns="0" bIns="0">
            <a:normAutofit/>
          </a:bodyPr>
          <a:lstStyle/>
          <a:p>
            <a:pPr algn="ctr"/>
            <a:r>
              <a:rPr sz="600" b="1">
                <a:solidFill>
                  <a:srgbClr val="334155"/>
                </a:solidFill>
                <a:latin typeface="Noto Sans SC"/>
              </a:rPr>
              <a:t>嵌入 - 标注 - 任务头</a:t>
            </a:r>
          </a:p>
        </p:txBody>
      </p:sp>
      <p:pic>
        <p:nvPicPr>
          <p:cNvPr id="20" name="custom_annotation_demo.mov">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6437376" y="2542032"/>
            <a:ext cx="4626864" cy="2596896"/>
          </a:xfrm>
          <a:prstGeom prst="rect">
            <a:avLst/>
          </a:prstGeom>
          <a:ln w="10160">
            <a:solidFill>
              <a:srgbClr val="E2E8F0"/>
            </a:solidFill>
          </a:ln>
        </p:spPr>
      </p:pic>
      <p:sp>
        <p:nvSpPr>
          <p:cNvPr id="21" name="TextBox 20"/>
          <p:cNvSpPr txBox="1"/>
          <p:nvPr/>
        </p:nvSpPr>
        <p:spPr>
          <a:xfrm>
            <a:off x="6547104" y="5321808"/>
            <a:ext cx="4407408" cy="164592"/>
          </a:xfrm>
          <a:prstGeom prst="rect">
            <a:avLst/>
          </a:prstGeom>
          <a:noFill/>
        </p:spPr>
        <p:txBody>
          <a:bodyPr wrap="square" anchor="ctr" lIns="0" rIns="0" tIns="0" bIns="0">
            <a:normAutofit/>
          </a:bodyPr>
          <a:lstStyle/>
          <a:p>
            <a:pPr algn="ctr"/>
            <a:r>
              <a:rPr sz="900" b="1">
                <a:solidFill>
                  <a:srgbClr val="334155"/>
                </a:solidFill>
                <a:latin typeface="Noto Sans SC"/>
              </a:rPr>
              <a:t>自定义标注与任务头训练展示（点击播放）</a:t>
            </a:r>
          </a:p>
        </p:txBody>
      </p:sp>
      <p:sp>
        <p:nvSpPr>
          <p:cNvPr id="22" name="TextBox 21"/>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当遥感数据像文本一样持续增长，地理嵌入就是遥感应用规模化的入口。</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20"/>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09</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