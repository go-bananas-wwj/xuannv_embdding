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gif"/><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geo_embedding_cover_white_v2.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49808" y="1298448"/>
            <a:ext cx="4114800" cy="384048"/>
          </a:xfrm>
          <a:prstGeom prst="rect">
            <a:avLst/>
          </a:prstGeom>
          <a:noFill/>
        </p:spPr>
        <p:txBody>
          <a:bodyPr wrap="square" anchor="ctr" lIns="0" rIns="0" tIns="0" bIns="0">
            <a:normAutofit/>
          </a:bodyPr>
          <a:lstStyle/>
          <a:p>
            <a:pPr algn="l"/>
            <a:r>
              <a:rPr sz="2400" b="1">
                <a:solidFill>
                  <a:srgbClr val="0F172A"/>
                </a:solidFill>
                <a:latin typeface="Noto Sans SC"/>
              </a:rPr>
              <a:t>玄女科技</a:t>
            </a:r>
          </a:p>
        </p:txBody>
      </p:sp>
      <p:sp>
        <p:nvSpPr>
          <p:cNvPr id="4" name="TextBox 3"/>
          <p:cNvSpPr txBox="1"/>
          <p:nvPr/>
        </p:nvSpPr>
        <p:spPr>
          <a:xfrm>
            <a:off x="749808" y="1901952"/>
            <a:ext cx="4983480" cy="1051560"/>
          </a:xfrm>
          <a:prstGeom prst="rect">
            <a:avLst/>
          </a:prstGeom>
          <a:noFill/>
        </p:spPr>
        <p:txBody>
          <a:bodyPr wrap="square" anchor="ctr" lIns="0" rIns="0" tIns="0" bIns="0">
            <a:normAutofit/>
          </a:bodyPr>
          <a:lstStyle/>
          <a:p>
            <a:pPr algn="l"/>
            <a:r>
              <a:rPr sz="3100" b="1">
                <a:solidFill>
                  <a:srgbClr val="0F172A"/>
                </a:solidFill>
                <a:latin typeface="Noto Sans SC"/>
              </a:rPr>
              <a:t>用地理嵌入
赋能遥感智能应用</a:t>
            </a:r>
          </a:p>
        </p:txBody>
      </p:sp>
      <p:sp>
        <p:nvSpPr>
          <p:cNvPr id="5" name="TextBox 4"/>
          <p:cNvSpPr txBox="1"/>
          <p:nvPr/>
        </p:nvSpPr>
        <p:spPr>
          <a:xfrm>
            <a:off x="786384" y="3328416"/>
            <a:ext cx="4937760" cy="292608"/>
          </a:xfrm>
          <a:prstGeom prst="rect">
            <a:avLst/>
          </a:prstGeom>
          <a:noFill/>
        </p:spPr>
        <p:txBody>
          <a:bodyPr wrap="square" anchor="ctr" lIns="0" rIns="0" tIns="0" bIns="0">
            <a:normAutofit/>
          </a:bodyPr>
          <a:lstStyle/>
          <a:p>
            <a:pPr algn="l"/>
            <a:r>
              <a:rPr sz="1500" b="0">
                <a:solidFill>
                  <a:srgbClr val="334155"/>
                </a:solidFill>
                <a:latin typeface="Noto Sans SC"/>
              </a:rPr>
              <a:t>地球观测 - 一次表征 - 多任务复用</a:t>
            </a:r>
          </a:p>
        </p:txBody>
      </p:sp>
      <p:sp>
        <p:nvSpPr>
          <p:cNvPr id="6" name="TextBox 5"/>
          <p:cNvSpPr txBox="1"/>
          <p:nvPr/>
        </p:nvSpPr>
        <p:spPr>
          <a:xfrm>
            <a:off x="786384" y="3749039"/>
            <a:ext cx="4937760" cy="274320"/>
          </a:xfrm>
          <a:prstGeom prst="rect">
            <a:avLst/>
          </a:prstGeom>
          <a:noFill/>
        </p:spPr>
        <p:txBody>
          <a:bodyPr wrap="square" anchor="ctr" lIns="0" rIns="0" tIns="0" bIns="0">
            <a:normAutofit/>
          </a:bodyPr>
          <a:lstStyle/>
          <a:p>
            <a:pPr algn="l"/>
            <a:r>
              <a:rPr sz="1300" b="1">
                <a:solidFill>
                  <a:srgbClr val="2563EB"/>
                </a:solidFill>
                <a:latin typeface="Noto Sans SC"/>
              </a:rPr>
              <a:t>做中国的遥感数据通用嵌入底座</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384048" cy="201168"/>
          </a:xfrm>
          <a:prstGeom prst="rect">
            <a:avLst/>
          </a:prstGeom>
          <a:noFill/>
        </p:spPr>
        <p:txBody>
          <a:bodyPr wrap="square" anchor="ctr" lIns="0" rIns="0" tIns="0" bIns="0">
            <a:normAutofit/>
          </a:bodyPr>
          <a:lstStyle/>
          <a:p>
            <a:pPr algn="l"/>
            <a:r>
              <a:rPr sz="800" b="1">
                <a:solidFill>
                  <a:srgbClr val="0EA5E9"/>
                </a:solidFill>
                <a:latin typeface="Noto Sans SC"/>
              </a:rPr>
              <a:t>02</a:t>
            </a:r>
          </a:p>
        </p:txBody>
      </p:sp>
      <p:sp>
        <p:nvSpPr>
          <p:cNvPr id="3" name="TextBox 2"/>
          <p:cNvSpPr txBox="1"/>
          <p:nvPr/>
        </p:nvSpPr>
        <p:spPr>
          <a:xfrm>
            <a:off x="950976" y="256032"/>
            <a:ext cx="10424160" cy="566928"/>
          </a:xfrm>
          <a:prstGeom prst="rect">
            <a:avLst/>
          </a:prstGeom>
          <a:noFill/>
        </p:spPr>
        <p:txBody>
          <a:bodyPr wrap="square" anchor="ctr" lIns="0" rIns="0" tIns="0" bIns="0">
            <a:normAutofit/>
          </a:bodyPr>
          <a:lstStyle/>
          <a:p>
            <a:pPr algn="l"/>
            <a:r>
              <a:rPr sz="2400" b="1">
                <a:solidFill>
                  <a:srgbClr val="0F172A"/>
                </a:solidFill>
                <a:latin typeface="Noto Sans SC"/>
              </a:rPr>
              <a:t>企业简介</a:t>
            </a:r>
          </a:p>
        </p:txBody>
      </p:sp>
      <p:sp>
        <p:nvSpPr>
          <p:cNvPr id="4" name="TextBox 3"/>
          <p:cNvSpPr txBox="1"/>
          <p:nvPr/>
        </p:nvSpPr>
        <p:spPr>
          <a:xfrm>
            <a:off x="950976" y="1033271"/>
            <a:ext cx="10104120" cy="310896"/>
          </a:xfrm>
          <a:prstGeom prst="rect">
            <a:avLst/>
          </a:prstGeom>
          <a:noFill/>
        </p:spPr>
        <p:txBody>
          <a:bodyPr wrap="square" anchor="ctr" lIns="0" rIns="0" tIns="0" bIns="0">
            <a:normAutofit/>
          </a:bodyPr>
          <a:lstStyle/>
          <a:p>
            <a:pPr algn="l"/>
            <a:r>
              <a:rPr sz="1500" b="1">
                <a:solidFill>
                  <a:srgbClr val="0F172A"/>
                </a:solidFill>
                <a:latin typeface="Noto Sans SC"/>
              </a:rPr>
              <a:t>北京玄女科技有限公司是一家专注于地球空间智能的人工智能基础底座提供商，致力于打造遥感数据通用嵌入底座。</a:t>
            </a:r>
          </a:p>
        </p:txBody>
      </p:sp>
      <p:sp>
        <p:nvSpPr>
          <p:cNvPr id="5" name="TextBox 4"/>
          <p:cNvSpPr txBox="1"/>
          <p:nvPr/>
        </p:nvSpPr>
        <p:spPr>
          <a:xfrm>
            <a:off x="950976" y="1481328"/>
            <a:ext cx="10149840" cy="530352"/>
          </a:xfrm>
          <a:prstGeom prst="rect">
            <a:avLst/>
          </a:prstGeom>
          <a:noFill/>
        </p:spPr>
        <p:txBody>
          <a:bodyPr wrap="square" anchor="ctr" lIns="0" rIns="0" tIns="0" bIns="0">
            <a:normAutofit/>
          </a:bodyPr>
          <a:lstStyle/>
          <a:p>
            <a:pPr algn="l"/>
            <a:r>
              <a:rPr sz="1100" b="0">
                <a:solidFill>
                  <a:srgbClr val="334155"/>
                </a:solidFill>
                <a:latin typeface="Noto Sans SC"/>
              </a:rPr>
              <a:t>公司以遥感领域的大规模预训练模型为核心，为城市治理、自然资源、应急灾害、农业生态等场景提供全球范围内可复用的像素级表征能力，推动遥感智能从“定制化开发”走向“底座赋能”。</a:t>
            </a:r>
          </a:p>
        </p:txBody>
      </p:sp>
      <p:sp>
        <p:nvSpPr>
          <p:cNvPr id="6" name="TextBox 5"/>
          <p:cNvSpPr txBox="1"/>
          <p:nvPr/>
        </p:nvSpPr>
        <p:spPr>
          <a:xfrm>
            <a:off x="1225296" y="2432304"/>
            <a:ext cx="1280160" cy="201168"/>
          </a:xfrm>
          <a:prstGeom prst="rect">
            <a:avLst/>
          </a:prstGeom>
          <a:noFill/>
        </p:spPr>
        <p:txBody>
          <a:bodyPr wrap="square" anchor="ctr" lIns="0" rIns="0" tIns="0" bIns="0">
            <a:normAutofit/>
          </a:bodyPr>
          <a:lstStyle/>
          <a:p>
            <a:pPr algn="ctr"/>
            <a:r>
              <a:rPr sz="1100" b="1">
                <a:solidFill>
                  <a:srgbClr val="0F172A"/>
                </a:solidFill>
                <a:latin typeface="Noto Sans SC"/>
              </a:rPr>
              <a:t>多元观测</a:t>
            </a:r>
          </a:p>
        </p:txBody>
      </p:sp>
      <p:sp>
        <p:nvSpPr>
          <p:cNvPr id="7" name="TextBox 6"/>
          <p:cNvSpPr txBox="1"/>
          <p:nvPr/>
        </p:nvSpPr>
        <p:spPr>
          <a:xfrm>
            <a:off x="5230368" y="2432304"/>
            <a:ext cx="1280160" cy="201168"/>
          </a:xfrm>
          <a:prstGeom prst="rect">
            <a:avLst/>
          </a:prstGeom>
          <a:noFill/>
        </p:spPr>
        <p:txBody>
          <a:bodyPr wrap="square" anchor="ctr" lIns="0" rIns="0" tIns="0" bIns="0">
            <a:normAutofit/>
          </a:bodyPr>
          <a:lstStyle/>
          <a:p>
            <a:pPr algn="ctr"/>
            <a:r>
              <a:rPr sz="1100" b="1">
                <a:solidFill>
                  <a:srgbClr val="0F172A"/>
                </a:solidFill>
                <a:latin typeface="Noto Sans SC"/>
              </a:rPr>
              <a:t>地理嵌入</a:t>
            </a:r>
          </a:p>
        </p:txBody>
      </p:sp>
      <p:sp>
        <p:nvSpPr>
          <p:cNvPr id="8" name="TextBox 7"/>
          <p:cNvSpPr txBox="1"/>
          <p:nvPr/>
        </p:nvSpPr>
        <p:spPr>
          <a:xfrm>
            <a:off x="9015984" y="2432304"/>
            <a:ext cx="1280160" cy="201168"/>
          </a:xfrm>
          <a:prstGeom prst="rect">
            <a:avLst/>
          </a:prstGeom>
          <a:noFill/>
        </p:spPr>
        <p:txBody>
          <a:bodyPr wrap="square" anchor="ctr" lIns="0" rIns="0" tIns="0" bIns="0">
            <a:normAutofit/>
          </a:bodyPr>
          <a:lstStyle/>
          <a:p>
            <a:pPr algn="ctr"/>
            <a:r>
              <a:rPr sz="1100" b="1">
                <a:solidFill>
                  <a:srgbClr val="0F172A"/>
                </a:solidFill>
                <a:latin typeface="Noto Sans SC"/>
              </a:rPr>
              <a:t>下游任务</a:t>
            </a:r>
          </a:p>
        </p:txBody>
      </p:sp>
      <p:pic>
        <p:nvPicPr>
          <p:cNvPr id="9" name="Picture 8" descr="diamond_patch_000339_s2_2025-04_360.png"/>
          <p:cNvPicPr>
            <a:picLocks noChangeAspect="1"/>
          </p:cNvPicPr>
          <p:nvPr/>
        </p:nvPicPr>
        <p:blipFill>
          <a:blip r:embed="rId2"/>
          <a:stretch>
            <a:fillRect/>
          </a:stretch>
        </p:blipFill>
        <p:spPr>
          <a:xfrm>
            <a:off x="1005840" y="2761488"/>
            <a:ext cx="804672" cy="804672"/>
          </a:xfrm>
          <a:prstGeom prst="rect">
            <a:avLst/>
          </a:prstGeom>
        </p:spPr>
      </p:pic>
      <p:sp>
        <p:nvSpPr>
          <p:cNvPr id="10" name="TextBox 9"/>
          <p:cNvSpPr txBox="1"/>
          <p:nvPr/>
        </p:nvSpPr>
        <p:spPr>
          <a:xfrm>
            <a:off x="1847088" y="3017520"/>
            <a:ext cx="1115568" cy="164592"/>
          </a:xfrm>
          <a:prstGeom prst="rect">
            <a:avLst/>
          </a:prstGeom>
          <a:noFill/>
        </p:spPr>
        <p:txBody>
          <a:bodyPr wrap="square" anchor="ctr" lIns="0" rIns="0" tIns="0" bIns="0">
            <a:normAutofit/>
          </a:bodyPr>
          <a:lstStyle/>
          <a:p>
            <a:pPr algn="l"/>
            <a:r>
              <a:rPr sz="800" b="1">
                <a:solidFill>
                  <a:srgbClr val="334155"/>
                </a:solidFill>
                <a:latin typeface="Noto Sans SC"/>
              </a:rPr>
              <a:t>哨兵二号光学</a:t>
            </a:r>
          </a:p>
        </p:txBody>
      </p:sp>
      <p:pic>
        <p:nvPicPr>
          <p:cNvPr id="11" name="Picture 10" descr="diamond_patch_000339_s1_2025-04_360.png"/>
          <p:cNvPicPr>
            <a:picLocks noChangeAspect="1"/>
          </p:cNvPicPr>
          <p:nvPr/>
        </p:nvPicPr>
        <p:blipFill>
          <a:blip r:embed="rId3"/>
          <a:stretch>
            <a:fillRect/>
          </a:stretch>
        </p:blipFill>
        <p:spPr>
          <a:xfrm>
            <a:off x="1005840" y="3191256"/>
            <a:ext cx="804672" cy="804672"/>
          </a:xfrm>
          <a:prstGeom prst="rect">
            <a:avLst/>
          </a:prstGeom>
        </p:spPr>
      </p:pic>
      <p:sp>
        <p:nvSpPr>
          <p:cNvPr id="12" name="TextBox 11"/>
          <p:cNvSpPr txBox="1"/>
          <p:nvPr/>
        </p:nvSpPr>
        <p:spPr>
          <a:xfrm>
            <a:off x="1847088" y="3447288"/>
            <a:ext cx="1115568" cy="164592"/>
          </a:xfrm>
          <a:prstGeom prst="rect">
            <a:avLst/>
          </a:prstGeom>
          <a:noFill/>
        </p:spPr>
        <p:txBody>
          <a:bodyPr wrap="square" anchor="ctr" lIns="0" rIns="0" tIns="0" bIns="0">
            <a:normAutofit/>
          </a:bodyPr>
          <a:lstStyle/>
          <a:p>
            <a:pPr algn="l"/>
            <a:r>
              <a:rPr sz="800" b="1">
                <a:solidFill>
                  <a:srgbClr val="334155"/>
                </a:solidFill>
                <a:latin typeface="Noto Sans SC"/>
              </a:rPr>
              <a:t>雷达影像</a:t>
            </a:r>
          </a:p>
        </p:txBody>
      </p:sp>
      <p:pic>
        <p:nvPicPr>
          <p:cNvPr id="13" name="Picture 12" descr="diamond_patch_000339_s2_hr_2025-04_360.png"/>
          <p:cNvPicPr>
            <a:picLocks noChangeAspect="1"/>
          </p:cNvPicPr>
          <p:nvPr/>
        </p:nvPicPr>
        <p:blipFill>
          <a:blip r:embed="rId4"/>
          <a:stretch>
            <a:fillRect/>
          </a:stretch>
        </p:blipFill>
        <p:spPr>
          <a:xfrm>
            <a:off x="1005840" y="3621024"/>
            <a:ext cx="804672" cy="804672"/>
          </a:xfrm>
          <a:prstGeom prst="rect">
            <a:avLst/>
          </a:prstGeom>
        </p:spPr>
      </p:pic>
      <p:sp>
        <p:nvSpPr>
          <p:cNvPr id="14" name="TextBox 13"/>
          <p:cNvSpPr txBox="1"/>
          <p:nvPr/>
        </p:nvSpPr>
        <p:spPr>
          <a:xfrm>
            <a:off x="1847088" y="3877056"/>
            <a:ext cx="1115568" cy="164592"/>
          </a:xfrm>
          <a:prstGeom prst="rect">
            <a:avLst/>
          </a:prstGeom>
          <a:noFill/>
        </p:spPr>
        <p:txBody>
          <a:bodyPr wrap="square" anchor="ctr" lIns="0" rIns="0" tIns="0" bIns="0">
            <a:normAutofit/>
          </a:bodyPr>
          <a:lstStyle/>
          <a:p>
            <a:pPr algn="l"/>
            <a:r>
              <a:rPr sz="800" b="1">
                <a:solidFill>
                  <a:srgbClr val="334155"/>
                </a:solidFill>
                <a:latin typeface="Noto Sans SC"/>
              </a:rPr>
              <a:t>高分光学</a:t>
            </a:r>
          </a:p>
        </p:txBody>
      </p:sp>
      <p:sp>
        <p:nvSpPr>
          <p:cNvPr id="15" name="TextBox 14"/>
          <p:cNvSpPr txBox="1"/>
          <p:nvPr/>
        </p:nvSpPr>
        <p:spPr>
          <a:xfrm>
            <a:off x="1188720" y="4270248"/>
            <a:ext cx="438912" cy="201168"/>
          </a:xfrm>
          <a:prstGeom prst="rect">
            <a:avLst/>
          </a:prstGeom>
          <a:noFill/>
        </p:spPr>
        <p:txBody>
          <a:bodyPr wrap="square" anchor="ctr" lIns="0" rIns="0" tIns="0" bIns="0">
            <a:normAutofit/>
          </a:bodyPr>
          <a:lstStyle/>
          <a:p>
            <a:pPr algn="ctr"/>
            <a:r>
              <a:rPr sz="1800" b="1">
                <a:solidFill>
                  <a:srgbClr val="64748B"/>
                </a:solidFill>
                <a:latin typeface="Noto Sans SC"/>
              </a:rPr>
              <a:t>…</a:t>
            </a:r>
          </a:p>
        </p:txBody>
      </p:sp>
      <p:pic>
        <p:nvPicPr>
          <p:cNvPr id="16" name="Picture 15" descr="diamond_patch_000339_dem_360.png"/>
          <p:cNvPicPr>
            <a:picLocks noChangeAspect="1"/>
          </p:cNvPicPr>
          <p:nvPr/>
        </p:nvPicPr>
        <p:blipFill>
          <a:blip r:embed="rId5"/>
          <a:stretch>
            <a:fillRect/>
          </a:stretch>
        </p:blipFill>
        <p:spPr>
          <a:xfrm>
            <a:off x="1005840" y="4480560"/>
            <a:ext cx="804672" cy="804672"/>
          </a:xfrm>
          <a:prstGeom prst="rect">
            <a:avLst/>
          </a:prstGeom>
        </p:spPr>
      </p:pic>
      <p:sp>
        <p:nvSpPr>
          <p:cNvPr id="17" name="TextBox 16"/>
          <p:cNvSpPr txBox="1"/>
          <p:nvPr/>
        </p:nvSpPr>
        <p:spPr>
          <a:xfrm>
            <a:off x="1847088" y="4736592"/>
            <a:ext cx="1115568" cy="164592"/>
          </a:xfrm>
          <a:prstGeom prst="rect">
            <a:avLst/>
          </a:prstGeom>
          <a:noFill/>
        </p:spPr>
        <p:txBody>
          <a:bodyPr wrap="square" anchor="ctr" lIns="0" rIns="0" tIns="0" bIns="0">
            <a:normAutofit/>
          </a:bodyPr>
          <a:lstStyle/>
          <a:p>
            <a:pPr algn="l"/>
            <a:r>
              <a:rPr sz="800" b="1">
                <a:solidFill>
                  <a:srgbClr val="334155"/>
                </a:solidFill>
                <a:latin typeface="Noto Sans SC"/>
              </a:rPr>
              <a:t>高程数据</a:t>
            </a:r>
          </a:p>
        </p:txBody>
      </p:sp>
      <p:sp>
        <p:nvSpPr>
          <p:cNvPr id="18" name="TextBox 17"/>
          <p:cNvSpPr txBox="1"/>
          <p:nvPr/>
        </p:nvSpPr>
        <p:spPr>
          <a:xfrm>
            <a:off x="3218688" y="3685032"/>
            <a:ext cx="530352" cy="310896"/>
          </a:xfrm>
          <a:prstGeom prst="rect">
            <a:avLst/>
          </a:prstGeom>
          <a:noFill/>
        </p:spPr>
        <p:txBody>
          <a:bodyPr wrap="square" anchor="ctr" lIns="0" rIns="0" tIns="0" bIns="0">
            <a:normAutofit/>
          </a:bodyPr>
          <a:lstStyle/>
          <a:p>
            <a:pPr algn="ctr"/>
            <a:r>
              <a:rPr sz="2400" b="1">
                <a:solidFill>
                  <a:srgbClr val="64748B"/>
                </a:solidFill>
                <a:latin typeface="Noto Sans SC"/>
              </a:rPr>
              <a:t>→</a:t>
            </a:r>
          </a:p>
        </p:txBody>
      </p:sp>
      <p:pic>
        <p:nvPicPr>
          <p:cNvPr id="19" name="Picture 18" descr="harbin_migration_animated.gif"/>
          <p:cNvPicPr>
            <a:picLocks noChangeAspect="1"/>
          </p:cNvPicPr>
          <p:nvPr/>
        </p:nvPicPr>
        <p:blipFill>
          <a:blip r:embed="rId6"/>
          <a:stretch>
            <a:fillRect/>
          </a:stretch>
        </p:blipFill>
        <p:spPr>
          <a:xfrm>
            <a:off x="4193205" y="2788920"/>
            <a:ext cx="2696117" cy="2487168"/>
          </a:xfrm>
          <a:prstGeom prst="rect">
            <a:avLst/>
          </a:prstGeom>
        </p:spPr>
      </p:pic>
      <p:sp>
        <p:nvSpPr>
          <p:cNvPr id="20" name="TextBox 19"/>
          <p:cNvSpPr txBox="1"/>
          <p:nvPr/>
        </p:nvSpPr>
        <p:spPr>
          <a:xfrm>
            <a:off x="7333488" y="3685032"/>
            <a:ext cx="530352" cy="310896"/>
          </a:xfrm>
          <a:prstGeom prst="rect">
            <a:avLst/>
          </a:prstGeom>
          <a:noFill/>
        </p:spPr>
        <p:txBody>
          <a:bodyPr wrap="square" anchor="ctr" lIns="0" rIns="0" tIns="0" bIns="0">
            <a:normAutofit/>
          </a:bodyPr>
          <a:lstStyle/>
          <a:p>
            <a:pPr algn="ctr"/>
            <a:r>
              <a:rPr sz="2400" b="1">
                <a:solidFill>
                  <a:srgbClr val="64748B"/>
                </a:solidFill>
                <a:latin typeface="Noto Sans SC"/>
              </a:rPr>
              <a:t>→</a:t>
            </a:r>
          </a:p>
        </p:txBody>
      </p:sp>
      <p:pic>
        <p:nvPicPr>
          <p:cNvPr id="21" name="Picture 20" descr="image5.png"/>
          <p:cNvPicPr>
            <a:picLocks noChangeAspect="1"/>
          </p:cNvPicPr>
          <p:nvPr/>
        </p:nvPicPr>
        <p:blipFill>
          <a:blip r:embed="rId7"/>
          <a:stretch>
            <a:fillRect/>
          </a:stretch>
        </p:blipFill>
        <p:spPr>
          <a:xfrm>
            <a:off x="8217786" y="2816352"/>
            <a:ext cx="974603" cy="896112"/>
          </a:xfrm>
          <a:prstGeom prst="rect">
            <a:avLst/>
          </a:prstGeom>
        </p:spPr>
      </p:pic>
      <p:sp>
        <p:nvSpPr>
          <p:cNvPr id="22" name="TextBox 21"/>
          <p:cNvSpPr txBox="1"/>
          <p:nvPr/>
        </p:nvSpPr>
        <p:spPr>
          <a:xfrm>
            <a:off x="8119872" y="3785616"/>
            <a:ext cx="1170432" cy="146304"/>
          </a:xfrm>
          <a:prstGeom prst="rect">
            <a:avLst/>
          </a:prstGeom>
          <a:noFill/>
        </p:spPr>
        <p:txBody>
          <a:bodyPr wrap="square" anchor="ctr" lIns="0" rIns="0" tIns="0" bIns="0">
            <a:normAutofit/>
          </a:bodyPr>
          <a:lstStyle/>
          <a:p>
            <a:pPr algn="ctr"/>
            <a:r>
              <a:rPr sz="700" b="1">
                <a:solidFill>
                  <a:srgbClr val="334155"/>
                </a:solidFill>
                <a:latin typeface="Noto Sans SC"/>
              </a:rPr>
              <a:t>土地分类</a:t>
            </a:r>
          </a:p>
        </p:txBody>
      </p:sp>
      <p:pic>
        <p:nvPicPr>
          <p:cNvPr id="23" name="Picture 22" descr="image7.png"/>
          <p:cNvPicPr>
            <a:picLocks noChangeAspect="1"/>
          </p:cNvPicPr>
          <p:nvPr/>
        </p:nvPicPr>
        <p:blipFill>
          <a:blip r:embed="rId8"/>
          <a:stretch>
            <a:fillRect/>
          </a:stretch>
        </p:blipFill>
        <p:spPr>
          <a:xfrm>
            <a:off x="9904970" y="2816352"/>
            <a:ext cx="965227" cy="896112"/>
          </a:xfrm>
          <a:prstGeom prst="rect">
            <a:avLst/>
          </a:prstGeom>
        </p:spPr>
      </p:pic>
      <p:sp>
        <p:nvSpPr>
          <p:cNvPr id="24" name="TextBox 23"/>
          <p:cNvSpPr txBox="1"/>
          <p:nvPr/>
        </p:nvSpPr>
        <p:spPr>
          <a:xfrm>
            <a:off x="9802368" y="3785616"/>
            <a:ext cx="1170432" cy="146304"/>
          </a:xfrm>
          <a:prstGeom prst="rect">
            <a:avLst/>
          </a:prstGeom>
          <a:noFill/>
        </p:spPr>
        <p:txBody>
          <a:bodyPr wrap="square" anchor="ctr" lIns="0" rIns="0" tIns="0" bIns="0">
            <a:normAutofit/>
          </a:bodyPr>
          <a:lstStyle/>
          <a:p>
            <a:pPr algn="ctr"/>
            <a:r>
              <a:rPr sz="700" b="1">
                <a:solidFill>
                  <a:srgbClr val="334155"/>
                </a:solidFill>
                <a:latin typeface="Noto Sans SC"/>
              </a:rPr>
              <a:t>路网分割</a:t>
            </a:r>
          </a:p>
        </p:txBody>
      </p:sp>
      <p:pic>
        <p:nvPicPr>
          <p:cNvPr id="25" name="Picture 24" descr="image8.png"/>
          <p:cNvPicPr>
            <a:picLocks noChangeAspect="1"/>
          </p:cNvPicPr>
          <p:nvPr/>
        </p:nvPicPr>
        <p:blipFill>
          <a:blip r:embed="rId9"/>
          <a:stretch>
            <a:fillRect/>
          </a:stretch>
        </p:blipFill>
        <p:spPr>
          <a:xfrm>
            <a:off x="8222488" y="4151376"/>
            <a:ext cx="965200" cy="896112"/>
          </a:xfrm>
          <a:prstGeom prst="rect">
            <a:avLst/>
          </a:prstGeom>
        </p:spPr>
      </p:pic>
      <p:sp>
        <p:nvSpPr>
          <p:cNvPr id="26" name="TextBox 25"/>
          <p:cNvSpPr txBox="1"/>
          <p:nvPr/>
        </p:nvSpPr>
        <p:spPr>
          <a:xfrm>
            <a:off x="8119872" y="5120640"/>
            <a:ext cx="1170432" cy="146304"/>
          </a:xfrm>
          <a:prstGeom prst="rect">
            <a:avLst/>
          </a:prstGeom>
          <a:noFill/>
        </p:spPr>
        <p:txBody>
          <a:bodyPr wrap="square" anchor="ctr" lIns="0" rIns="0" tIns="0" bIns="0">
            <a:normAutofit/>
          </a:bodyPr>
          <a:lstStyle/>
          <a:p>
            <a:pPr algn="ctr"/>
            <a:r>
              <a:rPr sz="700" b="1">
                <a:solidFill>
                  <a:srgbClr val="334155"/>
                </a:solidFill>
                <a:latin typeface="Noto Sans SC"/>
              </a:rPr>
              <a:t>土地利用</a:t>
            </a:r>
          </a:p>
        </p:txBody>
      </p:sp>
      <p:sp>
        <p:nvSpPr>
          <p:cNvPr id="27" name="TextBox 26"/>
          <p:cNvSpPr txBox="1"/>
          <p:nvPr/>
        </p:nvSpPr>
        <p:spPr>
          <a:xfrm>
            <a:off x="9802368" y="4398264"/>
            <a:ext cx="1170432" cy="237744"/>
          </a:xfrm>
          <a:prstGeom prst="rect">
            <a:avLst/>
          </a:prstGeom>
          <a:noFill/>
        </p:spPr>
        <p:txBody>
          <a:bodyPr wrap="square" anchor="ctr" lIns="0" rIns="0" tIns="0" bIns="0">
            <a:normAutofit/>
          </a:bodyPr>
          <a:lstStyle/>
          <a:p>
            <a:pPr algn="ctr"/>
            <a:r>
              <a:rPr sz="2200" b="1">
                <a:solidFill>
                  <a:srgbClr val="64748B"/>
                </a:solidFill>
                <a:latin typeface="Noto Sans SC"/>
              </a:rPr>
              <a:t>…</a:t>
            </a:r>
          </a:p>
        </p:txBody>
      </p:sp>
      <p:sp>
        <p:nvSpPr>
          <p:cNvPr id="28" name="TextBox 27"/>
          <p:cNvSpPr txBox="1"/>
          <p:nvPr/>
        </p:nvSpPr>
        <p:spPr>
          <a:xfrm>
            <a:off x="1444752" y="5413248"/>
            <a:ext cx="9326880" cy="201168"/>
          </a:xfrm>
          <a:prstGeom prst="rect">
            <a:avLst/>
          </a:prstGeom>
          <a:noFill/>
        </p:spPr>
        <p:txBody>
          <a:bodyPr wrap="square" anchor="ctr" lIns="0" rIns="0" tIns="0" bIns="0">
            <a:normAutofit/>
          </a:bodyPr>
          <a:lstStyle/>
          <a:p>
            <a:pPr algn="ctr"/>
            <a:r>
              <a:rPr sz="1000" b="0">
                <a:solidFill>
                  <a:srgbClr val="64748B"/>
                </a:solidFill>
                <a:latin typeface="Noto Sans SC"/>
              </a:rPr>
              <a:t>玄女底座融合多元观测数据，生成统一地理嵌入，支撑不同下游任务复用。</a:t>
            </a:r>
          </a:p>
        </p:txBody>
      </p:sp>
      <p:sp>
        <p:nvSpPr>
          <p:cNvPr id="29" name="TextBox 28"/>
          <p:cNvSpPr txBox="1"/>
          <p:nvPr/>
        </p:nvSpPr>
        <p:spPr>
          <a:xfrm>
            <a:off x="786384" y="5980176"/>
            <a:ext cx="10607040" cy="384048"/>
          </a:xfrm>
          <a:prstGeom prst="rect">
            <a:avLst/>
          </a:prstGeom>
          <a:noFill/>
        </p:spPr>
        <p:txBody>
          <a:bodyPr wrap="square" anchor="ctr" lIns="0" rIns="0" tIns="0" bIns="0">
            <a:normAutofit/>
          </a:bodyPr>
          <a:lstStyle/>
          <a:p>
            <a:pPr algn="ctr"/>
            <a:r>
              <a:rPr sz="1800" b="1">
                <a:solidFill>
                  <a:srgbClr val="2563EB"/>
                </a:solidFill>
                <a:latin typeface="Noto Sans SC"/>
              </a:rPr>
              <a:t>一次融合生成统一嵌入，多任务持续复用。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384048" cy="201168"/>
          </a:xfrm>
          <a:prstGeom prst="rect">
            <a:avLst/>
          </a:prstGeom>
          <a:noFill/>
        </p:spPr>
        <p:txBody>
          <a:bodyPr wrap="square" anchor="ctr" lIns="0" rIns="0" tIns="0" bIns="0">
            <a:normAutofit/>
          </a:bodyPr>
          <a:lstStyle/>
          <a:p>
            <a:pPr algn="l"/>
            <a:r>
              <a:rPr sz="800" b="1">
                <a:solidFill>
                  <a:srgbClr val="0EA5E9"/>
                </a:solidFill>
                <a:latin typeface="Noto Sans SC"/>
              </a:rPr>
              <a:t>03</a:t>
            </a:r>
          </a:p>
        </p:txBody>
      </p:sp>
      <p:sp>
        <p:nvSpPr>
          <p:cNvPr id="3" name="TextBox 2"/>
          <p:cNvSpPr txBox="1"/>
          <p:nvPr/>
        </p:nvSpPr>
        <p:spPr>
          <a:xfrm>
            <a:off x="950976" y="256032"/>
            <a:ext cx="10424160" cy="566928"/>
          </a:xfrm>
          <a:prstGeom prst="rect">
            <a:avLst/>
          </a:prstGeom>
          <a:noFill/>
        </p:spPr>
        <p:txBody>
          <a:bodyPr wrap="square" anchor="ctr" lIns="0" rIns="0" tIns="0" bIns="0">
            <a:normAutofit/>
          </a:bodyPr>
          <a:lstStyle/>
          <a:p>
            <a:pPr algn="l"/>
            <a:r>
              <a:rPr sz="2400" b="1">
                <a:solidFill>
                  <a:srgbClr val="0F172A"/>
                </a:solidFill>
                <a:latin typeface="Noto Sans SC"/>
              </a:rPr>
              <a:t>我们为什么要做这样一件事情</a:t>
            </a:r>
          </a:p>
        </p:txBody>
      </p:sp>
      <p:pic>
        <p:nvPicPr>
          <p:cNvPr id="4" name="Picture 3" descr="same_land_multi_satellite_models.png"/>
          <p:cNvPicPr>
            <a:picLocks noChangeAspect="1"/>
          </p:cNvPicPr>
          <p:nvPr/>
        </p:nvPicPr>
        <p:blipFill>
          <a:blip r:embed="rId2"/>
          <a:stretch>
            <a:fillRect/>
          </a:stretch>
        </p:blipFill>
        <p:spPr>
          <a:xfrm>
            <a:off x="658368" y="1292352"/>
            <a:ext cx="5806440" cy="3870960"/>
          </a:xfrm>
          <a:prstGeom prst="rect">
            <a:avLst/>
          </a:prstGeom>
        </p:spPr>
      </p:pic>
      <p:sp>
        <p:nvSpPr>
          <p:cNvPr id="5" name="TextBox 4"/>
          <p:cNvSpPr txBox="1"/>
          <p:nvPr/>
        </p:nvSpPr>
        <p:spPr>
          <a:xfrm>
            <a:off x="896112" y="5431536"/>
            <a:ext cx="5321808" cy="201168"/>
          </a:xfrm>
          <a:prstGeom prst="rect">
            <a:avLst/>
          </a:prstGeom>
          <a:noFill/>
        </p:spPr>
        <p:txBody>
          <a:bodyPr wrap="square" anchor="ctr" lIns="0" rIns="0" tIns="0" bIns="0">
            <a:normAutofit/>
          </a:bodyPr>
          <a:lstStyle/>
          <a:p>
            <a:pPr algn="ctr"/>
            <a:r>
              <a:rPr sz="800" b="0">
                <a:solidFill>
                  <a:srgbClr val="64748B"/>
                </a:solidFill>
                <a:latin typeface="Noto Sans SC"/>
              </a:rPr>
              <a:t>不同地理模型都在对同一地物的多源图像重复编码、解码，造成大量算力与工程成本浪费。</a:t>
            </a:r>
          </a:p>
        </p:txBody>
      </p:sp>
      <p:cxnSp>
        <p:nvCxnSpPr>
          <p:cNvPr id="6" name="Connector 5"/>
          <p:cNvCxnSpPr/>
          <p:nvPr/>
        </p:nvCxnSpPr>
        <p:spPr>
          <a:xfrm>
            <a:off x="6565392" y="1298448"/>
            <a:ext cx="0" cy="3968496"/>
          </a:xfrm>
          <a:prstGeom prst="line">
            <a:avLst/>
          </a:prstGeom>
          <a:ln w="11430">
            <a:solidFill>
              <a:srgbClr val="E2E8F0"/>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6903720" y="1463040"/>
            <a:ext cx="676656" cy="676656"/>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086600" y="1664208"/>
            <a:ext cx="274320" cy="164592"/>
          </a:xfrm>
          <a:prstGeom prst="rect">
            <a:avLst/>
          </a:prstGeom>
          <a:solidFill>
            <a:srgbClr val="FFFFFF"/>
          </a:solidFill>
          <a:ln w="101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41464" y="1719072"/>
            <a:ext cx="274320" cy="164592"/>
          </a:xfrm>
          <a:prstGeom prst="rect">
            <a:avLst/>
          </a:prstGeom>
          <a:solidFill>
            <a:srgbClr val="FFFFFF"/>
          </a:solidFill>
          <a:ln w="101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96328" y="1773936"/>
            <a:ext cx="274320" cy="164592"/>
          </a:xfrm>
          <a:prstGeom prst="rect">
            <a:avLst/>
          </a:prstGeom>
          <a:solidFill>
            <a:srgbClr val="FFFFFF"/>
          </a:solidFill>
          <a:ln w="101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68312" y="1773936"/>
            <a:ext cx="347472" cy="182880"/>
          </a:xfrm>
          <a:prstGeom prst="rect">
            <a:avLst/>
          </a:prstGeom>
          <a:noFill/>
        </p:spPr>
        <p:txBody>
          <a:bodyPr wrap="square" anchor="ctr" lIns="0" rIns="0" tIns="0" bIns="0">
            <a:normAutofit/>
          </a:bodyPr>
          <a:lstStyle/>
          <a:p>
            <a:pPr algn="ctr"/>
            <a:r>
              <a:rPr sz="1100" b="1">
                <a:solidFill>
                  <a:srgbClr val="2563EB"/>
                </a:solidFill>
                <a:latin typeface="Noto Sans SC"/>
              </a:rPr>
              <a:t>↻</a:t>
            </a:r>
          </a:p>
        </p:txBody>
      </p:sp>
      <p:sp>
        <p:nvSpPr>
          <p:cNvPr id="12" name="TextBox 11"/>
          <p:cNvSpPr txBox="1"/>
          <p:nvPr/>
        </p:nvSpPr>
        <p:spPr>
          <a:xfrm>
            <a:off x="7772400" y="1463040"/>
            <a:ext cx="3794760" cy="219456"/>
          </a:xfrm>
          <a:prstGeom prst="rect">
            <a:avLst/>
          </a:prstGeom>
          <a:noFill/>
        </p:spPr>
        <p:txBody>
          <a:bodyPr wrap="square" anchor="ctr" lIns="0" rIns="0" tIns="0" bIns="0">
            <a:normAutofit/>
          </a:bodyPr>
          <a:lstStyle/>
          <a:p>
            <a:pPr algn="l"/>
            <a:r>
              <a:rPr sz="1400" b="1">
                <a:solidFill>
                  <a:srgbClr val="0F172A"/>
                </a:solidFill>
                <a:latin typeface="Noto Sans SC"/>
              </a:rPr>
              <a:t>同一批观测，被反复训练</a:t>
            </a:r>
          </a:p>
        </p:txBody>
      </p:sp>
      <p:sp>
        <p:nvSpPr>
          <p:cNvPr id="13" name="TextBox 12"/>
          <p:cNvSpPr txBox="1"/>
          <p:nvPr/>
        </p:nvSpPr>
        <p:spPr>
          <a:xfrm>
            <a:off x="7772400" y="1828800"/>
            <a:ext cx="3703320" cy="347472"/>
          </a:xfrm>
          <a:prstGeom prst="rect">
            <a:avLst/>
          </a:prstGeom>
          <a:noFill/>
        </p:spPr>
        <p:txBody>
          <a:bodyPr wrap="square" anchor="ctr" lIns="0" rIns="0" tIns="0" bIns="0">
            <a:normAutofit/>
          </a:bodyPr>
          <a:lstStyle/>
          <a:p>
            <a:pPr algn="l"/>
            <a:r>
              <a:rPr sz="900" b="0">
                <a:solidFill>
                  <a:srgbClr val="334155"/>
                </a:solidFill>
                <a:latin typeface="Noto Sans SC"/>
              </a:rPr>
              <a:t>气象、分割、变化检测模型，各自重建底层特征。</a:t>
            </a:r>
          </a:p>
        </p:txBody>
      </p:sp>
      <p:cxnSp>
        <p:nvCxnSpPr>
          <p:cNvPr id="14" name="Connector 13"/>
          <p:cNvCxnSpPr/>
          <p:nvPr/>
        </p:nvCxnSpPr>
        <p:spPr>
          <a:xfrm>
            <a:off x="7772400" y="2313432"/>
            <a:ext cx="3630167" cy="0"/>
          </a:xfrm>
          <a:prstGeom prst="line">
            <a:avLst/>
          </a:prstGeom>
          <a:ln w="10160">
            <a:solidFill>
              <a:srgbClr val="E2E8F0"/>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903720" y="2807208"/>
            <a:ext cx="676656" cy="676656"/>
          </a:xfrm>
          <a:prstGeom prst="ellipse">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14032" y="3017520"/>
            <a:ext cx="256032" cy="256032"/>
          </a:xfrm>
          <a:prstGeom prst="rect">
            <a:avLst/>
          </a:prstGeom>
          <a:solidFill>
            <a:srgbClr val="FFFFFF"/>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031736" y="2953512"/>
            <a:ext cx="45720" cy="457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415783" y="2953512"/>
            <a:ext cx="45720" cy="457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031736" y="3319272"/>
            <a:ext cx="45720" cy="457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415783" y="3319272"/>
            <a:ext cx="45720" cy="457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0" y="2807208"/>
            <a:ext cx="3794760" cy="219456"/>
          </a:xfrm>
          <a:prstGeom prst="rect">
            <a:avLst/>
          </a:prstGeom>
          <a:noFill/>
        </p:spPr>
        <p:txBody>
          <a:bodyPr wrap="square" anchor="ctr" lIns="0" rIns="0" tIns="0" bIns="0">
            <a:normAutofit/>
          </a:bodyPr>
          <a:lstStyle/>
          <a:p>
            <a:pPr algn="l"/>
            <a:r>
              <a:rPr sz="1400" b="1">
                <a:solidFill>
                  <a:srgbClr val="0F172A"/>
                </a:solidFill>
                <a:latin typeface="Noto Sans SC"/>
              </a:rPr>
              <a:t>成本耗在重复编码</a:t>
            </a:r>
          </a:p>
        </p:txBody>
      </p:sp>
      <p:sp>
        <p:nvSpPr>
          <p:cNvPr id="22" name="TextBox 21"/>
          <p:cNvSpPr txBox="1"/>
          <p:nvPr/>
        </p:nvSpPr>
        <p:spPr>
          <a:xfrm>
            <a:off x="7772400" y="3172968"/>
            <a:ext cx="3703320" cy="347472"/>
          </a:xfrm>
          <a:prstGeom prst="rect">
            <a:avLst/>
          </a:prstGeom>
          <a:noFill/>
        </p:spPr>
        <p:txBody>
          <a:bodyPr wrap="square" anchor="ctr" lIns="0" rIns="0" tIns="0" bIns="0">
            <a:normAutofit/>
          </a:bodyPr>
          <a:lstStyle/>
          <a:p>
            <a:pPr algn="l"/>
            <a:r>
              <a:rPr sz="900" b="0">
                <a:solidFill>
                  <a:srgbClr val="334155"/>
                </a:solidFill>
                <a:latin typeface="Noto Sans SC"/>
              </a:rPr>
              <a:t>数据处理、标注、训练无法复用，任务越多成本越高。</a:t>
            </a:r>
          </a:p>
        </p:txBody>
      </p:sp>
      <p:cxnSp>
        <p:nvCxnSpPr>
          <p:cNvPr id="23" name="Connector 22"/>
          <p:cNvCxnSpPr/>
          <p:nvPr/>
        </p:nvCxnSpPr>
        <p:spPr>
          <a:xfrm>
            <a:off x="7772400" y="3657600"/>
            <a:ext cx="3630167" cy="0"/>
          </a:xfrm>
          <a:prstGeom prst="line">
            <a:avLst/>
          </a:prstGeom>
          <a:ln w="10160">
            <a:solidFill>
              <a:srgbClr val="E2E8F0"/>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6903720" y="4151376"/>
            <a:ext cx="676656" cy="676656"/>
          </a:xfrm>
          <a:prstGeom prst="ellipse">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178040" y="4425696"/>
            <a:ext cx="128016" cy="128016"/>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flipH="1" flipV="1">
            <a:off x="7086600" y="4315968"/>
            <a:ext cx="155448" cy="173736"/>
          </a:xfrm>
          <a:prstGeom prst="line">
            <a:avLst/>
          </a:prstGeom>
          <a:ln w="10160">
            <a:solidFill>
              <a:srgbClr val="7C3AED"/>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7054596" y="4283964"/>
            <a:ext cx="64008" cy="64008"/>
          </a:xfrm>
          <a:prstGeom prst="ellipse">
            <a:avLst/>
          </a:prstGeom>
          <a:solidFill>
            <a:srgbClr val="FFFFFF"/>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flipV="1">
            <a:off x="7242048" y="4315968"/>
            <a:ext cx="155448" cy="173736"/>
          </a:xfrm>
          <a:prstGeom prst="line">
            <a:avLst/>
          </a:prstGeom>
          <a:ln w="10160">
            <a:solidFill>
              <a:srgbClr val="7C3AED"/>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7365492" y="4283964"/>
            <a:ext cx="64008" cy="64008"/>
          </a:xfrm>
          <a:prstGeom prst="ellipse">
            <a:avLst/>
          </a:prstGeom>
          <a:solidFill>
            <a:srgbClr val="FFFFFF"/>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flipH="1">
            <a:off x="7086600" y="4489704"/>
            <a:ext cx="155448" cy="173736"/>
          </a:xfrm>
          <a:prstGeom prst="line">
            <a:avLst/>
          </a:prstGeom>
          <a:ln w="10160">
            <a:solidFill>
              <a:srgbClr val="7C3AED"/>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7054596" y="4631436"/>
            <a:ext cx="64008" cy="64008"/>
          </a:xfrm>
          <a:prstGeom prst="ellipse">
            <a:avLst/>
          </a:prstGeom>
          <a:solidFill>
            <a:srgbClr val="FFFFFF"/>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a:off x="7242048" y="4489704"/>
            <a:ext cx="155448" cy="173736"/>
          </a:xfrm>
          <a:prstGeom prst="line">
            <a:avLst/>
          </a:prstGeom>
          <a:ln w="10160">
            <a:solidFill>
              <a:srgbClr val="7C3AED"/>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7365492" y="4631436"/>
            <a:ext cx="64008" cy="64008"/>
          </a:xfrm>
          <a:prstGeom prst="ellipse">
            <a:avLst/>
          </a:prstGeom>
          <a:solidFill>
            <a:srgbClr val="FFFFFF"/>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0" y="4151376"/>
            <a:ext cx="3794760" cy="219456"/>
          </a:xfrm>
          <a:prstGeom prst="rect">
            <a:avLst/>
          </a:prstGeom>
          <a:noFill/>
        </p:spPr>
        <p:txBody>
          <a:bodyPr wrap="square" anchor="ctr" lIns="0" rIns="0" tIns="0" bIns="0">
            <a:normAutofit/>
          </a:bodyPr>
          <a:lstStyle/>
          <a:p>
            <a:pPr algn="l"/>
            <a:r>
              <a:rPr sz="1400" b="1">
                <a:solidFill>
                  <a:srgbClr val="0F172A"/>
                </a:solidFill>
                <a:latin typeface="Noto Sans SC"/>
              </a:rPr>
              <a:t>缺少通用嵌入层</a:t>
            </a:r>
          </a:p>
        </p:txBody>
      </p:sp>
      <p:sp>
        <p:nvSpPr>
          <p:cNvPr id="35" name="TextBox 34"/>
          <p:cNvSpPr txBox="1"/>
          <p:nvPr/>
        </p:nvSpPr>
        <p:spPr>
          <a:xfrm>
            <a:off x="7772400" y="4517136"/>
            <a:ext cx="3703320" cy="347472"/>
          </a:xfrm>
          <a:prstGeom prst="rect">
            <a:avLst/>
          </a:prstGeom>
          <a:noFill/>
        </p:spPr>
        <p:txBody>
          <a:bodyPr wrap="square" anchor="ctr" lIns="0" rIns="0" tIns="0" bIns="0">
            <a:normAutofit/>
          </a:bodyPr>
          <a:lstStyle/>
          <a:p>
            <a:pPr algn="l"/>
            <a:r>
              <a:rPr sz="900" b="0">
                <a:solidFill>
                  <a:srgbClr val="334155"/>
                </a:solidFill>
                <a:latin typeface="Noto Sans SC"/>
              </a:rPr>
              <a:t>行业需要统一地理表征，连接多源观测与下游应用。</a:t>
            </a:r>
          </a:p>
        </p:txBody>
      </p:sp>
      <p:cxnSp>
        <p:nvCxnSpPr>
          <p:cNvPr id="36" name="Connector 35"/>
          <p:cNvCxnSpPr/>
          <p:nvPr/>
        </p:nvCxnSpPr>
        <p:spPr>
          <a:xfrm>
            <a:off x="7772400" y="5001768"/>
            <a:ext cx="3630167" cy="0"/>
          </a:xfrm>
          <a:prstGeom prst="line">
            <a:avLst/>
          </a:prstGeom>
          <a:ln w="10160">
            <a:solidFill>
              <a:srgbClr val="E2E8F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86384" y="5687568"/>
            <a:ext cx="10607040" cy="384048"/>
          </a:xfrm>
          <a:prstGeom prst="rect">
            <a:avLst/>
          </a:prstGeom>
          <a:noFill/>
        </p:spPr>
        <p:txBody>
          <a:bodyPr wrap="square" anchor="ctr" lIns="0" rIns="0" tIns="0" bIns="0">
            <a:normAutofit/>
          </a:bodyPr>
          <a:lstStyle/>
          <a:p>
            <a:pPr algn="ctr"/>
            <a:r>
              <a:rPr sz="1800" b="1">
                <a:solidFill>
                  <a:srgbClr val="2563EB"/>
                </a:solidFill>
                <a:latin typeface="Noto Sans SC"/>
              </a:rPr>
              <a:t>从每个任务重训，走向一次嵌入、多任务复用。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384048" cy="201168"/>
          </a:xfrm>
          <a:prstGeom prst="rect">
            <a:avLst/>
          </a:prstGeom>
          <a:noFill/>
        </p:spPr>
        <p:txBody>
          <a:bodyPr wrap="square" anchor="ctr" lIns="0" rIns="0" tIns="0" bIns="0">
            <a:normAutofit/>
          </a:bodyPr>
          <a:lstStyle/>
          <a:p>
            <a:pPr algn="l"/>
            <a:r>
              <a:rPr sz="800" b="1">
                <a:solidFill>
                  <a:srgbClr val="0EA5E9"/>
                </a:solidFill>
                <a:latin typeface="Noto Sans SC"/>
              </a:rPr>
              <a:t>04</a:t>
            </a:r>
          </a:p>
        </p:txBody>
      </p:sp>
      <p:sp>
        <p:nvSpPr>
          <p:cNvPr id="3" name="TextBox 2"/>
          <p:cNvSpPr txBox="1"/>
          <p:nvPr/>
        </p:nvSpPr>
        <p:spPr>
          <a:xfrm>
            <a:off x="950976" y="256032"/>
            <a:ext cx="10424160" cy="566928"/>
          </a:xfrm>
          <a:prstGeom prst="rect">
            <a:avLst/>
          </a:prstGeom>
          <a:noFill/>
        </p:spPr>
        <p:txBody>
          <a:bodyPr wrap="square" anchor="ctr" lIns="0" rIns="0" tIns="0" bIns="0">
            <a:normAutofit/>
          </a:bodyPr>
          <a:lstStyle/>
          <a:p>
            <a:pPr algn="l"/>
            <a:r>
              <a:rPr sz="2400" b="1">
                <a:solidFill>
                  <a:srgbClr val="0F172A"/>
                </a:solidFill>
                <a:latin typeface="Noto Sans SC"/>
              </a:rPr>
              <a:t>地理嵌入方向，我们走在前列</a:t>
            </a:r>
          </a:p>
        </p:txBody>
      </p:sp>
      <p:sp>
        <p:nvSpPr>
          <p:cNvPr id="4" name="TextBox 3"/>
          <p:cNvSpPr txBox="1"/>
          <p:nvPr/>
        </p:nvSpPr>
        <p:spPr>
          <a:xfrm>
            <a:off x="950976" y="932688"/>
            <a:ext cx="9875520" cy="219456"/>
          </a:xfrm>
          <a:prstGeom prst="rect">
            <a:avLst/>
          </a:prstGeom>
          <a:noFill/>
        </p:spPr>
        <p:txBody>
          <a:bodyPr wrap="square" anchor="ctr" lIns="0" rIns="0" tIns="0" bIns="0">
            <a:normAutofit/>
          </a:bodyPr>
          <a:lstStyle/>
          <a:p>
            <a:pPr algn="l"/>
            <a:r>
              <a:rPr sz="1000" b="0">
                <a:solidFill>
                  <a:srgbClr val="64748B"/>
                </a:solidFill>
                <a:latin typeface="Noto Sans SC"/>
              </a:rPr>
              <a:t>AlphaEarth Foundations 已经把遥感从“影像处理”推向“统一地球表征”。</a:t>
            </a:r>
          </a:p>
        </p:txBody>
      </p:sp>
      <p:pic>
        <p:nvPicPr>
          <p:cNvPr id="5" name="Picture 4" descr="slide04_img10_24c66b14_1853.png"/>
          <p:cNvPicPr>
            <a:picLocks noChangeAspect="1"/>
          </p:cNvPicPr>
          <p:nvPr/>
        </p:nvPicPr>
        <p:blipFill>
          <a:blip r:embed="rId2"/>
          <a:stretch>
            <a:fillRect/>
          </a:stretch>
        </p:blipFill>
        <p:spPr>
          <a:xfrm>
            <a:off x="786384" y="1261872"/>
            <a:ext cx="5559552" cy="2999232"/>
          </a:xfrm>
          <a:prstGeom prst="rect">
            <a:avLst/>
          </a:prstGeom>
        </p:spPr>
      </p:pic>
      <p:sp>
        <p:nvSpPr>
          <p:cNvPr id="6" name="TextBox 5"/>
          <p:cNvSpPr txBox="1"/>
          <p:nvPr/>
        </p:nvSpPr>
        <p:spPr>
          <a:xfrm>
            <a:off x="896112" y="4407408"/>
            <a:ext cx="5340096" cy="164592"/>
          </a:xfrm>
          <a:prstGeom prst="rect">
            <a:avLst/>
          </a:prstGeom>
          <a:noFill/>
        </p:spPr>
        <p:txBody>
          <a:bodyPr wrap="square" anchor="ctr" lIns="0" rIns="0" tIns="0" bIns="0">
            <a:normAutofit/>
          </a:bodyPr>
          <a:lstStyle/>
          <a:p>
            <a:pPr algn="ctr"/>
            <a:r>
              <a:rPr sz="800" b="1">
                <a:solidFill>
                  <a:srgbClr val="334155"/>
                </a:solidFill>
                <a:latin typeface="Noto Sans SC"/>
              </a:rPr>
              <a:t>AlphaEarth 全球嵌入可视化：把多源地球观测压缩为可计算的语义空间。</a:t>
            </a:r>
          </a:p>
        </p:txBody>
      </p:sp>
      <p:cxnSp>
        <p:nvCxnSpPr>
          <p:cNvPr id="7" name="Connector 6"/>
          <p:cNvCxnSpPr/>
          <p:nvPr/>
        </p:nvCxnSpPr>
        <p:spPr>
          <a:xfrm>
            <a:off x="6565392" y="1280160"/>
            <a:ext cx="0" cy="3127248"/>
          </a:xfrm>
          <a:prstGeom prst="line">
            <a:avLst/>
          </a:prstGeom>
          <a:ln w="10160">
            <a:solidFill>
              <a:srgbClr val="E2E8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39712" y="1298448"/>
            <a:ext cx="4069080" cy="237744"/>
          </a:xfrm>
          <a:prstGeom prst="rect">
            <a:avLst/>
          </a:prstGeom>
          <a:noFill/>
        </p:spPr>
        <p:txBody>
          <a:bodyPr wrap="square" anchor="ctr" lIns="0" rIns="0" tIns="0" bIns="0">
            <a:normAutofit/>
          </a:bodyPr>
          <a:lstStyle/>
          <a:p>
            <a:pPr algn="l"/>
            <a:r>
              <a:rPr sz="1500" b="1">
                <a:solidFill>
                  <a:srgbClr val="0F172A"/>
                </a:solidFill>
                <a:latin typeface="Noto Sans SC"/>
              </a:rPr>
              <a:t>最前列的 AlphaEarth 证明了什么</a:t>
            </a:r>
          </a:p>
        </p:txBody>
      </p:sp>
      <p:sp>
        <p:nvSpPr>
          <p:cNvPr id="9" name="TextBox 8"/>
          <p:cNvSpPr txBox="1"/>
          <p:nvPr/>
        </p:nvSpPr>
        <p:spPr>
          <a:xfrm>
            <a:off x="6839712" y="1700784"/>
            <a:ext cx="3977639" cy="438912"/>
          </a:xfrm>
          <a:prstGeom prst="rect">
            <a:avLst/>
          </a:prstGeom>
          <a:noFill/>
        </p:spPr>
        <p:txBody>
          <a:bodyPr wrap="square" anchor="ctr" lIns="0" rIns="0" tIns="0" bIns="0">
            <a:normAutofit/>
          </a:bodyPr>
          <a:lstStyle/>
          <a:p>
            <a:pPr algn="l"/>
            <a:r>
              <a:rPr sz="900" b="0">
                <a:solidFill>
                  <a:srgbClr val="334155"/>
                </a:solidFill>
                <a:latin typeface="Noto Sans SC"/>
              </a:rPr>
              <a:t>不是再训练一个单任务模型，而是把光学、雷达、Landsat、地形与生态观测融合成年度像素级嵌入。</a:t>
            </a:r>
          </a:p>
        </p:txBody>
      </p:sp>
      <p:sp>
        <p:nvSpPr>
          <p:cNvPr id="10" name="TextBox 9"/>
          <p:cNvSpPr txBox="1"/>
          <p:nvPr/>
        </p:nvSpPr>
        <p:spPr>
          <a:xfrm>
            <a:off x="6839712" y="2377440"/>
            <a:ext cx="3895344" cy="182880"/>
          </a:xfrm>
          <a:prstGeom prst="rect">
            <a:avLst/>
          </a:prstGeom>
          <a:noFill/>
        </p:spPr>
        <p:txBody>
          <a:bodyPr wrap="square" anchor="ctr" lIns="0" rIns="0" tIns="0" bIns="0">
            <a:normAutofit/>
          </a:bodyPr>
          <a:lstStyle/>
          <a:p>
            <a:pPr algn="l"/>
            <a:r>
              <a:rPr sz="900" b="1">
                <a:solidFill>
                  <a:srgbClr val="0F172A"/>
                </a:solidFill>
                <a:latin typeface="Noto Sans SC"/>
              </a:rPr>
              <a:t>1. 数据形态：从多源影像变成 64 维向量</a:t>
            </a:r>
          </a:p>
        </p:txBody>
      </p:sp>
      <p:sp>
        <p:nvSpPr>
          <p:cNvPr id="11" name="TextBox 10"/>
          <p:cNvSpPr txBox="1"/>
          <p:nvPr/>
        </p:nvSpPr>
        <p:spPr>
          <a:xfrm>
            <a:off x="6839712" y="2761488"/>
            <a:ext cx="3895344" cy="182880"/>
          </a:xfrm>
          <a:prstGeom prst="rect">
            <a:avLst/>
          </a:prstGeom>
          <a:noFill/>
        </p:spPr>
        <p:txBody>
          <a:bodyPr wrap="square" anchor="ctr" lIns="0" rIns="0" tIns="0" bIns="0">
            <a:normAutofit/>
          </a:bodyPr>
          <a:lstStyle/>
          <a:p>
            <a:pPr algn="l"/>
            <a:r>
              <a:rPr sz="900" b="1">
                <a:solidFill>
                  <a:srgbClr val="0F172A"/>
                </a:solidFill>
                <a:latin typeface="Noto Sans SC"/>
              </a:rPr>
              <a:t>2. 使用方式：从专家流程变成直接检索、分类、回归</a:t>
            </a:r>
          </a:p>
        </p:txBody>
      </p:sp>
      <p:sp>
        <p:nvSpPr>
          <p:cNvPr id="12" name="TextBox 11"/>
          <p:cNvSpPr txBox="1"/>
          <p:nvPr/>
        </p:nvSpPr>
        <p:spPr>
          <a:xfrm>
            <a:off x="6839712" y="3145536"/>
            <a:ext cx="3895344" cy="182880"/>
          </a:xfrm>
          <a:prstGeom prst="rect">
            <a:avLst/>
          </a:prstGeom>
          <a:noFill/>
        </p:spPr>
        <p:txBody>
          <a:bodyPr wrap="square" anchor="ctr" lIns="0" rIns="0" tIns="0" bIns="0">
            <a:normAutofit/>
          </a:bodyPr>
          <a:lstStyle/>
          <a:p>
            <a:pPr algn="l"/>
            <a:r>
              <a:rPr sz="900" b="1">
                <a:solidFill>
                  <a:srgbClr val="0F172A"/>
                </a:solidFill>
                <a:latin typeface="Noto Sans SC"/>
              </a:rPr>
              <a:t>3. 行业意义：地理嵌入正在成为遥感应用的新入口</a:t>
            </a:r>
          </a:p>
        </p:txBody>
      </p:sp>
      <p:sp>
        <p:nvSpPr>
          <p:cNvPr id="13" name="Rounded Rectangle 12"/>
          <p:cNvSpPr/>
          <p:nvPr/>
        </p:nvSpPr>
        <p:spPr>
          <a:xfrm>
            <a:off x="6839712" y="3749039"/>
            <a:ext cx="1078992" cy="566928"/>
          </a:xfrm>
          <a:prstGeom prst="roundRect">
            <a:avLst/>
          </a:prstGeom>
          <a:solidFill>
            <a:srgbClr val="EFF6FF"/>
          </a:solidFill>
          <a:ln w="101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12864" y="3840479"/>
            <a:ext cx="932688" cy="164592"/>
          </a:xfrm>
          <a:prstGeom prst="rect">
            <a:avLst/>
          </a:prstGeom>
          <a:noFill/>
        </p:spPr>
        <p:txBody>
          <a:bodyPr wrap="square" anchor="ctr" lIns="0" rIns="0" tIns="0" bIns="0">
            <a:normAutofit/>
          </a:bodyPr>
          <a:lstStyle/>
          <a:p>
            <a:pPr algn="ctr"/>
            <a:r>
              <a:rPr sz="1100" b="1">
                <a:solidFill>
                  <a:srgbClr val="2563EB"/>
                </a:solidFill>
                <a:latin typeface="Noto Sans SC"/>
              </a:rPr>
              <a:t>10 m</a:t>
            </a:r>
          </a:p>
        </p:txBody>
      </p:sp>
      <p:sp>
        <p:nvSpPr>
          <p:cNvPr id="15" name="TextBox 14"/>
          <p:cNvSpPr txBox="1"/>
          <p:nvPr/>
        </p:nvSpPr>
        <p:spPr>
          <a:xfrm>
            <a:off x="6912864" y="4078224"/>
            <a:ext cx="932688" cy="128016"/>
          </a:xfrm>
          <a:prstGeom prst="rect">
            <a:avLst/>
          </a:prstGeom>
          <a:noFill/>
        </p:spPr>
        <p:txBody>
          <a:bodyPr wrap="square" anchor="ctr" lIns="0" rIns="0" tIns="0" bIns="0">
            <a:normAutofit/>
          </a:bodyPr>
          <a:lstStyle/>
          <a:p>
            <a:pPr algn="ctr"/>
            <a:r>
              <a:rPr sz="600" b="0">
                <a:solidFill>
                  <a:srgbClr val="334155"/>
                </a:solidFill>
                <a:latin typeface="Noto Sans SC"/>
              </a:rPr>
              <a:t>像素级表征</a:t>
            </a:r>
          </a:p>
        </p:txBody>
      </p:sp>
      <p:sp>
        <p:nvSpPr>
          <p:cNvPr id="16" name="Rounded Rectangle 15"/>
          <p:cNvSpPr/>
          <p:nvPr/>
        </p:nvSpPr>
        <p:spPr>
          <a:xfrm>
            <a:off x="7955279" y="3749039"/>
            <a:ext cx="1078992" cy="566928"/>
          </a:xfrm>
          <a:prstGeom prst="roundRect">
            <a:avLst/>
          </a:prstGeom>
          <a:solidFill>
            <a:srgbClr val="ECFDF5"/>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28431" y="3840479"/>
            <a:ext cx="932688" cy="164592"/>
          </a:xfrm>
          <a:prstGeom prst="rect">
            <a:avLst/>
          </a:prstGeom>
          <a:noFill/>
        </p:spPr>
        <p:txBody>
          <a:bodyPr wrap="square" anchor="ctr" lIns="0" rIns="0" tIns="0" bIns="0">
            <a:normAutofit/>
          </a:bodyPr>
          <a:lstStyle/>
          <a:p>
            <a:pPr algn="ctr"/>
            <a:r>
              <a:rPr sz="1100" b="1">
                <a:solidFill>
                  <a:srgbClr val="10B981"/>
                </a:solidFill>
                <a:latin typeface="Noto Sans SC"/>
              </a:rPr>
              <a:t>64 维</a:t>
            </a:r>
          </a:p>
        </p:txBody>
      </p:sp>
      <p:sp>
        <p:nvSpPr>
          <p:cNvPr id="18" name="TextBox 17"/>
          <p:cNvSpPr txBox="1"/>
          <p:nvPr/>
        </p:nvSpPr>
        <p:spPr>
          <a:xfrm>
            <a:off x="8028431" y="4078224"/>
            <a:ext cx="932688" cy="128016"/>
          </a:xfrm>
          <a:prstGeom prst="rect">
            <a:avLst/>
          </a:prstGeom>
          <a:noFill/>
        </p:spPr>
        <p:txBody>
          <a:bodyPr wrap="square" anchor="ctr" lIns="0" rIns="0" tIns="0" bIns="0">
            <a:normAutofit/>
          </a:bodyPr>
          <a:lstStyle/>
          <a:p>
            <a:pPr algn="ctr"/>
            <a:r>
              <a:rPr sz="600" b="0">
                <a:solidFill>
                  <a:srgbClr val="334155"/>
                </a:solidFill>
                <a:latin typeface="Noto Sans SC"/>
              </a:rPr>
              <a:t>嵌入向量</a:t>
            </a:r>
          </a:p>
        </p:txBody>
      </p:sp>
      <p:sp>
        <p:nvSpPr>
          <p:cNvPr id="19" name="Rounded Rectangle 18"/>
          <p:cNvSpPr/>
          <p:nvPr/>
        </p:nvSpPr>
        <p:spPr>
          <a:xfrm>
            <a:off x="9070848" y="3749039"/>
            <a:ext cx="1078992" cy="566928"/>
          </a:xfrm>
          <a:prstGeom prst="roundRect">
            <a:avLst/>
          </a:prstGeom>
          <a:solidFill>
            <a:srgbClr val="F5F3FF"/>
          </a:solidFill>
          <a:ln w="101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0" y="3840479"/>
            <a:ext cx="932688" cy="164592"/>
          </a:xfrm>
          <a:prstGeom prst="rect">
            <a:avLst/>
          </a:prstGeom>
          <a:noFill/>
        </p:spPr>
        <p:txBody>
          <a:bodyPr wrap="square" anchor="ctr" lIns="0" rIns="0" tIns="0" bIns="0">
            <a:normAutofit/>
          </a:bodyPr>
          <a:lstStyle/>
          <a:p>
            <a:pPr algn="ctr"/>
            <a:r>
              <a:rPr sz="1100" b="1">
                <a:solidFill>
                  <a:srgbClr val="7C3AED"/>
                </a:solidFill>
                <a:latin typeface="Noto Sans SC"/>
              </a:rPr>
              <a:t>1.4 万亿+</a:t>
            </a:r>
          </a:p>
        </p:txBody>
      </p:sp>
      <p:sp>
        <p:nvSpPr>
          <p:cNvPr id="21" name="TextBox 20"/>
          <p:cNvSpPr txBox="1"/>
          <p:nvPr/>
        </p:nvSpPr>
        <p:spPr>
          <a:xfrm>
            <a:off x="9144000" y="4078224"/>
            <a:ext cx="932688" cy="128016"/>
          </a:xfrm>
          <a:prstGeom prst="rect">
            <a:avLst/>
          </a:prstGeom>
          <a:noFill/>
        </p:spPr>
        <p:txBody>
          <a:bodyPr wrap="square" anchor="ctr" lIns="0" rIns="0" tIns="0" bIns="0">
            <a:normAutofit/>
          </a:bodyPr>
          <a:lstStyle/>
          <a:p>
            <a:pPr algn="ctr"/>
            <a:r>
              <a:rPr sz="600" b="0">
                <a:solidFill>
                  <a:srgbClr val="334155"/>
                </a:solidFill>
                <a:latin typeface="Noto Sans SC"/>
              </a:rPr>
              <a:t>年度足迹</a:t>
            </a:r>
          </a:p>
        </p:txBody>
      </p:sp>
      <p:sp>
        <p:nvSpPr>
          <p:cNvPr id="22" name="Rounded Rectangle 21"/>
          <p:cNvSpPr/>
          <p:nvPr/>
        </p:nvSpPr>
        <p:spPr>
          <a:xfrm>
            <a:off x="10186416" y="3749039"/>
            <a:ext cx="1078992" cy="566928"/>
          </a:xfrm>
          <a:prstGeom prst="roundRect">
            <a:avLst/>
          </a:prstGeom>
          <a:solidFill>
            <a:srgbClr val="FFFBEB"/>
          </a:solidFill>
          <a:ln w="101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59568" y="3840479"/>
            <a:ext cx="932688" cy="164592"/>
          </a:xfrm>
          <a:prstGeom prst="rect">
            <a:avLst/>
          </a:prstGeom>
          <a:noFill/>
        </p:spPr>
        <p:txBody>
          <a:bodyPr wrap="square" anchor="ctr" lIns="0" rIns="0" tIns="0" bIns="0">
            <a:normAutofit/>
          </a:bodyPr>
          <a:lstStyle/>
          <a:p>
            <a:pPr algn="ctr"/>
            <a:r>
              <a:rPr sz="1100" b="1">
                <a:solidFill>
                  <a:srgbClr val="F59E0B"/>
                </a:solidFill>
                <a:latin typeface="Noto Sans SC"/>
              </a:rPr>
              <a:t>2017-2024</a:t>
            </a:r>
          </a:p>
        </p:txBody>
      </p:sp>
      <p:sp>
        <p:nvSpPr>
          <p:cNvPr id="24" name="TextBox 23"/>
          <p:cNvSpPr txBox="1"/>
          <p:nvPr/>
        </p:nvSpPr>
        <p:spPr>
          <a:xfrm>
            <a:off x="10259568" y="4078224"/>
            <a:ext cx="932688" cy="128016"/>
          </a:xfrm>
          <a:prstGeom prst="rect">
            <a:avLst/>
          </a:prstGeom>
          <a:noFill/>
        </p:spPr>
        <p:txBody>
          <a:bodyPr wrap="square" anchor="ctr" lIns="0" rIns="0" tIns="0" bIns="0">
            <a:normAutofit/>
          </a:bodyPr>
          <a:lstStyle/>
          <a:p>
            <a:pPr algn="ctr"/>
            <a:r>
              <a:rPr sz="600" b="0">
                <a:solidFill>
                  <a:srgbClr val="334155"/>
                </a:solidFill>
                <a:latin typeface="Noto Sans SC"/>
              </a:rPr>
              <a:t>年度数据</a:t>
            </a:r>
          </a:p>
        </p:txBody>
      </p:sp>
      <p:sp>
        <p:nvSpPr>
          <p:cNvPr id="25" name="TextBox 24"/>
          <p:cNvSpPr txBox="1"/>
          <p:nvPr/>
        </p:nvSpPr>
        <p:spPr>
          <a:xfrm>
            <a:off x="6876288" y="4407408"/>
            <a:ext cx="3986784" cy="109728"/>
          </a:xfrm>
          <a:prstGeom prst="rect">
            <a:avLst/>
          </a:prstGeom>
          <a:noFill/>
        </p:spPr>
        <p:txBody>
          <a:bodyPr wrap="square" anchor="ctr" lIns="0" rIns="0" tIns="0" bIns="0">
            <a:normAutofit/>
          </a:bodyPr>
          <a:lstStyle/>
          <a:p>
            <a:pPr algn="l"/>
            <a:r>
              <a:rPr sz="500" b="0">
                <a:solidFill>
                  <a:srgbClr val="64748B"/>
                </a:solidFill>
                <a:latin typeface="Noto Sans SC"/>
              </a:rPr>
              <a:t>数据来源：Google Earth Engine Satellite Embedding 数据集</a:t>
            </a:r>
          </a:p>
        </p:txBody>
      </p:sp>
      <p:sp>
        <p:nvSpPr>
          <p:cNvPr id="26" name="TextBox 25"/>
          <p:cNvSpPr txBox="1"/>
          <p:nvPr/>
        </p:nvSpPr>
        <p:spPr>
          <a:xfrm>
            <a:off x="822960" y="4700016"/>
            <a:ext cx="4572000" cy="164592"/>
          </a:xfrm>
          <a:prstGeom prst="rect">
            <a:avLst/>
          </a:prstGeom>
          <a:noFill/>
        </p:spPr>
        <p:txBody>
          <a:bodyPr wrap="square" anchor="ctr" lIns="0" rIns="0" tIns="0" bIns="0">
            <a:normAutofit/>
          </a:bodyPr>
          <a:lstStyle/>
          <a:p>
            <a:pPr algn="l"/>
            <a:r>
              <a:rPr sz="1000" b="1">
                <a:solidFill>
                  <a:srgbClr val="0F172A"/>
                </a:solidFill>
                <a:latin typeface="Noto Sans SC"/>
              </a:rPr>
              <a:t>一个嵌入，已经覆盖多类下游任务</a:t>
            </a:r>
          </a:p>
        </p:txBody>
      </p:sp>
      <p:sp>
        <p:nvSpPr>
          <p:cNvPr id="27" name="Rounded Rectangle 26"/>
          <p:cNvSpPr/>
          <p:nvPr/>
        </p:nvSpPr>
        <p:spPr>
          <a:xfrm>
            <a:off x="786384" y="5010912"/>
            <a:ext cx="3273552" cy="1097280"/>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slide09_img04_f5b957e4_4119.png"/>
          <p:cNvPicPr>
            <a:picLocks noChangeAspect="1"/>
          </p:cNvPicPr>
          <p:nvPr/>
        </p:nvPicPr>
        <p:blipFill>
          <a:blip r:embed="rId3"/>
          <a:stretch>
            <a:fillRect/>
          </a:stretch>
        </p:blipFill>
        <p:spPr>
          <a:xfrm>
            <a:off x="841247" y="5065776"/>
            <a:ext cx="3163824" cy="768096"/>
          </a:xfrm>
          <a:prstGeom prst="rect">
            <a:avLst/>
          </a:prstGeom>
        </p:spPr>
      </p:pic>
      <p:sp>
        <p:nvSpPr>
          <p:cNvPr id="29" name="TextBox 28"/>
          <p:cNvSpPr txBox="1"/>
          <p:nvPr/>
        </p:nvSpPr>
        <p:spPr>
          <a:xfrm>
            <a:off x="877824" y="5897880"/>
            <a:ext cx="3090672" cy="109728"/>
          </a:xfrm>
          <a:prstGeom prst="rect">
            <a:avLst/>
          </a:prstGeom>
          <a:noFill/>
        </p:spPr>
        <p:txBody>
          <a:bodyPr wrap="square" anchor="ctr" lIns="0" rIns="0" tIns="0" bIns="0">
            <a:normAutofit/>
          </a:bodyPr>
          <a:lstStyle/>
          <a:p>
            <a:pPr algn="ctr"/>
            <a:r>
              <a:rPr sz="700" b="1">
                <a:solidFill>
                  <a:srgbClr val="334155"/>
                </a:solidFill>
                <a:latin typeface="Noto Sans SC"/>
              </a:rPr>
              <a:t>相似性识别 / 变化检测</a:t>
            </a:r>
          </a:p>
        </p:txBody>
      </p:sp>
      <p:sp>
        <p:nvSpPr>
          <p:cNvPr id="30" name="Rounded Rectangle 29"/>
          <p:cNvSpPr/>
          <p:nvPr/>
        </p:nvSpPr>
        <p:spPr>
          <a:xfrm>
            <a:off x="4462272" y="5010912"/>
            <a:ext cx="3273552" cy="1097280"/>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slide11_img01_ea269f1d_4119.png"/>
          <p:cNvPicPr>
            <a:picLocks noChangeAspect="1"/>
          </p:cNvPicPr>
          <p:nvPr/>
        </p:nvPicPr>
        <p:blipFill>
          <a:blip r:embed="rId4"/>
          <a:stretch>
            <a:fillRect/>
          </a:stretch>
        </p:blipFill>
        <p:spPr>
          <a:xfrm>
            <a:off x="4517136" y="5065776"/>
            <a:ext cx="3163824" cy="768096"/>
          </a:xfrm>
          <a:prstGeom prst="rect">
            <a:avLst/>
          </a:prstGeom>
        </p:spPr>
      </p:pic>
      <p:sp>
        <p:nvSpPr>
          <p:cNvPr id="32" name="TextBox 31"/>
          <p:cNvSpPr txBox="1"/>
          <p:nvPr/>
        </p:nvSpPr>
        <p:spPr>
          <a:xfrm>
            <a:off x="4553712" y="5897880"/>
            <a:ext cx="3090672" cy="109728"/>
          </a:xfrm>
          <a:prstGeom prst="rect">
            <a:avLst/>
          </a:prstGeom>
          <a:noFill/>
        </p:spPr>
        <p:txBody>
          <a:bodyPr wrap="square" anchor="ctr" lIns="0" rIns="0" tIns="0" bIns="0">
            <a:normAutofit/>
          </a:bodyPr>
          <a:lstStyle/>
          <a:p>
            <a:pPr algn="ctr"/>
            <a:r>
              <a:rPr sz="700" b="1">
                <a:solidFill>
                  <a:srgbClr val="334155"/>
                </a:solidFill>
                <a:latin typeface="Noto Sans SC"/>
              </a:rPr>
              <a:t>目标检索 / 光伏识别</a:t>
            </a:r>
          </a:p>
        </p:txBody>
      </p:sp>
      <p:sp>
        <p:nvSpPr>
          <p:cNvPr id="33" name="Rounded Rectangle 32"/>
          <p:cNvSpPr/>
          <p:nvPr/>
        </p:nvSpPr>
        <p:spPr>
          <a:xfrm>
            <a:off x="8138160" y="5010912"/>
            <a:ext cx="3273552" cy="1097280"/>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slide18_img14_6da1eb9d_4119.png"/>
          <p:cNvPicPr>
            <a:picLocks noChangeAspect="1"/>
          </p:cNvPicPr>
          <p:nvPr/>
        </p:nvPicPr>
        <p:blipFill>
          <a:blip r:embed="rId5"/>
          <a:stretch>
            <a:fillRect/>
          </a:stretch>
        </p:blipFill>
        <p:spPr>
          <a:xfrm>
            <a:off x="8193024" y="5065776"/>
            <a:ext cx="3163824" cy="768096"/>
          </a:xfrm>
          <a:prstGeom prst="rect">
            <a:avLst/>
          </a:prstGeom>
        </p:spPr>
      </p:pic>
      <p:sp>
        <p:nvSpPr>
          <p:cNvPr id="35" name="TextBox 34"/>
          <p:cNvSpPr txBox="1"/>
          <p:nvPr/>
        </p:nvSpPr>
        <p:spPr>
          <a:xfrm>
            <a:off x="8229600" y="5897880"/>
            <a:ext cx="3090672" cy="109728"/>
          </a:xfrm>
          <a:prstGeom prst="rect">
            <a:avLst/>
          </a:prstGeom>
          <a:noFill/>
        </p:spPr>
        <p:txBody>
          <a:bodyPr wrap="square" anchor="ctr" lIns="0" rIns="0" tIns="0" bIns="0">
            <a:normAutofit/>
          </a:bodyPr>
          <a:lstStyle/>
          <a:p>
            <a:pPr algn="ctr"/>
            <a:r>
              <a:rPr sz="700" b="1">
                <a:solidFill>
                  <a:srgbClr val="334155"/>
                </a:solidFill>
                <a:latin typeface="Noto Sans SC"/>
              </a:rPr>
              <a:t>土地分类 / 农用地识别</a:t>
            </a:r>
          </a:p>
        </p:txBody>
      </p:sp>
      <p:sp>
        <p:nvSpPr>
          <p:cNvPr id="36" name="TextBox 35"/>
          <p:cNvSpPr txBox="1"/>
          <p:nvPr/>
        </p:nvSpPr>
        <p:spPr>
          <a:xfrm>
            <a:off x="786384" y="6236208"/>
            <a:ext cx="10607040" cy="384048"/>
          </a:xfrm>
          <a:prstGeom prst="rect">
            <a:avLst/>
          </a:prstGeom>
          <a:noFill/>
        </p:spPr>
        <p:txBody>
          <a:bodyPr wrap="square" anchor="ctr" lIns="0" rIns="0" tIns="0" bIns="0">
            <a:normAutofit/>
          </a:bodyPr>
          <a:lstStyle/>
          <a:p>
            <a:pPr algn="ctr"/>
            <a:r>
              <a:rPr sz="1800" b="1">
                <a:solidFill>
                  <a:srgbClr val="2563EB"/>
                </a:solidFill>
                <a:latin typeface="Noto Sans SC"/>
              </a:rPr>
              <a:t>AlphaEarth 验证了方向：地理嵌入会成为遥感应用的基础层。</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384048" cy="201168"/>
          </a:xfrm>
          <a:prstGeom prst="rect">
            <a:avLst/>
          </a:prstGeom>
          <a:noFill/>
        </p:spPr>
        <p:txBody>
          <a:bodyPr wrap="square" anchor="ctr" lIns="0" rIns="0" tIns="0" bIns="0">
            <a:normAutofit/>
          </a:bodyPr>
          <a:lstStyle/>
          <a:p>
            <a:pPr algn="l"/>
            <a:r>
              <a:rPr sz="800" b="1">
                <a:solidFill>
                  <a:srgbClr val="0EA5E9"/>
                </a:solidFill>
                <a:latin typeface="Noto Sans SC"/>
              </a:rPr>
              <a:t>05</a:t>
            </a:r>
          </a:p>
        </p:txBody>
      </p:sp>
      <p:sp>
        <p:nvSpPr>
          <p:cNvPr id="3" name="TextBox 2"/>
          <p:cNvSpPr txBox="1"/>
          <p:nvPr/>
        </p:nvSpPr>
        <p:spPr>
          <a:xfrm>
            <a:off x="950976" y="256032"/>
            <a:ext cx="10424160" cy="566928"/>
          </a:xfrm>
          <a:prstGeom prst="rect">
            <a:avLst/>
          </a:prstGeom>
          <a:noFill/>
        </p:spPr>
        <p:txBody>
          <a:bodyPr wrap="square" anchor="ctr" lIns="0" rIns="0" tIns="0" bIns="0">
            <a:normAutofit/>
          </a:bodyPr>
          <a:lstStyle/>
          <a:p>
            <a:pPr algn="l"/>
            <a:r>
              <a:rPr sz="2400" b="1">
                <a:solidFill>
                  <a:srgbClr val="0F172A"/>
                </a:solidFill>
                <a:latin typeface="Noto Sans SC"/>
              </a:rPr>
              <a:t>对标 AlphaEarth：玄女的差异化路径</a:t>
            </a:r>
          </a:p>
        </p:txBody>
      </p:sp>
      <p:sp>
        <p:nvSpPr>
          <p:cNvPr id="4" name="TextBox 3"/>
          <p:cNvSpPr txBox="1"/>
          <p:nvPr/>
        </p:nvSpPr>
        <p:spPr>
          <a:xfrm>
            <a:off x="950976" y="932688"/>
            <a:ext cx="9784080" cy="219456"/>
          </a:xfrm>
          <a:prstGeom prst="rect">
            <a:avLst/>
          </a:prstGeom>
          <a:noFill/>
        </p:spPr>
        <p:txBody>
          <a:bodyPr wrap="square" anchor="ctr" lIns="0" rIns="0" tIns="0" bIns="0">
            <a:normAutofit/>
          </a:bodyPr>
          <a:lstStyle/>
          <a:p>
            <a:pPr algn="l"/>
            <a:r>
              <a:rPr sz="1000" b="0">
                <a:solidFill>
                  <a:srgbClr val="64748B"/>
                </a:solidFill>
                <a:latin typeface="Noto Sans SC"/>
              </a:rPr>
              <a:t>国内较早系统性推进地理嵌入底座的团队，面向中国遥感数据与政企业务场景做高频、高分辨率、可部署的基础设施。</a:t>
            </a:r>
          </a:p>
        </p:txBody>
      </p:sp>
      <p:sp>
        <p:nvSpPr>
          <p:cNvPr id="5" name="TextBox 4"/>
          <p:cNvSpPr txBox="1"/>
          <p:nvPr/>
        </p:nvSpPr>
        <p:spPr>
          <a:xfrm>
            <a:off x="804672" y="1298448"/>
            <a:ext cx="4434840" cy="237744"/>
          </a:xfrm>
          <a:prstGeom prst="rect">
            <a:avLst/>
          </a:prstGeom>
          <a:noFill/>
        </p:spPr>
        <p:txBody>
          <a:bodyPr wrap="square" anchor="ctr" lIns="0" rIns="0" tIns="0" bIns="0">
            <a:normAutofit/>
          </a:bodyPr>
          <a:lstStyle/>
          <a:p>
            <a:pPr algn="l"/>
            <a:r>
              <a:rPr sz="1500" b="1">
                <a:solidFill>
                  <a:srgbClr val="0F172A"/>
                </a:solidFill>
                <a:latin typeface="Noto Sans SC"/>
              </a:rPr>
              <a:t>团队具备全球数据嵌入项目开发经验</a:t>
            </a:r>
          </a:p>
        </p:txBody>
      </p:sp>
      <p:pic>
        <p:nvPicPr>
          <p:cNvPr id="6" name="Picture 5" descr="Text_Search_1929.png"/>
          <p:cNvPicPr>
            <a:picLocks noChangeAspect="1"/>
          </p:cNvPicPr>
          <p:nvPr/>
        </p:nvPicPr>
        <p:blipFill>
          <a:blip r:embed="rId2"/>
          <a:stretch>
            <a:fillRect/>
          </a:stretch>
        </p:blipFill>
        <p:spPr>
          <a:xfrm>
            <a:off x="786384" y="1700784"/>
            <a:ext cx="4480560" cy="2322576"/>
          </a:xfrm>
          <a:prstGeom prst="rect">
            <a:avLst/>
          </a:prstGeom>
        </p:spPr>
      </p:pic>
      <p:sp>
        <p:nvSpPr>
          <p:cNvPr id="7" name="TextBox 6"/>
          <p:cNvSpPr txBox="1"/>
          <p:nvPr/>
        </p:nvSpPr>
        <p:spPr>
          <a:xfrm>
            <a:off x="896112" y="4187952"/>
            <a:ext cx="4261104" cy="164592"/>
          </a:xfrm>
          <a:prstGeom prst="rect">
            <a:avLst/>
          </a:prstGeom>
          <a:noFill/>
        </p:spPr>
        <p:txBody>
          <a:bodyPr wrap="square" anchor="ctr" lIns="0" rIns="0" tIns="0" bIns="0">
            <a:normAutofit/>
          </a:bodyPr>
          <a:lstStyle/>
          <a:p>
            <a:pPr algn="ctr"/>
            <a:r>
              <a:rPr sz="900" b="1">
                <a:solidFill>
                  <a:srgbClr val="0F172A"/>
                </a:solidFill>
                <a:latin typeface="Noto Sans SC"/>
              </a:rPr>
              <a:t>OpenGeoScope / EarthEmbeddingExplorer</a:t>
            </a:r>
          </a:p>
        </p:txBody>
      </p:sp>
      <p:sp>
        <p:nvSpPr>
          <p:cNvPr id="8" name="TextBox 7"/>
          <p:cNvSpPr txBox="1"/>
          <p:nvPr/>
        </p:nvSpPr>
        <p:spPr>
          <a:xfrm>
            <a:off x="896112" y="4498848"/>
            <a:ext cx="4261104" cy="530352"/>
          </a:xfrm>
          <a:prstGeom prst="rect">
            <a:avLst/>
          </a:prstGeom>
          <a:noFill/>
        </p:spPr>
        <p:txBody>
          <a:bodyPr wrap="square" anchor="ctr" lIns="0" rIns="0" tIns="0" bIns="0">
            <a:normAutofit/>
          </a:bodyPr>
          <a:lstStyle/>
          <a:p>
            <a:pPr algn="ctr"/>
            <a:r>
              <a:rPr sz="900" b="0">
                <a:solidFill>
                  <a:srgbClr val="334155"/>
                </a:solidFill>
                <a:latin typeface="Noto Sans SC"/>
              </a:rPr>
              <a:t>团队此前参与开发的全球卫星影像嵌入检索项目，与欧空局 ESA PhiLab / MajorTOM 生态合作，获得国际社区广泛关注与好评。</a:t>
            </a:r>
          </a:p>
        </p:txBody>
      </p:sp>
      <p:sp>
        <p:nvSpPr>
          <p:cNvPr id="9" name="Rounded Rectangle 8"/>
          <p:cNvSpPr/>
          <p:nvPr/>
        </p:nvSpPr>
        <p:spPr>
          <a:xfrm>
            <a:off x="1005840" y="5358384"/>
            <a:ext cx="4059936" cy="384048"/>
          </a:xfrm>
          <a:prstGeom prst="roundRect">
            <a:avLst/>
          </a:prstGeom>
          <a:solidFill>
            <a:srgbClr val="EFF6FF"/>
          </a:solidFill>
          <a:ln w="101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5449824"/>
            <a:ext cx="3584448" cy="128016"/>
          </a:xfrm>
          <a:prstGeom prst="rect">
            <a:avLst/>
          </a:prstGeom>
          <a:noFill/>
        </p:spPr>
        <p:txBody>
          <a:bodyPr wrap="square" anchor="ctr" lIns="0" rIns="0" tIns="0" bIns="0">
            <a:normAutofit/>
          </a:bodyPr>
          <a:lstStyle/>
          <a:p>
            <a:pPr algn="ctr"/>
            <a:r>
              <a:rPr sz="900" b="1">
                <a:solidFill>
                  <a:srgbClr val="2563EB"/>
                </a:solidFill>
                <a:latin typeface="Noto Sans SC"/>
              </a:rPr>
              <a:t>国际项目经验，是玄女底座能力的早期验证。</a:t>
            </a:r>
          </a:p>
        </p:txBody>
      </p:sp>
      <p:cxnSp>
        <p:nvCxnSpPr>
          <p:cNvPr id="11" name="Connector 10"/>
          <p:cNvCxnSpPr/>
          <p:nvPr/>
        </p:nvCxnSpPr>
        <p:spPr>
          <a:xfrm>
            <a:off x="5504688" y="1280160"/>
            <a:ext cx="0" cy="4617720"/>
          </a:xfrm>
          <a:prstGeom prst="line">
            <a:avLst/>
          </a:prstGeom>
          <a:ln w="10160">
            <a:solidFill>
              <a:srgbClr val="E2E8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742432" y="1298448"/>
            <a:ext cx="5440680" cy="274320"/>
          </a:xfrm>
          <a:prstGeom prst="rect">
            <a:avLst/>
          </a:prstGeom>
          <a:noFill/>
        </p:spPr>
        <p:txBody>
          <a:bodyPr wrap="square" anchor="ctr" lIns="0" rIns="0" tIns="0" bIns="0">
            <a:normAutofit/>
          </a:bodyPr>
          <a:lstStyle/>
          <a:p>
            <a:pPr algn="l"/>
            <a:r>
              <a:rPr sz="1400" b="1">
                <a:solidFill>
                  <a:srgbClr val="0F172A"/>
                </a:solidFill>
                <a:latin typeface="Noto Sans SC"/>
              </a:rPr>
              <a:t>差异化定位：面向中国场景的高频高分辨率地理嵌入</a:t>
            </a:r>
          </a:p>
        </p:txBody>
      </p:sp>
      <p:sp>
        <p:nvSpPr>
          <p:cNvPr id="13" name="Rounded Rectangle 12"/>
          <p:cNvSpPr/>
          <p:nvPr/>
        </p:nvSpPr>
        <p:spPr>
          <a:xfrm>
            <a:off x="5742432" y="1865376"/>
            <a:ext cx="2578608" cy="1225296"/>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07024" y="2002536"/>
            <a:ext cx="2249424" cy="164592"/>
          </a:xfrm>
          <a:prstGeom prst="rect">
            <a:avLst/>
          </a:prstGeom>
          <a:noFill/>
        </p:spPr>
        <p:txBody>
          <a:bodyPr wrap="square" anchor="ctr" lIns="0" rIns="0" tIns="0" bIns="0">
            <a:normAutofit/>
          </a:bodyPr>
          <a:lstStyle/>
          <a:p>
            <a:pPr algn="ctr"/>
            <a:r>
              <a:rPr sz="1100" b="1">
                <a:solidFill>
                  <a:srgbClr val="0F172A"/>
                </a:solidFill>
                <a:latin typeface="Noto Sans SC"/>
              </a:rPr>
              <a:t>数据体系</a:t>
            </a:r>
          </a:p>
        </p:txBody>
      </p:sp>
      <p:cxnSp>
        <p:nvCxnSpPr>
          <p:cNvPr id="15" name="Connector 14"/>
          <p:cNvCxnSpPr/>
          <p:nvPr/>
        </p:nvCxnSpPr>
        <p:spPr>
          <a:xfrm>
            <a:off x="5998464" y="2304288"/>
            <a:ext cx="2066544" cy="0"/>
          </a:xfrm>
          <a:prstGeom prst="line">
            <a:avLst/>
          </a:prstGeom>
          <a:ln w="8890">
            <a:solidFill>
              <a:srgbClr val="E2E8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0" y="2441448"/>
            <a:ext cx="932688" cy="128016"/>
          </a:xfrm>
          <a:prstGeom prst="rect">
            <a:avLst/>
          </a:prstGeom>
          <a:noFill/>
        </p:spPr>
        <p:txBody>
          <a:bodyPr wrap="square" anchor="ctr" lIns="0" rIns="0" tIns="0" bIns="0">
            <a:normAutofit/>
          </a:bodyPr>
          <a:lstStyle/>
          <a:p>
            <a:pPr algn="ctr"/>
            <a:r>
              <a:rPr sz="600" b="1">
                <a:solidFill>
                  <a:srgbClr val="64748B"/>
                </a:solidFill>
                <a:latin typeface="Noto Sans SC"/>
              </a:rPr>
              <a:t>AlphaEarth</a:t>
            </a:r>
          </a:p>
        </p:txBody>
      </p:sp>
      <p:sp>
        <p:nvSpPr>
          <p:cNvPr id="17" name="TextBox 16"/>
          <p:cNvSpPr txBox="1"/>
          <p:nvPr/>
        </p:nvSpPr>
        <p:spPr>
          <a:xfrm>
            <a:off x="7187184" y="2441448"/>
            <a:ext cx="841248" cy="128016"/>
          </a:xfrm>
          <a:prstGeom prst="rect">
            <a:avLst/>
          </a:prstGeom>
          <a:noFill/>
        </p:spPr>
        <p:txBody>
          <a:bodyPr wrap="square" anchor="ctr" lIns="0" rIns="0" tIns="0" bIns="0">
            <a:normAutofit/>
          </a:bodyPr>
          <a:lstStyle/>
          <a:p>
            <a:pPr algn="ctr"/>
            <a:r>
              <a:rPr sz="600" b="1">
                <a:solidFill>
                  <a:srgbClr val="10B981"/>
                </a:solidFill>
                <a:latin typeface="Noto Sans SC"/>
              </a:rPr>
              <a:t>玄女</a:t>
            </a:r>
          </a:p>
        </p:txBody>
      </p:sp>
      <p:sp>
        <p:nvSpPr>
          <p:cNvPr id="18" name="TextBox 17"/>
          <p:cNvSpPr txBox="1"/>
          <p:nvPr/>
        </p:nvSpPr>
        <p:spPr>
          <a:xfrm>
            <a:off x="5888736" y="2651760"/>
            <a:ext cx="1078992" cy="182880"/>
          </a:xfrm>
          <a:prstGeom prst="rect">
            <a:avLst/>
          </a:prstGeom>
          <a:noFill/>
        </p:spPr>
        <p:txBody>
          <a:bodyPr wrap="square" anchor="ctr" lIns="0" rIns="0" tIns="0" bIns="0">
            <a:normAutofit/>
          </a:bodyPr>
          <a:lstStyle/>
          <a:p>
            <a:pPr algn="ctr"/>
            <a:r>
              <a:rPr sz="800" b="1">
                <a:solidFill>
                  <a:srgbClr val="334155"/>
                </a:solidFill>
                <a:latin typeface="Noto Sans SC"/>
              </a:rPr>
              <a:t>全球公开数据</a:t>
            </a:r>
          </a:p>
        </p:txBody>
      </p:sp>
      <p:sp>
        <p:nvSpPr>
          <p:cNvPr id="19" name="TextBox 18"/>
          <p:cNvSpPr txBox="1"/>
          <p:nvPr/>
        </p:nvSpPr>
        <p:spPr>
          <a:xfrm>
            <a:off x="7077456" y="2615184"/>
            <a:ext cx="1078992" cy="237744"/>
          </a:xfrm>
          <a:prstGeom prst="rect">
            <a:avLst/>
          </a:prstGeom>
          <a:noFill/>
        </p:spPr>
        <p:txBody>
          <a:bodyPr wrap="square" anchor="ctr" lIns="0" rIns="0" tIns="0" bIns="0">
            <a:normAutofit/>
          </a:bodyPr>
          <a:lstStyle/>
          <a:p>
            <a:pPr algn="ctr"/>
            <a:r>
              <a:rPr sz="900" b="1">
                <a:solidFill>
                  <a:srgbClr val="10B981"/>
                </a:solidFill>
                <a:latin typeface="Noto Sans SC"/>
              </a:rPr>
              <a:t>加入中国遥感数据</a:t>
            </a:r>
          </a:p>
        </p:txBody>
      </p:sp>
      <p:sp>
        <p:nvSpPr>
          <p:cNvPr id="20" name="Rectangle 19"/>
          <p:cNvSpPr/>
          <p:nvPr/>
        </p:nvSpPr>
        <p:spPr>
          <a:xfrm>
            <a:off x="7004304" y="2523744"/>
            <a:ext cx="18288" cy="384048"/>
          </a:xfrm>
          <a:prstGeom prst="rect">
            <a:avLst/>
          </a:prstGeom>
          <a:solidFill>
            <a:srgbClr val="ECFDF5"/>
          </a:solidFill>
          <a:ln w="10160">
            <a:solidFill>
              <a:srgbClr val="ECF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668512" y="1865376"/>
            <a:ext cx="2578608" cy="1225296"/>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33104" y="2002536"/>
            <a:ext cx="2249424" cy="164592"/>
          </a:xfrm>
          <a:prstGeom prst="rect">
            <a:avLst/>
          </a:prstGeom>
          <a:noFill/>
        </p:spPr>
        <p:txBody>
          <a:bodyPr wrap="square" anchor="ctr" lIns="0" rIns="0" tIns="0" bIns="0">
            <a:normAutofit/>
          </a:bodyPr>
          <a:lstStyle/>
          <a:p>
            <a:pPr algn="ctr"/>
            <a:r>
              <a:rPr sz="1100" b="1">
                <a:solidFill>
                  <a:srgbClr val="0F172A"/>
                </a:solidFill>
                <a:latin typeface="Noto Sans SC"/>
              </a:rPr>
              <a:t>空间粒度</a:t>
            </a:r>
          </a:p>
        </p:txBody>
      </p:sp>
      <p:cxnSp>
        <p:nvCxnSpPr>
          <p:cNvPr id="23" name="Connector 22"/>
          <p:cNvCxnSpPr/>
          <p:nvPr/>
        </p:nvCxnSpPr>
        <p:spPr>
          <a:xfrm>
            <a:off x="8924544" y="2304288"/>
            <a:ext cx="2066544" cy="0"/>
          </a:xfrm>
          <a:prstGeom prst="line">
            <a:avLst/>
          </a:prstGeom>
          <a:ln w="8890">
            <a:solidFill>
              <a:srgbClr val="E2E8F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869680" y="2441448"/>
            <a:ext cx="932688" cy="128016"/>
          </a:xfrm>
          <a:prstGeom prst="rect">
            <a:avLst/>
          </a:prstGeom>
          <a:noFill/>
        </p:spPr>
        <p:txBody>
          <a:bodyPr wrap="square" anchor="ctr" lIns="0" rIns="0" tIns="0" bIns="0">
            <a:normAutofit/>
          </a:bodyPr>
          <a:lstStyle/>
          <a:p>
            <a:pPr algn="ctr"/>
            <a:r>
              <a:rPr sz="600" b="1">
                <a:solidFill>
                  <a:srgbClr val="64748B"/>
                </a:solidFill>
                <a:latin typeface="Noto Sans SC"/>
              </a:rPr>
              <a:t>AlphaEarth</a:t>
            </a:r>
          </a:p>
        </p:txBody>
      </p:sp>
      <p:sp>
        <p:nvSpPr>
          <p:cNvPr id="25" name="TextBox 24"/>
          <p:cNvSpPr txBox="1"/>
          <p:nvPr/>
        </p:nvSpPr>
        <p:spPr>
          <a:xfrm>
            <a:off x="10113264" y="2441448"/>
            <a:ext cx="841248" cy="128016"/>
          </a:xfrm>
          <a:prstGeom prst="rect">
            <a:avLst/>
          </a:prstGeom>
          <a:noFill/>
        </p:spPr>
        <p:txBody>
          <a:bodyPr wrap="square" anchor="ctr" lIns="0" rIns="0" tIns="0" bIns="0">
            <a:normAutofit/>
          </a:bodyPr>
          <a:lstStyle/>
          <a:p>
            <a:pPr algn="ctr"/>
            <a:r>
              <a:rPr sz="600" b="1">
                <a:solidFill>
                  <a:srgbClr val="2563EB"/>
                </a:solidFill>
                <a:latin typeface="Noto Sans SC"/>
              </a:rPr>
              <a:t>玄女</a:t>
            </a:r>
          </a:p>
        </p:txBody>
      </p:sp>
      <p:sp>
        <p:nvSpPr>
          <p:cNvPr id="26" name="TextBox 25"/>
          <p:cNvSpPr txBox="1"/>
          <p:nvPr/>
        </p:nvSpPr>
        <p:spPr>
          <a:xfrm>
            <a:off x="8814816" y="2651760"/>
            <a:ext cx="1078992" cy="182880"/>
          </a:xfrm>
          <a:prstGeom prst="rect">
            <a:avLst/>
          </a:prstGeom>
          <a:noFill/>
        </p:spPr>
        <p:txBody>
          <a:bodyPr wrap="square" anchor="ctr" lIns="0" rIns="0" tIns="0" bIns="0">
            <a:normAutofit/>
          </a:bodyPr>
          <a:lstStyle/>
          <a:p>
            <a:pPr algn="ctr"/>
            <a:r>
              <a:rPr sz="800" b="1">
                <a:solidFill>
                  <a:srgbClr val="334155"/>
                </a:solidFill>
                <a:latin typeface="Noto Sans SC"/>
              </a:rPr>
              <a:t>10 米</a:t>
            </a:r>
          </a:p>
        </p:txBody>
      </p:sp>
      <p:sp>
        <p:nvSpPr>
          <p:cNvPr id="27" name="TextBox 26"/>
          <p:cNvSpPr txBox="1"/>
          <p:nvPr/>
        </p:nvSpPr>
        <p:spPr>
          <a:xfrm>
            <a:off x="10003536" y="2615184"/>
            <a:ext cx="1078992" cy="237744"/>
          </a:xfrm>
          <a:prstGeom prst="rect">
            <a:avLst/>
          </a:prstGeom>
          <a:noFill/>
        </p:spPr>
        <p:txBody>
          <a:bodyPr wrap="square" anchor="ctr" lIns="0" rIns="0" tIns="0" bIns="0">
            <a:normAutofit/>
          </a:bodyPr>
          <a:lstStyle/>
          <a:p>
            <a:pPr algn="ctr"/>
            <a:r>
              <a:rPr sz="900" b="1">
                <a:solidFill>
                  <a:srgbClr val="2563EB"/>
                </a:solidFill>
                <a:latin typeface="Noto Sans SC"/>
              </a:rPr>
              <a:t>最高 0.5 米</a:t>
            </a:r>
          </a:p>
        </p:txBody>
      </p:sp>
      <p:sp>
        <p:nvSpPr>
          <p:cNvPr id="28" name="Rectangle 27"/>
          <p:cNvSpPr/>
          <p:nvPr/>
        </p:nvSpPr>
        <p:spPr>
          <a:xfrm>
            <a:off x="9930384" y="2523744"/>
            <a:ext cx="18288" cy="384048"/>
          </a:xfrm>
          <a:prstGeom prst="rect">
            <a:avLst/>
          </a:prstGeom>
          <a:solidFill>
            <a:srgbClr val="EFF6FF"/>
          </a:solidFill>
          <a:ln w="10160">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742432" y="3438144"/>
            <a:ext cx="2578608" cy="1225296"/>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07024" y="3575303"/>
            <a:ext cx="2249424" cy="164592"/>
          </a:xfrm>
          <a:prstGeom prst="rect">
            <a:avLst/>
          </a:prstGeom>
          <a:noFill/>
        </p:spPr>
        <p:txBody>
          <a:bodyPr wrap="square" anchor="ctr" lIns="0" rIns="0" tIns="0" bIns="0">
            <a:normAutofit/>
          </a:bodyPr>
          <a:lstStyle/>
          <a:p>
            <a:pPr algn="ctr"/>
            <a:r>
              <a:rPr sz="1100" b="1">
                <a:solidFill>
                  <a:srgbClr val="0F172A"/>
                </a:solidFill>
                <a:latin typeface="Noto Sans SC"/>
              </a:rPr>
              <a:t>时间频率</a:t>
            </a:r>
          </a:p>
        </p:txBody>
      </p:sp>
      <p:cxnSp>
        <p:nvCxnSpPr>
          <p:cNvPr id="31" name="Connector 30"/>
          <p:cNvCxnSpPr/>
          <p:nvPr/>
        </p:nvCxnSpPr>
        <p:spPr>
          <a:xfrm>
            <a:off x="5998464" y="3877056"/>
            <a:ext cx="2066544" cy="0"/>
          </a:xfrm>
          <a:prstGeom prst="line">
            <a:avLst/>
          </a:prstGeom>
          <a:ln w="8890">
            <a:solidFill>
              <a:srgbClr val="E2E8F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943600" y="4014215"/>
            <a:ext cx="932688" cy="128016"/>
          </a:xfrm>
          <a:prstGeom prst="rect">
            <a:avLst/>
          </a:prstGeom>
          <a:noFill/>
        </p:spPr>
        <p:txBody>
          <a:bodyPr wrap="square" anchor="ctr" lIns="0" rIns="0" tIns="0" bIns="0">
            <a:normAutofit/>
          </a:bodyPr>
          <a:lstStyle/>
          <a:p>
            <a:pPr algn="ctr"/>
            <a:r>
              <a:rPr sz="600" b="1">
                <a:solidFill>
                  <a:srgbClr val="64748B"/>
                </a:solidFill>
                <a:latin typeface="Noto Sans SC"/>
              </a:rPr>
              <a:t>AlphaEarth</a:t>
            </a:r>
          </a:p>
        </p:txBody>
      </p:sp>
      <p:sp>
        <p:nvSpPr>
          <p:cNvPr id="33" name="TextBox 32"/>
          <p:cNvSpPr txBox="1"/>
          <p:nvPr/>
        </p:nvSpPr>
        <p:spPr>
          <a:xfrm>
            <a:off x="7187184" y="4014215"/>
            <a:ext cx="841248" cy="128016"/>
          </a:xfrm>
          <a:prstGeom prst="rect">
            <a:avLst/>
          </a:prstGeom>
          <a:noFill/>
        </p:spPr>
        <p:txBody>
          <a:bodyPr wrap="square" anchor="ctr" lIns="0" rIns="0" tIns="0" bIns="0">
            <a:normAutofit/>
          </a:bodyPr>
          <a:lstStyle/>
          <a:p>
            <a:pPr algn="ctr"/>
            <a:r>
              <a:rPr sz="600" b="1">
                <a:solidFill>
                  <a:srgbClr val="7C3AED"/>
                </a:solidFill>
                <a:latin typeface="Noto Sans SC"/>
              </a:rPr>
              <a:t>玄女</a:t>
            </a:r>
          </a:p>
        </p:txBody>
      </p:sp>
      <p:sp>
        <p:nvSpPr>
          <p:cNvPr id="34" name="TextBox 33"/>
          <p:cNvSpPr txBox="1"/>
          <p:nvPr/>
        </p:nvSpPr>
        <p:spPr>
          <a:xfrm>
            <a:off x="5888736" y="4224528"/>
            <a:ext cx="1078992" cy="182880"/>
          </a:xfrm>
          <a:prstGeom prst="rect">
            <a:avLst/>
          </a:prstGeom>
          <a:noFill/>
        </p:spPr>
        <p:txBody>
          <a:bodyPr wrap="square" anchor="ctr" lIns="0" rIns="0" tIns="0" bIns="0">
            <a:normAutofit/>
          </a:bodyPr>
          <a:lstStyle/>
          <a:p>
            <a:pPr algn="ctr"/>
            <a:r>
              <a:rPr sz="800" b="1">
                <a:solidFill>
                  <a:srgbClr val="334155"/>
                </a:solidFill>
                <a:latin typeface="Noto Sans SC"/>
              </a:rPr>
              <a:t>一年一景</a:t>
            </a:r>
          </a:p>
        </p:txBody>
      </p:sp>
      <p:sp>
        <p:nvSpPr>
          <p:cNvPr id="35" name="TextBox 34"/>
          <p:cNvSpPr txBox="1"/>
          <p:nvPr/>
        </p:nvSpPr>
        <p:spPr>
          <a:xfrm>
            <a:off x="7077456" y="4187952"/>
            <a:ext cx="1078992" cy="237744"/>
          </a:xfrm>
          <a:prstGeom prst="rect">
            <a:avLst/>
          </a:prstGeom>
          <a:noFill/>
        </p:spPr>
        <p:txBody>
          <a:bodyPr wrap="square" anchor="ctr" lIns="0" rIns="0" tIns="0" bIns="0">
            <a:normAutofit/>
          </a:bodyPr>
          <a:lstStyle/>
          <a:p>
            <a:pPr algn="ctr"/>
            <a:r>
              <a:rPr sz="900" b="1">
                <a:solidFill>
                  <a:srgbClr val="7C3AED"/>
                </a:solidFill>
                <a:latin typeface="Noto Sans SC"/>
              </a:rPr>
              <a:t>最快 11 天</a:t>
            </a:r>
          </a:p>
        </p:txBody>
      </p:sp>
      <p:sp>
        <p:nvSpPr>
          <p:cNvPr id="36" name="Rectangle 35"/>
          <p:cNvSpPr/>
          <p:nvPr/>
        </p:nvSpPr>
        <p:spPr>
          <a:xfrm>
            <a:off x="7004304" y="4096511"/>
            <a:ext cx="18288" cy="384048"/>
          </a:xfrm>
          <a:prstGeom prst="rect">
            <a:avLst/>
          </a:prstGeom>
          <a:solidFill>
            <a:srgbClr val="F5F3FF"/>
          </a:solidFill>
          <a:ln w="10160">
            <a:solidFill>
              <a:srgbClr val="F5F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668512" y="3438144"/>
            <a:ext cx="2578608" cy="1225296"/>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33104" y="3575303"/>
            <a:ext cx="2249424" cy="164592"/>
          </a:xfrm>
          <a:prstGeom prst="rect">
            <a:avLst/>
          </a:prstGeom>
          <a:noFill/>
        </p:spPr>
        <p:txBody>
          <a:bodyPr wrap="square" anchor="ctr" lIns="0" rIns="0" tIns="0" bIns="0">
            <a:normAutofit/>
          </a:bodyPr>
          <a:lstStyle/>
          <a:p>
            <a:pPr algn="ctr"/>
            <a:r>
              <a:rPr sz="1100" b="1">
                <a:solidFill>
                  <a:srgbClr val="0F172A"/>
                </a:solidFill>
                <a:latin typeface="Noto Sans SC"/>
              </a:rPr>
              <a:t>业务部署</a:t>
            </a:r>
          </a:p>
        </p:txBody>
      </p:sp>
      <p:cxnSp>
        <p:nvCxnSpPr>
          <p:cNvPr id="39" name="Connector 38"/>
          <p:cNvCxnSpPr/>
          <p:nvPr/>
        </p:nvCxnSpPr>
        <p:spPr>
          <a:xfrm>
            <a:off x="8924544" y="3877056"/>
            <a:ext cx="2066544" cy="0"/>
          </a:xfrm>
          <a:prstGeom prst="line">
            <a:avLst/>
          </a:prstGeom>
          <a:ln w="8890">
            <a:solidFill>
              <a:srgbClr val="E2E8F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869680" y="4014215"/>
            <a:ext cx="932688" cy="128016"/>
          </a:xfrm>
          <a:prstGeom prst="rect">
            <a:avLst/>
          </a:prstGeom>
          <a:noFill/>
        </p:spPr>
        <p:txBody>
          <a:bodyPr wrap="square" anchor="ctr" lIns="0" rIns="0" tIns="0" bIns="0">
            <a:normAutofit/>
          </a:bodyPr>
          <a:lstStyle/>
          <a:p>
            <a:pPr algn="ctr"/>
            <a:r>
              <a:rPr sz="600" b="1">
                <a:solidFill>
                  <a:srgbClr val="64748B"/>
                </a:solidFill>
                <a:latin typeface="Noto Sans SC"/>
              </a:rPr>
              <a:t>AlphaEarth</a:t>
            </a:r>
          </a:p>
        </p:txBody>
      </p:sp>
      <p:sp>
        <p:nvSpPr>
          <p:cNvPr id="41" name="TextBox 40"/>
          <p:cNvSpPr txBox="1"/>
          <p:nvPr/>
        </p:nvSpPr>
        <p:spPr>
          <a:xfrm>
            <a:off x="10113264" y="4014215"/>
            <a:ext cx="841248" cy="128016"/>
          </a:xfrm>
          <a:prstGeom prst="rect">
            <a:avLst/>
          </a:prstGeom>
          <a:noFill/>
        </p:spPr>
        <p:txBody>
          <a:bodyPr wrap="square" anchor="ctr" lIns="0" rIns="0" tIns="0" bIns="0">
            <a:normAutofit/>
          </a:bodyPr>
          <a:lstStyle/>
          <a:p>
            <a:pPr algn="ctr"/>
            <a:r>
              <a:rPr sz="600" b="1">
                <a:solidFill>
                  <a:srgbClr val="10B981"/>
                </a:solidFill>
                <a:latin typeface="Noto Sans SC"/>
              </a:rPr>
              <a:t>玄女</a:t>
            </a:r>
          </a:p>
        </p:txBody>
      </p:sp>
      <p:sp>
        <p:nvSpPr>
          <p:cNvPr id="42" name="TextBox 41"/>
          <p:cNvSpPr txBox="1"/>
          <p:nvPr/>
        </p:nvSpPr>
        <p:spPr>
          <a:xfrm>
            <a:off x="8814816" y="4224528"/>
            <a:ext cx="1078992" cy="182880"/>
          </a:xfrm>
          <a:prstGeom prst="rect">
            <a:avLst/>
          </a:prstGeom>
          <a:noFill/>
        </p:spPr>
        <p:txBody>
          <a:bodyPr wrap="square" anchor="ctr" lIns="0" rIns="0" tIns="0" bIns="0">
            <a:normAutofit/>
          </a:bodyPr>
          <a:lstStyle/>
          <a:p>
            <a:pPr algn="ctr"/>
            <a:r>
              <a:rPr sz="800" b="1">
                <a:solidFill>
                  <a:srgbClr val="334155"/>
                </a:solidFill>
                <a:latin typeface="Noto Sans SC"/>
              </a:rPr>
              <a:t>模型不开源</a:t>
            </a:r>
          </a:p>
        </p:txBody>
      </p:sp>
      <p:sp>
        <p:nvSpPr>
          <p:cNvPr id="43" name="TextBox 42"/>
          <p:cNvSpPr txBox="1"/>
          <p:nvPr/>
        </p:nvSpPr>
        <p:spPr>
          <a:xfrm>
            <a:off x="10003536" y="4187952"/>
            <a:ext cx="1078992" cy="237744"/>
          </a:xfrm>
          <a:prstGeom prst="rect">
            <a:avLst/>
          </a:prstGeom>
          <a:noFill/>
        </p:spPr>
        <p:txBody>
          <a:bodyPr wrap="square" anchor="ctr" lIns="0" rIns="0" tIns="0" bIns="0">
            <a:normAutofit/>
          </a:bodyPr>
          <a:lstStyle/>
          <a:p>
            <a:pPr algn="ctr"/>
            <a:r>
              <a:rPr sz="900" b="1">
                <a:solidFill>
                  <a:srgbClr val="10B981"/>
                </a:solidFill>
                <a:latin typeface="Noto Sans SC"/>
              </a:rPr>
              <a:t>可面向政企部署</a:t>
            </a:r>
          </a:p>
        </p:txBody>
      </p:sp>
      <p:sp>
        <p:nvSpPr>
          <p:cNvPr id="44" name="Rectangle 43"/>
          <p:cNvSpPr/>
          <p:nvPr/>
        </p:nvSpPr>
        <p:spPr>
          <a:xfrm>
            <a:off x="9930384" y="4096511"/>
            <a:ext cx="18288" cy="384048"/>
          </a:xfrm>
          <a:prstGeom prst="rect">
            <a:avLst/>
          </a:prstGeom>
          <a:solidFill>
            <a:srgbClr val="ECFDF5"/>
          </a:solidFill>
          <a:ln w="10160">
            <a:solidFill>
              <a:srgbClr val="ECF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5852160" y="5230368"/>
            <a:ext cx="5266944" cy="530352"/>
          </a:xfrm>
          <a:prstGeom prst="roundRect">
            <a:avLst/>
          </a:prstGeom>
          <a:solidFill>
            <a:srgbClr val="FFFBEB"/>
          </a:solidFill>
          <a:ln w="101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26480" y="5394960"/>
            <a:ext cx="4718304" cy="164592"/>
          </a:xfrm>
          <a:prstGeom prst="rect">
            <a:avLst/>
          </a:prstGeom>
          <a:noFill/>
        </p:spPr>
        <p:txBody>
          <a:bodyPr wrap="square" anchor="ctr" lIns="0" rIns="0" tIns="0" bIns="0">
            <a:normAutofit/>
          </a:bodyPr>
          <a:lstStyle/>
          <a:p>
            <a:pPr algn="ctr"/>
            <a:r>
              <a:rPr sz="1000" b="1">
                <a:solidFill>
                  <a:srgbClr val="F59E0B"/>
                </a:solidFill>
                <a:latin typeface="Noto Sans SC"/>
              </a:rPr>
              <a:t>阶段性结论：变化检测实验优于 AlphaEarth；目标识别仍需继续提升训练数据规模。</a:t>
            </a:r>
          </a:p>
        </p:txBody>
      </p:sp>
      <p:sp>
        <p:nvSpPr>
          <p:cNvPr id="47" name="TextBox 46"/>
          <p:cNvSpPr txBox="1"/>
          <p:nvPr/>
        </p:nvSpPr>
        <p:spPr>
          <a:xfrm>
            <a:off x="7333488" y="5852160"/>
            <a:ext cx="3767328" cy="128016"/>
          </a:xfrm>
          <a:prstGeom prst="rect">
            <a:avLst/>
          </a:prstGeom>
          <a:noFill/>
        </p:spPr>
        <p:txBody>
          <a:bodyPr wrap="square" anchor="ctr" lIns="0" rIns="0" tIns="0" bIns="0">
            <a:normAutofit/>
          </a:bodyPr>
          <a:lstStyle/>
          <a:p>
            <a:pPr algn="r"/>
            <a:r>
              <a:rPr sz="600" b="1">
                <a:solidFill>
                  <a:srgbClr val="2563EB"/>
                </a:solidFill>
                <a:latin typeface="Noto Sans SC"/>
              </a:rPr>
              <a:t>GitHub: github.com/OpenGeoScope/EarthEmbeddingExplorer</a:t>
            </a:r>
          </a:p>
        </p:txBody>
      </p:sp>
      <p:sp>
        <p:nvSpPr>
          <p:cNvPr id="48" name="TextBox 47"/>
          <p:cNvSpPr txBox="1"/>
          <p:nvPr/>
        </p:nvSpPr>
        <p:spPr>
          <a:xfrm>
            <a:off x="786384" y="6236208"/>
            <a:ext cx="10607040" cy="384048"/>
          </a:xfrm>
          <a:prstGeom prst="rect">
            <a:avLst/>
          </a:prstGeom>
          <a:noFill/>
        </p:spPr>
        <p:txBody>
          <a:bodyPr wrap="square" anchor="ctr" lIns="0" rIns="0" tIns="0" bIns="0">
            <a:normAutofit/>
          </a:bodyPr>
          <a:lstStyle/>
          <a:p>
            <a:pPr algn="ctr"/>
            <a:r>
              <a:rPr sz="1800" b="1">
                <a:solidFill>
                  <a:srgbClr val="2563EB"/>
                </a:solidFill>
                <a:latin typeface="Noto Sans SC"/>
              </a:rPr>
              <a:t>AlphaEarth 证明方向，玄女把方向落到中国高分辨率、高频更新、可部署的业务场景。</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384048" cy="201168"/>
          </a:xfrm>
          <a:prstGeom prst="rect">
            <a:avLst/>
          </a:prstGeom>
          <a:noFill/>
        </p:spPr>
        <p:txBody>
          <a:bodyPr wrap="square" anchor="ctr" lIns="0" rIns="0" tIns="0" bIns="0">
            <a:normAutofit/>
          </a:bodyPr>
          <a:lstStyle/>
          <a:p>
            <a:pPr algn="l"/>
            <a:r>
              <a:rPr sz="800" b="1">
                <a:solidFill>
                  <a:srgbClr val="0EA5E9"/>
                </a:solidFill>
                <a:latin typeface="Noto Sans SC"/>
              </a:rPr>
              <a:t>06</a:t>
            </a:r>
          </a:p>
        </p:txBody>
      </p:sp>
      <p:sp>
        <p:nvSpPr>
          <p:cNvPr id="3" name="TextBox 2"/>
          <p:cNvSpPr txBox="1"/>
          <p:nvPr/>
        </p:nvSpPr>
        <p:spPr>
          <a:xfrm>
            <a:off x="950976" y="256032"/>
            <a:ext cx="10424160" cy="566928"/>
          </a:xfrm>
          <a:prstGeom prst="rect">
            <a:avLst/>
          </a:prstGeom>
          <a:noFill/>
        </p:spPr>
        <p:txBody>
          <a:bodyPr wrap="square" anchor="ctr" lIns="0" rIns="0" tIns="0" bIns="0">
            <a:normAutofit/>
          </a:bodyPr>
          <a:lstStyle/>
          <a:p>
            <a:pPr algn="l"/>
            <a:r>
              <a:rPr sz="2400" b="1">
                <a:solidFill>
                  <a:srgbClr val="0F172A"/>
                </a:solidFill>
                <a:latin typeface="Noto Sans SC"/>
              </a:rPr>
              <a:t>遥感应用正在迎来它的 GPT 时刻</a:t>
            </a:r>
          </a:p>
        </p:txBody>
      </p:sp>
      <p:sp>
        <p:nvSpPr>
          <p:cNvPr id="4" name="TextBox 3"/>
          <p:cNvSpPr txBox="1"/>
          <p:nvPr/>
        </p:nvSpPr>
        <p:spPr>
          <a:xfrm>
            <a:off x="950976" y="932688"/>
            <a:ext cx="9784080" cy="219456"/>
          </a:xfrm>
          <a:prstGeom prst="rect">
            <a:avLst/>
          </a:prstGeom>
          <a:noFill/>
        </p:spPr>
        <p:txBody>
          <a:bodyPr wrap="square" anchor="ctr" lIns="0" rIns="0" tIns="0" bIns="0">
            <a:normAutofit/>
          </a:bodyPr>
          <a:lstStyle/>
          <a:p>
            <a:pPr algn="l"/>
            <a:r>
              <a:rPr sz="1000" b="0">
                <a:solidFill>
                  <a:srgbClr val="64748B"/>
                </a:solidFill>
                <a:latin typeface="Noto Sans SC"/>
              </a:rPr>
              <a:t>商业航天快速发展打开数据供给，应用层需要新的基础设施。</a:t>
            </a:r>
          </a:p>
        </p:txBody>
      </p:sp>
      <p:pic>
        <p:nvPicPr>
          <p:cNvPr id="5" name="Picture 4" descr="commercial_space_embedding_gap.png"/>
          <p:cNvPicPr>
            <a:picLocks noChangeAspect="1"/>
          </p:cNvPicPr>
          <p:nvPr/>
        </p:nvPicPr>
        <p:blipFill>
          <a:blip r:embed="rId2"/>
          <a:stretch>
            <a:fillRect/>
          </a:stretch>
        </p:blipFill>
        <p:spPr>
          <a:xfrm>
            <a:off x="3149131" y="1170432"/>
            <a:ext cx="5881545" cy="3310128"/>
          </a:xfrm>
          <a:prstGeom prst="rect">
            <a:avLst/>
          </a:prstGeom>
        </p:spPr>
      </p:pic>
      <p:sp>
        <p:nvSpPr>
          <p:cNvPr id="6" name="Rounded Rectangle 5"/>
          <p:cNvSpPr/>
          <p:nvPr/>
        </p:nvSpPr>
        <p:spPr>
          <a:xfrm>
            <a:off x="877824" y="1371600"/>
            <a:ext cx="2212848" cy="457200"/>
          </a:xfrm>
          <a:prstGeom prst="roundRect">
            <a:avLst/>
          </a:prstGeom>
          <a:solidFill>
            <a:srgbClr val="EFF6FF"/>
          </a:solidFill>
          <a:ln w="101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499616"/>
            <a:ext cx="1920240" cy="128016"/>
          </a:xfrm>
          <a:prstGeom prst="rect">
            <a:avLst/>
          </a:prstGeom>
          <a:noFill/>
        </p:spPr>
        <p:txBody>
          <a:bodyPr wrap="square" anchor="ctr" lIns="0" rIns="0" tIns="0" bIns="0">
            <a:normAutofit/>
          </a:bodyPr>
          <a:lstStyle/>
          <a:p>
            <a:pPr algn="ctr"/>
            <a:r>
              <a:rPr sz="800" b="1">
                <a:solidFill>
                  <a:srgbClr val="2563EB"/>
                </a:solidFill>
                <a:latin typeface="Noto Sans SC"/>
              </a:rPr>
              <a:t>火箭 / 卫星 / 载荷快速成熟</a:t>
            </a:r>
          </a:p>
        </p:txBody>
      </p:sp>
      <p:sp>
        <p:nvSpPr>
          <p:cNvPr id="8" name="Rounded Rectangle 7"/>
          <p:cNvSpPr/>
          <p:nvPr/>
        </p:nvSpPr>
        <p:spPr>
          <a:xfrm>
            <a:off x="3822191" y="1371600"/>
            <a:ext cx="2212848" cy="457200"/>
          </a:xfrm>
          <a:prstGeom prst="roundRect">
            <a:avLst/>
          </a:prstGeom>
          <a:solidFill>
            <a:srgbClr val="ECFDF5"/>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68496" y="1499616"/>
            <a:ext cx="1920240" cy="128016"/>
          </a:xfrm>
          <a:prstGeom prst="rect">
            <a:avLst/>
          </a:prstGeom>
          <a:noFill/>
        </p:spPr>
        <p:txBody>
          <a:bodyPr wrap="square" anchor="ctr" lIns="0" rIns="0" tIns="0" bIns="0">
            <a:normAutofit/>
          </a:bodyPr>
          <a:lstStyle/>
          <a:p>
            <a:pPr algn="ctr"/>
            <a:r>
              <a:rPr sz="800" b="1">
                <a:solidFill>
                  <a:srgbClr val="10B981"/>
                </a:solidFill>
                <a:latin typeface="Noto Sans SC"/>
              </a:rPr>
              <a:t>遥感数据开始井喷</a:t>
            </a:r>
          </a:p>
        </p:txBody>
      </p:sp>
      <p:sp>
        <p:nvSpPr>
          <p:cNvPr id="10" name="Rounded Rectangle 9"/>
          <p:cNvSpPr/>
          <p:nvPr/>
        </p:nvSpPr>
        <p:spPr>
          <a:xfrm>
            <a:off x="6693408" y="1371600"/>
            <a:ext cx="2212848" cy="457200"/>
          </a:xfrm>
          <a:prstGeom prst="roundRect">
            <a:avLst/>
          </a:prstGeom>
          <a:solidFill>
            <a:srgbClr val="F5F3FF"/>
          </a:solidFill>
          <a:ln w="101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39712" y="1499616"/>
            <a:ext cx="1920240" cy="128016"/>
          </a:xfrm>
          <a:prstGeom prst="rect">
            <a:avLst/>
          </a:prstGeom>
          <a:noFill/>
        </p:spPr>
        <p:txBody>
          <a:bodyPr wrap="square" anchor="ctr" lIns="0" rIns="0" tIns="0" bIns="0">
            <a:normAutofit/>
          </a:bodyPr>
          <a:lstStyle/>
          <a:p>
            <a:pPr algn="ctr"/>
            <a:r>
              <a:rPr sz="800" b="1">
                <a:solidFill>
                  <a:srgbClr val="7C3AED"/>
                </a:solidFill>
                <a:latin typeface="Noto Sans SC"/>
              </a:rPr>
              <a:t>地理嵌入成为地理 token</a:t>
            </a:r>
          </a:p>
        </p:txBody>
      </p:sp>
      <p:sp>
        <p:nvSpPr>
          <p:cNvPr id="12" name="Rounded Rectangle 11"/>
          <p:cNvSpPr/>
          <p:nvPr/>
        </p:nvSpPr>
        <p:spPr>
          <a:xfrm>
            <a:off x="9290304" y="1371600"/>
            <a:ext cx="2011680" cy="457200"/>
          </a:xfrm>
          <a:prstGeom prst="roundRect">
            <a:avLst/>
          </a:prstGeom>
          <a:solidFill>
            <a:srgbClr val="FFFBEB"/>
          </a:solidFill>
          <a:ln w="101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36608" y="1499616"/>
            <a:ext cx="1719072" cy="128016"/>
          </a:xfrm>
          <a:prstGeom prst="rect">
            <a:avLst/>
          </a:prstGeom>
          <a:noFill/>
        </p:spPr>
        <p:txBody>
          <a:bodyPr wrap="square" anchor="ctr" lIns="0" rIns="0" tIns="0" bIns="0">
            <a:normAutofit/>
          </a:bodyPr>
          <a:lstStyle/>
          <a:p>
            <a:pPr algn="ctr"/>
            <a:r>
              <a:rPr sz="800" b="1">
                <a:solidFill>
                  <a:srgbClr val="F59E0B"/>
                </a:solidFill>
                <a:latin typeface="Noto Sans SC"/>
              </a:rPr>
              <a:t>应用层才能规模化</a:t>
            </a:r>
          </a:p>
        </p:txBody>
      </p:sp>
      <p:sp>
        <p:nvSpPr>
          <p:cNvPr id="14" name="Rounded Rectangle 13"/>
          <p:cNvSpPr/>
          <p:nvPr/>
        </p:nvSpPr>
        <p:spPr>
          <a:xfrm>
            <a:off x="804672" y="4645152"/>
            <a:ext cx="5065776" cy="1078992"/>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809744"/>
            <a:ext cx="1353312" cy="164592"/>
          </a:xfrm>
          <a:prstGeom prst="rect">
            <a:avLst/>
          </a:prstGeom>
          <a:noFill/>
        </p:spPr>
        <p:txBody>
          <a:bodyPr wrap="square" anchor="ctr" lIns="0" rIns="0" tIns="0" bIns="0">
            <a:normAutofit/>
          </a:bodyPr>
          <a:lstStyle/>
          <a:p>
            <a:pPr algn="l"/>
            <a:r>
              <a:rPr sz="1200" b="1">
                <a:solidFill>
                  <a:srgbClr val="0F172A"/>
                </a:solidFill>
                <a:latin typeface="Noto Sans SC"/>
              </a:rPr>
              <a:t>为什么像 GPT？</a:t>
            </a:r>
          </a:p>
        </p:txBody>
      </p:sp>
      <p:sp>
        <p:nvSpPr>
          <p:cNvPr id="16" name="TextBox 15"/>
          <p:cNvSpPr txBox="1"/>
          <p:nvPr/>
        </p:nvSpPr>
        <p:spPr>
          <a:xfrm>
            <a:off x="1024128" y="5230368"/>
            <a:ext cx="804672" cy="128016"/>
          </a:xfrm>
          <a:prstGeom prst="rect">
            <a:avLst/>
          </a:prstGeom>
          <a:noFill/>
        </p:spPr>
        <p:txBody>
          <a:bodyPr wrap="square" anchor="ctr" lIns="0" rIns="0" tIns="0" bIns="0">
            <a:normAutofit/>
          </a:bodyPr>
          <a:lstStyle/>
          <a:p>
            <a:pPr algn="l"/>
            <a:r>
              <a:rPr sz="800" b="1">
                <a:solidFill>
                  <a:srgbClr val="2563EB"/>
                </a:solidFill>
                <a:latin typeface="Noto Sans SC"/>
              </a:rPr>
              <a:t>文本智能</a:t>
            </a:r>
          </a:p>
        </p:txBody>
      </p:sp>
      <p:sp>
        <p:nvSpPr>
          <p:cNvPr id="17" name="TextBox 16"/>
          <p:cNvSpPr txBox="1"/>
          <p:nvPr/>
        </p:nvSpPr>
        <p:spPr>
          <a:xfrm>
            <a:off x="1920240" y="5212080"/>
            <a:ext cx="3529584" cy="146304"/>
          </a:xfrm>
          <a:prstGeom prst="rect">
            <a:avLst/>
          </a:prstGeom>
          <a:noFill/>
        </p:spPr>
        <p:txBody>
          <a:bodyPr wrap="square" anchor="ctr" lIns="0" rIns="0" tIns="0" bIns="0">
            <a:normAutofit/>
          </a:bodyPr>
          <a:lstStyle/>
          <a:p>
            <a:pPr algn="l"/>
            <a:r>
              <a:rPr sz="900" b="0">
                <a:solidFill>
                  <a:srgbClr val="334155"/>
                </a:solidFill>
                <a:latin typeface="Noto Sans SC"/>
              </a:rPr>
              <a:t>字符 / 词 → token → 理解、检索、生成</a:t>
            </a:r>
          </a:p>
        </p:txBody>
      </p:sp>
      <p:sp>
        <p:nvSpPr>
          <p:cNvPr id="18" name="TextBox 17"/>
          <p:cNvSpPr txBox="1"/>
          <p:nvPr/>
        </p:nvSpPr>
        <p:spPr>
          <a:xfrm>
            <a:off x="1024128" y="5559552"/>
            <a:ext cx="804672" cy="128016"/>
          </a:xfrm>
          <a:prstGeom prst="rect">
            <a:avLst/>
          </a:prstGeom>
          <a:noFill/>
        </p:spPr>
        <p:txBody>
          <a:bodyPr wrap="square" anchor="ctr" lIns="0" rIns="0" tIns="0" bIns="0">
            <a:normAutofit/>
          </a:bodyPr>
          <a:lstStyle/>
          <a:p>
            <a:pPr algn="l"/>
            <a:r>
              <a:rPr sz="800" b="1">
                <a:solidFill>
                  <a:srgbClr val="10B981"/>
                </a:solidFill>
                <a:latin typeface="Noto Sans SC"/>
              </a:rPr>
              <a:t>地球智能</a:t>
            </a:r>
          </a:p>
        </p:txBody>
      </p:sp>
      <p:sp>
        <p:nvSpPr>
          <p:cNvPr id="19" name="TextBox 18"/>
          <p:cNvSpPr txBox="1"/>
          <p:nvPr/>
        </p:nvSpPr>
        <p:spPr>
          <a:xfrm>
            <a:off x="1920240" y="5541264"/>
            <a:ext cx="3529584" cy="146304"/>
          </a:xfrm>
          <a:prstGeom prst="rect">
            <a:avLst/>
          </a:prstGeom>
          <a:noFill/>
        </p:spPr>
        <p:txBody>
          <a:bodyPr wrap="square" anchor="ctr" lIns="0" rIns="0" tIns="0" bIns="0">
            <a:normAutofit/>
          </a:bodyPr>
          <a:lstStyle/>
          <a:p>
            <a:pPr algn="l"/>
            <a:r>
              <a:rPr sz="800" b="0">
                <a:solidFill>
                  <a:srgbClr val="334155"/>
                </a:solidFill>
                <a:latin typeface="Noto Sans SC"/>
              </a:rPr>
              <a:t>同一地物的多源多时相观测 → 地理嵌入 → 监测、分类、预测、问答</a:t>
            </a:r>
          </a:p>
        </p:txBody>
      </p:sp>
      <p:sp>
        <p:nvSpPr>
          <p:cNvPr id="20" name="Rounded Rectangle 19"/>
          <p:cNvSpPr/>
          <p:nvPr/>
        </p:nvSpPr>
        <p:spPr>
          <a:xfrm>
            <a:off x="6693408" y="4645152"/>
            <a:ext cx="3794760" cy="1078992"/>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39712" y="4773168"/>
            <a:ext cx="841248" cy="128016"/>
          </a:xfrm>
          <a:prstGeom prst="rect">
            <a:avLst/>
          </a:prstGeom>
          <a:noFill/>
        </p:spPr>
        <p:txBody>
          <a:bodyPr wrap="square" anchor="ctr" lIns="0" rIns="0" tIns="0" bIns="0">
            <a:normAutofit/>
          </a:bodyPr>
          <a:lstStyle/>
          <a:p>
            <a:pPr algn="l"/>
            <a:r>
              <a:rPr sz="800" b="1">
                <a:solidFill>
                  <a:srgbClr val="10B981"/>
                </a:solidFill>
                <a:latin typeface="Noto Sans SC"/>
              </a:rPr>
              <a:t>玄女已实现</a:t>
            </a:r>
          </a:p>
        </p:txBody>
      </p:sp>
      <p:sp>
        <p:nvSpPr>
          <p:cNvPr id="22" name="TextBox 21"/>
          <p:cNvSpPr txBox="1"/>
          <p:nvPr/>
        </p:nvSpPr>
        <p:spPr>
          <a:xfrm>
            <a:off x="7717536" y="4773168"/>
            <a:ext cx="2542032" cy="128016"/>
          </a:xfrm>
          <a:prstGeom prst="rect">
            <a:avLst/>
          </a:prstGeom>
          <a:noFill/>
        </p:spPr>
        <p:txBody>
          <a:bodyPr wrap="square" anchor="ctr" lIns="0" rIns="0" tIns="0" bIns="0">
            <a:normAutofit/>
          </a:bodyPr>
          <a:lstStyle/>
          <a:p>
            <a:pPr algn="r"/>
            <a:r>
              <a:rPr sz="800" b="1">
                <a:solidFill>
                  <a:srgbClr val="0F172A"/>
                </a:solidFill>
                <a:latin typeface="Noto Sans SC"/>
              </a:rPr>
              <a:t>少量标注 → 自定义任务头 → 下游结果</a:t>
            </a:r>
          </a:p>
        </p:txBody>
      </p:sp>
      <p:pic>
        <p:nvPicPr>
          <p:cNvPr id="23" name="Picture 22" descr="patch_000217_construction_2025-08_vs_2025-09_detail_1653.png"/>
          <p:cNvPicPr>
            <a:picLocks noChangeAspect="1"/>
          </p:cNvPicPr>
          <p:nvPr/>
        </p:nvPicPr>
        <p:blipFill>
          <a:blip r:embed="rId3"/>
          <a:stretch>
            <a:fillRect/>
          </a:stretch>
        </p:blipFill>
        <p:spPr>
          <a:xfrm>
            <a:off x="6858000" y="5029200"/>
            <a:ext cx="786384" cy="475488"/>
          </a:xfrm>
          <a:prstGeom prst="rect">
            <a:avLst/>
          </a:prstGeom>
        </p:spPr>
      </p:pic>
      <p:sp>
        <p:nvSpPr>
          <p:cNvPr id="24" name="Oval 23"/>
          <p:cNvSpPr/>
          <p:nvPr/>
        </p:nvSpPr>
        <p:spPr>
          <a:xfrm>
            <a:off x="6967728" y="5157216"/>
            <a:ext cx="64008" cy="6400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132320" y="5248656"/>
            <a:ext cx="64008" cy="6400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296912" y="5157216"/>
            <a:ext cx="64008" cy="640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7772400" y="5266944"/>
            <a:ext cx="329183"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193024" y="5047488"/>
            <a:ext cx="786384" cy="438912"/>
          </a:xfrm>
          <a:prstGeom prst="roundRect">
            <a:avLst/>
          </a:prstGeom>
          <a:solidFill>
            <a:srgbClr val="ECFDF5"/>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66176" y="5175504"/>
            <a:ext cx="640080" cy="109728"/>
          </a:xfrm>
          <a:prstGeom prst="rect">
            <a:avLst/>
          </a:prstGeom>
          <a:noFill/>
        </p:spPr>
        <p:txBody>
          <a:bodyPr wrap="square" anchor="ctr" lIns="0" rIns="0" tIns="0" bIns="0">
            <a:normAutofit/>
          </a:bodyPr>
          <a:lstStyle/>
          <a:p>
            <a:pPr algn="ctr"/>
            <a:r>
              <a:rPr sz="800" b="1">
                <a:solidFill>
                  <a:srgbClr val="10B981"/>
                </a:solidFill>
                <a:latin typeface="Noto Sans SC"/>
              </a:rPr>
              <a:t>任务头</a:t>
            </a:r>
          </a:p>
        </p:txBody>
      </p:sp>
      <p:cxnSp>
        <p:nvCxnSpPr>
          <p:cNvPr id="30" name="Connector 29"/>
          <p:cNvCxnSpPr/>
          <p:nvPr/>
        </p:nvCxnSpPr>
        <p:spPr>
          <a:xfrm>
            <a:off x="9089136" y="5266944"/>
            <a:ext cx="329184"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pic>
        <p:nvPicPr>
          <p:cNvPr id="31" name="Picture 30" descr="patch_000217_construction_2025-08_vs_2025-09_detail_1653.png"/>
          <p:cNvPicPr>
            <a:picLocks noChangeAspect="1"/>
          </p:cNvPicPr>
          <p:nvPr/>
        </p:nvPicPr>
        <p:blipFill>
          <a:blip r:embed="rId3"/>
          <a:stretch>
            <a:fillRect/>
          </a:stretch>
        </p:blipFill>
        <p:spPr>
          <a:xfrm>
            <a:off x="9509760" y="5029200"/>
            <a:ext cx="786384" cy="475488"/>
          </a:xfrm>
          <a:prstGeom prst="rect">
            <a:avLst/>
          </a:prstGeom>
        </p:spPr>
      </p:pic>
      <p:sp>
        <p:nvSpPr>
          <p:cNvPr id="32" name="TextBox 31"/>
          <p:cNvSpPr txBox="1"/>
          <p:nvPr/>
        </p:nvSpPr>
        <p:spPr>
          <a:xfrm>
            <a:off x="6803136" y="5833872"/>
            <a:ext cx="3584448" cy="164592"/>
          </a:xfrm>
          <a:prstGeom prst="rect">
            <a:avLst/>
          </a:prstGeom>
          <a:noFill/>
        </p:spPr>
        <p:txBody>
          <a:bodyPr wrap="square" anchor="ctr" lIns="0" rIns="0" tIns="0" bIns="0">
            <a:normAutofit/>
          </a:bodyPr>
          <a:lstStyle/>
          <a:p>
            <a:pPr algn="ctr"/>
            <a:r>
              <a:rPr sz="800" b="1">
                <a:solidFill>
                  <a:srgbClr val="334155"/>
                </a:solidFill>
                <a:latin typeface="Noto Sans SC"/>
              </a:rPr>
              <a:t>通过少量标注训练自定义下游任务头，让嵌入真正进入业务流程。</a:t>
            </a:r>
          </a:p>
        </p:txBody>
      </p:sp>
      <p:sp>
        <p:nvSpPr>
          <p:cNvPr id="33" name="TextBox 32"/>
          <p:cNvSpPr txBox="1"/>
          <p:nvPr/>
        </p:nvSpPr>
        <p:spPr>
          <a:xfrm>
            <a:off x="786384" y="6236208"/>
            <a:ext cx="10607040" cy="384048"/>
          </a:xfrm>
          <a:prstGeom prst="rect">
            <a:avLst/>
          </a:prstGeom>
          <a:noFill/>
        </p:spPr>
        <p:txBody>
          <a:bodyPr wrap="square" anchor="ctr" lIns="0" rIns="0" tIns="0" bIns="0">
            <a:normAutofit/>
          </a:bodyPr>
          <a:lstStyle/>
          <a:p>
            <a:pPr algn="ctr"/>
            <a:r>
              <a:rPr sz="1800" b="1">
                <a:solidFill>
                  <a:srgbClr val="2563EB"/>
                </a:solidFill>
                <a:latin typeface="Noto Sans SC"/>
              </a:rPr>
              <a:t>当遥感数据像文本一样持续增长，地理嵌入就是遥感应用规模化的入口。</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384048" cy="201168"/>
          </a:xfrm>
          <a:prstGeom prst="rect">
            <a:avLst/>
          </a:prstGeom>
          <a:noFill/>
        </p:spPr>
        <p:txBody>
          <a:bodyPr wrap="square" anchor="ctr" lIns="0" rIns="0" tIns="0" bIns="0">
            <a:normAutofit/>
          </a:bodyPr>
          <a:lstStyle/>
          <a:p>
            <a:pPr algn="l"/>
            <a:r>
              <a:rPr sz="800" b="1">
                <a:solidFill>
                  <a:srgbClr val="0EA5E9"/>
                </a:solidFill>
                <a:latin typeface="Noto Sans SC"/>
              </a:rPr>
              <a:t>07</a:t>
            </a:r>
          </a:p>
        </p:txBody>
      </p:sp>
      <p:sp>
        <p:nvSpPr>
          <p:cNvPr id="3" name="TextBox 2"/>
          <p:cNvSpPr txBox="1"/>
          <p:nvPr/>
        </p:nvSpPr>
        <p:spPr>
          <a:xfrm>
            <a:off x="950976" y="256032"/>
            <a:ext cx="10424160" cy="566928"/>
          </a:xfrm>
          <a:prstGeom prst="rect">
            <a:avLst/>
          </a:prstGeom>
          <a:noFill/>
        </p:spPr>
        <p:txBody>
          <a:bodyPr wrap="square" anchor="ctr" lIns="0" rIns="0" tIns="0" bIns="0">
            <a:normAutofit/>
          </a:bodyPr>
          <a:lstStyle/>
          <a:p>
            <a:pPr algn="l"/>
            <a:r>
              <a:rPr sz="2400" b="1">
                <a:solidFill>
                  <a:srgbClr val="0F172A"/>
                </a:solidFill>
                <a:latin typeface="Noto Sans SC"/>
              </a:rPr>
              <a:t>遥感应用没有大规模爆发：用不起、用不好、用不快</a:t>
            </a:r>
          </a:p>
        </p:txBody>
      </p:sp>
      <p:sp>
        <p:nvSpPr>
          <p:cNvPr id="4" name="Rounded Rectangle 3"/>
          <p:cNvSpPr/>
          <p:nvPr/>
        </p:nvSpPr>
        <p:spPr>
          <a:xfrm>
            <a:off x="859536" y="1371600"/>
            <a:ext cx="3154680" cy="1225296"/>
          </a:xfrm>
          <a:prstGeom prst="roundRect">
            <a:avLst/>
          </a:prstGeom>
          <a:solidFill>
            <a:srgbClr val="EFF6FF"/>
          </a:solidFill>
          <a:ln w="101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 y="1618488"/>
            <a:ext cx="2761488" cy="256032"/>
          </a:xfrm>
          <a:prstGeom prst="rect">
            <a:avLst/>
          </a:prstGeom>
          <a:noFill/>
        </p:spPr>
        <p:txBody>
          <a:bodyPr wrap="square" anchor="ctr" lIns="0" rIns="0" tIns="0" bIns="0">
            <a:normAutofit/>
          </a:bodyPr>
          <a:lstStyle/>
          <a:p>
            <a:pPr algn="ctr"/>
            <a:r>
              <a:rPr sz="1800" b="1">
                <a:solidFill>
                  <a:srgbClr val="2563EB"/>
                </a:solidFill>
                <a:latin typeface="Noto Sans SC"/>
              </a:rPr>
              <a:t>用不起</a:t>
            </a:r>
          </a:p>
        </p:txBody>
      </p:sp>
      <p:sp>
        <p:nvSpPr>
          <p:cNvPr id="6" name="TextBox 5"/>
          <p:cNvSpPr txBox="1"/>
          <p:nvPr/>
        </p:nvSpPr>
        <p:spPr>
          <a:xfrm>
            <a:off x="1115568" y="2048256"/>
            <a:ext cx="2651760" cy="292608"/>
          </a:xfrm>
          <a:prstGeom prst="rect">
            <a:avLst/>
          </a:prstGeom>
          <a:noFill/>
        </p:spPr>
        <p:txBody>
          <a:bodyPr wrap="square" anchor="ctr" lIns="0" rIns="0" tIns="0" bIns="0">
            <a:normAutofit/>
          </a:bodyPr>
          <a:lstStyle/>
          <a:p>
            <a:pPr algn="ctr"/>
            <a:r>
              <a:rPr sz="900" b="0">
                <a:solidFill>
                  <a:srgbClr val="334155"/>
                </a:solidFill>
                <a:latin typeface="Noto Sans SC"/>
              </a:rPr>
              <a:t>项目制、专家制、标注贵，任务越多成本越高。</a:t>
            </a:r>
          </a:p>
        </p:txBody>
      </p:sp>
      <p:sp>
        <p:nvSpPr>
          <p:cNvPr id="7" name="Rounded Rectangle 6"/>
          <p:cNvSpPr/>
          <p:nvPr/>
        </p:nvSpPr>
        <p:spPr>
          <a:xfrm>
            <a:off x="4636008" y="1371600"/>
            <a:ext cx="3154680" cy="1225296"/>
          </a:xfrm>
          <a:prstGeom prst="roundRect">
            <a:avLst/>
          </a:prstGeom>
          <a:solidFill>
            <a:srgbClr val="ECFDF5"/>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37176" y="1618488"/>
            <a:ext cx="2761488" cy="256032"/>
          </a:xfrm>
          <a:prstGeom prst="rect">
            <a:avLst/>
          </a:prstGeom>
          <a:noFill/>
        </p:spPr>
        <p:txBody>
          <a:bodyPr wrap="square" anchor="ctr" lIns="0" rIns="0" tIns="0" bIns="0">
            <a:normAutofit/>
          </a:bodyPr>
          <a:lstStyle/>
          <a:p>
            <a:pPr algn="ctr"/>
            <a:r>
              <a:rPr sz="1800" b="1">
                <a:solidFill>
                  <a:srgbClr val="10B981"/>
                </a:solidFill>
                <a:latin typeface="Noto Sans SC"/>
              </a:rPr>
              <a:t>用不好</a:t>
            </a:r>
          </a:p>
        </p:txBody>
      </p:sp>
      <p:sp>
        <p:nvSpPr>
          <p:cNvPr id="9" name="TextBox 8"/>
          <p:cNvSpPr txBox="1"/>
          <p:nvPr/>
        </p:nvSpPr>
        <p:spPr>
          <a:xfrm>
            <a:off x="4892040" y="2048256"/>
            <a:ext cx="2651760" cy="292608"/>
          </a:xfrm>
          <a:prstGeom prst="rect">
            <a:avLst/>
          </a:prstGeom>
          <a:noFill/>
        </p:spPr>
        <p:txBody>
          <a:bodyPr wrap="square" anchor="ctr" lIns="0" rIns="0" tIns="0" bIns="0">
            <a:normAutofit/>
          </a:bodyPr>
          <a:lstStyle/>
          <a:p>
            <a:pPr algn="ctr"/>
            <a:r>
              <a:rPr sz="900" b="0">
                <a:solidFill>
                  <a:srgbClr val="334155"/>
                </a:solidFill>
                <a:latin typeface="Noto Sans SC"/>
              </a:rPr>
              <a:t>换区域、换地物、换传感器，模型泛化就变差。</a:t>
            </a:r>
          </a:p>
        </p:txBody>
      </p:sp>
      <p:sp>
        <p:nvSpPr>
          <p:cNvPr id="10" name="Rounded Rectangle 9"/>
          <p:cNvSpPr/>
          <p:nvPr/>
        </p:nvSpPr>
        <p:spPr>
          <a:xfrm>
            <a:off x="8412480" y="1371600"/>
            <a:ext cx="3154680" cy="1225296"/>
          </a:xfrm>
          <a:prstGeom prst="roundRect">
            <a:avLst/>
          </a:prstGeom>
          <a:solidFill>
            <a:srgbClr val="F5F3FF"/>
          </a:solidFill>
          <a:ln w="101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13648" y="1618488"/>
            <a:ext cx="2761488" cy="256032"/>
          </a:xfrm>
          <a:prstGeom prst="rect">
            <a:avLst/>
          </a:prstGeom>
          <a:noFill/>
        </p:spPr>
        <p:txBody>
          <a:bodyPr wrap="square" anchor="ctr" lIns="0" rIns="0" tIns="0" bIns="0">
            <a:normAutofit/>
          </a:bodyPr>
          <a:lstStyle/>
          <a:p>
            <a:pPr algn="ctr"/>
            <a:r>
              <a:rPr sz="1800" b="1">
                <a:solidFill>
                  <a:srgbClr val="7C3AED"/>
                </a:solidFill>
                <a:latin typeface="Noto Sans SC"/>
              </a:rPr>
              <a:t>用不快</a:t>
            </a:r>
          </a:p>
        </p:txBody>
      </p:sp>
      <p:sp>
        <p:nvSpPr>
          <p:cNvPr id="12" name="TextBox 11"/>
          <p:cNvSpPr txBox="1"/>
          <p:nvPr/>
        </p:nvSpPr>
        <p:spPr>
          <a:xfrm>
            <a:off x="8668511" y="2048256"/>
            <a:ext cx="2651760" cy="292608"/>
          </a:xfrm>
          <a:prstGeom prst="rect">
            <a:avLst/>
          </a:prstGeom>
          <a:noFill/>
        </p:spPr>
        <p:txBody>
          <a:bodyPr wrap="square" anchor="ctr" lIns="0" rIns="0" tIns="0" bIns="0">
            <a:normAutofit/>
          </a:bodyPr>
          <a:lstStyle/>
          <a:p>
            <a:pPr algn="ctr"/>
            <a:r>
              <a:rPr sz="900" b="0">
                <a:solidFill>
                  <a:srgbClr val="334155"/>
                </a:solidFill>
                <a:latin typeface="Noto Sans SC"/>
              </a:rPr>
              <a:t>从需求到交付链条长，结果常常错过决策窗口。</a:t>
            </a:r>
          </a:p>
        </p:txBody>
      </p:sp>
      <p:sp>
        <p:nvSpPr>
          <p:cNvPr id="13" name="TextBox 12"/>
          <p:cNvSpPr txBox="1"/>
          <p:nvPr/>
        </p:nvSpPr>
        <p:spPr>
          <a:xfrm>
            <a:off x="987552" y="3337560"/>
            <a:ext cx="1005840" cy="201168"/>
          </a:xfrm>
          <a:prstGeom prst="rect">
            <a:avLst/>
          </a:prstGeom>
          <a:noFill/>
        </p:spPr>
        <p:txBody>
          <a:bodyPr wrap="square" anchor="ctr" lIns="0" rIns="0" tIns="0" bIns="0">
            <a:normAutofit/>
          </a:bodyPr>
          <a:lstStyle/>
          <a:p>
            <a:pPr algn="l"/>
            <a:r>
              <a:rPr sz="1100" b="1">
                <a:solidFill>
                  <a:srgbClr val="64748B"/>
                </a:solidFill>
                <a:latin typeface="Noto Sans SC"/>
              </a:rPr>
              <a:t>传统流程</a:t>
            </a:r>
          </a:p>
        </p:txBody>
      </p:sp>
      <p:sp>
        <p:nvSpPr>
          <p:cNvPr id="14" name="Rounded Rectangle 13"/>
          <p:cNvSpPr/>
          <p:nvPr/>
        </p:nvSpPr>
        <p:spPr>
          <a:xfrm>
            <a:off x="1883664" y="3200400"/>
            <a:ext cx="676656" cy="438912"/>
          </a:xfrm>
          <a:prstGeom prst="round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83664" y="3310128"/>
            <a:ext cx="676656" cy="146304"/>
          </a:xfrm>
          <a:prstGeom prst="rect">
            <a:avLst/>
          </a:prstGeom>
          <a:noFill/>
        </p:spPr>
        <p:txBody>
          <a:bodyPr wrap="square" anchor="ctr" lIns="0" rIns="0" tIns="0" bIns="0">
            <a:normAutofit/>
          </a:bodyPr>
          <a:lstStyle/>
          <a:p>
            <a:pPr algn="ctr"/>
            <a:r>
              <a:rPr sz="800" b="1">
                <a:solidFill>
                  <a:srgbClr val="334155"/>
                </a:solidFill>
                <a:latin typeface="Noto Sans SC"/>
              </a:rPr>
              <a:t>采购</a:t>
            </a:r>
          </a:p>
        </p:txBody>
      </p:sp>
      <p:cxnSp>
        <p:nvCxnSpPr>
          <p:cNvPr id="16" name="Connector 15"/>
          <p:cNvCxnSpPr/>
          <p:nvPr/>
        </p:nvCxnSpPr>
        <p:spPr>
          <a:xfrm>
            <a:off x="2578608" y="3419856"/>
            <a:ext cx="146304" cy="0"/>
          </a:xfrm>
          <a:prstGeom prst="line">
            <a:avLst/>
          </a:prstGeom>
          <a:ln w="11430">
            <a:solidFill>
              <a:srgbClr val="E2E8F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779776" y="3200400"/>
            <a:ext cx="676656" cy="438912"/>
          </a:xfrm>
          <a:prstGeom prst="round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79776" y="3310128"/>
            <a:ext cx="676656" cy="146304"/>
          </a:xfrm>
          <a:prstGeom prst="rect">
            <a:avLst/>
          </a:prstGeom>
          <a:noFill/>
        </p:spPr>
        <p:txBody>
          <a:bodyPr wrap="square" anchor="ctr" lIns="0" rIns="0" tIns="0" bIns="0">
            <a:normAutofit/>
          </a:bodyPr>
          <a:lstStyle/>
          <a:p>
            <a:pPr algn="ctr"/>
            <a:r>
              <a:rPr sz="800" b="1">
                <a:solidFill>
                  <a:srgbClr val="334155"/>
                </a:solidFill>
                <a:latin typeface="Noto Sans SC"/>
              </a:rPr>
              <a:t>预处理</a:t>
            </a:r>
          </a:p>
        </p:txBody>
      </p:sp>
      <p:cxnSp>
        <p:nvCxnSpPr>
          <p:cNvPr id="19" name="Connector 18"/>
          <p:cNvCxnSpPr/>
          <p:nvPr/>
        </p:nvCxnSpPr>
        <p:spPr>
          <a:xfrm>
            <a:off x="3474720" y="3419856"/>
            <a:ext cx="146304" cy="0"/>
          </a:xfrm>
          <a:prstGeom prst="line">
            <a:avLst/>
          </a:prstGeom>
          <a:ln w="11430">
            <a:solidFill>
              <a:srgbClr val="E2E8F0"/>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675887" y="3200400"/>
            <a:ext cx="676656" cy="438912"/>
          </a:xfrm>
          <a:prstGeom prst="round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75887" y="3310128"/>
            <a:ext cx="676656" cy="146304"/>
          </a:xfrm>
          <a:prstGeom prst="rect">
            <a:avLst/>
          </a:prstGeom>
          <a:noFill/>
        </p:spPr>
        <p:txBody>
          <a:bodyPr wrap="square" anchor="ctr" lIns="0" rIns="0" tIns="0" bIns="0">
            <a:normAutofit/>
          </a:bodyPr>
          <a:lstStyle/>
          <a:p>
            <a:pPr algn="ctr"/>
            <a:r>
              <a:rPr sz="800" b="1">
                <a:solidFill>
                  <a:srgbClr val="334155"/>
                </a:solidFill>
                <a:latin typeface="Noto Sans SC"/>
              </a:rPr>
              <a:t>标注</a:t>
            </a:r>
          </a:p>
        </p:txBody>
      </p:sp>
      <p:cxnSp>
        <p:nvCxnSpPr>
          <p:cNvPr id="22" name="Connector 21"/>
          <p:cNvCxnSpPr/>
          <p:nvPr/>
        </p:nvCxnSpPr>
        <p:spPr>
          <a:xfrm>
            <a:off x="4370831" y="3419856"/>
            <a:ext cx="146305" cy="0"/>
          </a:xfrm>
          <a:prstGeom prst="line">
            <a:avLst/>
          </a:prstGeom>
          <a:ln w="11430">
            <a:solidFill>
              <a:srgbClr val="E2E8F0"/>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572000" y="3200400"/>
            <a:ext cx="676656" cy="438912"/>
          </a:xfrm>
          <a:prstGeom prst="round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3310128"/>
            <a:ext cx="676656" cy="146304"/>
          </a:xfrm>
          <a:prstGeom prst="rect">
            <a:avLst/>
          </a:prstGeom>
          <a:noFill/>
        </p:spPr>
        <p:txBody>
          <a:bodyPr wrap="square" anchor="ctr" lIns="0" rIns="0" tIns="0" bIns="0">
            <a:normAutofit/>
          </a:bodyPr>
          <a:lstStyle/>
          <a:p>
            <a:pPr algn="ctr"/>
            <a:r>
              <a:rPr sz="800" b="1">
                <a:solidFill>
                  <a:srgbClr val="334155"/>
                </a:solidFill>
                <a:latin typeface="Noto Sans SC"/>
              </a:rPr>
              <a:t>训练</a:t>
            </a:r>
          </a:p>
        </p:txBody>
      </p:sp>
      <p:cxnSp>
        <p:nvCxnSpPr>
          <p:cNvPr id="25" name="Connector 24"/>
          <p:cNvCxnSpPr/>
          <p:nvPr/>
        </p:nvCxnSpPr>
        <p:spPr>
          <a:xfrm>
            <a:off x="5266944" y="3419856"/>
            <a:ext cx="146304" cy="0"/>
          </a:xfrm>
          <a:prstGeom prst="line">
            <a:avLst/>
          </a:prstGeom>
          <a:ln w="11430">
            <a:solidFill>
              <a:srgbClr val="E2E8F0"/>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468112" y="3200400"/>
            <a:ext cx="676656" cy="438912"/>
          </a:xfrm>
          <a:prstGeom prst="round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68112" y="3310128"/>
            <a:ext cx="676656" cy="146304"/>
          </a:xfrm>
          <a:prstGeom prst="rect">
            <a:avLst/>
          </a:prstGeom>
          <a:noFill/>
        </p:spPr>
        <p:txBody>
          <a:bodyPr wrap="square" anchor="ctr" lIns="0" rIns="0" tIns="0" bIns="0">
            <a:normAutofit/>
          </a:bodyPr>
          <a:lstStyle/>
          <a:p>
            <a:pPr algn="ctr"/>
            <a:r>
              <a:rPr sz="800" b="1">
                <a:solidFill>
                  <a:srgbClr val="334155"/>
                </a:solidFill>
                <a:latin typeface="Noto Sans SC"/>
              </a:rPr>
              <a:t>核查</a:t>
            </a:r>
          </a:p>
        </p:txBody>
      </p:sp>
      <p:cxnSp>
        <p:nvCxnSpPr>
          <p:cNvPr id="28" name="Connector 27"/>
          <p:cNvCxnSpPr/>
          <p:nvPr/>
        </p:nvCxnSpPr>
        <p:spPr>
          <a:xfrm>
            <a:off x="6163056" y="3419856"/>
            <a:ext cx="146304" cy="0"/>
          </a:xfrm>
          <a:prstGeom prst="line">
            <a:avLst/>
          </a:prstGeom>
          <a:ln w="11430">
            <a:solidFill>
              <a:srgbClr val="E2E8F0"/>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364224" y="3200400"/>
            <a:ext cx="676656" cy="438912"/>
          </a:xfrm>
          <a:prstGeom prst="round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64224" y="3310128"/>
            <a:ext cx="676656" cy="146304"/>
          </a:xfrm>
          <a:prstGeom prst="rect">
            <a:avLst/>
          </a:prstGeom>
          <a:noFill/>
        </p:spPr>
        <p:txBody>
          <a:bodyPr wrap="square" anchor="ctr" lIns="0" rIns="0" tIns="0" bIns="0">
            <a:normAutofit/>
          </a:bodyPr>
          <a:lstStyle/>
          <a:p>
            <a:pPr algn="ctr"/>
            <a:r>
              <a:rPr sz="800" b="1">
                <a:solidFill>
                  <a:srgbClr val="334155"/>
                </a:solidFill>
                <a:latin typeface="Noto Sans SC"/>
              </a:rPr>
              <a:t>报告</a:t>
            </a:r>
          </a:p>
        </p:txBody>
      </p:sp>
      <p:sp>
        <p:nvSpPr>
          <p:cNvPr id="31" name="TextBox 30"/>
          <p:cNvSpPr txBox="1"/>
          <p:nvPr/>
        </p:nvSpPr>
        <p:spPr>
          <a:xfrm>
            <a:off x="987552" y="4389120"/>
            <a:ext cx="1005840" cy="201168"/>
          </a:xfrm>
          <a:prstGeom prst="rect">
            <a:avLst/>
          </a:prstGeom>
          <a:noFill/>
        </p:spPr>
        <p:txBody>
          <a:bodyPr wrap="square" anchor="ctr" lIns="0" rIns="0" tIns="0" bIns="0">
            <a:normAutofit/>
          </a:bodyPr>
          <a:lstStyle/>
          <a:p>
            <a:pPr algn="l"/>
            <a:r>
              <a:rPr sz="1100" b="1">
                <a:solidFill>
                  <a:srgbClr val="10B981"/>
                </a:solidFill>
                <a:latin typeface="Noto Sans SC"/>
              </a:rPr>
              <a:t>玄女流程</a:t>
            </a:r>
          </a:p>
        </p:txBody>
      </p:sp>
      <p:sp>
        <p:nvSpPr>
          <p:cNvPr id="32" name="Rounded Rectangle 31"/>
          <p:cNvSpPr/>
          <p:nvPr/>
        </p:nvSpPr>
        <p:spPr>
          <a:xfrm>
            <a:off x="1883664" y="4251960"/>
            <a:ext cx="914400" cy="438912"/>
          </a:xfrm>
          <a:prstGeom prst="roundRect">
            <a:avLst/>
          </a:prstGeom>
          <a:solidFill>
            <a:srgbClr val="ECFDF5"/>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883664" y="4361688"/>
            <a:ext cx="914400" cy="146304"/>
          </a:xfrm>
          <a:prstGeom prst="rect">
            <a:avLst/>
          </a:prstGeom>
          <a:noFill/>
        </p:spPr>
        <p:txBody>
          <a:bodyPr wrap="square" anchor="ctr" lIns="0" rIns="0" tIns="0" bIns="0">
            <a:normAutofit/>
          </a:bodyPr>
          <a:lstStyle/>
          <a:p>
            <a:pPr algn="ctr"/>
            <a:r>
              <a:rPr sz="800" b="1">
                <a:solidFill>
                  <a:srgbClr val="10B981"/>
                </a:solidFill>
                <a:latin typeface="Noto Sans SC"/>
              </a:rPr>
              <a:t>地理嵌入</a:t>
            </a:r>
          </a:p>
        </p:txBody>
      </p:sp>
      <p:cxnSp>
        <p:nvCxnSpPr>
          <p:cNvPr id="34" name="Connector 33"/>
          <p:cNvCxnSpPr/>
          <p:nvPr/>
        </p:nvCxnSpPr>
        <p:spPr>
          <a:xfrm>
            <a:off x="2816352" y="4471416"/>
            <a:ext cx="182880" cy="0"/>
          </a:xfrm>
          <a:prstGeom prst="line">
            <a:avLst/>
          </a:prstGeom>
          <a:ln w="12700">
            <a:solidFill>
              <a:srgbClr val="10B981"/>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3054096" y="4251960"/>
            <a:ext cx="914400" cy="438912"/>
          </a:xfrm>
          <a:prstGeom prst="roundRect">
            <a:avLst/>
          </a:prstGeom>
          <a:solidFill>
            <a:srgbClr val="ECFDF5"/>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054096" y="4361688"/>
            <a:ext cx="914400" cy="146304"/>
          </a:xfrm>
          <a:prstGeom prst="rect">
            <a:avLst/>
          </a:prstGeom>
          <a:noFill/>
        </p:spPr>
        <p:txBody>
          <a:bodyPr wrap="square" anchor="ctr" lIns="0" rIns="0" tIns="0" bIns="0">
            <a:normAutofit/>
          </a:bodyPr>
          <a:lstStyle/>
          <a:p>
            <a:pPr algn="ctr"/>
            <a:r>
              <a:rPr sz="800" b="1">
                <a:solidFill>
                  <a:srgbClr val="10B981"/>
                </a:solidFill>
                <a:latin typeface="Noto Sans SC"/>
              </a:rPr>
              <a:t>任务适配</a:t>
            </a:r>
          </a:p>
        </p:txBody>
      </p:sp>
      <p:cxnSp>
        <p:nvCxnSpPr>
          <p:cNvPr id="37" name="Connector 36"/>
          <p:cNvCxnSpPr/>
          <p:nvPr/>
        </p:nvCxnSpPr>
        <p:spPr>
          <a:xfrm>
            <a:off x="3986783" y="4471416"/>
            <a:ext cx="182880" cy="0"/>
          </a:xfrm>
          <a:prstGeom prst="line">
            <a:avLst/>
          </a:prstGeom>
          <a:ln w="12700">
            <a:solidFill>
              <a:srgbClr val="10B981"/>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4224528" y="4251960"/>
            <a:ext cx="914400" cy="438912"/>
          </a:xfrm>
          <a:prstGeom prst="roundRect">
            <a:avLst/>
          </a:prstGeom>
          <a:solidFill>
            <a:srgbClr val="ECFDF5"/>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24528" y="4361688"/>
            <a:ext cx="914400" cy="146304"/>
          </a:xfrm>
          <a:prstGeom prst="rect">
            <a:avLst/>
          </a:prstGeom>
          <a:noFill/>
        </p:spPr>
        <p:txBody>
          <a:bodyPr wrap="square" anchor="ctr" lIns="0" rIns="0" tIns="0" bIns="0">
            <a:normAutofit/>
          </a:bodyPr>
          <a:lstStyle/>
          <a:p>
            <a:pPr algn="ctr"/>
            <a:r>
              <a:rPr sz="800" b="1">
                <a:solidFill>
                  <a:srgbClr val="10B981"/>
                </a:solidFill>
                <a:latin typeface="Noto Sans SC"/>
              </a:rPr>
              <a:t>候选图斑</a:t>
            </a:r>
          </a:p>
        </p:txBody>
      </p:sp>
      <p:cxnSp>
        <p:nvCxnSpPr>
          <p:cNvPr id="40" name="Connector 39"/>
          <p:cNvCxnSpPr/>
          <p:nvPr/>
        </p:nvCxnSpPr>
        <p:spPr>
          <a:xfrm>
            <a:off x="5157216" y="4471416"/>
            <a:ext cx="182880" cy="0"/>
          </a:xfrm>
          <a:prstGeom prst="line">
            <a:avLst/>
          </a:prstGeom>
          <a:ln w="12700">
            <a:solidFill>
              <a:srgbClr val="10B981"/>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394960" y="4251960"/>
            <a:ext cx="914400" cy="438912"/>
          </a:xfrm>
          <a:prstGeom prst="roundRect">
            <a:avLst/>
          </a:prstGeom>
          <a:solidFill>
            <a:srgbClr val="ECFDF5"/>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394960" y="4361688"/>
            <a:ext cx="914400" cy="146304"/>
          </a:xfrm>
          <a:prstGeom prst="rect">
            <a:avLst/>
          </a:prstGeom>
          <a:noFill/>
        </p:spPr>
        <p:txBody>
          <a:bodyPr wrap="square" anchor="ctr" lIns="0" rIns="0" tIns="0" bIns="0">
            <a:normAutofit/>
          </a:bodyPr>
          <a:lstStyle/>
          <a:p>
            <a:pPr algn="ctr"/>
            <a:r>
              <a:rPr sz="800" b="1">
                <a:solidFill>
                  <a:srgbClr val="10B981"/>
                </a:solidFill>
                <a:latin typeface="Noto Sans SC"/>
              </a:rPr>
              <a:t>证据包</a:t>
            </a:r>
          </a:p>
        </p:txBody>
      </p:sp>
      <p:pic>
        <p:nvPicPr>
          <p:cNvPr id="43" name="Picture 42" descr="patch_000217_construction_2025-08_vs_2025-09_detail_3442.png"/>
          <p:cNvPicPr>
            <a:picLocks noChangeAspect="1"/>
          </p:cNvPicPr>
          <p:nvPr/>
        </p:nvPicPr>
        <p:blipFill>
          <a:blip r:embed="rId2"/>
          <a:stretch>
            <a:fillRect/>
          </a:stretch>
        </p:blipFill>
        <p:spPr>
          <a:xfrm>
            <a:off x="7571231" y="3035808"/>
            <a:ext cx="3273552" cy="950976"/>
          </a:xfrm>
          <a:prstGeom prst="rect">
            <a:avLst/>
          </a:prstGeom>
        </p:spPr>
      </p:pic>
      <p:pic>
        <p:nvPicPr>
          <p:cNvPr id="44" name="Picture 43" descr="patch_000217_land_conversion_2025-08_vs_2025-09_detail_3442.png"/>
          <p:cNvPicPr>
            <a:picLocks noChangeAspect="1"/>
          </p:cNvPicPr>
          <p:nvPr/>
        </p:nvPicPr>
        <p:blipFill>
          <a:blip r:embed="rId3"/>
          <a:stretch>
            <a:fillRect/>
          </a:stretch>
        </p:blipFill>
        <p:spPr>
          <a:xfrm>
            <a:off x="7571231" y="4261104"/>
            <a:ext cx="3273552" cy="950976"/>
          </a:xfrm>
          <a:prstGeom prst="rect">
            <a:avLst/>
          </a:prstGeom>
        </p:spPr>
      </p:pic>
      <p:sp>
        <p:nvSpPr>
          <p:cNvPr id="45" name="TextBox 44"/>
          <p:cNvSpPr txBox="1"/>
          <p:nvPr/>
        </p:nvSpPr>
        <p:spPr>
          <a:xfrm>
            <a:off x="786384" y="5650992"/>
            <a:ext cx="10607040" cy="384048"/>
          </a:xfrm>
          <a:prstGeom prst="rect">
            <a:avLst/>
          </a:prstGeom>
          <a:noFill/>
        </p:spPr>
        <p:txBody>
          <a:bodyPr wrap="square" anchor="ctr" lIns="0" rIns="0" tIns="0" bIns="0">
            <a:normAutofit/>
          </a:bodyPr>
          <a:lstStyle/>
          <a:p>
            <a:pPr algn="ctr"/>
            <a:r>
              <a:rPr sz="1800" b="1">
                <a:solidFill>
                  <a:srgbClr val="0F172A"/>
                </a:solidFill>
                <a:latin typeface="Noto Sans SC"/>
              </a:rPr>
              <a:t>玄女要做的，是把一次性项目流程变成可复用的地理智能流水线。</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384048" cy="201168"/>
          </a:xfrm>
          <a:prstGeom prst="rect">
            <a:avLst/>
          </a:prstGeom>
          <a:noFill/>
        </p:spPr>
        <p:txBody>
          <a:bodyPr wrap="square" anchor="ctr" lIns="0" rIns="0" tIns="0" bIns="0">
            <a:normAutofit/>
          </a:bodyPr>
          <a:lstStyle/>
          <a:p>
            <a:pPr algn="l"/>
            <a:r>
              <a:rPr sz="800" b="1">
                <a:solidFill>
                  <a:srgbClr val="0EA5E9"/>
                </a:solidFill>
                <a:latin typeface="Noto Sans SC"/>
              </a:rPr>
              <a:t>08</a:t>
            </a:r>
          </a:p>
        </p:txBody>
      </p:sp>
      <p:sp>
        <p:nvSpPr>
          <p:cNvPr id="3" name="TextBox 2"/>
          <p:cNvSpPr txBox="1"/>
          <p:nvPr/>
        </p:nvSpPr>
        <p:spPr>
          <a:xfrm>
            <a:off x="950976" y="256032"/>
            <a:ext cx="10424160" cy="566928"/>
          </a:xfrm>
          <a:prstGeom prst="rect">
            <a:avLst/>
          </a:prstGeom>
          <a:noFill/>
        </p:spPr>
        <p:txBody>
          <a:bodyPr wrap="square" anchor="ctr" lIns="0" rIns="0" tIns="0" bIns="0">
            <a:normAutofit/>
          </a:bodyPr>
          <a:lstStyle/>
          <a:p>
            <a:pPr algn="l"/>
            <a:r>
              <a:rPr sz="2400" b="1">
                <a:solidFill>
                  <a:srgbClr val="0F172A"/>
                </a:solidFill>
                <a:latin typeface="Noto Sans SC"/>
              </a:rPr>
              <a:t>天使用户：政府、企业、高校，痛点都指向同一件事</a:t>
            </a:r>
          </a:p>
        </p:txBody>
      </p:sp>
      <p:sp>
        <p:nvSpPr>
          <p:cNvPr id="4" name="Rounded Rectangle 3"/>
          <p:cNvSpPr/>
          <p:nvPr/>
        </p:nvSpPr>
        <p:spPr>
          <a:xfrm>
            <a:off x="822960" y="1280160"/>
            <a:ext cx="3246120" cy="2743200"/>
          </a:xfrm>
          <a:prstGeom prst="roundRect">
            <a:avLst/>
          </a:prstGeom>
          <a:solidFill>
            <a:srgbClr val="EFF6FF"/>
          </a:solidFill>
          <a:ln w="101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ersona_government_v2_996.png"/>
          <p:cNvPicPr>
            <a:picLocks noChangeAspect="1"/>
          </p:cNvPicPr>
          <p:nvPr/>
        </p:nvPicPr>
        <p:blipFill>
          <a:blip r:embed="rId2"/>
          <a:stretch>
            <a:fillRect/>
          </a:stretch>
        </p:blipFill>
        <p:spPr>
          <a:xfrm>
            <a:off x="1207008" y="1481328"/>
            <a:ext cx="2478024" cy="2487168"/>
          </a:xfrm>
          <a:prstGeom prst="rect">
            <a:avLst/>
          </a:prstGeom>
        </p:spPr>
      </p:pic>
      <p:sp>
        <p:nvSpPr>
          <p:cNvPr id="6" name="TextBox 5"/>
          <p:cNvSpPr txBox="1"/>
          <p:nvPr/>
        </p:nvSpPr>
        <p:spPr>
          <a:xfrm>
            <a:off x="969264" y="4187952"/>
            <a:ext cx="2953512" cy="219456"/>
          </a:xfrm>
          <a:prstGeom prst="rect">
            <a:avLst/>
          </a:prstGeom>
          <a:noFill/>
        </p:spPr>
        <p:txBody>
          <a:bodyPr wrap="square" anchor="ctr" lIns="0" rIns="0" tIns="0" bIns="0">
            <a:normAutofit/>
          </a:bodyPr>
          <a:lstStyle/>
          <a:p>
            <a:pPr algn="ctr"/>
            <a:r>
              <a:rPr sz="1600" b="1">
                <a:solidFill>
                  <a:srgbClr val="0F172A"/>
                </a:solidFill>
                <a:latin typeface="Noto Sans SC"/>
              </a:rPr>
              <a:t>政府部门</a:t>
            </a:r>
          </a:p>
        </p:txBody>
      </p:sp>
      <p:sp>
        <p:nvSpPr>
          <p:cNvPr id="7" name="TextBox 6"/>
          <p:cNvSpPr txBox="1"/>
          <p:nvPr/>
        </p:nvSpPr>
        <p:spPr>
          <a:xfrm>
            <a:off x="1024128" y="4645152"/>
            <a:ext cx="2834640" cy="182880"/>
          </a:xfrm>
          <a:prstGeom prst="rect">
            <a:avLst/>
          </a:prstGeom>
          <a:noFill/>
        </p:spPr>
        <p:txBody>
          <a:bodyPr wrap="square" anchor="ctr" lIns="0" rIns="0" tIns="0" bIns="0">
            <a:normAutofit/>
          </a:bodyPr>
          <a:lstStyle/>
          <a:p>
            <a:pPr algn="ctr"/>
            <a:r>
              <a:rPr sz="1100" b="1">
                <a:solidFill>
                  <a:srgbClr val="2563EB"/>
                </a:solidFill>
                <a:latin typeface="Noto Sans SC"/>
              </a:rPr>
              <a:t>变化图斑太多</a:t>
            </a:r>
          </a:p>
        </p:txBody>
      </p:sp>
      <p:sp>
        <p:nvSpPr>
          <p:cNvPr id="8" name="TextBox 7"/>
          <p:cNvSpPr txBox="1"/>
          <p:nvPr/>
        </p:nvSpPr>
        <p:spPr>
          <a:xfrm>
            <a:off x="1133856" y="5010912"/>
            <a:ext cx="2615184" cy="310896"/>
          </a:xfrm>
          <a:prstGeom prst="rect">
            <a:avLst/>
          </a:prstGeom>
          <a:noFill/>
        </p:spPr>
        <p:txBody>
          <a:bodyPr wrap="square" anchor="ctr" lIns="0" rIns="0" tIns="0" bIns="0">
            <a:normAutofit/>
          </a:bodyPr>
          <a:lstStyle/>
          <a:p>
            <a:pPr algn="ctr"/>
            <a:r>
              <a:rPr sz="900" b="0">
                <a:solidFill>
                  <a:srgbClr val="334155"/>
                </a:solidFill>
                <a:latin typeface="Noto Sans SC"/>
              </a:rPr>
              <a:t>需要证据链、优先级、核查闭环</a:t>
            </a:r>
          </a:p>
        </p:txBody>
      </p:sp>
      <p:sp>
        <p:nvSpPr>
          <p:cNvPr id="9" name="Rounded Rectangle 8"/>
          <p:cNvSpPr/>
          <p:nvPr/>
        </p:nvSpPr>
        <p:spPr>
          <a:xfrm>
            <a:off x="4626864" y="1280160"/>
            <a:ext cx="3246120" cy="2743200"/>
          </a:xfrm>
          <a:prstGeom prst="roundRect">
            <a:avLst/>
          </a:prstGeom>
          <a:solidFill>
            <a:srgbClr val="ECFDF5"/>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ersona_enterprise_v2_996.png"/>
          <p:cNvPicPr>
            <a:picLocks noChangeAspect="1"/>
          </p:cNvPicPr>
          <p:nvPr/>
        </p:nvPicPr>
        <p:blipFill>
          <a:blip r:embed="rId3"/>
          <a:stretch>
            <a:fillRect/>
          </a:stretch>
        </p:blipFill>
        <p:spPr>
          <a:xfrm>
            <a:off x="5010912" y="1481328"/>
            <a:ext cx="2478024" cy="2487168"/>
          </a:xfrm>
          <a:prstGeom prst="rect">
            <a:avLst/>
          </a:prstGeom>
        </p:spPr>
      </p:pic>
      <p:sp>
        <p:nvSpPr>
          <p:cNvPr id="11" name="TextBox 10"/>
          <p:cNvSpPr txBox="1"/>
          <p:nvPr/>
        </p:nvSpPr>
        <p:spPr>
          <a:xfrm>
            <a:off x="4773168" y="4187952"/>
            <a:ext cx="2953512" cy="219456"/>
          </a:xfrm>
          <a:prstGeom prst="rect">
            <a:avLst/>
          </a:prstGeom>
          <a:noFill/>
        </p:spPr>
        <p:txBody>
          <a:bodyPr wrap="square" anchor="ctr" lIns="0" rIns="0" tIns="0" bIns="0">
            <a:normAutofit/>
          </a:bodyPr>
          <a:lstStyle/>
          <a:p>
            <a:pPr algn="ctr"/>
            <a:r>
              <a:rPr sz="1600" b="1">
                <a:solidFill>
                  <a:srgbClr val="0F172A"/>
                </a:solidFill>
                <a:latin typeface="Noto Sans SC"/>
              </a:rPr>
              <a:t>遥感企业</a:t>
            </a:r>
          </a:p>
        </p:txBody>
      </p:sp>
      <p:sp>
        <p:nvSpPr>
          <p:cNvPr id="12" name="TextBox 11"/>
          <p:cNvSpPr txBox="1"/>
          <p:nvPr/>
        </p:nvSpPr>
        <p:spPr>
          <a:xfrm>
            <a:off x="4828032" y="4645152"/>
            <a:ext cx="2834640" cy="182880"/>
          </a:xfrm>
          <a:prstGeom prst="rect">
            <a:avLst/>
          </a:prstGeom>
          <a:noFill/>
        </p:spPr>
        <p:txBody>
          <a:bodyPr wrap="square" anchor="ctr" lIns="0" rIns="0" tIns="0" bIns="0">
            <a:normAutofit/>
          </a:bodyPr>
          <a:lstStyle/>
          <a:p>
            <a:pPr algn="ctr"/>
            <a:r>
              <a:rPr sz="1100" b="1">
                <a:solidFill>
                  <a:srgbClr val="10B981"/>
                </a:solidFill>
                <a:latin typeface="Noto Sans SC"/>
              </a:rPr>
              <a:t>项目越多越重</a:t>
            </a:r>
          </a:p>
        </p:txBody>
      </p:sp>
      <p:sp>
        <p:nvSpPr>
          <p:cNvPr id="13" name="TextBox 12"/>
          <p:cNvSpPr txBox="1"/>
          <p:nvPr/>
        </p:nvSpPr>
        <p:spPr>
          <a:xfrm>
            <a:off x="4937760" y="5010912"/>
            <a:ext cx="2615184" cy="310896"/>
          </a:xfrm>
          <a:prstGeom prst="rect">
            <a:avLst/>
          </a:prstGeom>
          <a:noFill/>
        </p:spPr>
        <p:txBody>
          <a:bodyPr wrap="square" anchor="ctr" lIns="0" rIns="0" tIns="0" bIns="0">
            <a:normAutofit/>
          </a:bodyPr>
          <a:lstStyle/>
          <a:p>
            <a:pPr algn="ctr"/>
            <a:r>
              <a:rPr sz="900" b="0">
                <a:solidFill>
                  <a:srgbClr val="334155"/>
                </a:solidFill>
                <a:latin typeface="Noto Sans SC"/>
              </a:rPr>
              <a:t>需要复用底座、少样本适配、降低人力</a:t>
            </a:r>
          </a:p>
        </p:txBody>
      </p:sp>
      <p:sp>
        <p:nvSpPr>
          <p:cNvPr id="14" name="Rounded Rectangle 13"/>
          <p:cNvSpPr/>
          <p:nvPr/>
        </p:nvSpPr>
        <p:spPr>
          <a:xfrm>
            <a:off x="8430768" y="1280160"/>
            <a:ext cx="3246120" cy="2743200"/>
          </a:xfrm>
          <a:prstGeom prst="roundRect">
            <a:avLst/>
          </a:prstGeom>
          <a:solidFill>
            <a:srgbClr val="F5F3FF"/>
          </a:solidFill>
          <a:ln w="101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persona_university_v2_996.png"/>
          <p:cNvPicPr>
            <a:picLocks noChangeAspect="1"/>
          </p:cNvPicPr>
          <p:nvPr/>
        </p:nvPicPr>
        <p:blipFill>
          <a:blip r:embed="rId4"/>
          <a:stretch>
            <a:fillRect/>
          </a:stretch>
        </p:blipFill>
        <p:spPr>
          <a:xfrm>
            <a:off x="8814816" y="1481328"/>
            <a:ext cx="2478024" cy="2487168"/>
          </a:xfrm>
          <a:prstGeom prst="rect">
            <a:avLst/>
          </a:prstGeom>
        </p:spPr>
      </p:pic>
      <p:sp>
        <p:nvSpPr>
          <p:cNvPr id="16" name="TextBox 15"/>
          <p:cNvSpPr txBox="1"/>
          <p:nvPr/>
        </p:nvSpPr>
        <p:spPr>
          <a:xfrm>
            <a:off x="8577072" y="4187952"/>
            <a:ext cx="2953512" cy="219456"/>
          </a:xfrm>
          <a:prstGeom prst="rect">
            <a:avLst/>
          </a:prstGeom>
          <a:noFill/>
        </p:spPr>
        <p:txBody>
          <a:bodyPr wrap="square" anchor="ctr" lIns="0" rIns="0" tIns="0" bIns="0">
            <a:normAutofit/>
          </a:bodyPr>
          <a:lstStyle/>
          <a:p>
            <a:pPr algn="ctr"/>
            <a:r>
              <a:rPr sz="1600" b="1">
                <a:solidFill>
                  <a:srgbClr val="0F172A"/>
                </a:solidFill>
                <a:latin typeface="Noto Sans SC"/>
              </a:rPr>
              <a:t>高校团队</a:t>
            </a:r>
          </a:p>
        </p:txBody>
      </p:sp>
      <p:sp>
        <p:nvSpPr>
          <p:cNvPr id="17" name="TextBox 16"/>
          <p:cNvSpPr txBox="1"/>
          <p:nvPr/>
        </p:nvSpPr>
        <p:spPr>
          <a:xfrm>
            <a:off x="8631936" y="4645152"/>
            <a:ext cx="2834640" cy="182880"/>
          </a:xfrm>
          <a:prstGeom prst="rect">
            <a:avLst/>
          </a:prstGeom>
          <a:noFill/>
        </p:spPr>
        <p:txBody>
          <a:bodyPr wrap="square" anchor="ctr" lIns="0" rIns="0" tIns="0" bIns="0">
            <a:normAutofit/>
          </a:bodyPr>
          <a:lstStyle/>
          <a:p>
            <a:pPr algn="ctr"/>
            <a:r>
              <a:rPr sz="1100" b="1">
                <a:solidFill>
                  <a:srgbClr val="7C3AED"/>
                </a:solidFill>
                <a:latin typeface="Noto Sans SC"/>
              </a:rPr>
              <a:t>数据工程太重</a:t>
            </a:r>
          </a:p>
        </p:txBody>
      </p:sp>
      <p:sp>
        <p:nvSpPr>
          <p:cNvPr id="18" name="TextBox 17"/>
          <p:cNvSpPr txBox="1"/>
          <p:nvPr/>
        </p:nvSpPr>
        <p:spPr>
          <a:xfrm>
            <a:off x="8741664" y="5010912"/>
            <a:ext cx="2615184" cy="310896"/>
          </a:xfrm>
          <a:prstGeom prst="rect">
            <a:avLst/>
          </a:prstGeom>
          <a:noFill/>
        </p:spPr>
        <p:txBody>
          <a:bodyPr wrap="square" anchor="ctr" lIns="0" rIns="0" tIns="0" bIns="0">
            <a:normAutofit/>
          </a:bodyPr>
          <a:lstStyle/>
          <a:p>
            <a:pPr algn="ctr"/>
            <a:r>
              <a:rPr sz="900" b="0">
                <a:solidFill>
                  <a:srgbClr val="334155"/>
                </a:solidFill>
                <a:latin typeface="Noto Sans SC"/>
              </a:rPr>
              <a:t>需要现成嵌入、预标注、难例检索</a:t>
            </a:r>
          </a:p>
        </p:txBody>
      </p:sp>
      <p:sp>
        <p:nvSpPr>
          <p:cNvPr id="19" name="TextBox 18"/>
          <p:cNvSpPr txBox="1"/>
          <p:nvPr/>
        </p:nvSpPr>
        <p:spPr>
          <a:xfrm>
            <a:off x="786384" y="5696712"/>
            <a:ext cx="10607040" cy="384048"/>
          </a:xfrm>
          <a:prstGeom prst="rect">
            <a:avLst/>
          </a:prstGeom>
          <a:noFill/>
        </p:spPr>
        <p:txBody>
          <a:bodyPr wrap="square" anchor="ctr" lIns="0" rIns="0" tIns="0" bIns="0">
            <a:normAutofit/>
          </a:bodyPr>
          <a:lstStyle/>
          <a:p>
            <a:pPr algn="ctr"/>
            <a:r>
              <a:rPr sz="1800" b="1">
                <a:solidFill>
                  <a:srgbClr val="0F172A"/>
                </a:solidFill>
                <a:latin typeface="Noto Sans SC"/>
              </a:rPr>
              <a:t>三类用户表面不同，本质都是：不要每个任务重做一次遥感工程。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384048" cy="201168"/>
          </a:xfrm>
          <a:prstGeom prst="rect">
            <a:avLst/>
          </a:prstGeom>
          <a:noFill/>
        </p:spPr>
        <p:txBody>
          <a:bodyPr wrap="square" anchor="ctr" lIns="0" rIns="0" tIns="0" bIns="0">
            <a:normAutofit/>
          </a:bodyPr>
          <a:lstStyle/>
          <a:p>
            <a:pPr algn="l"/>
            <a:r>
              <a:rPr sz="800" b="1">
                <a:solidFill>
                  <a:srgbClr val="0EA5E9"/>
                </a:solidFill>
                <a:latin typeface="Noto Sans SC"/>
              </a:rPr>
              <a:t>09</a:t>
            </a:r>
          </a:p>
        </p:txBody>
      </p:sp>
      <p:sp>
        <p:nvSpPr>
          <p:cNvPr id="3" name="TextBox 2"/>
          <p:cNvSpPr txBox="1"/>
          <p:nvPr/>
        </p:nvSpPr>
        <p:spPr>
          <a:xfrm>
            <a:off x="950976" y="256032"/>
            <a:ext cx="10424160" cy="566928"/>
          </a:xfrm>
          <a:prstGeom prst="rect">
            <a:avLst/>
          </a:prstGeom>
          <a:noFill/>
        </p:spPr>
        <p:txBody>
          <a:bodyPr wrap="square" anchor="ctr" lIns="0" rIns="0" tIns="0" bIns="0">
            <a:normAutofit/>
          </a:bodyPr>
          <a:lstStyle/>
          <a:p>
            <a:pPr algn="l"/>
            <a:r>
              <a:rPr sz="2400" b="1">
                <a:solidFill>
                  <a:srgbClr val="0F172A"/>
                </a:solidFill>
                <a:latin typeface="Noto Sans SC"/>
              </a:rPr>
              <a:t>我们的答案：把地球观测转成地理智能底座</a:t>
            </a:r>
          </a:p>
        </p:txBody>
      </p:sp>
      <p:sp>
        <p:nvSpPr>
          <p:cNvPr id="4" name="TextBox 3"/>
          <p:cNvSpPr txBox="1"/>
          <p:nvPr/>
        </p:nvSpPr>
        <p:spPr>
          <a:xfrm>
            <a:off x="950976" y="1188720"/>
            <a:ext cx="10287000" cy="877824"/>
          </a:xfrm>
          <a:prstGeom prst="rect">
            <a:avLst/>
          </a:prstGeom>
          <a:noFill/>
        </p:spPr>
        <p:txBody>
          <a:bodyPr wrap="square" anchor="ctr" lIns="0" rIns="0" tIns="0" bIns="0">
            <a:normAutofit/>
          </a:bodyPr>
          <a:lstStyle/>
          <a:p>
            <a:pPr algn="ctr"/>
            <a:r>
              <a:rPr sz="2400" b="1">
                <a:solidFill>
                  <a:srgbClr val="0F172A"/>
                </a:solidFill>
                <a:latin typeface="Noto Sans SC"/>
              </a:rPr>
              <a:t>我们如何把爆发式增长的地球观测数据转化为可复用的地理智能底座，
让不同用户不再为每个遥感任务重复采购、标注、建模和计算？</a:t>
            </a:r>
          </a:p>
        </p:txBody>
      </p:sp>
      <p:sp>
        <p:nvSpPr>
          <p:cNvPr id="5" name="Rounded Rectangle 4"/>
          <p:cNvSpPr/>
          <p:nvPr/>
        </p:nvSpPr>
        <p:spPr>
          <a:xfrm>
            <a:off x="1188720" y="2944368"/>
            <a:ext cx="4343400" cy="1261872"/>
          </a:xfrm>
          <a:prstGeom prst="roundRect">
            <a:avLst/>
          </a:prstGeom>
          <a:solidFill>
            <a:srgbClr val="EFF6FF"/>
          </a:solidFill>
          <a:ln w="101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81328" y="3182112"/>
            <a:ext cx="3749039" cy="219456"/>
          </a:xfrm>
          <a:prstGeom prst="rect">
            <a:avLst/>
          </a:prstGeom>
          <a:noFill/>
        </p:spPr>
        <p:txBody>
          <a:bodyPr wrap="square" anchor="ctr" lIns="0" rIns="0" tIns="0" bIns="0">
            <a:normAutofit/>
          </a:bodyPr>
          <a:lstStyle/>
          <a:p>
            <a:pPr algn="ctr"/>
            <a:r>
              <a:rPr sz="1400" b="1">
                <a:solidFill>
                  <a:srgbClr val="2563EB"/>
                </a:solidFill>
                <a:latin typeface="Noto Sans SC"/>
              </a:rPr>
              <a:t>文本智能</a:t>
            </a:r>
          </a:p>
        </p:txBody>
      </p:sp>
      <p:sp>
        <p:nvSpPr>
          <p:cNvPr id="7" name="TextBox 6"/>
          <p:cNvSpPr txBox="1"/>
          <p:nvPr/>
        </p:nvSpPr>
        <p:spPr>
          <a:xfrm>
            <a:off x="1481328" y="3602736"/>
            <a:ext cx="3749039" cy="219456"/>
          </a:xfrm>
          <a:prstGeom prst="rect">
            <a:avLst/>
          </a:prstGeom>
          <a:noFill/>
        </p:spPr>
        <p:txBody>
          <a:bodyPr wrap="square" anchor="ctr" lIns="0" rIns="0" tIns="0" bIns="0">
            <a:normAutofit/>
          </a:bodyPr>
          <a:lstStyle/>
          <a:p>
            <a:pPr algn="ctr"/>
            <a:r>
              <a:rPr sz="1100" b="1">
                <a:solidFill>
                  <a:srgbClr val="334155"/>
                </a:solidFill>
                <a:latin typeface="Noto Sans SC"/>
              </a:rPr>
              <a:t>文本 → 语义单元 → 理解 / 检索 / 生成</a:t>
            </a:r>
          </a:p>
        </p:txBody>
      </p:sp>
      <p:sp>
        <p:nvSpPr>
          <p:cNvPr id="8" name="Rounded Rectangle 7"/>
          <p:cNvSpPr/>
          <p:nvPr/>
        </p:nvSpPr>
        <p:spPr>
          <a:xfrm>
            <a:off x="6656832" y="2944368"/>
            <a:ext cx="4343400" cy="1261872"/>
          </a:xfrm>
          <a:prstGeom prst="roundRect">
            <a:avLst/>
          </a:prstGeom>
          <a:solidFill>
            <a:srgbClr val="ECFDF5"/>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0" y="3182112"/>
            <a:ext cx="3749039" cy="219456"/>
          </a:xfrm>
          <a:prstGeom prst="rect">
            <a:avLst/>
          </a:prstGeom>
          <a:noFill/>
        </p:spPr>
        <p:txBody>
          <a:bodyPr wrap="square" anchor="ctr" lIns="0" rIns="0" tIns="0" bIns="0">
            <a:normAutofit/>
          </a:bodyPr>
          <a:lstStyle/>
          <a:p>
            <a:pPr algn="ctr"/>
            <a:r>
              <a:rPr sz="1400" b="1">
                <a:solidFill>
                  <a:srgbClr val="10B981"/>
                </a:solidFill>
                <a:latin typeface="Noto Sans SC"/>
              </a:rPr>
              <a:t>地球智能</a:t>
            </a:r>
          </a:p>
        </p:txBody>
      </p:sp>
      <p:sp>
        <p:nvSpPr>
          <p:cNvPr id="10" name="TextBox 9"/>
          <p:cNvSpPr txBox="1"/>
          <p:nvPr/>
        </p:nvSpPr>
        <p:spPr>
          <a:xfrm>
            <a:off x="6949440" y="3602736"/>
            <a:ext cx="3749039" cy="219456"/>
          </a:xfrm>
          <a:prstGeom prst="rect">
            <a:avLst/>
          </a:prstGeom>
          <a:noFill/>
        </p:spPr>
        <p:txBody>
          <a:bodyPr wrap="square" anchor="ctr" lIns="0" rIns="0" tIns="0" bIns="0">
            <a:normAutofit/>
          </a:bodyPr>
          <a:lstStyle/>
          <a:p>
            <a:pPr algn="ctr"/>
            <a:r>
              <a:rPr sz="1000" b="1">
                <a:solidFill>
                  <a:srgbClr val="334155"/>
                </a:solidFill>
                <a:latin typeface="Noto Sans SC"/>
              </a:rPr>
              <a:t>地球观测 → 地理嵌入 → 监测 / 核查 / 预警 / 决策</a:t>
            </a:r>
          </a:p>
        </p:txBody>
      </p:sp>
      <p:cxnSp>
        <p:nvCxnSpPr>
          <p:cNvPr id="11" name="Connector 10"/>
          <p:cNvCxnSpPr/>
          <p:nvPr/>
        </p:nvCxnSpPr>
        <p:spPr>
          <a:xfrm>
            <a:off x="5650992" y="3584448"/>
            <a:ext cx="795528" cy="0"/>
          </a:xfrm>
          <a:prstGeom prst="line">
            <a:avLst/>
          </a:prstGeom>
          <a:ln w="17780">
            <a:solidFill>
              <a:srgbClr val="E2E8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060704" y="4983480"/>
            <a:ext cx="10058400" cy="530352"/>
          </a:xfrm>
          <a:prstGeom prst="rect">
            <a:avLst/>
          </a:prstGeom>
          <a:noFill/>
        </p:spPr>
        <p:txBody>
          <a:bodyPr wrap="square" anchor="ctr" lIns="0" rIns="0" tIns="0" bIns="0">
            <a:normAutofit/>
          </a:bodyPr>
          <a:lstStyle/>
          <a:p>
            <a:pPr algn="ctr"/>
            <a:r>
              <a:rPr sz="1500" b="1">
                <a:solidFill>
                  <a:srgbClr val="2563EB"/>
                </a:solidFill>
                <a:latin typeface="Noto Sans SC"/>
              </a:rPr>
              <a:t>大模型先把文本转成语义单元，才能进行理解、检索、生成；
玄女先把地球观测转成地理嵌入，才能进行监测、核查、预警和决策。</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