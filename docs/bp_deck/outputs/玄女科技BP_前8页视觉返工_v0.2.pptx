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gif"/><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 - 一次表征 - 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做中国的遥感数据通用嵌入底座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33271"/>
            <a:ext cx="10104120" cy="310896"/>
          </a:xfrm>
          <a:prstGeom prst="rect">
            <a:avLst/>
          </a:prstGeom>
          <a:noFill/>
        </p:spPr>
        <p:txBody>
          <a:bodyPr wrap="square" anchor="ctr" lIns="0" rIns="0" tIns="0" bIns="0">
            <a:normAutofit/>
          </a:bodyPr>
          <a:lstStyle/>
          <a:p>
            <a:pPr algn="l"/>
            <a:r>
              <a:rPr sz="1500" b="1">
                <a:solidFill>
                  <a:srgbClr val="0F172A"/>
                </a:solidFill>
                <a:latin typeface="Noto Sans SC"/>
              </a:rPr>
              <a:t>北京玄女科技有限公司是一家专注于地球空间智能的人工智能基础底座提供商，致力于打造遥感数据通用嵌入底座。</a:t>
            </a:r>
          </a:p>
        </p:txBody>
      </p:sp>
      <p:sp>
        <p:nvSpPr>
          <p:cNvPr id="5" name="TextBox 4"/>
          <p:cNvSpPr txBox="1"/>
          <p:nvPr/>
        </p:nvSpPr>
        <p:spPr>
          <a:xfrm>
            <a:off x="950976" y="1481328"/>
            <a:ext cx="10149840" cy="530352"/>
          </a:xfrm>
          <a:prstGeom prst="rect">
            <a:avLst/>
          </a:prstGeom>
          <a:noFill/>
        </p:spPr>
        <p:txBody>
          <a:bodyPr wrap="square" anchor="ctr" lIns="0" rIns="0" tIns="0" bIns="0">
            <a:normAutofit/>
          </a:bodyPr>
          <a:lstStyle/>
          <a:p>
            <a:pPr algn="l"/>
            <a:r>
              <a:rPr sz="1100" b="0">
                <a:solidFill>
                  <a:srgbClr val="334155"/>
                </a:solidFill>
                <a:latin typeface="Noto Sans SC"/>
              </a:rPr>
              <a:t>公司以遥感领域的大规模预训练模型为核心，为城市治理、自然资源、应急灾害、农业生态等场景提供全球范围内可复用的像素级表征能力，推动遥感智能从“定制化开发”走向“底座赋能”。</a:t>
            </a:r>
          </a:p>
        </p:txBody>
      </p:sp>
      <p:sp>
        <p:nvSpPr>
          <p:cNvPr id="6" name="TextBox 5"/>
          <p:cNvSpPr txBox="1"/>
          <p:nvPr/>
        </p:nvSpPr>
        <p:spPr>
          <a:xfrm>
            <a:off x="1225296"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多元观测</a:t>
            </a:r>
          </a:p>
        </p:txBody>
      </p:sp>
      <p:sp>
        <p:nvSpPr>
          <p:cNvPr id="7" name="TextBox 6"/>
          <p:cNvSpPr txBox="1"/>
          <p:nvPr/>
        </p:nvSpPr>
        <p:spPr>
          <a:xfrm>
            <a:off x="5230368"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地理嵌入</a:t>
            </a:r>
          </a:p>
        </p:txBody>
      </p:sp>
      <p:sp>
        <p:nvSpPr>
          <p:cNvPr id="8" name="TextBox 7"/>
          <p:cNvSpPr txBox="1"/>
          <p:nvPr/>
        </p:nvSpPr>
        <p:spPr>
          <a:xfrm>
            <a:off x="9015984"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下游任务</a:t>
            </a:r>
          </a:p>
        </p:txBody>
      </p:sp>
      <p:pic>
        <p:nvPicPr>
          <p:cNvPr id="9" name="Picture 8" descr="diamond_patch_000339_s2_2025-04_360.png"/>
          <p:cNvPicPr>
            <a:picLocks noChangeAspect="1"/>
          </p:cNvPicPr>
          <p:nvPr/>
        </p:nvPicPr>
        <p:blipFill>
          <a:blip r:embed="rId2"/>
          <a:stretch>
            <a:fillRect/>
          </a:stretch>
        </p:blipFill>
        <p:spPr>
          <a:xfrm>
            <a:off x="1005840" y="2761488"/>
            <a:ext cx="804672" cy="804672"/>
          </a:xfrm>
          <a:prstGeom prst="rect">
            <a:avLst/>
          </a:prstGeom>
        </p:spPr>
      </p:pic>
      <p:sp>
        <p:nvSpPr>
          <p:cNvPr id="10" name="TextBox 9"/>
          <p:cNvSpPr txBox="1"/>
          <p:nvPr/>
        </p:nvSpPr>
        <p:spPr>
          <a:xfrm>
            <a:off x="1847088" y="3017520"/>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哨兵二号光学</a:t>
            </a:r>
          </a:p>
        </p:txBody>
      </p:sp>
      <p:pic>
        <p:nvPicPr>
          <p:cNvPr id="11" name="Picture 10" descr="diamond_patch_000339_s1_2025-04_360.png"/>
          <p:cNvPicPr>
            <a:picLocks noChangeAspect="1"/>
          </p:cNvPicPr>
          <p:nvPr/>
        </p:nvPicPr>
        <p:blipFill>
          <a:blip r:embed="rId3"/>
          <a:stretch>
            <a:fillRect/>
          </a:stretch>
        </p:blipFill>
        <p:spPr>
          <a:xfrm>
            <a:off x="1005840" y="3191256"/>
            <a:ext cx="804672" cy="804672"/>
          </a:xfrm>
          <a:prstGeom prst="rect">
            <a:avLst/>
          </a:prstGeom>
        </p:spPr>
      </p:pic>
      <p:sp>
        <p:nvSpPr>
          <p:cNvPr id="12" name="TextBox 11"/>
          <p:cNvSpPr txBox="1"/>
          <p:nvPr/>
        </p:nvSpPr>
        <p:spPr>
          <a:xfrm>
            <a:off x="1847088" y="3447288"/>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雷达影像</a:t>
            </a:r>
          </a:p>
        </p:txBody>
      </p:sp>
      <p:pic>
        <p:nvPicPr>
          <p:cNvPr id="13" name="Picture 12" descr="diamond_patch_000339_s2_hr_2025-04_360.png"/>
          <p:cNvPicPr>
            <a:picLocks noChangeAspect="1"/>
          </p:cNvPicPr>
          <p:nvPr/>
        </p:nvPicPr>
        <p:blipFill>
          <a:blip r:embed="rId4"/>
          <a:stretch>
            <a:fillRect/>
          </a:stretch>
        </p:blipFill>
        <p:spPr>
          <a:xfrm>
            <a:off x="1005840" y="3621024"/>
            <a:ext cx="804672" cy="804672"/>
          </a:xfrm>
          <a:prstGeom prst="rect">
            <a:avLst/>
          </a:prstGeom>
        </p:spPr>
      </p:pic>
      <p:sp>
        <p:nvSpPr>
          <p:cNvPr id="14" name="TextBox 13"/>
          <p:cNvSpPr txBox="1"/>
          <p:nvPr/>
        </p:nvSpPr>
        <p:spPr>
          <a:xfrm>
            <a:off x="1847088" y="3877056"/>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高分光学</a:t>
            </a:r>
          </a:p>
        </p:txBody>
      </p:sp>
      <p:sp>
        <p:nvSpPr>
          <p:cNvPr id="15" name="TextBox 14"/>
          <p:cNvSpPr txBox="1"/>
          <p:nvPr/>
        </p:nvSpPr>
        <p:spPr>
          <a:xfrm>
            <a:off x="1188720" y="4270248"/>
            <a:ext cx="438912" cy="201168"/>
          </a:xfrm>
          <a:prstGeom prst="rect">
            <a:avLst/>
          </a:prstGeom>
          <a:noFill/>
        </p:spPr>
        <p:txBody>
          <a:bodyPr wrap="square" anchor="ctr" lIns="0" rIns="0" tIns="0" bIns="0">
            <a:normAutofit/>
          </a:bodyPr>
          <a:lstStyle/>
          <a:p>
            <a:pPr algn="ctr"/>
            <a:r>
              <a:rPr sz="1800" b="1">
                <a:solidFill>
                  <a:srgbClr val="64748B"/>
                </a:solidFill>
                <a:latin typeface="Noto Sans SC"/>
              </a:rPr>
              <a:t>…</a:t>
            </a:r>
          </a:p>
        </p:txBody>
      </p:sp>
      <p:pic>
        <p:nvPicPr>
          <p:cNvPr id="16" name="Picture 15" descr="diamond_patch_000339_dem_360.png"/>
          <p:cNvPicPr>
            <a:picLocks noChangeAspect="1"/>
          </p:cNvPicPr>
          <p:nvPr/>
        </p:nvPicPr>
        <p:blipFill>
          <a:blip r:embed="rId5"/>
          <a:stretch>
            <a:fillRect/>
          </a:stretch>
        </p:blipFill>
        <p:spPr>
          <a:xfrm>
            <a:off x="1005840" y="4480560"/>
            <a:ext cx="804672" cy="804672"/>
          </a:xfrm>
          <a:prstGeom prst="rect">
            <a:avLst/>
          </a:prstGeom>
        </p:spPr>
      </p:pic>
      <p:sp>
        <p:nvSpPr>
          <p:cNvPr id="17" name="TextBox 16"/>
          <p:cNvSpPr txBox="1"/>
          <p:nvPr/>
        </p:nvSpPr>
        <p:spPr>
          <a:xfrm>
            <a:off x="1847088" y="4736592"/>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高程数据</a:t>
            </a:r>
          </a:p>
        </p:txBody>
      </p:sp>
      <p:sp>
        <p:nvSpPr>
          <p:cNvPr id="18" name="TextBox 17"/>
          <p:cNvSpPr txBox="1"/>
          <p:nvPr/>
        </p:nvSpPr>
        <p:spPr>
          <a:xfrm>
            <a:off x="32186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19" name="Picture 18" descr="harbin_migration_animated.gif"/>
          <p:cNvPicPr>
            <a:picLocks noChangeAspect="1"/>
          </p:cNvPicPr>
          <p:nvPr/>
        </p:nvPicPr>
        <p:blipFill>
          <a:blip r:embed="rId6"/>
          <a:stretch>
            <a:fillRect/>
          </a:stretch>
        </p:blipFill>
        <p:spPr>
          <a:xfrm>
            <a:off x="4193205" y="2788920"/>
            <a:ext cx="2696117" cy="2487168"/>
          </a:xfrm>
          <a:prstGeom prst="rect">
            <a:avLst/>
          </a:prstGeom>
        </p:spPr>
      </p:pic>
      <p:sp>
        <p:nvSpPr>
          <p:cNvPr id="20" name="TextBox 19"/>
          <p:cNvSpPr txBox="1"/>
          <p:nvPr/>
        </p:nvSpPr>
        <p:spPr>
          <a:xfrm>
            <a:off x="73334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21" name="Picture 20" descr="image5.png"/>
          <p:cNvPicPr>
            <a:picLocks noChangeAspect="1"/>
          </p:cNvPicPr>
          <p:nvPr/>
        </p:nvPicPr>
        <p:blipFill>
          <a:blip r:embed="rId7"/>
          <a:stretch>
            <a:fillRect/>
          </a:stretch>
        </p:blipFill>
        <p:spPr>
          <a:xfrm>
            <a:off x="8217786" y="2816352"/>
            <a:ext cx="974603" cy="896112"/>
          </a:xfrm>
          <a:prstGeom prst="rect">
            <a:avLst/>
          </a:prstGeom>
        </p:spPr>
      </p:pic>
      <p:sp>
        <p:nvSpPr>
          <p:cNvPr id="22" name="TextBox 21"/>
          <p:cNvSpPr txBox="1"/>
          <p:nvPr/>
        </p:nvSpPr>
        <p:spPr>
          <a:xfrm>
            <a:off x="8119872"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土地分类</a:t>
            </a:r>
          </a:p>
        </p:txBody>
      </p:sp>
      <p:pic>
        <p:nvPicPr>
          <p:cNvPr id="23" name="Picture 22" descr="image7.png"/>
          <p:cNvPicPr>
            <a:picLocks noChangeAspect="1"/>
          </p:cNvPicPr>
          <p:nvPr/>
        </p:nvPicPr>
        <p:blipFill>
          <a:blip r:embed="rId8"/>
          <a:stretch>
            <a:fillRect/>
          </a:stretch>
        </p:blipFill>
        <p:spPr>
          <a:xfrm>
            <a:off x="9904970" y="2816352"/>
            <a:ext cx="965227" cy="896112"/>
          </a:xfrm>
          <a:prstGeom prst="rect">
            <a:avLst/>
          </a:prstGeom>
        </p:spPr>
      </p:pic>
      <p:sp>
        <p:nvSpPr>
          <p:cNvPr id="24" name="TextBox 23"/>
          <p:cNvSpPr txBox="1"/>
          <p:nvPr/>
        </p:nvSpPr>
        <p:spPr>
          <a:xfrm>
            <a:off x="9802368"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路网分割</a:t>
            </a:r>
          </a:p>
        </p:txBody>
      </p:sp>
      <p:pic>
        <p:nvPicPr>
          <p:cNvPr id="25" name="Picture 24" descr="image8.png"/>
          <p:cNvPicPr>
            <a:picLocks noChangeAspect="1"/>
          </p:cNvPicPr>
          <p:nvPr/>
        </p:nvPicPr>
        <p:blipFill>
          <a:blip r:embed="rId9"/>
          <a:stretch>
            <a:fillRect/>
          </a:stretch>
        </p:blipFill>
        <p:spPr>
          <a:xfrm>
            <a:off x="8222488" y="4151376"/>
            <a:ext cx="965200" cy="896112"/>
          </a:xfrm>
          <a:prstGeom prst="rect">
            <a:avLst/>
          </a:prstGeom>
        </p:spPr>
      </p:pic>
      <p:sp>
        <p:nvSpPr>
          <p:cNvPr id="26" name="TextBox 25"/>
          <p:cNvSpPr txBox="1"/>
          <p:nvPr/>
        </p:nvSpPr>
        <p:spPr>
          <a:xfrm>
            <a:off x="8119872" y="5120640"/>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土地利用</a:t>
            </a:r>
          </a:p>
        </p:txBody>
      </p:sp>
      <p:sp>
        <p:nvSpPr>
          <p:cNvPr id="27" name="TextBox 26"/>
          <p:cNvSpPr txBox="1"/>
          <p:nvPr/>
        </p:nvSpPr>
        <p:spPr>
          <a:xfrm>
            <a:off x="9802368" y="4398264"/>
            <a:ext cx="1170432" cy="237744"/>
          </a:xfrm>
          <a:prstGeom prst="rect">
            <a:avLst/>
          </a:prstGeom>
          <a:noFill/>
        </p:spPr>
        <p:txBody>
          <a:bodyPr wrap="square" anchor="ctr" lIns="0" rIns="0" tIns="0" bIns="0">
            <a:normAutofit/>
          </a:bodyPr>
          <a:lstStyle/>
          <a:p>
            <a:pPr algn="ctr"/>
            <a:r>
              <a:rPr sz="2200" b="1">
                <a:solidFill>
                  <a:srgbClr val="64748B"/>
                </a:solidFill>
                <a:latin typeface="Noto Sans SC"/>
              </a:rPr>
              <a:t>…</a:t>
            </a:r>
          </a:p>
        </p:txBody>
      </p:sp>
      <p:sp>
        <p:nvSpPr>
          <p:cNvPr id="28" name="TextBox 27"/>
          <p:cNvSpPr txBox="1"/>
          <p:nvPr/>
        </p:nvSpPr>
        <p:spPr>
          <a:xfrm>
            <a:off x="1444752" y="5413248"/>
            <a:ext cx="9326880" cy="201168"/>
          </a:xfrm>
          <a:prstGeom prst="rect">
            <a:avLst/>
          </a:prstGeom>
          <a:noFill/>
        </p:spPr>
        <p:txBody>
          <a:bodyPr wrap="square" anchor="ctr" lIns="0" rIns="0" tIns="0" bIns="0">
            <a:normAutofit/>
          </a:bodyPr>
          <a:lstStyle/>
          <a:p>
            <a:pPr algn="ctr"/>
            <a:r>
              <a:rPr sz="1000" b="0">
                <a:solidFill>
                  <a:srgbClr val="64748B"/>
                </a:solidFill>
                <a:latin typeface="Noto Sans SC"/>
              </a:rPr>
              <a:t>玄女底座融合多元观测数据，生成统一地理嵌入，支撑不同下游任务复用。</a:t>
            </a:r>
          </a:p>
        </p:txBody>
      </p:sp>
      <p:sp>
        <p:nvSpPr>
          <p:cNvPr id="29" name="TextBox 28"/>
          <p:cNvSpPr txBox="1"/>
          <p:nvPr/>
        </p:nvSpPr>
        <p:spPr>
          <a:xfrm>
            <a:off x="786384" y="5980176"/>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一次融合生成统一嵌入，多任务持续复用。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我们为什么要做这样一件事情</a:t>
            </a:r>
          </a:p>
        </p:txBody>
      </p:sp>
      <p:pic>
        <p:nvPicPr>
          <p:cNvPr id="4" name="Picture 3" descr="same_land_multi_satellite_models.png"/>
          <p:cNvPicPr>
            <a:picLocks noChangeAspect="1"/>
          </p:cNvPicPr>
          <p:nvPr/>
        </p:nvPicPr>
        <p:blipFill>
          <a:blip r:embed="rId2"/>
          <a:stretch>
            <a:fillRect/>
          </a:stretch>
        </p:blipFill>
        <p:spPr>
          <a:xfrm>
            <a:off x="658368" y="1292352"/>
            <a:ext cx="5806440" cy="3870960"/>
          </a:xfrm>
          <a:prstGeom prst="rect">
            <a:avLst/>
          </a:prstGeom>
        </p:spPr>
      </p:pic>
      <p:sp>
        <p:nvSpPr>
          <p:cNvPr id="5" name="TextBox 4"/>
          <p:cNvSpPr txBox="1"/>
          <p:nvPr/>
        </p:nvSpPr>
        <p:spPr>
          <a:xfrm>
            <a:off x="896112" y="5431536"/>
            <a:ext cx="5321808" cy="201168"/>
          </a:xfrm>
          <a:prstGeom prst="rect">
            <a:avLst/>
          </a:prstGeom>
          <a:noFill/>
        </p:spPr>
        <p:txBody>
          <a:bodyPr wrap="square" anchor="ctr" lIns="0" rIns="0" tIns="0" bIns="0">
            <a:normAutofit/>
          </a:bodyPr>
          <a:lstStyle/>
          <a:p>
            <a:pPr algn="ctr"/>
            <a:r>
              <a:rPr sz="800" b="0">
                <a:solidFill>
                  <a:srgbClr val="64748B"/>
                </a:solidFill>
                <a:latin typeface="Noto Sans SC"/>
              </a:rPr>
              <a:t>不同地理模型都在对同一地物的多源图像重复编码、解码，造成大量算力与工程成本浪费。</a:t>
            </a:r>
          </a:p>
        </p:txBody>
      </p:sp>
      <p:cxnSp>
        <p:nvCxnSpPr>
          <p:cNvPr id="6" name="Connector 5"/>
          <p:cNvCxnSpPr/>
          <p:nvPr/>
        </p:nvCxnSpPr>
        <p:spPr>
          <a:xfrm>
            <a:off x="6565392" y="1298448"/>
            <a:ext cx="0" cy="3968496"/>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903720" y="1463040"/>
            <a:ext cx="676656" cy="676656"/>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86600" y="1664208"/>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41464" y="1719072"/>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96328" y="1773936"/>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68312" y="1773936"/>
            <a:ext cx="347472" cy="182880"/>
          </a:xfrm>
          <a:prstGeom prst="rect">
            <a:avLst/>
          </a:prstGeom>
          <a:noFill/>
        </p:spPr>
        <p:txBody>
          <a:bodyPr wrap="square" anchor="ctr" lIns="0" rIns="0" tIns="0" bIns="0">
            <a:normAutofit/>
          </a:bodyPr>
          <a:lstStyle/>
          <a:p>
            <a:pPr algn="ctr"/>
            <a:r>
              <a:rPr sz="1100" b="1">
                <a:solidFill>
                  <a:srgbClr val="2563EB"/>
                </a:solidFill>
                <a:latin typeface="Noto Sans SC"/>
              </a:rPr>
              <a:t>↻</a:t>
            </a:r>
          </a:p>
        </p:txBody>
      </p:sp>
      <p:sp>
        <p:nvSpPr>
          <p:cNvPr id="12" name="TextBox 11"/>
          <p:cNvSpPr txBox="1"/>
          <p:nvPr/>
        </p:nvSpPr>
        <p:spPr>
          <a:xfrm>
            <a:off x="7772400" y="1463040"/>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同一批观测，被反复训练</a:t>
            </a:r>
          </a:p>
        </p:txBody>
      </p:sp>
      <p:sp>
        <p:nvSpPr>
          <p:cNvPr id="13" name="TextBox 12"/>
          <p:cNvSpPr txBox="1"/>
          <p:nvPr/>
        </p:nvSpPr>
        <p:spPr>
          <a:xfrm>
            <a:off x="7772400" y="1828800"/>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气象、分割、变化检测模型，各自重建底层特征。</a:t>
            </a:r>
          </a:p>
        </p:txBody>
      </p:sp>
      <p:cxnSp>
        <p:nvCxnSpPr>
          <p:cNvPr id="14" name="Connector 13"/>
          <p:cNvCxnSpPr/>
          <p:nvPr/>
        </p:nvCxnSpPr>
        <p:spPr>
          <a:xfrm>
            <a:off x="7772400" y="2313432"/>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903720" y="2807208"/>
            <a:ext cx="676656" cy="676656"/>
          </a:xfrm>
          <a:prstGeom prst="ellipse">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14032" y="3017520"/>
            <a:ext cx="256032" cy="256032"/>
          </a:xfrm>
          <a:prstGeom prst="rect">
            <a:avLst/>
          </a:prstGeom>
          <a:solidFill>
            <a:srgbClr val="FFFFFF"/>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31736"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15783"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1736"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415783"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2807208"/>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成本耗在重复编码</a:t>
            </a:r>
          </a:p>
        </p:txBody>
      </p:sp>
      <p:sp>
        <p:nvSpPr>
          <p:cNvPr id="22" name="TextBox 21"/>
          <p:cNvSpPr txBox="1"/>
          <p:nvPr/>
        </p:nvSpPr>
        <p:spPr>
          <a:xfrm>
            <a:off x="7772400" y="3172968"/>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数据处理、标注、训练无法复用，任务越多成本越高。</a:t>
            </a:r>
          </a:p>
        </p:txBody>
      </p:sp>
      <p:cxnSp>
        <p:nvCxnSpPr>
          <p:cNvPr id="23" name="Connector 22"/>
          <p:cNvCxnSpPr/>
          <p:nvPr/>
        </p:nvCxnSpPr>
        <p:spPr>
          <a:xfrm>
            <a:off x="7772400" y="3657600"/>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903720" y="4151376"/>
            <a:ext cx="676656" cy="676656"/>
          </a:xfrm>
          <a:prstGeom prst="ellipse">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178040" y="4425696"/>
            <a:ext cx="128016" cy="128016"/>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flipH="1" flipV="1">
            <a:off x="7086600"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054596"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flipV="1">
            <a:off x="7242048"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365492"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flipH="1">
            <a:off x="7086600"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054596"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7242048"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7365492"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0" y="4151376"/>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缺少通用嵌入层</a:t>
            </a:r>
          </a:p>
        </p:txBody>
      </p:sp>
      <p:sp>
        <p:nvSpPr>
          <p:cNvPr id="35" name="TextBox 34"/>
          <p:cNvSpPr txBox="1"/>
          <p:nvPr/>
        </p:nvSpPr>
        <p:spPr>
          <a:xfrm>
            <a:off x="7772400" y="4517136"/>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行业需要统一地理表征，连接多源观测与下游应用。</a:t>
            </a:r>
          </a:p>
        </p:txBody>
      </p:sp>
      <p:cxnSp>
        <p:nvCxnSpPr>
          <p:cNvPr id="36" name="Connector 35"/>
          <p:cNvCxnSpPr/>
          <p:nvPr/>
        </p:nvCxnSpPr>
        <p:spPr>
          <a:xfrm>
            <a:off x="7772400" y="5001768"/>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从每个任务重训，走向一次嵌入、多任务复用。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谷歌已经验证地理嵌入方向，中国需要本土版本</a:t>
            </a:r>
          </a:p>
        </p:txBody>
      </p:sp>
      <p:sp>
        <p:nvSpPr>
          <p:cNvPr id="4" name="Rounded Rectangle 3"/>
          <p:cNvSpPr/>
          <p:nvPr/>
        </p:nvSpPr>
        <p:spPr>
          <a:xfrm>
            <a:off x="859536" y="1188720"/>
            <a:ext cx="5074920" cy="4251960"/>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214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谷歌卫星嵌入</a:t>
            </a:r>
          </a:p>
        </p:txBody>
      </p:sp>
      <p:sp>
        <p:nvSpPr>
          <p:cNvPr id="6" name="Rounded Rectangle 5"/>
          <p:cNvSpPr/>
          <p:nvPr/>
        </p:nvSpPr>
        <p:spPr>
          <a:xfrm>
            <a:off x="1188720" y="2176272"/>
            <a:ext cx="1170432" cy="9144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2295144"/>
            <a:ext cx="841248" cy="274320"/>
          </a:xfrm>
          <a:prstGeom prst="rect">
            <a:avLst/>
          </a:prstGeom>
          <a:noFill/>
        </p:spPr>
        <p:txBody>
          <a:bodyPr wrap="square" anchor="ctr" lIns="0" rIns="0" tIns="0" bIns="0">
            <a:normAutofit/>
          </a:bodyPr>
          <a:lstStyle/>
          <a:p>
            <a:pPr algn="ctr"/>
            <a:r>
              <a:rPr sz="1800" b="1">
                <a:solidFill>
                  <a:srgbClr val="2563EB"/>
                </a:solidFill>
                <a:latin typeface="Noto Sans SC"/>
              </a:rPr>
              <a:t>10 米</a:t>
            </a:r>
          </a:p>
        </p:txBody>
      </p:sp>
      <p:sp>
        <p:nvSpPr>
          <p:cNvPr id="8" name="TextBox 7"/>
          <p:cNvSpPr txBox="1"/>
          <p:nvPr/>
        </p:nvSpPr>
        <p:spPr>
          <a:xfrm>
            <a:off x="13350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全球年度嵌入</a:t>
            </a:r>
          </a:p>
        </p:txBody>
      </p:sp>
      <p:sp>
        <p:nvSpPr>
          <p:cNvPr id="9" name="Rounded Rectangle 8"/>
          <p:cNvSpPr/>
          <p:nvPr/>
        </p:nvSpPr>
        <p:spPr>
          <a:xfrm>
            <a:off x="2560320"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24912"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64 维</a:t>
            </a:r>
          </a:p>
        </p:txBody>
      </p:sp>
      <p:sp>
        <p:nvSpPr>
          <p:cNvPr id="11" name="TextBox 10"/>
          <p:cNvSpPr txBox="1"/>
          <p:nvPr/>
        </p:nvSpPr>
        <p:spPr>
          <a:xfrm>
            <a:off x="27066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机器可调用表征</a:t>
            </a:r>
          </a:p>
        </p:txBody>
      </p:sp>
      <p:sp>
        <p:nvSpPr>
          <p:cNvPr id="12" name="Rounded Rectangle 11"/>
          <p:cNvSpPr/>
          <p:nvPr/>
        </p:nvSpPr>
        <p:spPr>
          <a:xfrm>
            <a:off x="393192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96511"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八年</a:t>
            </a:r>
          </a:p>
        </p:txBody>
      </p:sp>
      <p:sp>
        <p:nvSpPr>
          <p:cNvPr id="14" name="TextBox 13"/>
          <p:cNvSpPr txBox="1"/>
          <p:nvPr/>
        </p:nvSpPr>
        <p:spPr>
          <a:xfrm>
            <a:off x="407822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连续年度覆盖</a:t>
            </a:r>
          </a:p>
        </p:txBody>
      </p:sp>
      <p:sp>
        <p:nvSpPr>
          <p:cNvPr id="15" name="TextBox 14"/>
          <p:cNvSpPr txBox="1"/>
          <p:nvPr/>
        </p:nvSpPr>
        <p:spPr>
          <a:xfrm>
            <a:off x="1152144" y="3703320"/>
            <a:ext cx="4389120" cy="384048"/>
          </a:xfrm>
          <a:prstGeom prst="rect">
            <a:avLst/>
          </a:prstGeom>
          <a:noFill/>
        </p:spPr>
        <p:txBody>
          <a:bodyPr wrap="square" anchor="ctr" lIns="0" rIns="0" tIns="0" bIns="0">
            <a:normAutofit/>
          </a:bodyPr>
          <a:lstStyle/>
          <a:p>
            <a:pPr algn="ctr"/>
            <a:r>
              <a:rPr sz="1300" b="1">
                <a:solidFill>
                  <a:srgbClr val="334155"/>
                </a:solidFill>
                <a:latin typeface="Noto Sans SC"/>
              </a:rPr>
              <a:t>海外头部公司已将卫星影像从图像资产升级为机器可调用的基础表征。</a:t>
            </a:r>
          </a:p>
        </p:txBody>
      </p:sp>
      <p:sp>
        <p:nvSpPr>
          <p:cNvPr id="16" name="Rounded Rectangle 15"/>
          <p:cNvSpPr/>
          <p:nvPr/>
        </p:nvSpPr>
        <p:spPr>
          <a:xfrm>
            <a:off x="6254496" y="1188720"/>
            <a:ext cx="5074920" cy="4251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玄女的中国路径</a:t>
            </a:r>
          </a:p>
        </p:txBody>
      </p:sp>
      <p:sp>
        <p:nvSpPr>
          <p:cNvPr id="18" name="Rounded Rectangle 17"/>
          <p:cNvSpPr/>
          <p:nvPr/>
        </p:nvSpPr>
        <p:spPr>
          <a:xfrm>
            <a:off x="6583680" y="2176272"/>
            <a:ext cx="1170432" cy="914400"/>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48272" y="2295144"/>
            <a:ext cx="841248" cy="274320"/>
          </a:xfrm>
          <a:prstGeom prst="rect">
            <a:avLst/>
          </a:prstGeom>
          <a:noFill/>
        </p:spPr>
        <p:txBody>
          <a:bodyPr wrap="square" anchor="ctr" lIns="0" rIns="0" tIns="0" bIns="0">
            <a:normAutofit/>
          </a:bodyPr>
          <a:lstStyle/>
          <a:p>
            <a:pPr algn="ctr"/>
            <a:r>
              <a:rPr sz="1800" b="1">
                <a:solidFill>
                  <a:srgbClr val="0EA5E9"/>
                </a:solidFill>
                <a:latin typeface="Noto Sans SC"/>
              </a:rPr>
              <a:t>11 天</a:t>
            </a:r>
          </a:p>
        </p:txBody>
      </p:sp>
      <p:sp>
        <p:nvSpPr>
          <p:cNvPr id="20" name="TextBox 19"/>
          <p:cNvSpPr txBox="1"/>
          <p:nvPr/>
        </p:nvSpPr>
        <p:spPr>
          <a:xfrm>
            <a:off x="672998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支持高频巡查</a:t>
            </a:r>
          </a:p>
        </p:txBody>
      </p:sp>
      <p:sp>
        <p:nvSpPr>
          <p:cNvPr id="21" name="Rounded Rectangle 20"/>
          <p:cNvSpPr/>
          <p:nvPr/>
        </p:nvSpPr>
        <p:spPr>
          <a:xfrm>
            <a:off x="7955279"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9871"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高分</a:t>
            </a:r>
          </a:p>
        </p:txBody>
      </p:sp>
      <p:sp>
        <p:nvSpPr>
          <p:cNvPr id="23" name="TextBox 22"/>
          <p:cNvSpPr txBox="1"/>
          <p:nvPr/>
        </p:nvSpPr>
        <p:spPr>
          <a:xfrm>
            <a:off x="8101583"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看清城市小目标</a:t>
            </a:r>
          </a:p>
        </p:txBody>
      </p:sp>
      <p:sp>
        <p:nvSpPr>
          <p:cNvPr id="24" name="Rounded Rectangle 23"/>
          <p:cNvSpPr/>
          <p:nvPr/>
        </p:nvSpPr>
        <p:spPr>
          <a:xfrm>
            <a:off x="932688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91472"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国产算力</a:t>
            </a:r>
          </a:p>
        </p:txBody>
      </p:sp>
      <p:sp>
        <p:nvSpPr>
          <p:cNvPr id="26" name="TextBox 25"/>
          <p:cNvSpPr txBox="1"/>
          <p:nvPr/>
        </p:nvSpPr>
        <p:spPr>
          <a:xfrm>
            <a:off x="947318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可进入本土部署</a:t>
            </a:r>
          </a:p>
        </p:txBody>
      </p:sp>
      <p:sp>
        <p:nvSpPr>
          <p:cNvPr id="27" name="TextBox 26"/>
          <p:cNvSpPr txBox="1"/>
          <p:nvPr/>
        </p:nvSpPr>
        <p:spPr>
          <a:xfrm>
            <a:off x="6547104" y="3703320"/>
            <a:ext cx="4389120" cy="420624"/>
          </a:xfrm>
          <a:prstGeom prst="rect">
            <a:avLst/>
          </a:prstGeom>
          <a:noFill/>
        </p:spPr>
        <p:txBody>
          <a:bodyPr wrap="square" anchor="ctr" lIns="0" rIns="0" tIns="0" bIns="0">
            <a:normAutofit/>
          </a:bodyPr>
          <a:lstStyle/>
          <a:p>
            <a:pPr algn="ctr"/>
            <a:r>
              <a:rPr sz="1300" b="1">
                <a:solidFill>
                  <a:srgbClr val="334155"/>
                </a:solidFill>
                <a:latin typeface="Noto Sans SC"/>
              </a:rPr>
              <a:t>中国客户需要本土数据、本土算力、本土业务流程里的地理智能底座。</a:t>
            </a:r>
          </a:p>
        </p:txBody>
      </p:sp>
      <p:sp>
        <p:nvSpPr>
          <p:cNvPr id="28" name="TextBox 27"/>
          <p:cNvSpPr txBox="1"/>
          <p:nvPr/>
        </p:nvSpPr>
        <p:spPr>
          <a:xfrm>
            <a:off x="786384" y="5715000"/>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商业航天解决“看见地球”，地理嵌入解决“理解地球”。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商业航天把数据推向爆发，遥感应用还卡在重流程</a:t>
            </a:r>
          </a:p>
        </p:txBody>
      </p:sp>
      <p:sp>
        <p:nvSpPr>
          <p:cNvPr id="4" name="Rounded Rectangle 3"/>
          <p:cNvSpPr/>
          <p:nvPr/>
        </p:nvSpPr>
        <p:spPr>
          <a:xfrm>
            <a:off x="841248" y="1627632"/>
            <a:ext cx="1152144" cy="65836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783080"/>
            <a:ext cx="1152144" cy="182880"/>
          </a:xfrm>
          <a:prstGeom prst="rect">
            <a:avLst/>
          </a:prstGeom>
          <a:noFill/>
        </p:spPr>
        <p:txBody>
          <a:bodyPr wrap="square" anchor="ctr" lIns="0" rIns="0" tIns="0" bIns="0">
            <a:normAutofit/>
          </a:bodyPr>
          <a:lstStyle/>
          <a:p>
            <a:pPr algn="ctr"/>
            <a:r>
              <a:rPr sz="1100" b="1">
                <a:solidFill>
                  <a:srgbClr val="2563EB"/>
                </a:solidFill>
                <a:latin typeface="Noto Sans SC"/>
              </a:rPr>
              <a:t>制造</a:t>
            </a:r>
          </a:p>
        </p:txBody>
      </p:sp>
      <p:cxnSp>
        <p:nvCxnSpPr>
          <p:cNvPr id="6" name="Connector 5"/>
          <p:cNvCxnSpPr/>
          <p:nvPr/>
        </p:nvCxnSpPr>
        <p:spPr>
          <a:xfrm>
            <a:off x="2011680" y="1956816"/>
            <a:ext cx="402336"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60320" y="1627632"/>
            <a:ext cx="1152144" cy="658368"/>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0" y="1783080"/>
            <a:ext cx="1152144" cy="182880"/>
          </a:xfrm>
          <a:prstGeom prst="rect">
            <a:avLst/>
          </a:prstGeom>
          <a:noFill/>
        </p:spPr>
        <p:txBody>
          <a:bodyPr wrap="square" anchor="ctr" lIns="0" rIns="0" tIns="0" bIns="0">
            <a:normAutofit/>
          </a:bodyPr>
          <a:lstStyle/>
          <a:p>
            <a:pPr algn="ctr"/>
            <a:r>
              <a:rPr sz="1100" b="1">
                <a:solidFill>
                  <a:srgbClr val="0EA5E9"/>
                </a:solidFill>
                <a:latin typeface="Noto Sans SC"/>
              </a:rPr>
              <a:t>发射</a:t>
            </a:r>
          </a:p>
        </p:txBody>
      </p:sp>
      <p:cxnSp>
        <p:nvCxnSpPr>
          <p:cNvPr id="9" name="Connector 8"/>
          <p:cNvCxnSpPr/>
          <p:nvPr/>
        </p:nvCxnSpPr>
        <p:spPr>
          <a:xfrm>
            <a:off x="3730752"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79392"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组网</a:t>
            </a:r>
          </a:p>
        </p:txBody>
      </p:sp>
      <p:cxnSp>
        <p:nvCxnSpPr>
          <p:cNvPr id="12" name="Connector 11"/>
          <p:cNvCxnSpPr/>
          <p:nvPr/>
        </p:nvCxnSpPr>
        <p:spPr>
          <a:xfrm>
            <a:off x="5449824"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98464"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98464"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下行</a:t>
            </a:r>
          </a:p>
        </p:txBody>
      </p:sp>
      <p:cxnSp>
        <p:nvCxnSpPr>
          <p:cNvPr id="15" name="Connector 14"/>
          <p:cNvCxnSpPr/>
          <p:nvPr/>
        </p:nvCxnSpPr>
        <p:spPr>
          <a:xfrm>
            <a:off x="7168896"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17536" y="1627632"/>
            <a:ext cx="1152144" cy="65836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7536" y="1783080"/>
            <a:ext cx="1152144" cy="182880"/>
          </a:xfrm>
          <a:prstGeom prst="rect">
            <a:avLst/>
          </a:prstGeom>
          <a:noFill/>
        </p:spPr>
        <p:txBody>
          <a:bodyPr wrap="square" anchor="ctr" lIns="0" rIns="0" tIns="0" bIns="0">
            <a:normAutofit/>
          </a:bodyPr>
          <a:lstStyle/>
          <a:p>
            <a:pPr algn="ctr"/>
            <a:r>
              <a:rPr sz="1100" b="1">
                <a:solidFill>
                  <a:srgbClr val="F59E0B"/>
                </a:solidFill>
                <a:latin typeface="Noto Sans SC"/>
              </a:rPr>
              <a:t>处理</a:t>
            </a:r>
          </a:p>
        </p:txBody>
      </p:sp>
      <p:cxnSp>
        <p:nvCxnSpPr>
          <p:cNvPr id="18" name="Connector 17"/>
          <p:cNvCxnSpPr/>
          <p:nvPr/>
        </p:nvCxnSpPr>
        <p:spPr>
          <a:xfrm>
            <a:off x="8887967" y="1956816"/>
            <a:ext cx="402337"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436607" y="1627632"/>
            <a:ext cx="1152144" cy="65836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36607" y="1783080"/>
            <a:ext cx="1152144" cy="182880"/>
          </a:xfrm>
          <a:prstGeom prst="rect">
            <a:avLst/>
          </a:prstGeom>
          <a:noFill/>
        </p:spPr>
        <p:txBody>
          <a:bodyPr wrap="square" anchor="ctr" lIns="0" rIns="0" tIns="0" bIns="0">
            <a:normAutofit/>
          </a:bodyPr>
          <a:lstStyle/>
          <a:p>
            <a:pPr algn="ctr"/>
            <a:r>
              <a:rPr sz="1100" b="1">
                <a:solidFill>
                  <a:srgbClr val="7C3AED"/>
                </a:solidFill>
                <a:latin typeface="Noto Sans SC"/>
              </a:rPr>
              <a:t>应用</a:t>
            </a:r>
          </a:p>
        </p:txBody>
      </p:sp>
      <p:sp>
        <p:nvSpPr>
          <p:cNvPr id="21" name="Rounded Rectangle 20"/>
          <p:cNvSpPr/>
          <p:nvPr/>
        </p:nvSpPr>
        <p:spPr>
          <a:xfrm>
            <a:off x="7754112" y="2596896"/>
            <a:ext cx="3273552" cy="877824"/>
          </a:xfrm>
          <a:prstGeom prst="roundRect">
            <a:avLst/>
          </a:prstGeom>
          <a:solidFill>
            <a:srgbClr val="FFF7ED"/>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28431" y="2788920"/>
            <a:ext cx="2724912" cy="201168"/>
          </a:xfrm>
          <a:prstGeom prst="rect">
            <a:avLst/>
          </a:prstGeom>
          <a:noFill/>
        </p:spPr>
        <p:txBody>
          <a:bodyPr wrap="square" anchor="ctr" lIns="0" rIns="0" tIns="0" bIns="0">
            <a:normAutofit/>
          </a:bodyPr>
          <a:lstStyle/>
          <a:p>
            <a:pPr algn="ctr"/>
            <a:r>
              <a:rPr sz="1200" b="1">
                <a:solidFill>
                  <a:srgbClr val="F59E0B"/>
                </a:solidFill>
                <a:latin typeface="Noto Sans SC"/>
              </a:rPr>
              <a:t>真正卡住商业化的是应用层</a:t>
            </a:r>
          </a:p>
        </p:txBody>
      </p:sp>
      <p:sp>
        <p:nvSpPr>
          <p:cNvPr id="23" name="TextBox 22"/>
          <p:cNvSpPr txBox="1"/>
          <p:nvPr/>
        </p:nvSpPr>
        <p:spPr>
          <a:xfrm>
            <a:off x="8028431" y="3127248"/>
            <a:ext cx="2724912" cy="182880"/>
          </a:xfrm>
          <a:prstGeom prst="rect">
            <a:avLst/>
          </a:prstGeom>
          <a:noFill/>
        </p:spPr>
        <p:txBody>
          <a:bodyPr wrap="square" anchor="ctr" lIns="0" rIns="0" tIns="0" bIns="0">
            <a:normAutofit/>
          </a:bodyPr>
          <a:lstStyle/>
          <a:p>
            <a:pPr algn="ctr"/>
            <a:r>
              <a:rPr sz="900" b="1">
                <a:solidFill>
                  <a:srgbClr val="334155"/>
                </a:solidFill>
                <a:latin typeface="Noto Sans SC"/>
              </a:rPr>
              <a:t>处理、标注、建模、核查仍重度项目制</a:t>
            </a:r>
          </a:p>
        </p:txBody>
      </p:sp>
      <p:pic>
        <p:nvPicPr>
          <p:cNvPr id="24" name="Picture 23" descr="harbin_migration_frame_1514.png"/>
          <p:cNvPicPr>
            <a:picLocks noChangeAspect="1"/>
          </p:cNvPicPr>
          <p:nvPr/>
        </p:nvPicPr>
        <p:blipFill>
          <a:blip r:embed="rId2"/>
          <a:stretch>
            <a:fillRect/>
          </a:stretch>
        </p:blipFill>
        <p:spPr>
          <a:xfrm>
            <a:off x="841248" y="2907792"/>
            <a:ext cx="2880360" cy="1901952"/>
          </a:xfrm>
          <a:prstGeom prst="rect">
            <a:avLst/>
          </a:prstGeom>
        </p:spPr>
      </p:pic>
      <p:pic>
        <p:nvPicPr>
          <p:cNvPr id="25" name="Picture 24" descr="patch_000339_dynamic_world_2025-04_detail_1514.png"/>
          <p:cNvPicPr>
            <a:picLocks noChangeAspect="1"/>
          </p:cNvPicPr>
          <p:nvPr/>
        </p:nvPicPr>
        <p:blipFill>
          <a:blip r:embed="rId3"/>
          <a:stretch>
            <a:fillRect/>
          </a:stretch>
        </p:blipFill>
        <p:spPr>
          <a:xfrm>
            <a:off x="3931920" y="2907792"/>
            <a:ext cx="2880360" cy="1901952"/>
          </a:xfrm>
          <a:prstGeom prst="rect">
            <a:avLst/>
          </a:prstGeom>
        </p:spPr>
      </p:pic>
      <p:pic>
        <p:nvPicPr>
          <p:cNvPr id="26" name="Picture 25" descr="patch_000146_2025-06_vs_2025-08_detail_2962.png"/>
          <p:cNvPicPr>
            <a:picLocks noChangeAspect="1"/>
          </p:cNvPicPr>
          <p:nvPr/>
        </p:nvPicPr>
        <p:blipFill>
          <a:blip r:embed="rId4"/>
          <a:stretch>
            <a:fillRect/>
          </a:stretch>
        </p:blipFill>
        <p:spPr>
          <a:xfrm>
            <a:off x="7443216" y="3895344"/>
            <a:ext cx="2926080" cy="987552"/>
          </a:xfrm>
          <a:prstGeom prst="rect">
            <a:avLst/>
          </a:prstGeom>
        </p:spPr>
      </p:pic>
      <p:sp>
        <p:nvSpPr>
          <p:cNvPr id="27" name="TextBox 26"/>
          <p:cNvSpPr txBox="1"/>
          <p:nvPr/>
        </p:nvSpPr>
        <p:spPr>
          <a:xfrm>
            <a:off x="841248"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新区级连续监测</a:t>
            </a:r>
          </a:p>
        </p:txBody>
      </p:sp>
      <p:sp>
        <p:nvSpPr>
          <p:cNvPr id="28" name="TextBox 27"/>
          <p:cNvSpPr txBox="1"/>
          <p:nvPr/>
        </p:nvSpPr>
        <p:spPr>
          <a:xfrm>
            <a:off x="3931920"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多任务结果复用</a:t>
            </a:r>
          </a:p>
        </p:txBody>
      </p:sp>
      <p:sp>
        <p:nvSpPr>
          <p:cNvPr id="29" name="TextBox 28"/>
          <p:cNvSpPr txBox="1"/>
          <p:nvPr/>
        </p:nvSpPr>
        <p:spPr>
          <a:xfrm>
            <a:off x="7443216" y="5029200"/>
            <a:ext cx="2926080" cy="182880"/>
          </a:xfrm>
          <a:prstGeom prst="rect">
            <a:avLst/>
          </a:prstGeom>
          <a:noFill/>
        </p:spPr>
        <p:txBody>
          <a:bodyPr wrap="square" anchor="ctr" lIns="0" rIns="0" tIns="0" bIns="0">
            <a:normAutofit/>
          </a:bodyPr>
          <a:lstStyle/>
          <a:p>
            <a:pPr algn="ctr"/>
            <a:r>
              <a:rPr sz="900" b="1">
                <a:solidFill>
                  <a:srgbClr val="334155"/>
                </a:solidFill>
                <a:latin typeface="Noto Sans SC"/>
              </a:rPr>
              <a:t>云遮挡与缺失模态</a:t>
            </a:r>
          </a:p>
        </p:txBody>
      </p:sp>
      <p:sp>
        <p:nvSpPr>
          <p:cNvPr id="30" name="TextBox 29"/>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窗口期的核心机会：更低成本、更快交付、更高频更新。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