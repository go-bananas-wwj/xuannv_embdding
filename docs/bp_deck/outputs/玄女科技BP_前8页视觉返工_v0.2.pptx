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gif"/><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geo_embedding_cover_white_v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9808" y="1298448"/>
            <a:ext cx="4114800" cy="384048"/>
          </a:xfrm>
          <a:prstGeom prst="rect">
            <a:avLst/>
          </a:prstGeom>
          <a:noFill/>
        </p:spPr>
        <p:txBody>
          <a:bodyPr wrap="square" anchor="ctr" lIns="0" rIns="0" tIns="0" bIns="0">
            <a:normAutofit/>
          </a:bodyPr>
          <a:lstStyle/>
          <a:p>
            <a:pPr algn="l"/>
            <a:r>
              <a:rPr sz="2400" b="1">
                <a:solidFill>
                  <a:srgbClr val="0F172A"/>
                </a:solidFill>
                <a:latin typeface="Noto Sans SC"/>
              </a:rPr>
              <a:t>玄女科技</a:t>
            </a:r>
          </a:p>
        </p:txBody>
      </p:sp>
      <p:sp>
        <p:nvSpPr>
          <p:cNvPr id="4" name="TextBox 3"/>
          <p:cNvSpPr txBox="1"/>
          <p:nvPr/>
        </p:nvSpPr>
        <p:spPr>
          <a:xfrm>
            <a:off x="749808" y="1901952"/>
            <a:ext cx="4983480" cy="1051560"/>
          </a:xfrm>
          <a:prstGeom prst="rect">
            <a:avLst/>
          </a:prstGeom>
          <a:noFill/>
        </p:spPr>
        <p:txBody>
          <a:bodyPr wrap="square" anchor="ctr" lIns="0" rIns="0" tIns="0" bIns="0">
            <a:normAutofit/>
          </a:bodyPr>
          <a:lstStyle/>
          <a:p>
            <a:pPr algn="l"/>
            <a:r>
              <a:rPr sz="3100" b="1">
                <a:solidFill>
                  <a:srgbClr val="0F172A"/>
                </a:solidFill>
                <a:latin typeface="Noto Sans SC"/>
              </a:rPr>
              <a:t>用地理嵌入
赋能遥感智能应用</a:t>
            </a:r>
          </a:p>
        </p:txBody>
      </p:sp>
      <p:sp>
        <p:nvSpPr>
          <p:cNvPr id="5" name="TextBox 4"/>
          <p:cNvSpPr txBox="1"/>
          <p:nvPr/>
        </p:nvSpPr>
        <p:spPr>
          <a:xfrm>
            <a:off x="786384" y="3328416"/>
            <a:ext cx="4937760" cy="292608"/>
          </a:xfrm>
          <a:prstGeom prst="rect">
            <a:avLst/>
          </a:prstGeom>
          <a:noFill/>
        </p:spPr>
        <p:txBody>
          <a:bodyPr wrap="square" anchor="ctr" lIns="0" rIns="0" tIns="0" bIns="0">
            <a:normAutofit/>
          </a:bodyPr>
          <a:lstStyle/>
          <a:p>
            <a:pPr algn="l"/>
            <a:r>
              <a:rPr sz="1500" b="0">
                <a:solidFill>
                  <a:srgbClr val="334155"/>
                </a:solidFill>
                <a:latin typeface="Noto Sans SC"/>
              </a:rPr>
              <a:t>地球观测 - 一次表征 - 多任务复用</a:t>
            </a:r>
          </a:p>
        </p:txBody>
      </p:sp>
      <p:sp>
        <p:nvSpPr>
          <p:cNvPr id="6" name="TextBox 5"/>
          <p:cNvSpPr txBox="1"/>
          <p:nvPr/>
        </p:nvSpPr>
        <p:spPr>
          <a:xfrm>
            <a:off x="786384" y="3749039"/>
            <a:ext cx="4937760" cy="274320"/>
          </a:xfrm>
          <a:prstGeom prst="rect">
            <a:avLst/>
          </a:prstGeom>
          <a:noFill/>
        </p:spPr>
        <p:txBody>
          <a:bodyPr wrap="square" anchor="ctr" lIns="0" rIns="0" tIns="0" bIns="0">
            <a:normAutofit/>
          </a:bodyPr>
          <a:lstStyle/>
          <a:p>
            <a:pPr algn="l"/>
            <a:r>
              <a:rPr sz="1300" b="1">
                <a:solidFill>
                  <a:srgbClr val="2563EB"/>
                </a:solidFill>
                <a:latin typeface="Noto Sans SC"/>
              </a:rPr>
              <a:t>做中国的遥感数据通用嵌入底座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02</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企业简介</a:t>
            </a:r>
          </a:p>
        </p:txBody>
      </p:sp>
      <p:sp>
        <p:nvSpPr>
          <p:cNvPr id="4" name="TextBox 3"/>
          <p:cNvSpPr txBox="1"/>
          <p:nvPr/>
        </p:nvSpPr>
        <p:spPr>
          <a:xfrm>
            <a:off x="950976" y="1033271"/>
            <a:ext cx="10104120" cy="310896"/>
          </a:xfrm>
          <a:prstGeom prst="rect">
            <a:avLst/>
          </a:prstGeom>
          <a:noFill/>
        </p:spPr>
        <p:txBody>
          <a:bodyPr wrap="square" anchor="ctr" lIns="0" rIns="0" tIns="0" bIns="0">
            <a:normAutofit/>
          </a:bodyPr>
          <a:lstStyle/>
          <a:p>
            <a:pPr algn="l"/>
            <a:r>
              <a:rPr sz="1500" b="1">
                <a:solidFill>
                  <a:srgbClr val="0F172A"/>
                </a:solidFill>
                <a:latin typeface="Noto Sans SC"/>
              </a:rPr>
              <a:t>北京玄女科技有限公司是一家专注于地球空间智能的人工智能基础底座提供商，致力于打造遥感数据通用嵌入底座。</a:t>
            </a:r>
          </a:p>
        </p:txBody>
      </p:sp>
      <p:sp>
        <p:nvSpPr>
          <p:cNvPr id="5" name="TextBox 4"/>
          <p:cNvSpPr txBox="1"/>
          <p:nvPr/>
        </p:nvSpPr>
        <p:spPr>
          <a:xfrm>
            <a:off x="950976" y="1481328"/>
            <a:ext cx="10149840" cy="530352"/>
          </a:xfrm>
          <a:prstGeom prst="rect">
            <a:avLst/>
          </a:prstGeom>
          <a:noFill/>
        </p:spPr>
        <p:txBody>
          <a:bodyPr wrap="square" anchor="ctr" lIns="0" rIns="0" tIns="0" bIns="0">
            <a:normAutofit/>
          </a:bodyPr>
          <a:lstStyle/>
          <a:p>
            <a:pPr algn="l"/>
            <a:r>
              <a:rPr sz="1100" b="0">
                <a:solidFill>
                  <a:srgbClr val="334155"/>
                </a:solidFill>
                <a:latin typeface="Noto Sans SC"/>
              </a:rPr>
              <a:t>公司以遥感领域的大规模预训练模型为核心，为城市治理、自然资源、应急灾害、农业生态等场景提供全球范围内可复用的像素级表征能力，推动遥感智能从“定制化开发”走向“底座赋能”。</a:t>
            </a:r>
          </a:p>
        </p:txBody>
      </p:sp>
      <p:sp>
        <p:nvSpPr>
          <p:cNvPr id="6" name="TextBox 5"/>
          <p:cNvSpPr txBox="1"/>
          <p:nvPr/>
        </p:nvSpPr>
        <p:spPr>
          <a:xfrm>
            <a:off x="1225296"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多元观测</a:t>
            </a:r>
          </a:p>
        </p:txBody>
      </p:sp>
      <p:sp>
        <p:nvSpPr>
          <p:cNvPr id="7" name="TextBox 6"/>
          <p:cNvSpPr txBox="1"/>
          <p:nvPr/>
        </p:nvSpPr>
        <p:spPr>
          <a:xfrm>
            <a:off x="5230368"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地理嵌入</a:t>
            </a:r>
          </a:p>
        </p:txBody>
      </p:sp>
      <p:sp>
        <p:nvSpPr>
          <p:cNvPr id="8" name="TextBox 7"/>
          <p:cNvSpPr txBox="1"/>
          <p:nvPr/>
        </p:nvSpPr>
        <p:spPr>
          <a:xfrm>
            <a:off x="9015984"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下游任务</a:t>
            </a:r>
          </a:p>
        </p:txBody>
      </p:sp>
      <p:pic>
        <p:nvPicPr>
          <p:cNvPr id="9" name="Picture 8" descr="diamond_patch_000339_s2_2025-04_360.png"/>
          <p:cNvPicPr>
            <a:picLocks noChangeAspect="1"/>
          </p:cNvPicPr>
          <p:nvPr/>
        </p:nvPicPr>
        <p:blipFill>
          <a:blip r:embed="rId2"/>
          <a:stretch>
            <a:fillRect/>
          </a:stretch>
        </p:blipFill>
        <p:spPr>
          <a:xfrm>
            <a:off x="1005840" y="2761488"/>
            <a:ext cx="804672" cy="804672"/>
          </a:xfrm>
          <a:prstGeom prst="rect">
            <a:avLst/>
          </a:prstGeom>
        </p:spPr>
      </p:pic>
      <p:sp>
        <p:nvSpPr>
          <p:cNvPr id="10" name="TextBox 9"/>
          <p:cNvSpPr txBox="1"/>
          <p:nvPr/>
        </p:nvSpPr>
        <p:spPr>
          <a:xfrm>
            <a:off x="1847088" y="3017520"/>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哨兵二号光学</a:t>
            </a:r>
          </a:p>
        </p:txBody>
      </p:sp>
      <p:pic>
        <p:nvPicPr>
          <p:cNvPr id="11" name="Picture 10" descr="diamond_patch_000339_s1_2025-04_360.png"/>
          <p:cNvPicPr>
            <a:picLocks noChangeAspect="1"/>
          </p:cNvPicPr>
          <p:nvPr/>
        </p:nvPicPr>
        <p:blipFill>
          <a:blip r:embed="rId3"/>
          <a:stretch>
            <a:fillRect/>
          </a:stretch>
        </p:blipFill>
        <p:spPr>
          <a:xfrm>
            <a:off x="1005840" y="3191256"/>
            <a:ext cx="804672" cy="804672"/>
          </a:xfrm>
          <a:prstGeom prst="rect">
            <a:avLst/>
          </a:prstGeom>
        </p:spPr>
      </p:pic>
      <p:sp>
        <p:nvSpPr>
          <p:cNvPr id="12" name="TextBox 11"/>
          <p:cNvSpPr txBox="1"/>
          <p:nvPr/>
        </p:nvSpPr>
        <p:spPr>
          <a:xfrm>
            <a:off x="1847088" y="3447288"/>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雷达影像</a:t>
            </a:r>
          </a:p>
        </p:txBody>
      </p:sp>
      <p:pic>
        <p:nvPicPr>
          <p:cNvPr id="13" name="Picture 12" descr="diamond_patch_000339_s2_hr_2025-04_360.png"/>
          <p:cNvPicPr>
            <a:picLocks noChangeAspect="1"/>
          </p:cNvPicPr>
          <p:nvPr/>
        </p:nvPicPr>
        <p:blipFill>
          <a:blip r:embed="rId4"/>
          <a:stretch>
            <a:fillRect/>
          </a:stretch>
        </p:blipFill>
        <p:spPr>
          <a:xfrm>
            <a:off x="1005840" y="3621024"/>
            <a:ext cx="804672" cy="804672"/>
          </a:xfrm>
          <a:prstGeom prst="rect">
            <a:avLst/>
          </a:prstGeom>
        </p:spPr>
      </p:pic>
      <p:sp>
        <p:nvSpPr>
          <p:cNvPr id="14" name="TextBox 13"/>
          <p:cNvSpPr txBox="1"/>
          <p:nvPr/>
        </p:nvSpPr>
        <p:spPr>
          <a:xfrm>
            <a:off x="1847088" y="3877056"/>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高分光学</a:t>
            </a:r>
          </a:p>
        </p:txBody>
      </p:sp>
      <p:sp>
        <p:nvSpPr>
          <p:cNvPr id="15" name="TextBox 14"/>
          <p:cNvSpPr txBox="1"/>
          <p:nvPr/>
        </p:nvSpPr>
        <p:spPr>
          <a:xfrm>
            <a:off x="1188720" y="4270248"/>
            <a:ext cx="438912" cy="201168"/>
          </a:xfrm>
          <a:prstGeom prst="rect">
            <a:avLst/>
          </a:prstGeom>
          <a:noFill/>
        </p:spPr>
        <p:txBody>
          <a:bodyPr wrap="square" anchor="ctr" lIns="0" rIns="0" tIns="0" bIns="0">
            <a:normAutofit/>
          </a:bodyPr>
          <a:lstStyle/>
          <a:p>
            <a:pPr algn="ctr"/>
            <a:r>
              <a:rPr sz="1800" b="1">
                <a:solidFill>
                  <a:srgbClr val="64748B"/>
                </a:solidFill>
                <a:latin typeface="Noto Sans SC"/>
              </a:rPr>
              <a:t>…</a:t>
            </a:r>
          </a:p>
        </p:txBody>
      </p:sp>
      <p:pic>
        <p:nvPicPr>
          <p:cNvPr id="16" name="Picture 15" descr="diamond_patch_000339_dem_360.png"/>
          <p:cNvPicPr>
            <a:picLocks noChangeAspect="1"/>
          </p:cNvPicPr>
          <p:nvPr/>
        </p:nvPicPr>
        <p:blipFill>
          <a:blip r:embed="rId5"/>
          <a:stretch>
            <a:fillRect/>
          </a:stretch>
        </p:blipFill>
        <p:spPr>
          <a:xfrm>
            <a:off x="1005840" y="4480560"/>
            <a:ext cx="804672" cy="804672"/>
          </a:xfrm>
          <a:prstGeom prst="rect">
            <a:avLst/>
          </a:prstGeom>
        </p:spPr>
      </p:pic>
      <p:sp>
        <p:nvSpPr>
          <p:cNvPr id="17" name="TextBox 16"/>
          <p:cNvSpPr txBox="1"/>
          <p:nvPr/>
        </p:nvSpPr>
        <p:spPr>
          <a:xfrm>
            <a:off x="1847088" y="4736592"/>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高程数据</a:t>
            </a:r>
          </a:p>
        </p:txBody>
      </p:sp>
      <p:sp>
        <p:nvSpPr>
          <p:cNvPr id="18" name="TextBox 17"/>
          <p:cNvSpPr txBox="1"/>
          <p:nvPr/>
        </p:nvSpPr>
        <p:spPr>
          <a:xfrm>
            <a:off x="3218688" y="3685032"/>
            <a:ext cx="530352" cy="310896"/>
          </a:xfrm>
          <a:prstGeom prst="rect">
            <a:avLst/>
          </a:prstGeom>
          <a:noFill/>
        </p:spPr>
        <p:txBody>
          <a:bodyPr wrap="square" anchor="ctr" lIns="0" rIns="0" tIns="0" bIns="0">
            <a:normAutofit/>
          </a:bodyPr>
          <a:lstStyle/>
          <a:p>
            <a:pPr algn="ctr"/>
            <a:r>
              <a:rPr sz="2400" b="1">
                <a:solidFill>
                  <a:srgbClr val="64748B"/>
                </a:solidFill>
                <a:latin typeface="Noto Sans SC"/>
              </a:rPr>
              <a:t>→</a:t>
            </a:r>
          </a:p>
        </p:txBody>
      </p:sp>
      <p:pic>
        <p:nvPicPr>
          <p:cNvPr id="19" name="Picture 18" descr="harbin_migration_animated.gif"/>
          <p:cNvPicPr>
            <a:picLocks noChangeAspect="1"/>
          </p:cNvPicPr>
          <p:nvPr/>
        </p:nvPicPr>
        <p:blipFill>
          <a:blip r:embed="rId6"/>
          <a:stretch>
            <a:fillRect/>
          </a:stretch>
        </p:blipFill>
        <p:spPr>
          <a:xfrm>
            <a:off x="4193205" y="2788920"/>
            <a:ext cx="2696117" cy="2487168"/>
          </a:xfrm>
          <a:prstGeom prst="rect">
            <a:avLst/>
          </a:prstGeom>
        </p:spPr>
      </p:pic>
      <p:sp>
        <p:nvSpPr>
          <p:cNvPr id="20" name="TextBox 19"/>
          <p:cNvSpPr txBox="1"/>
          <p:nvPr/>
        </p:nvSpPr>
        <p:spPr>
          <a:xfrm>
            <a:off x="7333488" y="3685032"/>
            <a:ext cx="530352" cy="310896"/>
          </a:xfrm>
          <a:prstGeom prst="rect">
            <a:avLst/>
          </a:prstGeom>
          <a:noFill/>
        </p:spPr>
        <p:txBody>
          <a:bodyPr wrap="square" anchor="ctr" lIns="0" rIns="0" tIns="0" bIns="0">
            <a:normAutofit/>
          </a:bodyPr>
          <a:lstStyle/>
          <a:p>
            <a:pPr algn="ctr"/>
            <a:r>
              <a:rPr sz="2400" b="1">
                <a:solidFill>
                  <a:srgbClr val="64748B"/>
                </a:solidFill>
                <a:latin typeface="Noto Sans SC"/>
              </a:rPr>
              <a:t>→</a:t>
            </a:r>
          </a:p>
        </p:txBody>
      </p:sp>
      <p:pic>
        <p:nvPicPr>
          <p:cNvPr id="21" name="Picture 20" descr="image5.png"/>
          <p:cNvPicPr>
            <a:picLocks noChangeAspect="1"/>
          </p:cNvPicPr>
          <p:nvPr/>
        </p:nvPicPr>
        <p:blipFill>
          <a:blip r:embed="rId7"/>
          <a:stretch>
            <a:fillRect/>
          </a:stretch>
        </p:blipFill>
        <p:spPr>
          <a:xfrm>
            <a:off x="8217786" y="2816352"/>
            <a:ext cx="974603" cy="896112"/>
          </a:xfrm>
          <a:prstGeom prst="rect">
            <a:avLst/>
          </a:prstGeom>
        </p:spPr>
      </p:pic>
      <p:sp>
        <p:nvSpPr>
          <p:cNvPr id="22" name="TextBox 21"/>
          <p:cNvSpPr txBox="1"/>
          <p:nvPr/>
        </p:nvSpPr>
        <p:spPr>
          <a:xfrm>
            <a:off x="8119872" y="378561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土地分类</a:t>
            </a:r>
          </a:p>
        </p:txBody>
      </p:sp>
      <p:pic>
        <p:nvPicPr>
          <p:cNvPr id="23" name="Picture 22" descr="image7.png"/>
          <p:cNvPicPr>
            <a:picLocks noChangeAspect="1"/>
          </p:cNvPicPr>
          <p:nvPr/>
        </p:nvPicPr>
        <p:blipFill>
          <a:blip r:embed="rId8"/>
          <a:stretch>
            <a:fillRect/>
          </a:stretch>
        </p:blipFill>
        <p:spPr>
          <a:xfrm>
            <a:off x="9904970" y="2816352"/>
            <a:ext cx="965227" cy="896112"/>
          </a:xfrm>
          <a:prstGeom prst="rect">
            <a:avLst/>
          </a:prstGeom>
        </p:spPr>
      </p:pic>
      <p:sp>
        <p:nvSpPr>
          <p:cNvPr id="24" name="TextBox 23"/>
          <p:cNvSpPr txBox="1"/>
          <p:nvPr/>
        </p:nvSpPr>
        <p:spPr>
          <a:xfrm>
            <a:off x="9802368" y="378561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路网分割</a:t>
            </a:r>
          </a:p>
        </p:txBody>
      </p:sp>
      <p:pic>
        <p:nvPicPr>
          <p:cNvPr id="25" name="Picture 24" descr="image8.png"/>
          <p:cNvPicPr>
            <a:picLocks noChangeAspect="1"/>
          </p:cNvPicPr>
          <p:nvPr/>
        </p:nvPicPr>
        <p:blipFill>
          <a:blip r:embed="rId9"/>
          <a:stretch>
            <a:fillRect/>
          </a:stretch>
        </p:blipFill>
        <p:spPr>
          <a:xfrm>
            <a:off x="8222488" y="4151376"/>
            <a:ext cx="965200" cy="896112"/>
          </a:xfrm>
          <a:prstGeom prst="rect">
            <a:avLst/>
          </a:prstGeom>
        </p:spPr>
      </p:pic>
      <p:sp>
        <p:nvSpPr>
          <p:cNvPr id="26" name="TextBox 25"/>
          <p:cNvSpPr txBox="1"/>
          <p:nvPr/>
        </p:nvSpPr>
        <p:spPr>
          <a:xfrm>
            <a:off x="8119872" y="5120640"/>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土地利用</a:t>
            </a:r>
          </a:p>
        </p:txBody>
      </p:sp>
      <p:sp>
        <p:nvSpPr>
          <p:cNvPr id="27" name="TextBox 26"/>
          <p:cNvSpPr txBox="1"/>
          <p:nvPr/>
        </p:nvSpPr>
        <p:spPr>
          <a:xfrm>
            <a:off x="9802368" y="4398264"/>
            <a:ext cx="1170432" cy="237744"/>
          </a:xfrm>
          <a:prstGeom prst="rect">
            <a:avLst/>
          </a:prstGeom>
          <a:noFill/>
        </p:spPr>
        <p:txBody>
          <a:bodyPr wrap="square" anchor="ctr" lIns="0" rIns="0" tIns="0" bIns="0">
            <a:normAutofit/>
          </a:bodyPr>
          <a:lstStyle/>
          <a:p>
            <a:pPr algn="ctr"/>
            <a:r>
              <a:rPr sz="2200" b="1">
                <a:solidFill>
                  <a:srgbClr val="64748B"/>
                </a:solidFill>
                <a:latin typeface="Noto Sans SC"/>
              </a:rPr>
              <a:t>…</a:t>
            </a:r>
          </a:p>
        </p:txBody>
      </p:sp>
      <p:sp>
        <p:nvSpPr>
          <p:cNvPr id="28" name="TextBox 27"/>
          <p:cNvSpPr txBox="1"/>
          <p:nvPr/>
        </p:nvSpPr>
        <p:spPr>
          <a:xfrm>
            <a:off x="1444752" y="5413248"/>
            <a:ext cx="9326880" cy="201168"/>
          </a:xfrm>
          <a:prstGeom prst="rect">
            <a:avLst/>
          </a:prstGeom>
          <a:noFill/>
        </p:spPr>
        <p:txBody>
          <a:bodyPr wrap="square" anchor="ctr" lIns="0" rIns="0" tIns="0" bIns="0">
            <a:normAutofit/>
          </a:bodyPr>
          <a:lstStyle/>
          <a:p>
            <a:pPr algn="ctr"/>
            <a:r>
              <a:rPr sz="1000" b="0">
                <a:solidFill>
                  <a:srgbClr val="64748B"/>
                </a:solidFill>
                <a:latin typeface="Noto Sans SC"/>
              </a:rPr>
              <a:t>玄女底座融合多元观测数据，生成统一地理嵌入，支撑不同下游任务复用。</a:t>
            </a:r>
          </a:p>
        </p:txBody>
      </p:sp>
      <p:sp>
        <p:nvSpPr>
          <p:cNvPr id="29" name="TextBox 28"/>
          <p:cNvSpPr txBox="1"/>
          <p:nvPr/>
        </p:nvSpPr>
        <p:spPr>
          <a:xfrm>
            <a:off x="786384" y="5980176"/>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一次融合生成统一嵌入，多任务持续复用。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03</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我们为什么要做这样一件事情</a:t>
            </a:r>
          </a:p>
        </p:txBody>
      </p:sp>
      <p:pic>
        <p:nvPicPr>
          <p:cNvPr id="4" name="Picture 3" descr="same_land_multi_satellite_models.png"/>
          <p:cNvPicPr>
            <a:picLocks noChangeAspect="1"/>
          </p:cNvPicPr>
          <p:nvPr/>
        </p:nvPicPr>
        <p:blipFill>
          <a:blip r:embed="rId2"/>
          <a:stretch>
            <a:fillRect/>
          </a:stretch>
        </p:blipFill>
        <p:spPr>
          <a:xfrm>
            <a:off x="658368" y="1292352"/>
            <a:ext cx="5806440" cy="3870960"/>
          </a:xfrm>
          <a:prstGeom prst="rect">
            <a:avLst/>
          </a:prstGeom>
        </p:spPr>
      </p:pic>
      <p:sp>
        <p:nvSpPr>
          <p:cNvPr id="5" name="TextBox 4"/>
          <p:cNvSpPr txBox="1"/>
          <p:nvPr/>
        </p:nvSpPr>
        <p:spPr>
          <a:xfrm>
            <a:off x="896112" y="5431536"/>
            <a:ext cx="5321808" cy="201168"/>
          </a:xfrm>
          <a:prstGeom prst="rect">
            <a:avLst/>
          </a:prstGeom>
          <a:noFill/>
        </p:spPr>
        <p:txBody>
          <a:bodyPr wrap="square" anchor="ctr" lIns="0" rIns="0" tIns="0" bIns="0">
            <a:normAutofit/>
          </a:bodyPr>
          <a:lstStyle/>
          <a:p>
            <a:pPr algn="ctr"/>
            <a:r>
              <a:rPr sz="800" b="0">
                <a:solidFill>
                  <a:srgbClr val="64748B"/>
                </a:solidFill>
                <a:latin typeface="Noto Sans SC"/>
              </a:rPr>
              <a:t>不同地理模型都在对同一地物的多源图像重复编码、解码，造成大量算力与工程成本浪费。</a:t>
            </a:r>
          </a:p>
        </p:txBody>
      </p:sp>
      <p:cxnSp>
        <p:nvCxnSpPr>
          <p:cNvPr id="6" name="Connector 5"/>
          <p:cNvCxnSpPr/>
          <p:nvPr/>
        </p:nvCxnSpPr>
        <p:spPr>
          <a:xfrm>
            <a:off x="6565392" y="1298448"/>
            <a:ext cx="0" cy="3968496"/>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903720" y="1463040"/>
            <a:ext cx="676656" cy="676656"/>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086600" y="1664208"/>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41464" y="1719072"/>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96328" y="1773936"/>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68312" y="1773936"/>
            <a:ext cx="347472" cy="182880"/>
          </a:xfrm>
          <a:prstGeom prst="rect">
            <a:avLst/>
          </a:prstGeom>
          <a:noFill/>
        </p:spPr>
        <p:txBody>
          <a:bodyPr wrap="square" anchor="ctr" lIns="0" rIns="0" tIns="0" bIns="0">
            <a:normAutofit/>
          </a:bodyPr>
          <a:lstStyle/>
          <a:p>
            <a:pPr algn="ctr"/>
            <a:r>
              <a:rPr sz="1100" b="1">
                <a:solidFill>
                  <a:srgbClr val="2563EB"/>
                </a:solidFill>
                <a:latin typeface="Noto Sans SC"/>
              </a:rPr>
              <a:t>↻</a:t>
            </a:r>
          </a:p>
        </p:txBody>
      </p:sp>
      <p:sp>
        <p:nvSpPr>
          <p:cNvPr id="12" name="TextBox 11"/>
          <p:cNvSpPr txBox="1"/>
          <p:nvPr/>
        </p:nvSpPr>
        <p:spPr>
          <a:xfrm>
            <a:off x="7772400" y="1463040"/>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同一批观测，被反复训练</a:t>
            </a:r>
          </a:p>
        </p:txBody>
      </p:sp>
      <p:sp>
        <p:nvSpPr>
          <p:cNvPr id="13" name="TextBox 12"/>
          <p:cNvSpPr txBox="1"/>
          <p:nvPr/>
        </p:nvSpPr>
        <p:spPr>
          <a:xfrm>
            <a:off x="7772400" y="1828800"/>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气象、分割、变化检测模型，各自重建底层特征。</a:t>
            </a:r>
          </a:p>
        </p:txBody>
      </p:sp>
      <p:cxnSp>
        <p:nvCxnSpPr>
          <p:cNvPr id="14" name="Connector 13"/>
          <p:cNvCxnSpPr/>
          <p:nvPr/>
        </p:nvCxnSpPr>
        <p:spPr>
          <a:xfrm>
            <a:off x="7772400" y="2313432"/>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903720" y="2807208"/>
            <a:ext cx="676656" cy="676656"/>
          </a:xfrm>
          <a:prstGeom prst="ellipse">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14032" y="3017520"/>
            <a:ext cx="256032" cy="256032"/>
          </a:xfrm>
          <a:prstGeom prst="rect">
            <a:avLst/>
          </a:prstGeom>
          <a:solidFill>
            <a:srgbClr val="FFFFFF"/>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031736" y="295351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415783" y="295351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1736" y="331927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415783" y="331927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0" y="2807208"/>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成本耗在重复编码</a:t>
            </a:r>
          </a:p>
        </p:txBody>
      </p:sp>
      <p:sp>
        <p:nvSpPr>
          <p:cNvPr id="22" name="TextBox 21"/>
          <p:cNvSpPr txBox="1"/>
          <p:nvPr/>
        </p:nvSpPr>
        <p:spPr>
          <a:xfrm>
            <a:off x="7772400" y="3172968"/>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数据处理、标注、训练无法复用，任务越多成本越高。</a:t>
            </a:r>
          </a:p>
        </p:txBody>
      </p:sp>
      <p:cxnSp>
        <p:nvCxnSpPr>
          <p:cNvPr id="23" name="Connector 22"/>
          <p:cNvCxnSpPr/>
          <p:nvPr/>
        </p:nvCxnSpPr>
        <p:spPr>
          <a:xfrm>
            <a:off x="7772400" y="3657600"/>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903720" y="4151376"/>
            <a:ext cx="676656" cy="676656"/>
          </a:xfrm>
          <a:prstGeom prst="ellipse">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178040" y="4425696"/>
            <a:ext cx="128016" cy="128016"/>
          </a:xfrm>
          <a:prstGeom prst="ellipse">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flipH="1" flipV="1">
            <a:off x="7086600" y="4315968"/>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7054596" y="4283964"/>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flipV="1">
            <a:off x="7242048" y="4315968"/>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7365492" y="4283964"/>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flipH="1">
            <a:off x="7086600" y="4489704"/>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054596" y="4631436"/>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7242048" y="4489704"/>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7365492" y="4631436"/>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0" y="4151376"/>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缺少通用嵌入层</a:t>
            </a:r>
          </a:p>
        </p:txBody>
      </p:sp>
      <p:sp>
        <p:nvSpPr>
          <p:cNvPr id="35" name="TextBox 34"/>
          <p:cNvSpPr txBox="1"/>
          <p:nvPr/>
        </p:nvSpPr>
        <p:spPr>
          <a:xfrm>
            <a:off x="7772400" y="4517136"/>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行业需要统一地理表征，连接多源观测与下游应用。</a:t>
            </a:r>
          </a:p>
        </p:txBody>
      </p:sp>
      <p:cxnSp>
        <p:nvCxnSpPr>
          <p:cNvPr id="36" name="Connector 35"/>
          <p:cNvCxnSpPr/>
          <p:nvPr/>
        </p:nvCxnSpPr>
        <p:spPr>
          <a:xfrm>
            <a:off x="7772400" y="5001768"/>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从每个任务重训，走向一次嵌入、多任务复用。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04</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全球已验证地理嵌入方向，中国需要本土底座</a:t>
            </a:r>
          </a:p>
        </p:txBody>
      </p:sp>
      <p:sp>
        <p:nvSpPr>
          <p:cNvPr id="4" name="TextBox 3"/>
          <p:cNvSpPr txBox="1"/>
          <p:nvPr/>
        </p:nvSpPr>
        <p:spPr>
          <a:xfrm>
            <a:off x="950976" y="932688"/>
            <a:ext cx="9875520" cy="219456"/>
          </a:xfrm>
          <a:prstGeom prst="rect">
            <a:avLst/>
          </a:prstGeom>
          <a:noFill/>
        </p:spPr>
        <p:txBody>
          <a:bodyPr wrap="square" anchor="ctr" lIns="0" rIns="0" tIns="0" bIns="0">
            <a:normAutofit/>
          </a:bodyPr>
          <a:lstStyle/>
          <a:p>
            <a:pPr algn="l"/>
            <a:r>
              <a:rPr sz="1000" b="0">
                <a:solidFill>
                  <a:srgbClr val="64748B"/>
                </a:solidFill>
                <a:latin typeface="Noto Sans SC"/>
              </a:rPr>
              <a:t>公开案例显示，遥感正在从“影像资产”升级为“机器可调用的地球表征”。</a:t>
            </a:r>
          </a:p>
        </p:txBody>
      </p:sp>
      <p:sp>
        <p:nvSpPr>
          <p:cNvPr id="5" name="Rounded Rectangle 4"/>
          <p:cNvSpPr/>
          <p:nvPr/>
        </p:nvSpPr>
        <p:spPr>
          <a:xfrm>
            <a:off x="786384" y="1353312"/>
            <a:ext cx="2788920" cy="1627632"/>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epmind_aef_hero_2186.png"/>
          <p:cNvPicPr>
            <a:picLocks noChangeAspect="1"/>
          </p:cNvPicPr>
          <p:nvPr/>
        </p:nvPicPr>
        <p:blipFill>
          <a:blip r:embed="rId2"/>
          <a:stretch>
            <a:fillRect/>
          </a:stretch>
        </p:blipFill>
        <p:spPr>
          <a:xfrm>
            <a:off x="841247" y="1408176"/>
            <a:ext cx="2679191" cy="1225296"/>
          </a:xfrm>
          <a:prstGeom prst="rect">
            <a:avLst/>
          </a:prstGeom>
        </p:spPr>
      </p:pic>
      <p:sp>
        <p:nvSpPr>
          <p:cNvPr id="7" name="TextBox 6"/>
          <p:cNvSpPr txBox="1"/>
          <p:nvPr/>
        </p:nvSpPr>
        <p:spPr>
          <a:xfrm>
            <a:off x="896112" y="2688336"/>
            <a:ext cx="2569463" cy="146304"/>
          </a:xfrm>
          <a:prstGeom prst="rect">
            <a:avLst/>
          </a:prstGeom>
          <a:noFill/>
        </p:spPr>
        <p:txBody>
          <a:bodyPr wrap="square" anchor="ctr" lIns="0" rIns="0" tIns="0" bIns="0">
            <a:normAutofit/>
          </a:bodyPr>
          <a:lstStyle/>
          <a:p>
            <a:pPr algn="l"/>
            <a:r>
              <a:rPr sz="800" b="1">
                <a:solidFill>
                  <a:srgbClr val="0F172A"/>
                </a:solidFill>
                <a:latin typeface="Noto Sans SC"/>
              </a:rPr>
              <a:t>AlphaEarth：地球表征成为新入口</a:t>
            </a:r>
          </a:p>
        </p:txBody>
      </p:sp>
      <p:sp>
        <p:nvSpPr>
          <p:cNvPr id="8" name="TextBox 7"/>
          <p:cNvSpPr txBox="1"/>
          <p:nvPr/>
        </p:nvSpPr>
        <p:spPr>
          <a:xfrm>
            <a:off x="896112" y="2862072"/>
            <a:ext cx="2569463" cy="91440"/>
          </a:xfrm>
          <a:prstGeom prst="rect">
            <a:avLst/>
          </a:prstGeom>
          <a:noFill/>
        </p:spPr>
        <p:txBody>
          <a:bodyPr wrap="square" anchor="ctr" lIns="0" rIns="0" tIns="0" bIns="0">
            <a:normAutofit/>
          </a:bodyPr>
          <a:lstStyle/>
          <a:p>
            <a:pPr algn="l"/>
            <a:r>
              <a:rPr sz="500" b="0">
                <a:solidFill>
                  <a:srgbClr val="64748B"/>
                </a:solidFill>
                <a:latin typeface="Noto Sans SC"/>
              </a:rPr>
              <a:t>来源：Google DeepMind</a:t>
            </a:r>
          </a:p>
        </p:txBody>
      </p:sp>
      <p:sp>
        <p:nvSpPr>
          <p:cNvPr id="9" name="Rounded Rectangle 8"/>
          <p:cNvSpPr/>
          <p:nvPr/>
        </p:nvSpPr>
        <p:spPr>
          <a:xfrm>
            <a:off x="3749039" y="1353312"/>
            <a:ext cx="2331720" cy="1627632"/>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eepmind_aef_4_1813.png"/>
          <p:cNvPicPr>
            <a:picLocks noChangeAspect="1"/>
          </p:cNvPicPr>
          <p:nvPr/>
        </p:nvPicPr>
        <p:blipFill>
          <a:blip r:embed="rId3"/>
          <a:stretch>
            <a:fillRect/>
          </a:stretch>
        </p:blipFill>
        <p:spPr>
          <a:xfrm>
            <a:off x="3803903" y="1408176"/>
            <a:ext cx="2221991" cy="1225296"/>
          </a:xfrm>
          <a:prstGeom prst="rect">
            <a:avLst/>
          </a:prstGeom>
        </p:spPr>
      </p:pic>
      <p:sp>
        <p:nvSpPr>
          <p:cNvPr id="11" name="TextBox 10"/>
          <p:cNvSpPr txBox="1"/>
          <p:nvPr/>
        </p:nvSpPr>
        <p:spPr>
          <a:xfrm>
            <a:off x="3858768" y="2688336"/>
            <a:ext cx="2112263" cy="146304"/>
          </a:xfrm>
          <a:prstGeom prst="rect">
            <a:avLst/>
          </a:prstGeom>
          <a:noFill/>
        </p:spPr>
        <p:txBody>
          <a:bodyPr wrap="square" anchor="ctr" lIns="0" rIns="0" tIns="0" bIns="0">
            <a:normAutofit/>
          </a:bodyPr>
          <a:lstStyle/>
          <a:p>
            <a:pPr algn="l"/>
            <a:r>
              <a:rPr sz="800" b="1">
                <a:solidFill>
                  <a:srgbClr val="0F172A"/>
                </a:solidFill>
                <a:latin typeface="Noto Sans SC"/>
              </a:rPr>
              <a:t>10 米像素 / 64 维嵌入向量</a:t>
            </a:r>
          </a:p>
        </p:txBody>
      </p:sp>
      <p:sp>
        <p:nvSpPr>
          <p:cNvPr id="12" name="TextBox 11"/>
          <p:cNvSpPr txBox="1"/>
          <p:nvPr/>
        </p:nvSpPr>
        <p:spPr>
          <a:xfrm>
            <a:off x="3858768" y="2862072"/>
            <a:ext cx="2112263" cy="91440"/>
          </a:xfrm>
          <a:prstGeom prst="rect">
            <a:avLst/>
          </a:prstGeom>
          <a:noFill/>
        </p:spPr>
        <p:txBody>
          <a:bodyPr wrap="square" anchor="ctr" lIns="0" rIns="0" tIns="0" bIns="0">
            <a:normAutofit/>
          </a:bodyPr>
          <a:lstStyle/>
          <a:p>
            <a:pPr algn="l"/>
            <a:r>
              <a:rPr sz="500" b="0">
                <a:solidFill>
                  <a:srgbClr val="64748B"/>
                </a:solidFill>
                <a:latin typeface="Noto Sans SC"/>
              </a:rPr>
              <a:t>来源：Google DeepMind</a:t>
            </a:r>
          </a:p>
        </p:txBody>
      </p:sp>
      <p:sp>
        <p:nvSpPr>
          <p:cNvPr id="13" name="Rounded Rectangle 12"/>
          <p:cNvSpPr/>
          <p:nvPr/>
        </p:nvSpPr>
        <p:spPr>
          <a:xfrm>
            <a:off x="786384" y="3246120"/>
            <a:ext cx="5294376" cy="1609344"/>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arto_aef_cover_4295.png"/>
          <p:cNvPicPr>
            <a:picLocks noChangeAspect="1"/>
          </p:cNvPicPr>
          <p:nvPr/>
        </p:nvPicPr>
        <p:blipFill>
          <a:blip r:embed="rId4"/>
          <a:stretch>
            <a:fillRect/>
          </a:stretch>
        </p:blipFill>
        <p:spPr>
          <a:xfrm>
            <a:off x="841247" y="3300984"/>
            <a:ext cx="5184648" cy="1207008"/>
          </a:xfrm>
          <a:prstGeom prst="rect">
            <a:avLst/>
          </a:prstGeom>
        </p:spPr>
      </p:pic>
      <p:sp>
        <p:nvSpPr>
          <p:cNvPr id="15" name="TextBox 14"/>
          <p:cNvSpPr txBox="1"/>
          <p:nvPr/>
        </p:nvSpPr>
        <p:spPr>
          <a:xfrm>
            <a:off x="896112" y="4562855"/>
            <a:ext cx="5074920" cy="146304"/>
          </a:xfrm>
          <a:prstGeom prst="rect">
            <a:avLst/>
          </a:prstGeom>
          <a:noFill/>
        </p:spPr>
        <p:txBody>
          <a:bodyPr wrap="square" anchor="ctr" lIns="0" rIns="0" tIns="0" bIns="0">
            <a:normAutofit/>
          </a:bodyPr>
          <a:lstStyle/>
          <a:p>
            <a:pPr algn="l"/>
            <a:r>
              <a:rPr sz="800" b="1">
                <a:solidFill>
                  <a:srgbClr val="0F172A"/>
                </a:solidFill>
                <a:latin typeface="Noto Sans SC"/>
              </a:rPr>
              <a:t>CARTO：嵌入进入空间工作流</a:t>
            </a:r>
          </a:p>
        </p:txBody>
      </p:sp>
      <p:sp>
        <p:nvSpPr>
          <p:cNvPr id="16" name="TextBox 15"/>
          <p:cNvSpPr txBox="1"/>
          <p:nvPr/>
        </p:nvSpPr>
        <p:spPr>
          <a:xfrm>
            <a:off x="896112" y="4736592"/>
            <a:ext cx="5074920" cy="91440"/>
          </a:xfrm>
          <a:prstGeom prst="rect">
            <a:avLst/>
          </a:prstGeom>
          <a:noFill/>
        </p:spPr>
        <p:txBody>
          <a:bodyPr wrap="square" anchor="ctr" lIns="0" rIns="0" tIns="0" bIns="0">
            <a:normAutofit/>
          </a:bodyPr>
          <a:lstStyle/>
          <a:p>
            <a:pPr algn="l"/>
            <a:r>
              <a:rPr sz="500" b="0">
                <a:solidFill>
                  <a:srgbClr val="64748B"/>
                </a:solidFill>
                <a:latin typeface="Noto Sans SC"/>
              </a:rPr>
              <a:t>来源：CARTO</a:t>
            </a:r>
          </a:p>
        </p:txBody>
      </p:sp>
      <p:sp>
        <p:nvSpPr>
          <p:cNvPr id="17" name="Rounded Rectangle 16"/>
          <p:cNvSpPr/>
          <p:nvPr/>
        </p:nvSpPr>
        <p:spPr>
          <a:xfrm>
            <a:off x="868680" y="5175504"/>
            <a:ext cx="1417320" cy="9144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1" y="5294376"/>
            <a:ext cx="1088136" cy="274320"/>
          </a:xfrm>
          <a:prstGeom prst="rect">
            <a:avLst/>
          </a:prstGeom>
          <a:noFill/>
        </p:spPr>
        <p:txBody>
          <a:bodyPr wrap="square" anchor="ctr" lIns="0" rIns="0" tIns="0" bIns="0">
            <a:normAutofit/>
          </a:bodyPr>
          <a:lstStyle/>
          <a:p>
            <a:pPr algn="ctr"/>
            <a:r>
              <a:rPr sz="1800" b="1">
                <a:solidFill>
                  <a:srgbClr val="2563EB"/>
                </a:solidFill>
                <a:latin typeface="Noto Sans SC"/>
              </a:rPr>
              <a:t>1.4 万亿+</a:t>
            </a:r>
          </a:p>
        </p:txBody>
      </p:sp>
      <p:sp>
        <p:nvSpPr>
          <p:cNvPr id="19" name="TextBox 18"/>
          <p:cNvSpPr txBox="1"/>
          <p:nvPr/>
        </p:nvSpPr>
        <p:spPr>
          <a:xfrm>
            <a:off x="1014983" y="5705856"/>
            <a:ext cx="1124712" cy="201168"/>
          </a:xfrm>
          <a:prstGeom prst="rect">
            <a:avLst/>
          </a:prstGeom>
          <a:noFill/>
        </p:spPr>
        <p:txBody>
          <a:bodyPr wrap="square" anchor="ctr" lIns="0" rIns="0" tIns="0" bIns="0">
            <a:normAutofit/>
          </a:bodyPr>
          <a:lstStyle/>
          <a:p>
            <a:pPr algn="ctr"/>
            <a:r>
              <a:rPr sz="800" b="0">
                <a:solidFill>
                  <a:srgbClr val="334155"/>
                </a:solidFill>
                <a:latin typeface="Noto Sans SC"/>
              </a:rPr>
              <a:t>年度嵌入足迹</a:t>
            </a:r>
          </a:p>
        </p:txBody>
      </p:sp>
      <p:sp>
        <p:nvSpPr>
          <p:cNvPr id="20" name="Rounded Rectangle 19"/>
          <p:cNvSpPr/>
          <p:nvPr/>
        </p:nvSpPr>
        <p:spPr>
          <a:xfrm>
            <a:off x="2468880" y="5175504"/>
            <a:ext cx="1417320" cy="9144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33472" y="5294376"/>
            <a:ext cx="1088136" cy="274320"/>
          </a:xfrm>
          <a:prstGeom prst="rect">
            <a:avLst/>
          </a:prstGeom>
          <a:noFill/>
        </p:spPr>
        <p:txBody>
          <a:bodyPr wrap="square" anchor="ctr" lIns="0" rIns="0" tIns="0" bIns="0">
            <a:normAutofit/>
          </a:bodyPr>
          <a:lstStyle/>
          <a:p>
            <a:pPr algn="ctr"/>
            <a:r>
              <a:rPr sz="1800" b="1">
                <a:solidFill>
                  <a:srgbClr val="10B981"/>
                </a:solidFill>
                <a:latin typeface="Noto Sans SC"/>
              </a:rPr>
              <a:t>16 倍</a:t>
            </a:r>
          </a:p>
        </p:txBody>
      </p:sp>
      <p:sp>
        <p:nvSpPr>
          <p:cNvPr id="22" name="TextBox 21"/>
          <p:cNvSpPr txBox="1"/>
          <p:nvPr/>
        </p:nvSpPr>
        <p:spPr>
          <a:xfrm>
            <a:off x="2615184" y="5705856"/>
            <a:ext cx="1124712" cy="201168"/>
          </a:xfrm>
          <a:prstGeom prst="rect">
            <a:avLst/>
          </a:prstGeom>
          <a:noFill/>
        </p:spPr>
        <p:txBody>
          <a:bodyPr wrap="square" anchor="ctr" lIns="0" rIns="0" tIns="0" bIns="0">
            <a:normAutofit/>
          </a:bodyPr>
          <a:lstStyle/>
          <a:p>
            <a:pPr algn="ctr"/>
            <a:r>
              <a:rPr sz="800" b="0">
                <a:solidFill>
                  <a:srgbClr val="334155"/>
                </a:solidFill>
                <a:latin typeface="Noto Sans SC"/>
              </a:rPr>
              <a:t>更低存储开销</a:t>
            </a:r>
          </a:p>
        </p:txBody>
      </p:sp>
      <p:sp>
        <p:nvSpPr>
          <p:cNvPr id="23" name="Rounded Rectangle 22"/>
          <p:cNvSpPr/>
          <p:nvPr/>
        </p:nvSpPr>
        <p:spPr>
          <a:xfrm>
            <a:off x="4069080" y="5175504"/>
            <a:ext cx="1572768" cy="9144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33672" y="5294376"/>
            <a:ext cx="1243584" cy="274320"/>
          </a:xfrm>
          <a:prstGeom prst="rect">
            <a:avLst/>
          </a:prstGeom>
          <a:noFill/>
        </p:spPr>
        <p:txBody>
          <a:bodyPr wrap="square" anchor="ctr" lIns="0" rIns="0" tIns="0" bIns="0">
            <a:normAutofit/>
          </a:bodyPr>
          <a:lstStyle/>
          <a:p>
            <a:pPr algn="ctr"/>
            <a:r>
              <a:rPr sz="1800" b="1">
                <a:solidFill>
                  <a:srgbClr val="7C3AED"/>
                </a:solidFill>
                <a:latin typeface="Noto Sans SC"/>
              </a:rPr>
              <a:t>2017 至 2024</a:t>
            </a:r>
          </a:p>
        </p:txBody>
      </p:sp>
      <p:sp>
        <p:nvSpPr>
          <p:cNvPr id="25" name="TextBox 24"/>
          <p:cNvSpPr txBox="1"/>
          <p:nvPr/>
        </p:nvSpPr>
        <p:spPr>
          <a:xfrm>
            <a:off x="4215384" y="5705856"/>
            <a:ext cx="1280160" cy="201168"/>
          </a:xfrm>
          <a:prstGeom prst="rect">
            <a:avLst/>
          </a:prstGeom>
          <a:noFill/>
        </p:spPr>
        <p:txBody>
          <a:bodyPr wrap="square" anchor="ctr" lIns="0" rIns="0" tIns="0" bIns="0">
            <a:normAutofit/>
          </a:bodyPr>
          <a:lstStyle/>
          <a:p>
            <a:pPr algn="ctr"/>
            <a:r>
              <a:rPr sz="800" b="0">
                <a:solidFill>
                  <a:srgbClr val="334155"/>
                </a:solidFill>
                <a:latin typeface="Noto Sans SC"/>
              </a:rPr>
              <a:t>连续年度数据</a:t>
            </a:r>
          </a:p>
        </p:txBody>
      </p:sp>
      <p:cxnSp>
        <p:nvCxnSpPr>
          <p:cNvPr id="26" name="Connector 25"/>
          <p:cNvCxnSpPr/>
          <p:nvPr/>
        </p:nvCxnSpPr>
        <p:spPr>
          <a:xfrm>
            <a:off x="6327648" y="1298448"/>
            <a:ext cx="0" cy="402336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711696" y="1335024"/>
            <a:ext cx="4114800" cy="237744"/>
          </a:xfrm>
          <a:prstGeom prst="rect">
            <a:avLst/>
          </a:prstGeom>
          <a:noFill/>
        </p:spPr>
        <p:txBody>
          <a:bodyPr wrap="square" anchor="ctr" lIns="0" rIns="0" tIns="0" bIns="0">
            <a:normAutofit/>
          </a:bodyPr>
          <a:lstStyle/>
          <a:p>
            <a:pPr algn="l"/>
            <a:r>
              <a:rPr sz="1500" b="1">
                <a:solidFill>
                  <a:srgbClr val="0F172A"/>
                </a:solidFill>
                <a:latin typeface="Noto Sans SC"/>
              </a:rPr>
              <a:t>玄女站在哪一层？</a:t>
            </a:r>
          </a:p>
        </p:txBody>
      </p:sp>
      <p:sp>
        <p:nvSpPr>
          <p:cNvPr id="28" name="Rounded Rectangle 27"/>
          <p:cNvSpPr/>
          <p:nvPr/>
        </p:nvSpPr>
        <p:spPr>
          <a:xfrm>
            <a:off x="6656832" y="1847088"/>
            <a:ext cx="4297680" cy="640080"/>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1424" y="1965960"/>
            <a:ext cx="1325880" cy="164592"/>
          </a:xfrm>
          <a:prstGeom prst="rect">
            <a:avLst/>
          </a:prstGeom>
          <a:noFill/>
        </p:spPr>
        <p:txBody>
          <a:bodyPr wrap="square" anchor="ctr" lIns="0" rIns="0" tIns="0" bIns="0">
            <a:normAutofit/>
          </a:bodyPr>
          <a:lstStyle/>
          <a:p>
            <a:pPr algn="l"/>
            <a:r>
              <a:rPr sz="900" b="1">
                <a:solidFill>
                  <a:srgbClr val="0F172A"/>
                </a:solidFill>
                <a:latin typeface="Noto Sans SC"/>
              </a:rPr>
              <a:t>影像数据层</a:t>
            </a:r>
          </a:p>
        </p:txBody>
      </p:sp>
      <p:sp>
        <p:nvSpPr>
          <p:cNvPr id="30" name="TextBox 29"/>
          <p:cNvSpPr txBox="1"/>
          <p:nvPr/>
        </p:nvSpPr>
        <p:spPr>
          <a:xfrm>
            <a:off x="8211312" y="1938528"/>
            <a:ext cx="2048256" cy="182880"/>
          </a:xfrm>
          <a:prstGeom prst="rect">
            <a:avLst/>
          </a:prstGeom>
          <a:noFill/>
        </p:spPr>
        <p:txBody>
          <a:bodyPr wrap="square" anchor="ctr" lIns="0" rIns="0" tIns="0" bIns="0">
            <a:normAutofit/>
          </a:bodyPr>
          <a:lstStyle/>
          <a:p>
            <a:pPr algn="l"/>
            <a:r>
              <a:rPr sz="800" b="1">
                <a:solidFill>
                  <a:srgbClr val="334155"/>
                </a:solidFill>
                <a:latin typeface="Noto Sans SC"/>
              </a:rPr>
              <a:t>Maxar / Planet</a:t>
            </a:r>
          </a:p>
        </p:txBody>
      </p:sp>
      <p:sp>
        <p:nvSpPr>
          <p:cNvPr id="31" name="TextBox 30"/>
          <p:cNvSpPr txBox="1"/>
          <p:nvPr/>
        </p:nvSpPr>
        <p:spPr>
          <a:xfrm>
            <a:off x="10332720" y="1947672"/>
            <a:ext cx="457200" cy="219456"/>
          </a:xfrm>
          <a:prstGeom prst="rect">
            <a:avLst/>
          </a:prstGeom>
          <a:noFill/>
        </p:spPr>
        <p:txBody>
          <a:bodyPr wrap="square" anchor="ctr" lIns="0" rIns="0" tIns="0" bIns="0">
            <a:normAutofit/>
          </a:bodyPr>
          <a:lstStyle/>
          <a:p>
            <a:pPr algn="l"/>
            <a:r>
              <a:rPr sz="800" b="0">
                <a:solidFill>
                  <a:srgbClr val="334155"/>
                </a:solidFill>
                <a:latin typeface="Noto Sans SC"/>
              </a:rPr>
              <a:t>解决“看见地球”</a:t>
            </a:r>
          </a:p>
        </p:txBody>
      </p:sp>
      <p:sp>
        <p:nvSpPr>
          <p:cNvPr id="32" name="Rounded Rectangle 31"/>
          <p:cNvSpPr/>
          <p:nvPr/>
        </p:nvSpPr>
        <p:spPr>
          <a:xfrm>
            <a:off x="6656832" y="2633472"/>
            <a:ext cx="4297680" cy="640080"/>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21424" y="2752344"/>
            <a:ext cx="1325880" cy="164592"/>
          </a:xfrm>
          <a:prstGeom prst="rect">
            <a:avLst/>
          </a:prstGeom>
          <a:noFill/>
        </p:spPr>
        <p:txBody>
          <a:bodyPr wrap="square" anchor="ctr" lIns="0" rIns="0" tIns="0" bIns="0">
            <a:normAutofit/>
          </a:bodyPr>
          <a:lstStyle/>
          <a:p>
            <a:pPr algn="l"/>
            <a:r>
              <a:rPr sz="900" b="1">
                <a:solidFill>
                  <a:srgbClr val="0F172A"/>
                </a:solidFill>
                <a:latin typeface="Noto Sans SC"/>
              </a:rPr>
              <a:t>地理平台层</a:t>
            </a:r>
          </a:p>
        </p:txBody>
      </p:sp>
      <p:sp>
        <p:nvSpPr>
          <p:cNvPr id="34" name="TextBox 33"/>
          <p:cNvSpPr txBox="1"/>
          <p:nvPr/>
        </p:nvSpPr>
        <p:spPr>
          <a:xfrm>
            <a:off x="8211312" y="2724912"/>
            <a:ext cx="2048256" cy="182880"/>
          </a:xfrm>
          <a:prstGeom prst="rect">
            <a:avLst/>
          </a:prstGeom>
          <a:noFill/>
        </p:spPr>
        <p:txBody>
          <a:bodyPr wrap="square" anchor="ctr" lIns="0" rIns="0" tIns="0" bIns="0">
            <a:normAutofit/>
          </a:bodyPr>
          <a:lstStyle/>
          <a:p>
            <a:pPr algn="l"/>
            <a:r>
              <a:rPr sz="800" b="1">
                <a:solidFill>
                  <a:srgbClr val="334155"/>
                </a:solidFill>
                <a:latin typeface="Noto Sans SC"/>
              </a:rPr>
              <a:t>Esri / 谷歌地球引擎 / CARTO</a:t>
            </a:r>
          </a:p>
        </p:txBody>
      </p:sp>
      <p:sp>
        <p:nvSpPr>
          <p:cNvPr id="35" name="TextBox 34"/>
          <p:cNvSpPr txBox="1"/>
          <p:nvPr/>
        </p:nvSpPr>
        <p:spPr>
          <a:xfrm>
            <a:off x="10332720" y="2734056"/>
            <a:ext cx="457200" cy="219456"/>
          </a:xfrm>
          <a:prstGeom prst="rect">
            <a:avLst/>
          </a:prstGeom>
          <a:noFill/>
        </p:spPr>
        <p:txBody>
          <a:bodyPr wrap="square" anchor="ctr" lIns="0" rIns="0" tIns="0" bIns="0">
            <a:normAutofit/>
          </a:bodyPr>
          <a:lstStyle/>
          <a:p>
            <a:pPr algn="l"/>
            <a:r>
              <a:rPr sz="800" b="0">
                <a:solidFill>
                  <a:srgbClr val="334155"/>
                </a:solidFill>
                <a:latin typeface="Noto Sans SC"/>
              </a:rPr>
              <a:t>解决管理、分析与调用</a:t>
            </a:r>
          </a:p>
        </p:txBody>
      </p:sp>
      <p:sp>
        <p:nvSpPr>
          <p:cNvPr id="36" name="Rounded Rectangle 35"/>
          <p:cNvSpPr/>
          <p:nvPr/>
        </p:nvSpPr>
        <p:spPr>
          <a:xfrm>
            <a:off x="6656832" y="3419856"/>
            <a:ext cx="4297680" cy="64008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21424" y="3538728"/>
            <a:ext cx="1325880" cy="164592"/>
          </a:xfrm>
          <a:prstGeom prst="rect">
            <a:avLst/>
          </a:prstGeom>
          <a:noFill/>
        </p:spPr>
        <p:txBody>
          <a:bodyPr wrap="square" anchor="ctr" lIns="0" rIns="0" tIns="0" bIns="0">
            <a:normAutofit/>
          </a:bodyPr>
          <a:lstStyle/>
          <a:p>
            <a:pPr algn="l"/>
            <a:r>
              <a:rPr sz="900" b="1">
                <a:solidFill>
                  <a:srgbClr val="0F172A"/>
                </a:solidFill>
                <a:latin typeface="Noto Sans SC"/>
              </a:rPr>
              <a:t>嵌入趋势层</a:t>
            </a:r>
          </a:p>
        </p:txBody>
      </p:sp>
      <p:sp>
        <p:nvSpPr>
          <p:cNvPr id="38" name="TextBox 37"/>
          <p:cNvSpPr txBox="1"/>
          <p:nvPr/>
        </p:nvSpPr>
        <p:spPr>
          <a:xfrm>
            <a:off x="8211312" y="3511296"/>
            <a:ext cx="2048256" cy="182880"/>
          </a:xfrm>
          <a:prstGeom prst="rect">
            <a:avLst/>
          </a:prstGeom>
          <a:noFill/>
        </p:spPr>
        <p:txBody>
          <a:bodyPr wrap="square" anchor="ctr" lIns="0" rIns="0" tIns="0" bIns="0">
            <a:normAutofit/>
          </a:bodyPr>
          <a:lstStyle/>
          <a:p>
            <a:pPr algn="l"/>
            <a:r>
              <a:rPr sz="800" b="1">
                <a:solidFill>
                  <a:srgbClr val="334155"/>
                </a:solidFill>
                <a:latin typeface="Noto Sans SC"/>
              </a:rPr>
              <a:t>谷歌 AlphaEarth</a:t>
            </a:r>
          </a:p>
        </p:txBody>
      </p:sp>
      <p:sp>
        <p:nvSpPr>
          <p:cNvPr id="39" name="TextBox 38"/>
          <p:cNvSpPr txBox="1"/>
          <p:nvPr/>
        </p:nvSpPr>
        <p:spPr>
          <a:xfrm>
            <a:off x="10332720" y="3520440"/>
            <a:ext cx="457200" cy="219456"/>
          </a:xfrm>
          <a:prstGeom prst="rect">
            <a:avLst/>
          </a:prstGeom>
          <a:noFill/>
        </p:spPr>
        <p:txBody>
          <a:bodyPr wrap="square" anchor="ctr" lIns="0" rIns="0" tIns="0" bIns="0">
            <a:normAutofit/>
          </a:bodyPr>
          <a:lstStyle/>
          <a:p>
            <a:pPr algn="l"/>
            <a:r>
              <a:rPr sz="800" b="0">
                <a:solidFill>
                  <a:srgbClr val="334155"/>
                </a:solidFill>
                <a:latin typeface="Noto Sans SC"/>
              </a:rPr>
              <a:t>证明地球表征是下一代入口</a:t>
            </a:r>
          </a:p>
        </p:txBody>
      </p:sp>
      <p:sp>
        <p:nvSpPr>
          <p:cNvPr id="40" name="Rounded Rectangle 39"/>
          <p:cNvSpPr/>
          <p:nvPr/>
        </p:nvSpPr>
        <p:spPr>
          <a:xfrm>
            <a:off x="6656832" y="4206240"/>
            <a:ext cx="4297680" cy="64008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21424" y="4325112"/>
            <a:ext cx="1325880" cy="164592"/>
          </a:xfrm>
          <a:prstGeom prst="rect">
            <a:avLst/>
          </a:prstGeom>
          <a:noFill/>
        </p:spPr>
        <p:txBody>
          <a:bodyPr wrap="square" anchor="ctr" lIns="0" rIns="0" tIns="0" bIns="0">
            <a:normAutofit/>
          </a:bodyPr>
          <a:lstStyle/>
          <a:p>
            <a:pPr algn="l"/>
            <a:r>
              <a:rPr sz="900" b="1">
                <a:solidFill>
                  <a:srgbClr val="10B981"/>
                </a:solidFill>
                <a:latin typeface="Noto Sans SC"/>
              </a:rPr>
              <a:t>本土底座层</a:t>
            </a:r>
          </a:p>
        </p:txBody>
      </p:sp>
      <p:sp>
        <p:nvSpPr>
          <p:cNvPr id="42" name="TextBox 41"/>
          <p:cNvSpPr txBox="1"/>
          <p:nvPr/>
        </p:nvSpPr>
        <p:spPr>
          <a:xfrm>
            <a:off x="8211312" y="4297679"/>
            <a:ext cx="2048256" cy="182880"/>
          </a:xfrm>
          <a:prstGeom prst="rect">
            <a:avLst/>
          </a:prstGeom>
          <a:noFill/>
        </p:spPr>
        <p:txBody>
          <a:bodyPr wrap="square" anchor="ctr" lIns="0" rIns="0" tIns="0" bIns="0">
            <a:normAutofit/>
          </a:bodyPr>
          <a:lstStyle/>
          <a:p>
            <a:pPr algn="l"/>
            <a:r>
              <a:rPr sz="800" b="1">
                <a:solidFill>
                  <a:srgbClr val="334155"/>
                </a:solidFill>
                <a:latin typeface="Noto Sans SC"/>
              </a:rPr>
              <a:t>玄女科技</a:t>
            </a:r>
          </a:p>
        </p:txBody>
      </p:sp>
      <p:sp>
        <p:nvSpPr>
          <p:cNvPr id="43" name="TextBox 42"/>
          <p:cNvSpPr txBox="1"/>
          <p:nvPr/>
        </p:nvSpPr>
        <p:spPr>
          <a:xfrm>
            <a:off x="10332720" y="4306824"/>
            <a:ext cx="457200" cy="219456"/>
          </a:xfrm>
          <a:prstGeom prst="rect">
            <a:avLst/>
          </a:prstGeom>
          <a:noFill/>
        </p:spPr>
        <p:txBody>
          <a:bodyPr wrap="square" anchor="ctr" lIns="0" rIns="0" tIns="0" bIns="0">
            <a:normAutofit/>
          </a:bodyPr>
          <a:lstStyle/>
          <a:p>
            <a:pPr algn="l"/>
            <a:r>
              <a:rPr sz="800" b="0">
                <a:solidFill>
                  <a:srgbClr val="334155"/>
                </a:solidFill>
                <a:latin typeface="Noto Sans SC"/>
              </a:rPr>
              <a:t>做中国遥感数据通用嵌入底座</a:t>
            </a:r>
          </a:p>
        </p:txBody>
      </p:sp>
      <p:sp>
        <p:nvSpPr>
          <p:cNvPr id="44" name="TextBox 43"/>
          <p:cNvSpPr txBox="1"/>
          <p:nvPr/>
        </p:nvSpPr>
        <p:spPr>
          <a:xfrm>
            <a:off x="6748272" y="5047488"/>
            <a:ext cx="4041648" cy="219456"/>
          </a:xfrm>
          <a:prstGeom prst="rect">
            <a:avLst/>
          </a:prstGeom>
          <a:noFill/>
        </p:spPr>
        <p:txBody>
          <a:bodyPr wrap="square" anchor="ctr" lIns="0" rIns="0" tIns="0" bIns="0">
            <a:normAutofit/>
          </a:bodyPr>
          <a:lstStyle/>
          <a:p>
            <a:pPr algn="ctr"/>
            <a:r>
              <a:rPr sz="900" b="1">
                <a:solidFill>
                  <a:srgbClr val="334155"/>
                </a:solidFill>
                <a:latin typeface="Noto Sans SC"/>
              </a:rPr>
              <a:t>中国路径：国产高分与雷达数据、本地化算力部署、政企遥感业务流程。</a:t>
            </a:r>
          </a:p>
        </p:txBody>
      </p:sp>
      <p:sp>
        <p:nvSpPr>
          <p:cNvPr id="45" name="TextBox 44"/>
          <p:cNvSpPr txBox="1"/>
          <p:nvPr/>
        </p:nvSpPr>
        <p:spPr>
          <a:xfrm>
            <a:off x="786384" y="5897880"/>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美国已验证地理智能路径，中国需要自己的遥感数据通用嵌入底座。</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05</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商业航天把数据推向爆发，遥感应用还卡在重流程</a:t>
            </a:r>
          </a:p>
        </p:txBody>
      </p:sp>
      <p:sp>
        <p:nvSpPr>
          <p:cNvPr id="4" name="Rounded Rectangle 3"/>
          <p:cNvSpPr/>
          <p:nvPr/>
        </p:nvSpPr>
        <p:spPr>
          <a:xfrm>
            <a:off x="841248" y="1627632"/>
            <a:ext cx="1152144" cy="65836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783080"/>
            <a:ext cx="1152144" cy="182880"/>
          </a:xfrm>
          <a:prstGeom prst="rect">
            <a:avLst/>
          </a:prstGeom>
          <a:noFill/>
        </p:spPr>
        <p:txBody>
          <a:bodyPr wrap="square" anchor="ctr" lIns="0" rIns="0" tIns="0" bIns="0">
            <a:normAutofit/>
          </a:bodyPr>
          <a:lstStyle/>
          <a:p>
            <a:pPr algn="ctr"/>
            <a:r>
              <a:rPr sz="1100" b="1">
                <a:solidFill>
                  <a:srgbClr val="2563EB"/>
                </a:solidFill>
                <a:latin typeface="Noto Sans SC"/>
              </a:rPr>
              <a:t>制造</a:t>
            </a:r>
          </a:p>
        </p:txBody>
      </p:sp>
      <p:cxnSp>
        <p:nvCxnSpPr>
          <p:cNvPr id="6" name="Connector 5"/>
          <p:cNvCxnSpPr/>
          <p:nvPr/>
        </p:nvCxnSpPr>
        <p:spPr>
          <a:xfrm>
            <a:off x="2011680" y="1956816"/>
            <a:ext cx="402336"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560320" y="1627632"/>
            <a:ext cx="1152144" cy="658368"/>
          </a:xfrm>
          <a:prstGeom prst="roundRect">
            <a:avLst/>
          </a:prstGeom>
          <a:solidFill>
            <a:srgbClr val="EFF6FF"/>
          </a:solidFill>
          <a:ln w="1016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0" y="1783080"/>
            <a:ext cx="1152144" cy="182880"/>
          </a:xfrm>
          <a:prstGeom prst="rect">
            <a:avLst/>
          </a:prstGeom>
          <a:noFill/>
        </p:spPr>
        <p:txBody>
          <a:bodyPr wrap="square" anchor="ctr" lIns="0" rIns="0" tIns="0" bIns="0">
            <a:normAutofit/>
          </a:bodyPr>
          <a:lstStyle/>
          <a:p>
            <a:pPr algn="ctr"/>
            <a:r>
              <a:rPr sz="1100" b="1">
                <a:solidFill>
                  <a:srgbClr val="0EA5E9"/>
                </a:solidFill>
                <a:latin typeface="Noto Sans SC"/>
              </a:rPr>
              <a:t>发射</a:t>
            </a:r>
          </a:p>
        </p:txBody>
      </p:sp>
      <p:cxnSp>
        <p:nvCxnSpPr>
          <p:cNvPr id="9" name="Connector 8"/>
          <p:cNvCxnSpPr/>
          <p:nvPr/>
        </p:nvCxnSpPr>
        <p:spPr>
          <a:xfrm>
            <a:off x="3730752"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279392"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79392"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组网</a:t>
            </a:r>
          </a:p>
        </p:txBody>
      </p:sp>
      <p:cxnSp>
        <p:nvCxnSpPr>
          <p:cNvPr id="12" name="Connector 11"/>
          <p:cNvCxnSpPr/>
          <p:nvPr/>
        </p:nvCxnSpPr>
        <p:spPr>
          <a:xfrm>
            <a:off x="5449824"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98464"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98464"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下行</a:t>
            </a:r>
          </a:p>
        </p:txBody>
      </p:sp>
      <p:cxnSp>
        <p:nvCxnSpPr>
          <p:cNvPr id="15" name="Connector 14"/>
          <p:cNvCxnSpPr/>
          <p:nvPr/>
        </p:nvCxnSpPr>
        <p:spPr>
          <a:xfrm>
            <a:off x="7168896"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17536" y="1627632"/>
            <a:ext cx="1152144" cy="65836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7536" y="1783080"/>
            <a:ext cx="1152144" cy="182880"/>
          </a:xfrm>
          <a:prstGeom prst="rect">
            <a:avLst/>
          </a:prstGeom>
          <a:noFill/>
        </p:spPr>
        <p:txBody>
          <a:bodyPr wrap="square" anchor="ctr" lIns="0" rIns="0" tIns="0" bIns="0">
            <a:normAutofit/>
          </a:bodyPr>
          <a:lstStyle/>
          <a:p>
            <a:pPr algn="ctr"/>
            <a:r>
              <a:rPr sz="1100" b="1">
                <a:solidFill>
                  <a:srgbClr val="F59E0B"/>
                </a:solidFill>
                <a:latin typeface="Noto Sans SC"/>
              </a:rPr>
              <a:t>处理</a:t>
            </a:r>
          </a:p>
        </p:txBody>
      </p:sp>
      <p:cxnSp>
        <p:nvCxnSpPr>
          <p:cNvPr id="18" name="Connector 17"/>
          <p:cNvCxnSpPr/>
          <p:nvPr/>
        </p:nvCxnSpPr>
        <p:spPr>
          <a:xfrm>
            <a:off x="8887967" y="1956816"/>
            <a:ext cx="402337"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436607" y="1627632"/>
            <a:ext cx="1152144" cy="65836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36607" y="1783080"/>
            <a:ext cx="1152144" cy="182880"/>
          </a:xfrm>
          <a:prstGeom prst="rect">
            <a:avLst/>
          </a:prstGeom>
          <a:noFill/>
        </p:spPr>
        <p:txBody>
          <a:bodyPr wrap="square" anchor="ctr" lIns="0" rIns="0" tIns="0" bIns="0">
            <a:normAutofit/>
          </a:bodyPr>
          <a:lstStyle/>
          <a:p>
            <a:pPr algn="ctr"/>
            <a:r>
              <a:rPr sz="1100" b="1">
                <a:solidFill>
                  <a:srgbClr val="7C3AED"/>
                </a:solidFill>
                <a:latin typeface="Noto Sans SC"/>
              </a:rPr>
              <a:t>应用</a:t>
            </a:r>
          </a:p>
        </p:txBody>
      </p:sp>
      <p:sp>
        <p:nvSpPr>
          <p:cNvPr id="21" name="Rounded Rectangle 20"/>
          <p:cNvSpPr/>
          <p:nvPr/>
        </p:nvSpPr>
        <p:spPr>
          <a:xfrm>
            <a:off x="7754112" y="2596896"/>
            <a:ext cx="3273552" cy="877824"/>
          </a:xfrm>
          <a:prstGeom prst="roundRect">
            <a:avLst/>
          </a:prstGeom>
          <a:solidFill>
            <a:srgbClr val="FFF7ED"/>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28431" y="2788920"/>
            <a:ext cx="2724912" cy="201168"/>
          </a:xfrm>
          <a:prstGeom prst="rect">
            <a:avLst/>
          </a:prstGeom>
          <a:noFill/>
        </p:spPr>
        <p:txBody>
          <a:bodyPr wrap="square" anchor="ctr" lIns="0" rIns="0" tIns="0" bIns="0">
            <a:normAutofit/>
          </a:bodyPr>
          <a:lstStyle/>
          <a:p>
            <a:pPr algn="ctr"/>
            <a:r>
              <a:rPr sz="1200" b="1">
                <a:solidFill>
                  <a:srgbClr val="F59E0B"/>
                </a:solidFill>
                <a:latin typeface="Noto Sans SC"/>
              </a:rPr>
              <a:t>真正卡住商业化的是应用层</a:t>
            </a:r>
          </a:p>
        </p:txBody>
      </p:sp>
      <p:sp>
        <p:nvSpPr>
          <p:cNvPr id="23" name="TextBox 22"/>
          <p:cNvSpPr txBox="1"/>
          <p:nvPr/>
        </p:nvSpPr>
        <p:spPr>
          <a:xfrm>
            <a:off x="8028431" y="3127248"/>
            <a:ext cx="2724912" cy="182880"/>
          </a:xfrm>
          <a:prstGeom prst="rect">
            <a:avLst/>
          </a:prstGeom>
          <a:noFill/>
        </p:spPr>
        <p:txBody>
          <a:bodyPr wrap="square" anchor="ctr" lIns="0" rIns="0" tIns="0" bIns="0">
            <a:normAutofit/>
          </a:bodyPr>
          <a:lstStyle/>
          <a:p>
            <a:pPr algn="ctr"/>
            <a:r>
              <a:rPr sz="900" b="1">
                <a:solidFill>
                  <a:srgbClr val="334155"/>
                </a:solidFill>
                <a:latin typeface="Noto Sans SC"/>
              </a:rPr>
              <a:t>处理、标注、建模、核查仍重度项目制</a:t>
            </a:r>
          </a:p>
        </p:txBody>
      </p:sp>
      <p:pic>
        <p:nvPicPr>
          <p:cNvPr id="24" name="Picture 23" descr="harbin_migration_frame_1514.png"/>
          <p:cNvPicPr>
            <a:picLocks noChangeAspect="1"/>
          </p:cNvPicPr>
          <p:nvPr/>
        </p:nvPicPr>
        <p:blipFill>
          <a:blip r:embed="rId2"/>
          <a:stretch>
            <a:fillRect/>
          </a:stretch>
        </p:blipFill>
        <p:spPr>
          <a:xfrm>
            <a:off x="841248" y="2907792"/>
            <a:ext cx="2880360" cy="1901952"/>
          </a:xfrm>
          <a:prstGeom prst="rect">
            <a:avLst/>
          </a:prstGeom>
        </p:spPr>
      </p:pic>
      <p:pic>
        <p:nvPicPr>
          <p:cNvPr id="25" name="Picture 24" descr="patch_000339_dynamic_world_2025-04_detail_1514.png"/>
          <p:cNvPicPr>
            <a:picLocks noChangeAspect="1"/>
          </p:cNvPicPr>
          <p:nvPr/>
        </p:nvPicPr>
        <p:blipFill>
          <a:blip r:embed="rId3"/>
          <a:stretch>
            <a:fillRect/>
          </a:stretch>
        </p:blipFill>
        <p:spPr>
          <a:xfrm>
            <a:off x="3931920" y="2907792"/>
            <a:ext cx="2880360" cy="1901952"/>
          </a:xfrm>
          <a:prstGeom prst="rect">
            <a:avLst/>
          </a:prstGeom>
        </p:spPr>
      </p:pic>
      <p:pic>
        <p:nvPicPr>
          <p:cNvPr id="26" name="Picture 25" descr="patch_000146_2025-06_vs_2025-08_detail_2962.png"/>
          <p:cNvPicPr>
            <a:picLocks noChangeAspect="1"/>
          </p:cNvPicPr>
          <p:nvPr/>
        </p:nvPicPr>
        <p:blipFill>
          <a:blip r:embed="rId4"/>
          <a:stretch>
            <a:fillRect/>
          </a:stretch>
        </p:blipFill>
        <p:spPr>
          <a:xfrm>
            <a:off x="7443216" y="3895344"/>
            <a:ext cx="2926080" cy="987552"/>
          </a:xfrm>
          <a:prstGeom prst="rect">
            <a:avLst/>
          </a:prstGeom>
        </p:spPr>
      </p:pic>
      <p:sp>
        <p:nvSpPr>
          <p:cNvPr id="27" name="TextBox 26"/>
          <p:cNvSpPr txBox="1"/>
          <p:nvPr/>
        </p:nvSpPr>
        <p:spPr>
          <a:xfrm>
            <a:off x="841248"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新区级连续监测</a:t>
            </a:r>
          </a:p>
        </p:txBody>
      </p:sp>
      <p:sp>
        <p:nvSpPr>
          <p:cNvPr id="28" name="TextBox 27"/>
          <p:cNvSpPr txBox="1"/>
          <p:nvPr/>
        </p:nvSpPr>
        <p:spPr>
          <a:xfrm>
            <a:off x="3931920"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多任务结果复用</a:t>
            </a:r>
          </a:p>
        </p:txBody>
      </p:sp>
      <p:sp>
        <p:nvSpPr>
          <p:cNvPr id="29" name="TextBox 28"/>
          <p:cNvSpPr txBox="1"/>
          <p:nvPr/>
        </p:nvSpPr>
        <p:spPr>
          <a:xfrm>
            <a:off x="7443216" y="5029200"/>
            <a:ext cx="2926080" cy="182880"/>
          </a:xfrm>
          <a:prstGeom prst="rect">
            <a:avLst/>
          </a:prstGeom>
          <a:noFill/>
        </p:spPr>
        <p:txBody>
          <a:bodyPr wrap="square" anchor="ctr" lIns="0" rIns="0" tIns="0" bIns="0">
            <a:normAutofit/>
          </a:bodyPr>
          <a:lstStyle/>
          <a:p>
            <a:pPr algn="ctr"/>
            <a:r>
              <a:rPr sz="900" b="1">
                <a:solidFill>
                  <a:srgbClr val="334155"/>
                </a:solidFill>
                <a:latin typeface="Noto Sans SC"/>
              </a:rPr>
              <a:t>云遮挡与缺失模态</a:t>
            </a:r>
          </a:p>
        </p:txBody>
      </p:sp>
      <p:sp>
        <p:nvSpPr>
          <p:cNvPr id="30" name="TextBox 29"/>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窗口期的核心机会：更低成本、更快交付、更高频更新。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06</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遥感应用没有大规模爆发：用不起、用不好、用不快</a:t>
            </a:r>
          </a:p>
        </p:txBody>
      </p:sp>
      <p:sp>
        <p:nvSpPr>
          <p:cNvPr id="4" name="Rounded Rectangle 3"/>
          <p:cNvSpPr/>
          <p:nvPr/>
        </p:nvSpPr>
        <p:spPr>
          <a:xfrm>
            <a:off x="859536" y="1371600"/>
            <a:ext cx="3154680" cy="1225296"/>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1618488"/>
            <a:ext cx="2761488" cy="256032"/>
          </a:xfrm>
          <a:prstGeom prst="rect">
            <a:avLst/>
          </a:prstGeom>
          <a:noFill/>
        </p:spPr>
        <p:txBody>
          <a:bodyPr wrap="square" anchor="ctr" lIns="0" rIns="0" tIns="0" bIns="0">
            <a:normAutofit/>
          </a:bodyPr>
          <a:lstStyle/>
          <a:p>
            <a:pPr algn="ctr"/>
            <a:r>
              <a:rPr sz="1800" b="1">
                <a:solidFill>
                  <a:srgbClr val="2563EB"/>
                </a:solidFill>
                <a:latin typeface="Noto Sans SC"/>
              </a:rPr>
              <a:t>用不起</a:t>
            </a:r>
          </a:p>
        </p:txBody>
      </p:sp>
      <p:sp>
        <p:nvSpPr>
          <p:cNvPr id="6" name="TextBox 5"/>
          <p:cNvSpPr txBox="1"/>
          <p:nvPr/>
        </p:nvSpPr>
        <p:spPr>
          <a:xfrm>
            <a:off x="1115568"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项目制、专家制、标注贵，任务越多成本越高。</a:t>
            </a:r>
          </a:p>
        </p:txBody>
      </p:sp>
      <p:sp>
        <p:nvSpPr>
          <p:cNvPr id="7" name="Rounded Rectangle 6"/>
          <p:cNvSpPr/>
          <p:nvPr/>
        </p:nvSpPr>
        <p:spPr>
          <a:xfrm>
            <a:off x="4636008" y="1371600"/>
            <a:ext cx="3154680" cy="1225296"/>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37176" y="1618488"/>
            <a:ext cx="2761488" cy="256032"/>
          </a:xfrm>
          <a:prstGeom prst="rect">
            <a:avLst/>
          </a:prstGeom>
          <a:noFill/>
        </p:spPr>
        <p:txBody>
          <a:bodyPr wrap="square" anchor="ctr" lIns="0" rIns="0" tIns="0" bIns="0">
            <a:normAutofit/>
          </a:bodyPr>
          <a:lstStyle/>
          <a:p>
            <a:pPr algn="ctr"/>
            <a:r>
              <a:rPr sz="1800" b="1">
                <a:solidFill>
                  <a:srgbClr val="10B981"/>
                </a:solidFill>
                <a:latin typeface="Noto Sans SC"/>
              </a:rPr>
              <a:t>用不好</a:t>
            </a:r>
          </a:p>
        </p:txBody>
      </p:sp>
      <p:sp>
        <p:nvSpPr>
          <p:cNvPr id="9" name="TextBox 8"/>
          <p:cNvSpPr txBox="1"/>
          <p:nvPr/>
        </p:nvSpPr>
        <p:spPr>
          <a:xfrm>
            <a:off x="4892040"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换区域、换地物、换传感器，模型泛化就变差。</a:t>
            </a:r>
          </a:p>
        </p:txBody>
      </p:sp>
      <p:sp>
        <p:nvSpPr>
          <p:cNvPr id="10" name="Rounded Rectangle 9"/>
          <p:cNvSpPr/>
          <p:nvPr/>
        </p:nvSpPr>
        <p:spPr>
          <a:xfrm>
            <a:off x="8412480" y="1371600"/>
            <a:ext cx="3154680" cy="1225296"/>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13648" y="1618488"/>
            <a:ext cx="2761488" cy="256032"/>
          </a:xfrm>
          <a:prstGeom prst="rect">
            <a:avLst/>
          </a:prstGeom>
          <a:noFill/>
        </p:spPr>
        <p:txBody>
          <a:bodyPr wrap="square" anchor="ctr" lIns="0" rIns="0" tIns="0" bIns="0">
            <a:normAutofit/>
          </a:bodyPr>
          <a:lstStyle/>
          <a:p>
            <a:pPr algn="ctr"/>
            <a:r>
              <a:rPr sz="1800" b="1">
                <a:solidFill>
                  <a:srgbClr val="7C3AED"/>
                </a:solidFill>
                <a:latin typeface="Noto Sans SC"/>
              </a:rPr>
              <a:t>用不快</a:t>
            </a:r>
          </a:p>
        </p:txBody>
      </p:sp>
      <p:sp>
        <p:nvSpPr>
          <p:cNvPr id="12" name="TextBox 11"/>
          <p:cNvSpPr txBox="1"/>
          <p:nvPr/>
        </p:nvSpPr>
        <p:spPr>
          <a:xfrm>
            <a:off x="8668511"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从需求到交付链条长，结果常常错过决策窗口。</a:t>
            </a:r>
          </a:p>
        </p:txBody>
      </p:sp>
      <p:sp>
        <p:nvSpPr>
          <p:cNvPr id="13" name="TextBox 12"/>
          <p:cNvSpPr txBox="1"/>
          <p:nvPr/>
        </p:nvSpPr>
        <p:spPr>
          <a:xfrm>
            <a:off x="987552" y="3337560"/>
            <a:ext cx="1005840" cy="201168"/>
          </a:xfrm>
          <a:prstGeom prst="rect">
            <a:avLst/>
          </a:prstGeom>
          <a:noFill/>
        </p:spPr>
        <p:txBody>
          <a:bodyPr wrap="square" anchor="ctr" lIns="0" rIns="0" tIns="0" bIns="0">
            <a:normAutofit/>
          </a:bodyPr>
          <a:lstStyle/>
          <a:p>
            <a:pPr algn="l"/>
            <a:r>
              <a:rPr sz="1100" b="1">
                <a:solidFill>
                  <a:srgbClr val="64748B"/>
                </a:solidFill>
                <a:latin typeface="Noto Sans SC"/>
              </a:rPr>
              <a:t>传统流程</a:t>
            </a:r>
          </a:p>
        </p:txBody>
      </p:sp>
      <p:sp>
        <p:nvSpPr>
          <p:cNvPr id="14" name="Rounded Rectangle 13"/>
          <p:cNvSpPr/>
          <p:nvPr/>
        </p:nvSpPr>
        <p:spPr>
          <a:xfrm>
            <a:off x="188366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8366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采购</a:t>
            </a:r>
          </a:p>
        </p:txBody>
      </p:sp>
      <p:cxnSp>
        <p:nvCxnSpPr>
          <p:cNvPr id="16" name="Connector 15"/>
          <p:cNvCxnSpPr/>
          <p:nvPr/>
        </p:nvCxnSpPr>
        <p:spPr>
          <a:xfrm>
            <a:off x="2578608"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779776"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9776"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预处理</a:t>
            </a:r>
          </a:p>
        </p:txBody>
      </p:sp>
      <p:cxnSp>
        <p:nvCxnSpPr>
          <p:cNvPr id="19" name="Connector 18"/>
          <p:cNvCxnSpPr/>
          <p:nvPr/>
        </p:nvCxnSpPr>
        <p:spPr>
          <a:xfrm>
            <a:off x="3474720"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675887"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5887"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标注</a:t>
            </a:r>
          </a:p>
        </p:txBody>
      </p:sp>
      <p:cxnSp>
        <p:nvCxnSpPr>
          <p:cNvPr id="22" name="Connector 21"/>
          <p:cNvCxnSpPr/>
          <p:nvPr/>
        </p:nvCxnSpPr>
        <p:spPr>
          <a:xfrm>
            <a:off x="4370831" y="3419856"/>
            <a:ext cx="146305"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572000"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训练</a:t>
            </a:r>
          </a:p>
        </p:txBody>
      </p:sp>
      <p:cxnSp>
        <p:nvCxnSpPr>
          <p:cNvPr id="25" name="Connector 24"/>
          <p:cNvCxnSpPr/>
          <p:nvPr/>
        </p:nvCxnSpPr>
        <p:spPr>
          <a:xfrm>
            <a:off x="5266944"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468112"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68112"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核查</a:t>
            </a:r>
          </a:p>
        </p:txBody>
      </p:sp>
      <p:cxnSp>
        <p:nvCxnSpPr>
          <p:cNvPr id="28" name="Connector 27"/>
          <p:cNvCxnSpPr/>
          <p:nvPr/>
        </p:nvCxnSpPr>
        <p:spPr>
          <a:xfrm>
            <a:off x="6163056"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36422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6422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报告</a:t>
            </a:r>
          </a:p>
        </p:txBody>
      </p:sp>
      <p:sp>
        <p:nvSpPr>
          <p:cNvPr id="31" name="TextBox 30"/>
          <p:cNvSpPr txBox="1"/>
          <p:nvPr/>
        </p:nvSpPr>
        <p:spPr>
          <a:xfrm>
            <a:off x="987552" y="4389120"/>
            <a:ext cx="1005840" cy="201168"/>
          </a:xfrm>
          <a:prstGeom prst="rect">
            <a:avLst/>
          </a:prstGeom>
          <a:noFill/>
        </p:spPr>
        <p:txBody>
          <a:bodyPr wrap="square" anchor="ctr" lIns="0" rIns="0" tIns="0" bIns="0">
            <a:normAutofit/>
          </a:bodyPr>
          <a:lstStyle/>
          <a:p>
            <a:pPr algn="l"/>
            <a:r>
              <a:rPr sz="1100" b="1">
                <a:solidFill>
                  <a:srgbClr val="10B981"/>
                </a:solidFill>
                <a:latin typeface="Noto Sans SC"/>
              </a:rPr>
              <a:t>玄女流程</a:t>
            </a:r>
          </a:p>
        </p:txBody>
      </p:sp>
      <p:sp>
        <p:nvSpPr>
          <p:cNvPr id="32" name="Rounded Rectangle 31"/>
          <p:cNvSpPr/>
          <p:nvPr/>
        </p:nvSpPr>
        <p:spPr>
          <a:xfrm>
            <a:off x="1883664"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83664"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地理嵌入</a:t>
            </a:r>
          </a:p>
        </p:txBody>
      </p:sp>
      <p:cxnSp>
        <p:nvCxnSpPr>
          <p:cNvPr id="34" name="Connector 33"/>
          <p:cNvCxnSpPr/>
          <p:nvPr/>
        </p:nvCxnSpPr>
        <p:spPr>
          <a:xfrm>
            <a:off x="2816352"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054096"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054096"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任务适配</a:t>
            </a:r>
          </a:p>
        </p:txBody>
      </p:sp>
      <p:cxnSp>
        <p:nvCxnSpPr>
          <p:cNvPr id="37" name="Connector 36"/>
          <p:cNvCxnSpPr/>
          <p:nvPr/>
        </p:nvCxnSpPr>
        <p:spPr>
          <a:xfrm>
            <a:off x="3986783"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4224528"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24528"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候选图斑</a:t>
            </a:r>
          </a:p>
        </p:txBody>
      </p:sp>
      <p:cxnSp>
        <p:nvCxnSpPr>
          <p:cNvPr id="40" name="Connector 39"/>
          <p:cNvCxnSpPr/>
          <p:nvPr/>
        </p:nvCxnSpPr>
        <p:spPr>
          <a:xfrm>
            <a:off x="5157216"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394960"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94960"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证据包</a:t>
            </a:r>
          </a:p>
        </p:txBody>
      </p:sp>
      <p:pic>
        <p:nvPicPr>
          <p:cNvPr id="43" name="Picture 42" descr="patch_000217_construction_2025-08_vs_2025-09_detail_3442.png"/>
          <p:cNvPicPr>
            <a:picLocks noChangeAspect="1"/>
          </p:cNvPicPr>
          <p:nvPr/>
        </p:nvPicPr>
        <p:blipFill>
          <a:blip r:embed="rId2"/>
          <a:stretch>
            <a:fillRect/>
          </a:stretch>
        </p:blipFill>
        <p:spPr>
          <a:xfrm>
            <a:off x="7571231" y="3035808"/>
            <a:ext cx="3273552" cy="950976"/>
          </a:xfrm>
          <a:prstGeom prst="rect">
            <a:avLst/>
          </a:prstGeom>
        </p:spPr>
      </p:pic>
      <p:pic>
        <p:nvPicPr>
          <p:cNvPr id="44" name="Picture 43" descr="patch_000217_land_conversion_2025-08_vs_2025-09_detail_3442.png"/>
          <p:cNvPicPr>
            <a:picLocks noChangeAspect="1"/>
          </p:cNvPicPr>
          <p:nvPr/>
        </p:nvPicPr>
        <p:blipFill>
          <a:blip r:embed="rId3"/>
          <a:stretch>
            <a:fillRect/>
          </a:stretch>
        </p:blipFill>
        <p:spPr>
          <a:xfrm>
            <a:off x="7571231" y="4261104"/>
            <a:ext cx="3273552" cy="950976"/>
          </a:xfrm>
          <a:prstGeom prst="rect">
            <a:avLst/>
          </a:prstGeom>
        </p:spPr>
      </p:pic>
      <p:sp>
        <p:nvSpPr>
          <p:cNvPr id="45" name="TextBox 44"/>
          <p:cNvSpPr txBox="1"/>
          <p:nvPr/>
        </p:nvSpPr>
        <p:spPr>
          <a:xfrm>
            <a:off x="786384" y="565099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玄女要做的，是把一次性项目流程变成可复用的地理智能流水线。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07</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天使用户：政府、企业、高校，痛点都指向同一件事</a:t>
            </a:r>
          </a:p>
        </p:txBody>
      </p:sp>
      <p:sp>
        <p:nvSpPr>
          <p:cNvPr id="4" name="Rounded Rectangle 3"/>
          <p:cNvSpPr/>
          <p:nvPr/>
        </p:nvSpPr>
        <p:spPr>
          <a:xfrm>
            <a:off x="822960" y="1280160"/>
            <a:ext cx="3246120" cy="27432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sona_government_v2_996.png"/>
          <p:cNvPicPr>
            <a:picLocks noChangeAspect="1"/>
          </p:cNvPicPr>
          <p:nvPr/>
        </p:nvPicPr>
        <p:blipFill>
          <a:blip r:embed="rId2"/>
          <a:stretch>
            <a:fillRect/>
          </a:stretch>
        </p:blipFill>
        <p:spPr>
          <a:xfrm>
            <a:off x="1207008" y="1481328"/>
            <a:ext cx="2478024" cy="2487168"/>
          </a:xfrm>
          <a:prstGeom prst="rect">
            <a:avLst/>
          </a:prstGeom>
        </p:spPr>
      </p:pic>
      <p:sp>
        <p:nvSpPr>
          <p:cNvPr id="6" name="TextBox 5"/>
          <p:cNvSpPr txBox="1"/>
          <p:nvPr/>
        </p:nvSpPr>
        <p:spPr>
          <a:xfrm>
            <a:off x="969264"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政府部门</a:t>
            </a:r>
          </a:p>
        </p:txBody>
      </p:sp>
      <p:sp>
        <p:nvSpPr>
          <p:cNvPr id="7" name="TextBox 6"/>
          <p:cNvSpPr txBox="1"/>
          <p:nvPr/>
        </p:nvSpPr>
        <p:spPr>
          <a:xfrm>
            <a:off x="1024128" y="4645152"/>
            <a:ext cx="2834640" cy="182880"/>
          </a:xfrm>
          <a:prstGeom prst="rect">
            <a:avLst/>
          </a:prstGeom>
          <a:noFill/>
        </p:spPr>
        <p:txBody>
          <a:bodyPr wrap="square" anchor="ctr" lIns="0" rIns="0" tIns="0" bIns="0">
            <a:normAutofit/>
          </a:bodyPr>
          <a:lstStyle/>
          <a:p>
            <a:pPr algn="ctr"/>
            <a:r>
              <a:rPr sz="1100" b="1">
                <a:solidFill>
                  <a:srgbClr val="2563EB"/>
                </a:solidFill>
                <a:latin typeface="Noto Sans SC"/>
              </a:rPr>
              <a:t>变化图斑太多</a:t>
            </a:r>
          </a:p>
        </p:txBody>
      </p:sp>
      <p:sp>
        <p:nvSpPr>
          <p:cNvPr id="8" name="TextBox 7"/>
          <p:cNvSpPr txBox="1"/>
          <p:nvPr/>
        </p:nvSpPr>
        <p:spPr>
          <a:xfrm>
            <a:off x="1133856"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需要证据链、优先级、核查闭环</a:t>
            </a:r>
          </a:p>
        </p:txBody>
      </p:sp>
      <p:sp>
        <p:nvSpPr>
          <p:cNvPr id="9" name="Rounded Rectangle 8"/>
          <p:cNvSpPr/>
          <p:nvPr/>
        </p:nvSpPr>
        <p:spPr>
          <a:xfrm>
            <a:off x="4626864" y="1280160"/>
            <a:ext cx="3246120" cy="27432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_enterprise_v2_996.png"/>
          <p:cNvPicPr>
            <a:picLocks noChangeAspect="1"/>
          </p:cNvPicPr>
          <p:nvPr/>
        </p:nvPicPr>
        <p:blipFill>
          <a:blip r:embed="rId3"/>
          <a:stretch>
            <a:fillRect/>
          </a:stretch>
        </p:blipFill>
        <p:spPr>
          <a:xfrm>
            <a:off x="5010912" y="1481328"/>
            <a:ext cx="2478024" cy="2487168"/>
          </a:xfrm>
          <a:prstGeom prst="rect">
            <a:avLst/>
          </a:prstGeom>
        </p:spPr>
      </p:pic>
      <p:sp>
        <p:nvSpPr>
          <p:cNvPr id="11" name="TextBox 10"/>
          <p:cNvSpPr txBox="1"/>
          <p:nvPr/>
        </p:nvSpPr>
        <p:spPr>
          <a:xfrm>
            <a:off x="4773168"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遥感企业</a:t>
            </a:r>
          </a:p>
        </p:txBody>
      </p:sp>
      <p:sp>
        <p:nvSpPr>
          <p:cNvPr id="12" name="TextBox 11"/>
          <p:cNvSpPr txBox="1"/>
          <p:nvPr/>
        </p:nvSpPr>
        <p:spPr>
          <a:xfrm>
            <a:off x="4828032" y="4645152"/>
            <a:ext cx="2834640" cy="182880"/>
          </a:xfrm>
          <a:prstGeom prst="rect">
            <a:avLst/>
          </a:prstGeom>
          <a:noFill/>
        </p:spPr>
        <p:txBody>
          <a:bodyPr wrap="square" anchor="ctr" lIns="0" rIns="0" tIns="0" bIns="0">
            <a:normAutofit/>
          </a:bodyPr>
          <a:lstStyle/>
          <a:p>
            <a:pPr algn="ctr"/>
            <a:r>
              <a:rPr sz="1100" b="1">
                <a:solidFill>
                  <a:srgbClr val="10B981"/>
                </a:solidFill>
                <a:latin typeface="Noto Sans SC"/>
              </a:rPr>
              <a:t>项目越多越重</a:t>
            </a:r>
          </a:p>
        </p:txBody>
      </p:sp>
      <p:sp>
        <p:nvSpPr>
          <p:cNvPr id="13" name="TextBox 12"/>
          <p:cNvSpPr txBox="1"/>
          <p:nvPr/>
        </p:nvSpPr>
        <p:spPr>
          <a:xfrm>
            <a:off x="4937760"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需要复用底座、少样本适配、降低人力</a:t>
            </a:r>
          </a:p>
        </p:txBody>
      </p:sp>
      <p:sp>
        <p:nvSpPr>
          <p:cNvPr id="14" name="Rounded Rectangle 13"/>
          <p:cNvSpPr/>
          <p:nvPr/>
        </p:nvSpPr>
        <p:spPr>
          <a:xfrm>
            <a:off x="8430768" y="1280160"/>
            <a:ext cx="3246120" cy="27432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ersona_university_v2_996.png"/>
          <p:cNvPicPr>
            <a:picLocks noChangeAspect="1"/>
          </p:cNvPicPr>
          <p:nvPr/>
        </p:nvPicPr>
        <p:blipFill>
          <a:blip r:embed="rId4"/>
          <a:stretch>
            <a:fillRect/>
          </a:stretch>
        </p:blipFill>
        <p:spPr>
          <a:xfrm>
            <a:off x="8814816" y="1481328"/>
            <a:ext cx="2478024" cy="2487168"/>
          </a:xfrm>
          <a:prstGeom prst="rect">
            <a:avLst/>
          </a:prstGeom>
        </p:spPr>
      </p:pic>
      <p:sp>
        <p:nvSpPr>
          <p:cNvPr id="16" name="TextBox 15"/>
          <p:cNvSpPr txBox="1"/>
          <p:nvPr/>
        </p:nvSpPr>
        <p:spPr>
          <a:xfrm>
            <a:off x="8577072"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高校团队</a:t>
            </a:r>
          </a:p>
        </p:txBody>
      </p:sp>
      <p:sp>
        <p:nvSpPr>
          <p:cNvPr id="17" name="TextBox 16"/>
          <p:cNvSpPr txBox="1"/>
          <p:nvPr/>
        </p:nvSpPr>
        <p:spPr>
          <a:xfrm>
            <a:off x="8631936" y="4645152"/>
            <a:ext cx="2834640" cy="182880"/>
          </a:xfrm>
          <a:prstGeom prst="rect">
            <a:avLst/>
          </a:prstGeom>
          <a:noFill/>
        </p:spPr>
        <p:txBody>
          <a:bodyPr wrap="square" anchor="ctr" lIns="0" rIns="0" tIns="0" bIns="0">
            <a:normAutofit/>
          </a:bodyPr>
          <a:lstStyle/>
          <a:p>
            <a:pPr algn="ctr"/>
            <a:r>
              <a:rPr sz="1100" b="1">
                <a:solidFill>
                  <a:srgbClr val="7C3AED"/>
                </a:solidFill>
                <a:latin typeface="Noto Sans SC"/>
              </a:rPr>
              <a:t>数据工程太重</a:t>
            </a:r>
          </a:p>
        </p:txBody>
      </p:sp>
      <p:sp>
        <p:nvSpPr>
          <p:cNvPr id="18" name="TextBox 17"/>
          <p:cNvSpPr txBox="1"/>
          <p:nvPr/>
        </p:nvSpPr>
        <p:spPr>
          <a:xfrm>
            <a:off x="8741664"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需要现成嵌入、预标注、难例检索</a:t>
            </a:r>
          </a:p>
        </p:txBody>
      </p:sp>
      <p:sp>
        <p:nvSpPr>
          <p:cNvPr id="19" name="TextBox 18"/>
          <p:cNvSpPr txBox="1"/>
          <p:nvPr/>
        </p:nvSpPr>
        <p:spPr>
          <a:xfrm>
            <a:off x="786384" y="569671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三类用户表面不同，本质都是：不要每个任务重做一次遥感工程。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08</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我们的答案：把地球观测转成地理智能底座</a:t>
            </a:r>
          </a:p>
        </p:txBody>
      </p:sp>
      <p:sp>
        <p:nvSpPr>
          <p:cNvPr id="4" name="TextBox 3"/>
          <p:cNvSpPr txBox="1"/>
          <p:nvPr/>
        </p:nvSpPr>
        <p:spPr>
          <a:xfrm>
            <a:off x="950976" y="1188720"/>
            <a:ext cx="10287000" cy="877824"/>
          </a:xfrm>
          <a:prstGeom prst="rect">
            <a:avLst/>
          </a:prstGeom>
          <a:noFill/>
        </p:spPr>
        <p:txBody>
          <a:bodyPr wrap="square" anchor="ctr" lIns="0" rIns="0" tIns="0" bIns="0">
            <a:normAutofit/>
          </a:bodyPr>
          <a:lstStyle/>
          <a:p>
            <a:pPr algn="ctr"/>
            <a:r>
              <a:rPr sz="2400" b="1">
                <a:solidFill>
                  <a:srgbClr val="0F172A"/>
                </a:solidFill>
                <a:latin typeface="Noto Sans SC"/>
              </a:rPr>
              <a:t>我们如何把爆发式增长的地球观测数据转化为可复用的地理智能底座，
让不同用户不再为每个遥感任务重复采购、标注、建模和计算？</a:t>
            </a:r>
          </a:p>
        </p:txBody>
      </p:sp>
      <p:sp>
        <p:nvSpPr>
          <p:cNvPr id="5" name="Rounded Rectangle 4"/>
          <p:cNvSpPr/>
          <p:nvPr/>
        </p:nvSpPr>
        <p:spPr>
          <a:xfrm>
            <a:off x="1188720" y="2944368"/>
            <a:ext cx="4343400" cy="1261872"/>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81328" y="3182112"/>
            <a:ext cx="3749039" cy="219456"/>
          </a:xfrm>
          <a:prstGeom prst="rect">
            <a:avLst/>
          </a:prstGeom>
          <a:noFill/>
        </p:spPr>
        <p:txBody>
          <a:bodyPr wrap="square" anchor="ctr" lIns="0" rIns="0" tIns="0" bIns="0">
            <a:normAutofit/>
          </a:bodyPr>
          <a:lstStyle/>
          <a:p>
            <a:pPr algn="ctr"/>
            <a:r>
              <a:rPr sz="1400" b="1">
                <a:solidFill>
                  <a:srgbClr val="2563EB"/>
                </a:solidFill>
                <a:latin typeface="Noto Sans SC"/>
              </a:rPr>
              <a:t>文本智能</a:t>
            </a:r>
          </a:p>
        </p:txBody>
      </p:sp>
      <p:sp>
        <p:nvSpPr>
          <p:cNvPr id="7" name="TextBox 6"/>
          <p:cNvSpPr txBox="1"/>
          <p:nvPr/>
        </p:nvSpPr>
        <p:spPr>
          <a:xfrm>
            <a:off x="1481328" y="3602736"/>
            <a:ext cx="3749039" cy="219456"/>
          </a:xfrm>
          <a:prstGeom prst="rect">
            <a:avLst/>
          </a:prstGeom>
          <a:noFill/>
        </p:spPr>
        <p:txBody>
          <a:bodyPr wrap="square" anchor="ctr" lIns="0" rIns="0" tIns="0" bIns="0">
            <a:normAutofit/>
          </a:bodyPr>
          <a:lstStyle/>
          <a:p>
            <a:pPr algn="ctr"/>
            <a:r>
              <a:rPr sz="1100" b="1">
                <a:solidFill>
                  <a:srgbClr val="334155"/>
                </a:solidFill>
                <a:latin typeface="Noto Sans SC"/>
              </a:rPr>
              <a:t>文本 → 语义单元 → 理解 / 检索 / 生成</a:t>
            </a:r>
          </a:p>
        </p:txBody>
      </p:sp>
      <p:sp>
        <p:nvSpPr>
          <p:cNvPr id="8" name="Rounded Rectangle 7"/>
          <p:cNvSpPr/>
          <p:nvPr/>
        </p:nvSpPr>
        <p:spPr>
          <a:xfrm>
            <a:off x="6656832" y="2944368"/>
            <a:ext cx="4343400" cy="126187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3182112"/>
            <a:ext cx="3749039" cy="219456"/>
          </a:xfrm>
          <a:prstGeom prst="rect">
            <a:avLst/>
          </a:prstGeom>
          <a:noFill/>
        </p:spPr>
        <p:txBody>
          <a:bodyPr wrap="square" anchor="ctr" lIns="0" rIns="0" tIns="0" bIns="0">
            <a:normAutofit/>
          </a:bodyPr>
          <a:lstStyle/>
          <a:p>
            <a:pPr algn="ctr"/>
            <a:r>
              <a:rPr sz="1400" b="1">
                <a:solidFill>
                  <a:srgbClr val="10B981"/>
                </a:solidFill>
                <a:latin typeface="Noto Sans SC"/>
              </a:rPr>
              <a:t>地球智能</a:t>
            </a:r>
          </a:p>
        </p:txBody>
      </p:sp>
      <p:sp>
        <p:nvSpPr>
          <p:cNvPr id="10" name="TextBox 9"/>
          <p:cNvSpPr txBox="1"/>
          <p:nvPr/>
        </p:nvSpPr>
        <p:spPr>
          <a:xfrm>
            <a:off x="6949440" y="3602736"/>
            <a:ext cx="3749039" cy="219456"/>
          </a:xfrm>
          <a:prstGeom prst="rect">
            <a:avLst/>
          </a:prstGeom>
          <a:noFill/>
        </p:spPr>
        <p:txBody>
          <a:bodyPr wrap="square" anchor="ctr" lIns="0" rIns="0" tIns="0" bIns="0">
            <a:normAutofit/>
          </a:bodyPr>
          <a:lstStyle/>
          <a:p>
            <a:pPr algn="ctr"/>
            <a:r>
              <a:rPr sz="1000" b="1">
                <a:solidFill>
                  <a:srgbClr val="334155"/>
                </a:solidFill>
                <a:latin typeface="Noto Sans SC"/>
              </a:rPr>
              <a:t>地球观测 → 地理嵌入 → 监测 / 核查 / 预警 / 决策</a:t>
            </a:r>
          </a:p>
        </p:txBody>
      </p:sp>
      <p:cxnSp>
        <p:nvCxnSpPr>
          <p:cNvPr id="11" name="Connector 10"/>
          <p:cNvCxnSpPr/>
          <p:nvPr/>
        </p:nvCxnSpPr>
        <p:spPr>
          <a:xfrm>
            <a:off x="5650992" y="3584448"/>
            <a:ext cx="795528" cy="0"/>
          </a:xfrm>
          <a:prstGeom prst="line">
            <a:avLst/>
          </a:prstGeom>
          <a:ln w="1778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60704" y="4983480"/>
            <a:ext cx="10058400" cy="530352"/>
          </a:xfrm>
          <a:prstGeom prst="rect">
            <a:avLst/>
          </a:prstGeom>
          <a:noFill/>
        </p:spPr>
        <p:txBody>
          <a:bodyPr wrap="square" anchor="ctr" lIns="0" rIns="0" tIns="0" bIns="0">
            <a:normAutofit/>
          </a:bodyPr>
          <a:lstStyle/>
          <a:p>
            <a:pPr algn="ctr"/>
            <a:r>
              <a:rPr sz="1500" b="1">
                <a:solidFill>
                  <a:srgbClr val="2563EB"/>
                </a:solidFill>
                <a:latin typeface="Noto Sans SC"/>
              </a:rPr>
              <a:t>大模型先把文本转成语义单元，才能进行理解、检索、生成；
玄女先把地球观测转成地理嵌入，才能进行监测、核查、预警和决策。</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