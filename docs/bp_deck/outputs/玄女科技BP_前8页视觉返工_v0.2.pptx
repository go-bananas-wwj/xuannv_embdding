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402080"/>
            <a:ext cx="5806440" cy="3870960"/>
          </a:xfrm>
          <a:prstGeom prst="rect">
            <a:avLst/>
          </a:prstGeom>
        </p:spPr>
      </p:pic>
      <p:sp>
        <p:nvSpPr>
          <p:cNvPr id="5" name="Rounded Rectangle 4"/>
          <p:cNvSpPr/>
          <p:nvPr/>
        </p:nvSpPr>
        <p:spPr>
          <a:xfrm>
            <a:off x="6967728" y="1408176"/>
            <a:ext cx="4617720" cy="8412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rc 5"/>
          <p:cNvSpPr/>
          <p:nvPr/>
        </p:nvSpPr>
        <p:spPr>
          <a:xfrm>
            <a:off x="7168896" y="1591056"/>
            <a:ext cx="530352" cy="530352"/>
          </a:xfrm>
          <a:prstGeom prst="arc">
            <a:avLst/>
          </a:prstGeom>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60336" y="1655064"/>
            <a:ext cx="347472" cy="274320"/>
          </a:xfrm>
          <a:prstGeom prst="rect">
            <a:avLst/>
          </a:prstGeom>
          <a:noFill/>
        </p:spPr>
        <p:txBody>
          <a:bodyPr wrap="square" anchor="ctr" lIns="0" rIns="0" tIns="0" bIns="0">
            <a:normAutofit/>
          </a:bodyPr>
          <a:lstStyle/>
          <a:p>
            <a:pPr algn="ctr"/>
            <a:r>
              <a:rPr sz="1700" b="1">
                <a:solidFill>
                  <a:srgbClr val="2563EB"/>
                </a:solidFill>
                <a:latin typeface="Noto Sans SC"/>
              </a:rPr>
              <a:t>↻</a:t>
            </a:r>
          </a:p>
        </p:txBody>
      </p:sp>
      <p:sp>
        <p:nvSpPr>
          <p:cNvPr id="8" name="TextBox 7"/>
          <p:cNvSpPr txBox="1"/>
          <p:nvPr/>
        </p:nvSpPr>
        <p:spPr>
          <a:xfrm>
            <a:off x="7754112" y="1554480"/>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重复造轮子</a:t>
            </a:r>
          </a:p>
        </p:txBody>
      </p:sp>
      <p:sp>
        <p:nvSpPr>
          <p:cNvPr id="9" name="TextBox 8"/>
          <p:cNvSpPr txBox="1"/>
          <p:nvPr/>
        </p:nvSpPr>
        <p:spPr>
          <a:xfrm>
            <a:off x="8842248" y="1536192"/>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每个任务都重新找数据、清洗、标注、训练。</a:t>
            </a:r>
          </a:p>
        </p:txBody>
      </p:sp>
      <p:sp>
        <p:nvSpPr>
          <p:cNvPr id="10" name="Rounded Rectangle 9"/>
          <p:cNvSpPr/>
          <p:nvPr/>
        </p:nvSpPr>
        <p:spPr>
          <a:xfrm>
            <a:off x="6967728" y="2633472"/>
            <a:ext cx="4617720" cy="8412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n 10"/>
          <p:cNvSpPr/>
          <p:nvPr/>
        </p:nvSpPr>
        <p:spPr>
          <a:xfrm>
            <a:off x="7168896" y="2816352"/>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an 11"/>
          <p:cNvSpPr/>
          <p:nvPr/>
        </p:nvSpPr>
        <p:spPr>
          <a:xfrm>
            <a:off x="7168896" y="2935224"/>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an 12"/>
          <p:cNvSpPr/>
          <p:nvPr/>
        </p:nvSpPr>
        <p:spPr>
          <a:xfrm>
            <a:off x="7168896" y="3054096"/>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54112" y="2779776"/>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数据孤岛</a:t>
            </a:r>
          </a:p>
        </p:txBody>
      </p:sp>
      <p:sp>
        <p:nvSpPr>
          <p:cNvPr id="15" name="TextBox 14"/>
          <p:cNvSpPr txBox="1"/>
          <p:nvPr/>
        </p:nvSpPr>
        <p:spPr>
          <a:xfrm>
            <a:off x="8842248" y="2761488"/>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光学、雷达、高程、气象各自成体系，难复用。</a:t>
            </a:r>
          </a:p>
        </p:txBody>
      </p:sp>
      <p:sp>
        <p:nvSpPr>
          <p:cNvPr id="16" name="Rounded Rectangle 15"/>
          <p:cNvSpPr/>
          <p:nvPr/>
        </p:nvSpPr>
        <p:spPr>
          <a:xfrm>
            <a:off x="6967728" y="3858768"/>
            <a:ext cx="4617720" cy="84124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68896" y="404164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42048" y="4133087"/>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422452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54112" y="4005072"/>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结果难复用</a:t>
            </a:r>
          </a:p>
        </p:txBody>
      </p:sp>
      <p:sp>
        <p:nvSpPr>
          <p:cNvPr id="21" name="TextBox 20"/>
          <p:cNvSpPr txBox="1"/>
          <p:nvPr/>
        </p:nvSpPr>
        <p:spPr>
          <a:xfrm>
            <a:off x="8842248" y="3986783"/>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一个项目一个结果，难沉淀成下次可调用的资产。</a:t>
            </a:r>
          </a:p>
        </p:txBody>
      </p:sp>
      <p:sp>
        <p:nvSpPr>
          <p:cNvPr id="22" name="TextBox 21"/>
          <p:cNvSpPr txBox="1"/>
          <p:nvPr/>
        </p:nvSpPr>
        <p:spPr>
          <a:xfrm>
            <a:off x="786384" y="5669280"/>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真正缺的不是更多影像，而是把同一块地连续、统一理解的能力。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