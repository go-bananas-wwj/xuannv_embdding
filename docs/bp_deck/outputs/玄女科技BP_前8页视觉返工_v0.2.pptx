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卫星越多，理解地球的方式反而越碎片化</a:t>
            </a:r>
          </a:p>
        </p:txBody>
      </p:sp>
      <p:sp>
        <p:nvSpPr>
          <p:cNvPr id="4" name="Rounded Rectangle 3"/>
          <p:cNvSpPr/>
          <p:nvPr/>
        </p:nvSpPr>
        <p:spPr>
          <a:xfrm>
            <a:off x="841248" y="1188720"/>
            <a:ext cx="5577840" cy="422452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0632" y="1444752"/>
            <a:ext cx="1572768" cy="201168"/>
          </a:xfrm>
          <a:prstGeom prst="rect">
            <a:avLst/>
          </a:prstGeom>
          <a:noFill/>
        </p:spPr>
        <p:txBody>
          <a:bodyPr wrap="square" anchor="ctr" lIns="0" rIns="0" tIns="0" bIns="0">
            <a:normAutofit/>
          </a:bodyPr>
          <a:lstStyle/>
          <a:p>
            <a:pPr algn="ctr"/>
            <a:r>
              <a:rPr sz="1100" b="1">
                <a:solidFill>
                  <a:srgbClr val="0F172A"/>
                </a:solidFill>
                <a:latin typeface="Noto Sans SC"/>
              </a:rPr>
              <a:t>同一地理位置</a:t>
            </a:r>
          </a:p>
        </p:txBody>
      </p:sp>
      <p:sp>
        <p:nvSpPr>
          <p:cNvPr id="6" name="Oval 5"/>
          <p:cNvSpPr/>
          <p:nvPr/>
        </p:nvSpPr>
        <p:spPr>
          <a:xfrm>
            <a:off x="2999232" y="1938528"/>
            <a:ext cx="1170432" cy="1170432"/>
          </a:xfrm>
          <a:prstGeom prst="ellipse">
            <a:avLst/>
          </a:prstGeom>
          <a:solidFill>
            <a:srgbClr val="ECFDF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90672" y="2176272"/>
            <a:ext cx="987552" cy="310896"/>
          </a:xfrm>
          <a:prstGeom prst="rect">
            <a:avLst/>
          </a:prstGeom>
          <a:noFill/>
        </p:spPr>
        <p:txBody>
          <a:bodyPr wrap="square" anchor="ctr" lIns="0" rIns="0" tIns="0" bIns="0">
            <a:normAutofit/>
          </a:bodyPr>
          <a:lstStyle/>
          <a:p>
            <a:pPr algn="ctr"/>
            <a:r>
              <a:rPr sz="1200" b="1">
                <a:solidFill>
                  <a:srgbClr val="10B981"/>
                </a:solidFill>
                <a:latin typeface="Noto Sans SC"/>
              </a:rPr>
              <a:t>同一
地块</a:t>
            </a:r>
          </a:p>
        </p:txBody>
      </p:sp>
      <p:sp>
        <p:nvSpPr>
          <p:cNvPr id="8" name="Rounded Rectangle 7"/>
          <p:cNvSpPr/>
          <p:nvPr/>
        </p:nvSpPr>
        <p:spPr>
          <a:xfrm>
            <a:off x="1097280"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atch_000339_s2_2025-04_1750.png"/>
          <p:cNvPicPr>
            <a:picLocks noChangeAspect="1"/>
          </p:cNvPicPr>
          <p:nvPr/>
        </p:nvPicPr>
        <p:blipFill>
          <a:blip r:embed="rId2"/>
          <a:stretch>
            <a:fillRect/>
          </a:stretch>
        </p:blipFill>
        <p:spPr>
          <a:xfrm>
            <a:off x="1152144" y="1700784"/>
            <a:ext cx="1216152" cy="694944"/>
          </a:xfrm>
          <a:prstGeom prst="rect">
            <a:avLst/>
          </a:prstGeom>
        </p:spPr>
      </p:pic>
      <p:sp>
        <p:nvSpPr>
          <p:cNvPr id="10" name="TextBox 9"/>
          <p:cNvSpPr txBox="1"/>
          <p:nvPr/>
        </p:nvSpPr>
        <p:spPr>
          <a:xfrm>
            <a:off x="1170432"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哨兵二号</a:t>
            </a:r>
          </a:p>
        </p:txBody>
      </p:sp>
      <p:cxnSp>
        <p:nvCxnSpPr>
          <p:cNvPr id="11" name="Connector 10"/>
          <p:cNvCxnSpPr/>
          <p:nvPr/>
        </p:nvCxnSpPr>
        <p:spPr>
          <a:xfrm>
            <a:off x="1773936" y="2194560"/>
            <a:ext cx="1810512"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90288"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atch_000339_s2_hr_2025-04_1750.png"/>
          <p:cNvPicPr>
            <a:picLocks noChangeAspect="1"/>
          </p:cNvPicPr>
          <p:nvPr/>
        </p:nvPicPr>
        <p:blipFill>
          <a:blip r:embed="rId3"/>
          <a:stretch>
            <a:fillRect/>
          </a:stretch>
        </p:blipFill>
        <p:spPr>
          <a:xfrm>
            <a:off x="4645151" y="1700784"/>
            <a:ext cx="1216152" cy="694944"/>
          </a:xfrm>
          <a:prstGeom prst="rect">
            <a:avLst/>
          </a:prstGeom>
        </p:spPr>
      </p:pic>
      <p:sp>
        <p:nvSpPr>
          <p:cNvPr id="14" name="TextBox 13"/>
          <p:cNvSpPr txBox="1"/>
          <p:nvPr/>
        </p:nvSpPr>
        <p:spPr>
          <a:xfrm>
            <a:off x="4663440"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高分光学</a:t>
            </a:r>
          </a:p>
        </p:txBody>
      </p:sp>
      <p:cxnSp>
        <p:nvCxnSpPr>
          <p:cNvPr id="15" name="Connector 14"/>
          <p:cNvCxnSpPr/>
          <p:nvPr/>
        </p:nvCxnSpPr>
        <p:spPr>
          <a:xfrm flipH="1">
            <a:off x="3584448" y="2194560"/>
            <a:ext cx="1682496"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97280"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tch_000339_s1_2025-04_1750.png"/>
          <p:cNvPicPr>
            <a:picLocks noChangeAspect="1"/>
          </p:cNvPicPr>
          <p:nvPr/>
        </p:nvPicPr>
        <p:blipFill>
          <a:blip r:embed="rId4"/>
          <a:stretch>
            <a:fillRect/>
          </a:stretch>
        </p:blipFill>
        <p:spPr>
          <a:xfrm>
            <a:off x="1152144" y="3849624"/>
            <a:ext cx="1216152" cy="694944"/>
          </a:xfrm>
          <a:prstGeom prst="rect">
            <a:avLst/>
          </a:prstGeom>
        </p:spPr>
      </p:pic>
      <p:sp>
        <p:nvSpPr>
          <p:cNvPr id="18" name="TextBox 17"/>
          <p:cNvSpPr txBox="1"/>
          <p:nvPr/>
        </p:nvSpPr>
        <p:spPr>
          <a:xfrm>
            <a:off x="1170432"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雷达卫星</a:t>
            </a:r>
          </a:p>
        </p:txBody>
      </p:sp>
      <p:cxnSp>
        <p:nvCxnSpPr>
          <p:cNvPr id="19" name="Connector 18"/>
          <p:cNvCxnSpPr/>
          <p:nvPr/>
        </p:nvCxnSpPr>
        <p:spPr>
          <a:xfrm flipV="1">
            <a:off x="1773936" y="2523744"/>
            <a:ext cx="1810512"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90288"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atch_000339_landsat_2025-04_1750.png"/>
          <p:cNvPicPr>
            <a:picLocks noChangeAspect="1"/>
          </p:cNvPicPr>
          <p:nvPr/>
        </p:nvPicPr>
        <p:blipFill>
          <a:blip r:embed="rId5"/>
          <a:stretch>
            <a:fillRect/>
          </a:stretch>
        </p:blipFill>
        <p:spPr>
          <a:xfrm>
            <a:off x="4645151" y="3849624"/>
            <a:ext cx="1216152" cy="694944"/>
          </a:xfrm>
          <a:prstGeom prst="rect">
            <a:avLst/>
          </a:prstGeom>
        </p:spPr>
      </p:pic>
      <p:sp>
        <p:nvSpPr>
          <p:cNvPr id="22" name="TextBox 21"/>
          <p:cNvSpPr txBox="1"/>
          <p:nvPr/>
        </p:nvSpPr>
        <p:spPr>
          <a:xfrm>
            <a:off x="4663440"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陆地卫星</a:t>
            </a:r>
          </a:p>
        </p:txBody>
      </p:sp>
      <p:cxnSp>
        <p:nvCxnSpPr>
          <p:cNvPr id="23" name="Connector 22"/>
          <p:cNvCxnSpPr/>
          <p:nvPr/>
        </p:nvCxnSpPr>
        <p:spPr>
          <a:xfrm flipH="1" flipV="1">
            <a:off x="3584448" y="2523744"/>
            <a:ext cx="1682496"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967728" y="1408176"/>
            <a:ext cx="4617720" cy="8412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Arc 24"/>
          <p:cNvSpPr/>
          <p:nvPr/>
        </p:nvSpPr>
        <p:spPr>
          <a:xfrm>
            <a:off x="7168896" y="1591056"/>
            <a:ext cx="530352" cy="530352"/>
          </a:xfrm>
          <a:prstGeom prst="arc">
            <a:avLst/>
          </a:prstGeom>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1655064"/>
            <a:ext cx="347472" cy="274320"/>
          </a:xfrm>
          <a:prstGeom prst="rect">
            <a:avLst/>
          </a:prstGeom>
          <a:noFill/>
        </p:spPr>
        <p:txBody>
          <a:bodyPr wrap="square" anchor="ctr" lIns="0" rIns="0" tIns="0" bIns="0">
            <a:normAutofit/>
          </a:bodyPr>
          <a:lstStyle/>
          <a:p>
            <a:pPr algn="ctr"/>
            <a:r>
              <a:rPr sz="1700" b="1">
                <a:solidFill>
                  <a:srgbClr val="2563EB"/>
                </a:solidFill>
                <a:latin typeface="Noto Sans SC"/>
              </a:rPr>
              <a:t>↻</a:t>
            </a:r>
          </a:p>
        </p:txBody>
      </p:sp>
      <p:sp>
        <p:nvSpPr>
          <p:cNvPr id="27" name="TextBox 26"/>
          <p:cNvSpPr txBox="1"/>
          <p:nvPr/>
        </p:nvSpPr>
        <p:spPr>
          <a:xfrm>
            <a:off x="7754112" y="1554480"/>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重复造轮子</a:t>
            </a:r>
          </a:p>
        </p:txBody>
      </p:sp>
      <p:sp>
        <p:nvSpPr>
          <p:cNvPr id="28" name="TextBox 27"/>
          <p:cNvSpPr txBox="1"/>
          <p:nvPr/>
        </p:nvSpPr>
        <p:spPr>
          <a:xfrm>
            <a:off x="8842248" y="1536192"/>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每个任务都重新找数据、清洗、标注、训练。</a:t>
            </a:r>
          </a:p>
        </p:txBody>
      </p:sp>
      <p:sp>
        <p:nvSpPr>
          <p:cNvPr id="29" name="Rounded Rectangle 28"/>
          <p:cNvSpPr/>
          <p:nvPr/>
        </p:nvSpPr>
        <p:spPr>
          <a:xfrm>
            <a:off x="6967728" y="2633472"/>
            <a:ext cx="4617720" cy="8412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an 29"/>
          <p:cNvSpPr/>
          <p:nvPr/>
        </p:nvSpPr>
        <p:spPr>
          <a:xfrm>
            <a:off x="7168896" y="2816352"/>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an 30"/>
          <p:cNvSpPr/>
          <p:nvPr/>
        </p:nvSpPr>
        <p:spPr>
          <a:xfrm>
            <a:off x="7168896" y="2935224"/>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an 31"/>
          <p:cNvSpPr/>
          <p:nvPr/>
        </p:nvSpPr>
        <p:spPr>
          <a:xfrm>
            <a:off x="7168896" y="3054096"/>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54112" y="2779776"/>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数据孤岛</a:t>
            </a:r>
          </a:p>
        </p:txBody>
      </p:sp>
      <p:sp>
        <p:nvSpPr>
          <p:cNvPr id="34" name="TextBox 33"/>
          <p:cNvSpPr txBox="1"/>
          <p:nvPr/>
        </p:nvSpPr>
        <p:spPr>
          <a:xfrm>
            <a:off x="8842248" y="2761488"/>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光学、雷达、高程、气象各自成体系，难复用。</a:t>
            </a:r>
          </a:p>
        </p:txBody>
      </p:sp>
      <p:sp>
        <p:nvSpPr>
          <p:cNvPr id="35" name="Rounded Rectangle 34"/>
          <p:cNvSpPr/>
          <p:nvPr/>
        </p:nvSpPr>
        <p:spPr>
          <a:xfrm>
            <a:off x="6967728" y="3858768"/>
            <a:ext cx="4617720" cy="84124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168896" y="404164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42048" y="4133087"/>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15200" y="422452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54112" y="4005072"/>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结果难复用</a:t>
            </a:r>
          </a:p>
        </p:txBody>
      </p:sp>
      <p:sp>
        <p:nvSpPr>
          <p:cNvPr id="40" name="TextBox 39"/>
          <p:cNvSpPr txBox="1"/>
          <p:nvPr/>
        </p:nvSpPr>
        <p:spPr>
          <a:xfrm>
            <a:off x="8842248" y="3986783"/>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一个项目一个结果，难沉淀成下次可调用的资产。</a:t>
            </a:r>
          </a:p>
        </p:txBody>
      </p:sp>
      <p:sp>
        <p:nvSpPr>
          <p:cNvPr id="41" name="TextBox 40"/>
          <p:cNvSpPr txBox="1"/>
          <p:nvPr/>
        </p:nvSpPr>
        <p:spPr>
          <a:xfrm>
            <a:off x="786384" y="5669280"/>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真正缺的不是更多影像，而是把同一块地连续、统一理解的能力。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谷歌已经验证地理嵌入方向，中国需要本土版本</a:t>
            </a:r>
          </a:p>
        </p:txBody>
      </p:sp>
      <p:sp>
        <p:nvSpPr>
          <p:cNvPr id="4" name="Rounded Rectangle 3"/>
          <p:cNvSpPr/>
          <p:nvPr/>
        </p:nvSpPr>
        <p:spPr>
          <a:xfrm>
            <a:off x="859536" y="1188720"/>
            <a:ext cx="5074920" cy="425196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214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谷歌卫星嵌入</a:t>
            </a:r>
          </a:p>
        </p:txBody>
      </p:sp>
      <p:sp>
        <p:nvSpPr>
          <p:cNvPr id="6" name="Rounded Rectangle 5"/>
          <p:cNvSpPr/>
          <p:nvPr/>
        </p:nvSpPr>
        <p:spPr>
          <a:xfrm>
            <a:off x="1188720" y="2176272"/>
            <a:ext cx="1170432" cy="9144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2295144"/>
            <a:ext cx="841248" cy="274320"/>
          </a:xfrm>
          <a:prstGeom prst="rect">
            <a:avLst/>
          </a:prstGeom>
          <a:noFill/>
        </p:spPr>
        <p:txBody>
          <a:bodyPr wrap="square" anchor="ctr" lIns="0" rIns="0" tIns="0" bIns="0">
            <a:normAutofit/>
          </a:bodyPr>
          <a:lstStyle/>
          <a:p>
            <a:pPr algn="ctr"/>
            <a:r>
              <a:rPr sz="1800" b="1">
                <a:solidFill>
                  <a:srgbClr val="2563EB"/>
                </a:solidFill>
                <a:latin typeface="Noto Sans SC"/>
              </a:rPr>
              <a:t>10 米</a:t>
            </a:r>
          </a:p>
        </p:txBody>
      </p:sp>
      <p:sp>
        <p:nvSpPr>
          <p:cNvPr id="8" name="TextBox 7"/>
          <p:cNvSpPr txBox="1"/>
          <p:nvPr/>
        </p:nvSpPr>
        <p:spPr>
          <a:xfrm>
            <a:off x="13350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全球年度嵌入</a:t>
            </a:r>
          </a:p>
        </p:txBody>
      </p:sp>
      <p:sp>
        <p:nvSpPr>
          <p:cNvPr id="9" name="Rounded Rectangle 8"/>
          <p:cNvSpPr/>
          <p:nvPr/>
        </p:nvSpPr>
        <p:spPr>
          <a:xfrm>
            <a:off x="2560320"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24912"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64 维</a:t>
            </a:r>
          </a:p>
        </p:txBody>
      </p:sp>
      <p:sp>
        <p:nvSpPr>
          <p:cNvPr id="11" name="TextBox 10"/>
          <p:cNvSpPr txBox="1"/>
          <p:nvPr/>
        </p:nvSpPr>
        <p:spPr>
          <a:xfrm>
            <a:off x="27066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机器可调用表征</a:t>
            </a:r>
          </a:p>
        </p:txBody>
      </p:sp>
      <p:sp>
        <p:nvSpPr>
          <p:cNvPr id="12" name="Rounded Rectangle 11"/>
          <p:cNvSpPr/>
          <p:nvPr/>
        </p:nvSpPr>
        <p:spPr>
          <a:xfrm>
            <a:off x="393192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96511"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八年</a:t>
            </a:r>
          </a:p>
        </p:txBody>
      </p:sp>
      <p:sp>
        <p:nvSpPr>
          <p:cNvPr id="14" name="TextBox 13"/>
          <p:cNvSpPr txBox="1"/>
          <p:nvPr/>
        </p:nvSpPr>
        <p:spPr>
          <a:xfrm>
            <a:off x="407822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连续年度覆盖</a:t>
            </a:r>
          </a:p>
        </p:txBody>
      </p:sp>
      <p:sp>
        <p:nvSpPr>
          <p:cNvPr id="15" name="TextBox 14"/>
          <p:cNvSpPr txBox="1"/>
          <p:nvPr/>
        </p:nvSpPr>
        <p:spPr>
          <a:xfrm>
            <a:off x="1152144" y="3703320"/>
            <a:ext cx="4389120" cy="384048"/>
          </a:xfrm>
          <a:prstGeom prst="rect">
            <a:avLst/>
          </a:prstGeom>
          <a:noFill/>
        </p:spPr>
        <p:txBody>
          <a:bodyPr wrap="square" anchor="ctr" lIns="0" rIns="0" tIns="0" bIns="0">
            <a:normAutofit/>
          </a:bodyPr>
          <a:lstStyle/>
          <a:p>
            <a:pPr algn="ctr"/>
            <a:r>
              <a:rPr sz="1300" b="1">
                <a:solidFill>
                  <a:srgbClr val="334155"/>
                </a:solidFill>
                <a:latin typeface="Noto Sans SC"/>
              </a:rPr>
              <a:t>海外头部公司已将卫星影像从图像资产升级为机器可调用的基础表征。</a:t>
            </a:r>
          </a:p>
        </p:txBody>
      </p:sp>
      <p:sp>
        <p:nvSpPr>
          <p:cNvPr id="16" name="Rounded Rectangle 15"/>
          <p:cNvSpPr/>
          <p:nvPr/>
        </p:nvSpPr>
        <p:spPr>
          <a:xfrm>
            <a:off x="6254496" y="1188720"/>
            <a:ext cx="5074920" cy="4251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玄女的中国路径</a:t>
            </a:r>
          </a:p>
        </p:txBody>
      </p:sp>
      <p:sp>
        <p:nvSpPr>
          <p:cNvPr id="18" name="Rounded Rectangle 17"/>
          <p:cNvSpPr/>
          <p:nvPr/>
        </p:nvSpPr>
        <p:spPr>
          <a:xfrm>
            <a:off x="6583680" y="2176272"/>
            <a:ext cx="1170432" cy="914400"/>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2295144"/>
            <a:ext cx="841248" cy="274320"/>
          </a:xfrm>
          <a:prstGeom prst="rect">
            <a:avLst/>
          </a:prstGeom>
          <a:noFill/>
        </p:spPr>
        <p:txBody>
          <a:bodyPr wrap="square" anchor="ctr" lIns="0" rIns="0" tIns="0" bIns="0">
            <a:normAutofit/>
          </a:bodyPr>
          <a:lstStyle/>
          <a:p>
            <a:pPr algn="ctr"/>
            <a:r>
              <a:rPr sz="1800" b="1">
                <a:solidFill>
                  <a:srgbClr val="0EA5E9"/>
                </a:solidFill>
                <a:latin typeface="Noto Sans SC"/>
              </a:rPr>
              <a:t>11 天</a:t>
            </a:r>
          </a:p>
        </p:txBody>
      </p:sp>
      <p:sp>
        <p:nvSpPr>
          <p:cNvPr id="20" name="TextBox 19"/>
          <p:cNvSpPr txBox="1"/>
          <p:nvPr/>
        </p:nvSpPr>
        <p:spPr>
          <a:xfrm>
            <a:off x="672998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支持高频巡查</a:t>
            </a:r>
          </a:p>
        </p:txBody>
      </p:sp>
      <p:sp>
        <p:nvSpPr>
          <p:cNvPr id="21" name="Rounded Rectangle 20"/>
          <p:cNvSpPr/>
          <p:nvPr/>
        </p:nvSpPr>
        <p:spPr>
          <a:xfrm>
            <a:off x="7955279"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9871"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高分</a:t>
            </a:r>
          </a:p>
        </p:txBody>
      </p:sp>
      <p:sp>
        <p:nvSpPr>
          <p:cNvPr id="23" name="TextBox 22"/>
          <p:cNvSpPr txBox="1"/>
          <p:nvPr/>
        </p:nvSpPr>
        <p:spPr>
          <a:xfrm>
            <a:off x="8101583"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看清城市小目标</a:t>
            </a:r>
          </a:p>
        </p:txBody>
      </p:sp>
      <p:sp>
        <p:nvSpPr>
          <p:cNvPr id="24" name="Rounded Rectangle 23"/>
          <p:cNvSpPr/>
          <p:nvPr/>
        </p:nvSpPr>
        <p:spPr>
          <a:xfrm>
            <a:off x="932688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91472"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国产算力</a:t>
            </a:r>
          </a:p>
        </p:txBody>
      </p:sp>
      <p:sp>
        <p:nvSpPr>
          <p:cNvPr id="26" name="TextBox 25"/>
          <p:cNvSpPr txBox="1"/>
          <p:nvPr/>
        </p:nvSpPr>
        <p:spPr>
          <a:xfrm>
            <a:off x="947318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可进入本土部署</a:t>
            </a:r>
          </a:p>
        </p:txBody>
      </p:sp>
      <p:sp>
        <p:nvSpPr>
          <p:cNvPr id="27" name="TextBox 26"/>
          <p:cNvSpPr txBox="1"/>
          <p:nvPr/>
        </p:nvSpPr>
        <p:spPr>
          <a:xfrm>
            <a:off x="6547104" y="3703320"/>
            <a:ext cx="4389120" cy="420624"/>
          </a:xfrm>
          <a:prstGeom prst="rect">
            <a:avLst/>
          </a:prstGeom>
          <a:noFill/>
        </p:spPr>
        <p:txBody>
          <a:bodyPr wrap="square" anchor="ctr" lIns="0" rIns="0" tIns="0" bIns="0">
            <a:normAutofit/>
          </a:bodyPr>
          <a:lstStyle/>
          <a:p>
            <a:pPr algn="ctr"/>
            <a:r>
              <a:rPr sz="1300" b="1">
                <a:solidFill>
                  <a:srgbClr val="334155"/>
                </a:solidFill>
                <a:latin typeface="Noto Sans SC"/>
              </a:rPr>
              <a:t>中国客户需要本土数据、本土算力、本土业务流程里的地理智能底座。</a:t>
            </a:r>
          </a:p>
        </p:txBody>
      </p:sp>
      <p:sp>
        <p:nvSpPr>
          <p:cNvPr id="28" name="TextBox 27"/>
          <p:cNvSpPr txBox="1"/>
          <p:nvPr/>
        </p:nvSpPr>
        <p:spPr>
          <a:xfrm>
            <a:off x="786384" y="5715000"/>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商业航天解决“看见地球”，地理嵌入解决“理解地球”。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