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gif"/><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geo_embedding_cover_white_v2.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49808" y="1298448"/>
            <a:ext cx="4114800" cy="384048"/>
          </a:xfrm>
          <a:prstGeom prst="rect">
            <a:avLst/>
          </a:prstGeom>
          <a:noFill/>
        </p:spPr>
        <p:txBody>
          <a:bodyPr wrap="square" anchor="ctr" lIns="0" rIns="0" tIns="0" bIns="0">
            <a:normAutofit/>
          </a:bodyPr>
          <a:lstStyle/>
          <a:p>
            <a:pPr algn="l"/>
            <a:r>
              <a:rPr sz="2400" b="1">
                <a:solidFill>
                  <a:srgbClr val="0F172A"/>
                </a:solidFill>
                <a:latin typeface="Noto Sans SC"/>
              </a:rPr>
              <a:t>玄女科技</a:t>
            </a:r>
          </a:p>
        </p:txBody>
      </p:sp>
      <p:sp>
        <p:nvSpPr>
          <p:cNvPr id="4" name="TextBox 3"/>
          <p:cNvSpPr txBox="1"/>
          <p:nvPr/>
        </p:nvSpPr>
        <p:spPr>
          <a:xfrm>
            <a:off x="749808" y="1901952"/>
            <a:ext cx="4983480" cy="1051560"/>
          </a:xfrm>
          <a:prstGeom prst="rect">
            <a:avLst/>
          </a:prstGeom>
          <a:noFill/>
        </p:spPr>
        <p:txBody>
          <a:bodyPr wrap="square" anchor="ctr" lIns="0" rIns="0" tIns="0" bIns="0">
            <a:normAutofit/>
          </a:bodyPr>
          <a:lstStyle/>
          <a:p>
            <a:pPr algn="l"/>
            <a:r>
              <a:rPr sz="3100" b="1">
                <a:solidFill>
                  <a:srgbClr val="0F172A"/>
                </a:solidFill>
                <a:latin typeface="Noto Sans SC"/>
              </a:rPr>
              <a:t>用地理嵌入
赋能遥感智能应用</a:t>
            </a:r>
          </a:p>
        </p:txBody>
      </p:sp>
      <p:sp>
        <p:nvSpPr>
          <p:cNvPr id="5" name="TextBox 4"/>
          <p:cNvSpPr txBox="1"/>
          <p:nvPr/>
        </p:nvSpPr>
        <p:spPr>
          <a:xfrm>
            <a:off x="786384" y="3328416"/>
            <a:ext cx="4937760" cy="292608"/>
          </a:xfrm>
          <a:prstGeom prst="rect">
            <a:avLst/>
          </a:prstGeom>
          <a:noFill/>
        </p:spPr>
        <p:txBody>
          <a:bodyPr wrap="square" anchor="ctr" lIns="0" rIns="0" tIns="0" bIns="0">
            <a:normAutofit/>
          </a:bodyPr>
          <a:lstStyle/>
          <a:p>
            <a:pPr algn="l"/>
            <a:r>
              <a:rPr sz="1500" b="0">
                <a:solidFill>
                  <a:srgbClr val="334155"/>
                </a:solidFill>
                <a:latin typeface="Noto Sans SC"/>
              </a:rPr>
              <a:t>地球观测 - 一次表征 - 多任务复用</a:t>
            </a:r>
          </a:p>
        </p:txBody>
      </p:sp>
      <p:sp>
        <p:nvSpPr>
          <p:cNvPr id="6" name="TextBox 5"/>
          <p:cNvSpPr txBox="1"/>
          <p:nvPr/>
        </p:nvSpPr>
        <p:spPr>
          <a:xfrm>
            <a:off x="786384" y="3749039"/>
            <a:ext cx="4937760" cy="274320"/>
          </a:xfrm>
          <a:prstGeom prst="rect">
            <a:avLst/>
          </a:prstGeom>
          <a:noFill/>
        </p:spPr>
        <p:txBody>
          <a:bodyPr wrap="square" anchor="ctr" lIns="0" rIns="0" tIns="0" bIns="0">
            <a:normAutofit/>
          </a:bodyPr>
          <a:lstStyle/>
          <a:p>
            <a:pPr algn="l"/>
            <a:r>
              <a:rPr sz="1300" b="1">
                <a:solidFill>
                  <a:srgbClr val="2563EB"/>
                </a:solidFill>
                <a:latin typeface="Noto Sans SC"/>
              </a:rPr>
              <a:t>做中国的遥感数据通用嵌入底座</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84048"/>
            <a:ext cx="384048" cy="201168"/>
          </a:xfrm>
          <a:prstGeom prst="rect">
            <a:avLst/>
          </a:prstGeom>
          <a:noFill/>
        </p:spPr>
        <p:txBody>
          <a:bodyPr wrap="square" anchor="ctr" lIns="0" rIns="0" tIns="0" bIns="0">
            <a:normAutofit/>
          </a:bodyPr>
          <a:lstStyle/>
          <a:p>
            <a:pPr algn="l"/>
            <a:r>
              <a:rPr sz="800" b="1">
                <a:solidFill>
                  <a:srgbClr val="0EA5E9"/>
                </a:solidFill>
                <a:latin typeface="Noto Sans SC"/>
              </a:rPr>
              <a:t>02</a:t>
            </a:r>
          </a:p>
        </p:txBody>
      </p:sp>
      <p:sp>
        <p:nvSpPr>
          <p:cNvPr id="3" name="TextBox 2"/>
          <p:cNvSpPr txBox="1"/>
          <p:nvPr/>
        </p:nvSpPr>
        <p:spPr>
          <a:xfrm>
            <a:off x="950976" y="256032"/>
            <a:ext cx="10424160" cy="566928"/>
          </a:xfrm>
          <a:prstGeom prst="rect">
            <a:avLst/>
          </a:prstGeom>
          <a:noFill/>
        </p:spPr>
        <p:txBody>
          <a:bodyPr wrap="square" anchor="ctr" lIns="0" rIns="0" tIns="0" bIns="0">
            <a:normAutofit/>
          </a:bodyPr>
          <a:lstStyle/>
          <a:p>
            <a:pPr algn="l"/>
            <a:r>
              <a:rPr sz="2400" b="1">
                <a:solidFill>
                  <a:srgbClr val="0F172A"/>
                </a:solidFill>
                <a:latin typeface="Noto Sans SC"/>
              </a:rPr>
              <a:t>企业简介</a:t>
            </a:r>
          </a:p>
        </p:txBody>
      </p:sp>
      <p:sp>
        <p:nvSpPr>
          <p:cNvPr id="4" name="TextBox 3"/>
          <p:cNvSpPr txBox="1"/>
          <p:nvPr/>
        </p:nvSpPr>
        <p:spPr>
          <a:xfrm>
            <a:off x="950976" y="1033271"/>
            <a:ext cx="10104120" cy="310896"/>
          </a:xfrm>
          <a:prstGeom prst="rect">
            <a:avLst/>
          </a:prstGeom>
          <a:noFill/>
        </p:spPr>
        <p:txBody>
          <a:bodyPr wrap="square" anchor="ctr" lIns="0" rIns="0" tIns="0" bIns="0">
            <a:normAutofit/>
          </a:bodyPr>
          <a:lstStyle/>
          <a:p>
            <a:pPr algn="l"/>
            <a:r>
              <a:rPr sz="1500" b="1">
                <a:solidFill>
                  <a:srgbClr val="0F172A"/>
                </a:solidFill>
                <a:latin typeface="Noto Sans SC"/>
              </a:rPr>
              <a:t>北京玄女科技有限公司是一家专注于地球空间智能的人工智能基础底座提供商，致力于打造遥感数据通用嵌入底座。</a:t>
            </a:r>
          </a:p>
        </p:txBody>
      </p:sp>
      <p:sp>
        <p:nvSpPr>
          <p:cNvPr id="5" name="TextBox 4"/>
          <p:cNvSpPr txBox="1"/>
          <p:nvPr/>
        </p:nvSpPr>
        <p:spPr>
          <a:xfrm>
            <a:off x="950976" y="1481328"/>
            <a:ext cx="10149840" cy="530352"/>
          </a:xfrm>
          <a:prstGeom prst="rect">
            <a:avLst/>
          </a:prstGeom>
          <a:noFill/>
        </p:spPr>
        <p:txBody>
          <a:bodyPr wrap="square" anchor="ctr" lIns="0" rIns="0" tIns="0" bIns="0">
            <a:normAutofit/>
          </a:bodyPr>
          <a:lstStyle/>
          <a:p>
            <a:pPr algn="l"/>
            <a:r>
              <a:rPr sz="1100" b="0">
                <a:solidFill>
                  <a:srgbClr val="334155"/>
                </a:solidFill>
                <a:latin typeface="Noto Sans SC"/>
              </a:rPr>
              <a:t>公司以遥感领域的大规模预训练模型为核心，为城市治理、自然资源、应急灾害、农业生态等场景提供全球范围内可复用的像素级表征能力，推动遥感智能从“定制化开发”走向“底座赋能”。</a:t>
            </a:r>
          </a:p>
        </p:txBody>
      </p:sp>
      <p:sp>
        <p:nvSpPr>
          <p:cNvPr id="6" name="TextBox 5"/>
          <p:cNvSpPr txBox="1"/>
          <p:nvPr/>
        </p:nvSpPr>
        <p:spPr>
          <a:xfrm>
            <a:off x="1225296" y="2432304"/>
            <a:ext cx="1280160" cy="201168"/>
          </a:xfrm>
          <a:prstGeom prst="rect">
            <a:avLst/>
          </a:prstGeom>
          <a:noFill/>
        </p:spPr>
        <p:txBody>
          <a:bodyPr wrap="square" anchor="ctr" lIns="0" rIns="0" tIns="0" bIns="0">
            <a:normAutofit/>
          </a:bodyPr>
          <a:lstStyle/>
          <a:p>
            <a:pPr algn="ctr"/>
            <a:r>
              <a:rPr sz="1100" b="1">
                <a:solidFill>
                  <a:srgbClr val="0F172A"/>
                </a:solidFill>
                <a:latin typeface="Noto Sans SC"/>
              </a:rPr>
              <a:t>多元观测</a:t>
            </a:r>
          </a:p>
        </p:txBody>
      </p:sp>
      <p:sp>
        <p:nvSpPr>
          <p:cNvPr id="7" name="TextBox 6"/>
          <p:cNvSpPr txBox="1"/>
          <p:nvPr/>
        </p:nvSpPr>
        <p:spPr>
          <a:xfrm>
            <a:off x="5230368" y="2432304"/>
            <a:ext cx="1280160" cy="201168"/>
          </a:xfrm>
          <a:prstGeom prst="rect">
            <a:avLst/>
          </a:prstGeom>
          <a:noFill/>
        </p:spPr>
        <p:txBody>
          <a:bodyPr wrap="square" anchor="ctr" lIns="0" rIns="0" tIns="0" bIns="0">
            <a:normAutofit/>
          </a:bodyPr>
          <a:lstStyle/>
          <a:p>
            <a:pPr algn="ctr"/>
            <a:r>
              <a:rPr sz="1100" b="1">
                <a:solidFill>
                  <a:srgbClr val="0F172A"/>
                </a:solidFill>
                <a:latin typeface="Noto Sans SC"/>
              </a:rPr>
              <a:t>地理嵌入</a:t>
            </a:r>
          </a:p>
        </p:txBody>
      </p:sp>
      <p:sp>
        <p:nvSpPr>
          <p:cNvPr id="8" name="TextBox 7"/>
          <p:cNvSpPr txBox="1"/>
          <p:nvPr/>
        </p:nvSpPr>
        <p:spPr>
          <a:xfrm>
            <a:off x="9015984" y="2432304"/>
            <a:ext cx="1280160" cy="201168"/>
          </a:xfrm>
          <a:prstGeom prst="rect">
            <a:avLst/>
          </a:prstGeom>
          <a:noFill/>
        </p:spPr>
        <p:txBody>
          <a:bodyPr wrap="square" anchor="ctr" lIns="0" rIns="0" tIns="0" bIns="0">
            <a:normAutofit/>
          </a:bodyPr>
          <a:lstStyle/>
          <a:p>
            <a:pPr algn="ctr"/>
            <a:r>
              <a:rPr sz="1100" b="1">
                <a:solidFill>
                  <a:srgbClr val="0F172A"/>
                </a:solidFill>
                <a:latin typeface="Noto Sans SC"/>
              </a:rPr>
              <a:t>下游任务</a:t>
            </a:r>
          </a:p>
        </p:txBody>
      </p:sp>
      <p:sp>
        <p:nvSpPr>
          <p:cNvPr id="9" name="TextBox 8"/>
          <p:cNvSpPr txBox="1"/>
          <p:nvPr/>
        </p:nvSpPr>
        <p:spPr>
          <a:xfrm>
            <a:off x="3182112" y="2432304"/>
            <a:ext cx="347472" cy="182880"/>
          </a:xfrm>
          <a:prstGeom prst="rect">
            <a:avLst/>
          </a:prstGeom>
          <a:noFill/>
        </p:spPr>
        <p:txBody>
          <a:bodyPr wrap="square" anchor="ctr" lIns="0" rIns="0" tIns="0" bIns="0">
            <a:normAutofit/>
          </a:bodyPr>
          <a:lstStyle/>
          <a:p>
            <a:pPr algn="ctr"/>
            <a:r>
              <a:rPr sz="1300" b="1">
                <a:solidFill>
                  <a:srgbClr val="64748B"/>
                </a:solidFill>
                <a:latin typeface="Noto Sans SC"/>
              </a:rPr>
              <a:t>→</a:t>
            </a:r>
          </a:p>
        </p:txBody>
      </p:sp>
      <p:sp>
        <p:nvSpPr>
          <p:cNvPr id="10" name="TextBox 9"/>
          <p:cNvSpPr txBox="1"/>
          <p:nvPr/>
        </p:nvSpPr>
        <p:spPr>
          <a:xfrm>
            <a:off x="7351775" y="2432304"/>
            <a:ext cx="347472" cy="182880"/>
          </a:xfrm>
          <a:prstGeom prst="rect">
            <a:avLst/>
          </a:prstGeom>
          <a:noFill/>
        </p:spPr>
        <p:txBody>
          <a:bodyPr wrap="square" anchor="ctr" lIns="0" rIns="0" tIns="0" bIns="0">
            <a:normAutofit/>
          </a:bodyPr>
          <a:lstStyle/>
          <a:p>
            <a:pPr algn="ctr"/>
            <a:r>
              <a:rPr sz="1300" b="1">
                <a:solidFill>
                  <a:srgbClr val="64748B"/>
                </a:solidFill>
                <a:latin typeface="Noto Sans SC"/>
              </a:rPr>
              <a:t>→</a:t>
            </a:r>
          </a:p>
        </p:txBody>
      </p:sp>
      <p:sp>
        <p:nvSpPr>
          <p:cNvPr id="11" name="TextBox 10"/>
          <p:cNvSpPr txBox="1"/>
          <p:nvPr/>
        </p:nvSpPr>
        <p:spPr>
          <a:xfrm>
            <a:off x="2103120" y="2651760"/>
            <a:ext cx="8046720" cy="182880"/>
          </a:xfrm>
          <a:prstGeom prst="rect">
            <a:avLst/>
          </a:prstGeom>
          <a:noFill/>
        </p:spPr>
        <p:txBody>
          <a:bodyPr wrap="square" anchor="ctr" lIns="0" rIns="0" tIns="0" bIns="0">
            <a:normAutofit/>
          </a:bodyPr>
          <a:lstStyle/>
          <a:p>
            <a:pPr algn="ctr"/>
            <a:r>
              <a:rPr sz="900" b="0">
                <a:solidFill>
                  <a:srgbClr val="64748B"/>
                </a:solidFill>
                <a:latin typeface="Noto Sans SC"/>
              </a:rPr>
              <a:t>玄女底座融合多元观测数据，生成统一地理嵌入，支撑不同下游任务复用。</a:t>
            </a:r>
          </a:p>
        </p:txBody>
      </p:sp>
      <p:pic>
        <p:nvPicPr>
          <p:cNvPr id="12" name="Picture 11" descr="diamond_patch_000339_s2_2025-04_360.png"/>
          <p:cNvPicPr>
            <a:picLocks noChangeAspect="1"/>
          </p:cNvPicPr>
          <p:nvPr/>
        </p:nvPicPr>
        <p:blipFill>
          <a:blip r:embed="rId2"/>
          <a:stretch>
            <a:fillRect/>
          </a:stretch>
        </p:blipFill>
        <p:spPr>
          <a:xfrm>
            <a:off x="1005840" y="2761488"/>
            <a:ext cx="804672" cy="804672"/>
          </a:xfrm>
          <a:prstGeom prst="rect">
            <a:avLst/>
          </a:prstGeom>
        </p:spPr>
      </p:pic>
      <p:sp>
        <p:nvSpPr>
          <p:cNvPr id="13" name="TextBox 12"/>
          <p:cNvSpPr txBox="1"/>
          <p:nvPr/>
        </p:nvSpPr>
        <p:spPr>
          <a:xfrm>
            <a:off x="1847088" y="3017520"/>
            <a:ext cx="1115568" cy="164592"/>
          </a:xfrm>
          <a:prstGeom prst="rect">
            <a:avLst/>
          </a:prstGeom>
          <a:noFill/>
        </p:spPr>
        <p:txBody>
          <a:bodyPr wrap="square" anchor="ctr" lIns="0" rIns="0" tIns="0" bIns="0">
            <a:normAutofit/>
          </a:bodyPr>
          <a:lstStyle/>
          <a:p>
            <a:pPr algn="l"/>
            <a:r>
              <a:rPr sz="800" b="1">
                <a:solidFill>
                  <a:srgbClr val="334155"/>
                </a:solidFill>
                <a:latin typeface="Noto Sans SC"/>
              </a:rPr>
              <a:t>哨兵二号光学</a:t>
            </a:r>
          </a:p>
        </p:txBody>
      </p:sp>
      <p:pic>
        <p:nvPicPr>
          <p:cNvPr id="14" name="Picture 13" descr="diamond_patch_000339_s1_2025-04_360.png"/>
          <p:cNvPicPr>
            <a:picLocks noChangeAspect="1"/>
          </p:cNvPicPr>
          <p:nvPr/>
        </p:nvPicPr>
        <p:blipFill>
          <a:blip r:embed="rId3"/>
          <a:stretch>
            <a:fillRect/>
          </a:stretch>
        </p:blipFill>
        <p:spPr>
          <a:xfrm>
            <a:off x="1005840" y="3191256"/>
            <a:ext cx="804672" cy="804672"/>
          </a:xfrm>
          <a:prstGeom prst="rect">
            <a:avLst/>
          </a:prstGeom>
        </p:spPr>
      </p:pic>
      <p:sp>
        <p:nvSpPr>
          <p:cNvPr id="15" name="TextBox 14"/>
          <p:cNvSpPr txBox="1"/>
          <p:nvPr/>
        </p:nvSpPr>
        <p:spPr>
          <a:xfrm>
            <a:off x="1847088" y="3447288"/>
            <a:ext cx="1115568" cy="164592"/>
          </a:xfrm>
          <a:prstGeom prst="rect">
            <a:avLst/>
          </a:prstGeom>
          <a:noFill/>
        </p:spPr>
        <p:txBody>
          <a:bodyPr wrap="square" anchor="ctr" lIns="0" rIns="0" tIns="0" bIns="0">
            <a:normAutofit/>
          </a:bodyPr>
          <a:lstStyle/>
          <a:p>
            <a:pPr algn="l"/>
            <a:r>
              <a:rPr sz="800" b="1">
                <a:solidFill>
                  <a:srgbClr val="334155"/>
                </a:solidFill>
                <a:latin typeface="Noto Sans SC"/>
              </a:rPr>
              <a:t>雷达影像</a:t>
            </a:r>
          </a:p>
        </p:txBody>
      </p:sp>
      <p:pic>
        <p:nvPicPr>
          <p:cNvPr id="16" name="Picture 15" descr="diamond_patch_000339_s2_hr_2025-04_360.png"/>
          <p:cNvPicPr>
            <a:picLocks noChangeAspect="1"/>
          </p:cNvPicPr>
          <p:nvPr/>
        </p:nvPicPr>
        <p:blipFill>
          <a:blip r:embed="rId4"/>
          <a:stretch>
            <a:fillRect/>
          </a:stretch>
        </p:blipFill>
        <p:spPr>
          <a:xfrm>
            <a:off x="1005840" y="3621024"/>
            <a:ext cx="804672" cy="804672"/>
          </a:xfrm>
          <a:prstGeom prst="rect">
            <a:avLst/>
          </a:prstGeom>
        </p:spPr>
      </p:pic>
      <p:sp>
        <p:nvSpPr>
          <p:cNvPr id="17" name="TextBox 16"/>
          <p:cNvSpPr txBox="1"/>
          <p:nvPr/>
        </p:nvSpPr>
        <p:spPr>
          <a:xfrm>
            <a:off x="1847088" y="3877056"/>
            <a:ext cx="1115568" cy="164592"/>
          </a:xfrm>
          <a:prstGeom prst="rect">
            <a:avLst/>
          </a:prstGeom>
          <a:noFill/>
        </p:spPr>
        <p:txBody>
          <a:bodyPr wrap="square" anchor="ctr" lIns="0" rIns="0" tIns="0" bIns="0">
            <a:normAutofit/>
          </a:bodyPr>
          <a:lstStyle/>
          <a:p>
            <a:pPr algn="l"/>
            <a:r>
              <a:rPr sz="800" b="1">
                <a:solidFill>
                  <a:srgbClr val="334155"/>
                </a:solidFill>
                <a:latin typeface="Noto Sans SC"/>
              </a:rPr>
              <a:t>高分光学</a:t>
            </a:r>
          </a:p>
        </p:txBody>
      </p:sp>
      <p:sp>
        <p:nvSpPr>
          <p:cNvPr id="18" name="TextBox 17"/>
          <p:cNvSpPr txBox="1"/>
          <p:nvPr/>
        </p:nvSpPr>
        <p:spPr>
          <a:xfrm>
            <a:off x="1188720" y="4270248"/>
            <a:ext cx="438912" cy="201168"/>
          </a:xfrm>
          <a:prstGeom prst="rect">
            <a:avLst/>
          </a:prstGeom>
          <a:noFill/>
        </p:spPr>
        <p:txBody>
          <a:bodyPr wrap="square" anchor="ctr" lIns="0" rIns="0" tIns="0" bIns="0">
            <a:normAutofit/>
          </a:bodyPr>
          <a:lstStyle/>
          <a:p>
            <a:pPr algn="ctr"/>
            <a:r>
              <a:rPr sz="1800" b="1">
                <a:solidFill>
                  <a:srgbClr val="64748B"/>
                </a:solidFill>
                <a:latin typeface="Noto Sans SC"/>
              </a:rPr>
              <a:t>…</a:t>
            </a:r>
          </a:p>
        </p:txBody>
      </p:sp>
      <p:pic>
        <p:nvPicPr>
          <p:cNvPr id="19" name="Picture 18" descr="diamond_patch_000339_dem_360.png"/>
          <p:cNvPicPr>
            <a:picLocks noChangeAspect="1"/>
          </p:cNvPicPr>
          <p:nvPr/>
        </p:nvPicPr>
        <p:blipFill>
          <a:blip r:embed="rId5"/>
          <a:stretch>
            <a:fillRect/>
          </a:stretch>
        </p:blipFill>
        <p:spPr>
          <a:xfrm>
            <a:off x="1005840" y="4480560"/>
            <a:ext cx="804672" cy="804672"/>
          </a:xfrm>
          <a:prstGeom prst="rect">
            <a:avLst/>
          </a:prstGeom>
        </p:spPr>
      </p:pic>
      <p:sp>
        <p:nvSpPr>
          <p:cNvPr id="20" name="TextBox 19"/>
          <p:cNvSpPr txBox="1"/>
          <p:nvPr/>
        </p:nvSpPr>
        <p:spPr>
          <a:xfrm>
            <a:off x="1847088" y="4736592"/>
            <a:ext cx="1115568" cy="164592"/>
          </a:xfrm>
          <a:prstGeom prst="rect">
            <a:avLst/>
          </a:prstGeom>
          <a:noFill/>
        </p:spPr>
        <p:txBody>
          <a:bodyPr wrap="square" anchor="ctr" lIns="0" rIns="0" tIns="0" bIns="0">
            <a:normAutofit/>
          </a:bodyPr>
          <a:lstStyle/>
          <a:p>
            <a:pPr algn="l"/>
            <a:r>
              <a:rPr sz="800" b="1">
                <a:solidFill>
                  <a:srgbClr val="334155"/>
                </a:solidFill>
                <a:latin typeface="Noto Sans SC"/>
              </a:rPr>
              <a:t>高程数据</a:t>
            </a:r>
          </a:p>
        </p:txBody>
      </p:sp>
      <p:cxnSp>
        <p:nvCxnSpPr>
          <p:cNvPr id="21" name="Connector 20"/>
          <p:cNvCxnSpPr/>
          <p:nvPr/>
        </p:nvCxnSpPr>
        <p:spPr>
          <a:xfrm>
            <a:off x="3127248" y="3785615"/>
            <a:ext cx="841248" cy="0"/>
          </a:xfrm>
          <a:prstGeom prst="line">
            <a:avLst/>
          </a:prstGeom>
          <a:ln w="21590">
            <a:solidFill>
              <a:srgbClr val="E2E8F0"/>
            </a:solidFill>
          </a:ln>
        </p:spPr>
        <p:style>
          <a:lnRef idx="2">
            <a:schemeClr val="accent1"/>
          </a:lnRef>
          <a:fillRef idx="0">
            <a:schemeClr val="accent1"/>
          </a:fillRef>
          <a:effectRef idx="1">
            <a:schemeClr val="accent1"/>
          </a:effectRef>
          <a:fontRef idx="minor">
            <a:schemeClr val="tx1"/>
          </a:fontRef>
        </p:style>
      </p:cxnSp>
      <p:pic>
        <p:nvPicPr>
          <p:cNvPr id="22" name="Picture 21" descr="harbin_migration_animated.gif"/>
          <p:cNvPicPr>
            <a:picLocks noChangeAspect="1"/>
          </p:cNvPicPr>
          <p:nvPr/>
        </p:nvPicPr>
        <p:blipFill>
          <a:blip r:embed="rId6"/>
          <a:stretch>
            <a:fillRect/>
          </a:stretch>
        </p:blipFill>
        <p:spPr>
          <a:xfrm>
            <a:off x="4193205" y="2788920"/>
            <a:ext cx="2696117" cy="2487168"/>
          </a:xfrm>
          <a:prstGeom prst="rect">
            <a:avLst/>
          </a:prstGeom>
        </p:spPr>
      </p:pic>
      <p:cxnSp>
        <p:nvCxnSpPr>
          <p:cNvPr id="23" name="Connector 22"/>
          <p:cNvCxnSpPr/>
          <p:nvPr/>
        </p:nvCxnSpPr>
        <p:spPr>
          <a:xfrm>
            <a:off x="7150608" y="3785615"/>
            <a:ext cx="822960" cy="0"/>
          </a:xfrm>
          <a:prstGeom prst="line">
            <a:avLst/>
          </a:prstGeom>
          <a:ln w="21590">
            <a:solidFill>
              <a:srgbClr val="E2E8F0"/>
            </a:solidFill>
          </a:ln>
        </p:spPr>
        <p:style>
          <a:lnRef idx="2">
            <a:schemeClr val="accent1"/>
          </a:lnRef>
          <a:fillRef idx="0">
            <a:schemeClr val="accent1"/>
          </a:fillRef>
          <a:effectRef idx="1">
            <a:schemeClr val="accent1"/>
          </a:effectRef>
          <a:fontRef idx="minor">
            <a:schemeClr val="tx1"/>
          </a:fontRef>
        </p:style>
      </p:cxnSp>
      <p:pic>
        <p:nvPicPr>
          <p:cNvPr id="24" name="Picture 23" descr="image5.png"/>
          <p:cNvPicPr>
            <a:picLocks noChangeAspect="1"/>
          </p:cNvPicPr>
          <p:nvPr/>
        </p:nvPicPr>
        <p:blipFill>
          <a:blip r:embed="rId7"/>
          <a:stretch>
            <a:fillRect/>
          </a:stretch>
        </p:blipFill>
        <p:spPr>
          <a:xfrm>
            <a:off x="8217786" y="2816352"/>
            <a:ext cx="974603" cy="896112"/>
          </a:xfrm>
          <a:prstGeom prst="rect">
            <a:avLst/>
          </a:prstGeom>
        </p:spPr>
      </p:pic>
      <p:sp>
        <p:nvSpPr>
          <p:cNvPr id="25" name="TextBox 24"/>
          <p:cNvSpPr txBox="1"/>
          <p:nvPr/>
        </p:nvSpPr>
        <p:spPr>
          <a:xfrm>
            <a:off x="8119872" y="3785616"/>
            <a:ext cx="1170432" cy="146304"/>
          </a:xfrm>
          <a:prstGeom prst="rect">
            <a:avLst/>
          </a:prstGeom>
          <a:noFill/>
        </p:spPr>
        <p:txBody>
          <a:bodyPr wrap="square" anchor="ctr" lIns="0" rIns="0" tIns="0" bIns="0">
            <a:normAutofit/>
          </a:bodyPr>
          <a:lstStyle/>
          <a:p>
            <a:pPr algn="ctr"/>
            <a:r>
              <a:rPr sz="700" b="1">
                <a:solidFill>
                  <a:srgbClr val="334155"/>
                </a:solidFill>
                <a:latin typeface="Noto Sans SC"/>
              </a:rPr>
              <a:t>土地分类</a:t>
            </a:r>
          </a:p>
        </p:txBody>
      </p:sp>
      <p:pic>
        <p:nvPicPr>
          <p:cNvPr id="26" name="Picture 25" descr="image7.png"/>
          <p:cNvPicPr>
            <a:picLocks noChangeAspect="1"/>
          </p:cNvPicPr>
          <p:nvPr/>
        </p:nvPicPr>
        <p:blipFill>
          <a:blip r:embed="rId8"/>
          <a:stretch>
            <a:fillRect/>
          </a:stretch>
        </p:blipFill>
        <p:spPr>
          <a:xfrm>
            <a:off x="9904970" y="2816352"/>
            <a:ext cx="965227" cy="896112"/>
          </a:xfrm>
          <a:prstGeom prst="rect">
            <a:avLst/>
          </a:prstGeom>
        </p:spPr>
      </p:pic>
      <p:sp>
        <p:nvSpPr>
          <p:cNvPr id="27" name="TextBox 26"/>
          <p:cNvSpPr txBox="1"/>
          <p:nvPr/>
        </p:nvSpPr>
        <p:spPr>
          <a:xfrm>
            <a:off x="9802368" y="3785616"/>
            <a:ext cx="1170432" cy="146304"/>
          </a:xfrm>
          <a:prstGeom prst="rect">
            <a:avLst/>
          </a:prstGeom>
          <a:noFill/>
        </p:spPr>
        <p:txBody>
          <a:bodyPr wrap="square" anchor="ctr" lIns="0" rIns="0" tIns="0" bIns="0">
            <a:normAutofit/>
          </a:bodyPr>
          <a:lstStyle/>
          <a:p>
            <a:pPr algn="ctr"/>
            <a:r>
              <a:rPr sz="700" b="1">
                <a:solidFill>
                  <a:srgbClr val="334155"/>
                </a:solidFill>
                <a:latin typeface="Noto Sans SC"/>
              </a:rPr>
              <a:t>路网分割</a:t>
            </a:r>
          </a:p>
        </p:txBody>
      </p:sp>
      <p:pic>
        <p:nvPicPr>
          <p:cNvPr id="28" name="Picture 27" descr="image8.png"/>
          <p:cNvPicPr>
            <a:picLocks noChangeAspect="1"/>
          </p:cNvPicPr>
          <p:nvPr/>
        </p:nvPicPr>
        <p:blipFill>
          <a:blip r:embed="rId9"/>
          <a:stretch>
            <a:fillRect/>
          </a:stretch>
        </p:blipFill>
        <p:spPr>
          <a:xfrm>
            <a:off x="8222488" y="4151376"/>
            <a:ext cx="965200" cy="896112"/>
          </a:xfrm>
          <a:prstGeom prst="rect">
            <a:avLst/>
          </a:prstGeom>
        </p:spPr>
      </p:pic>
      <p:sp>
        <p:nvSpPr>
          <p:cNvPr id="29" name="TextBox 28"/>
          <p:cNvSpPr txBox="1"/>
          <p:nvPr/>
        </p:nvSpPr>
        <p:spPr>
          <a:xfrm>
            <a:off x="8119872" y="5120640"/>
            <a:ext cx="1170432" cy="146304"/>
          </a:xfrm>
          <a:prstGeom prst="rect">
            <a:avLst/>
          </a:prstGeom>
          <a:noFill/>
        </p:spPr>
        <p:txBody>
          <a:bodyPr wrap="square" anchor="ctr" lIns="0" rIns="0" tIns="0" bIns="0">
            <a:normAutofit/>
          </a:bodyPr>
          <a:lstStyle/>
          <a:p>
            <a:pPr algn="ctr"/>
            <a:r>
              <a:rPr sz="700" b="1">
                <a:solidFill>
                  <a:srgbClr val="334155"/>
                </a:solidFill>
                <a:latin typeface="Noto Sans SC"/>
              </a:rPr>
              <a:t>土地利用</a:t>
            </a:r>
          </a:p>
        </p:txBody>
      </p:sp>
      <p:sp>
        <p:nvSpPr>
          <p:cNvPr id="30" name="TextBox 29"/>
          <p:cNvSpPr txBox="1"/>
          <p:nvPr/>
        </p:nvSpPr>
        <p:spPr>
          <a:xfrm>
            <a:off x="9802368" y="4398264"/>
            <a:ext cx="1170432" cy="237744"/>
          </a:xfrm>
          <a:prstGeom prst="rect">
            <a:avLst/>
          </a:prstGeom>
          <a:noFill/>
        </p:spPr>
        <p:txBody>
          <a:bodyPr wrap="square" anchor="ctr" lIns="0" rIns="0" tIns="0" bIns="0">
            <a:normAutofit/>
          </a:bodyPr>
          <a:lstStyle/>
          <a:p>
            <a:pPr algn="ctr"/>
            <a:r>
              <a:rPr sz="2200" b="1">
                <a:solidFill>
                  <a:srgbClr val="64748B"/>
                </a:solidFill>
                <a:latin typeface="Noto Sans SC"/>
              </a:rPr>
              <a:t>…</a:t>
            </a:r>
          </a:p>
        </p:txBody>
      </p:sp>
      <p:sp>
        <p:nvSpPr>
          <p:cNvPr id="31" name="TextBox 30"/>
          <p:cNvSpPr txBox="1"/>
          <p:nvPr/>
        </p:nvSpPr>
        <p:spPr>
          <a:xfrm>
            <a:off x="786384" y="5870448"/>
            <a:ext cx="10607040" cy="384048"/>
          </a:xfrm>
          <a:prstGeom prst="rect">
            <a:avLst/>
          </a:prstGeom>
          <a:noFill/>
        </p:spPr>
        <p:txBody>
          <a:bodyPr wrap="square" anchor="ctr" lIns="0" rIns="0" tIns="0" bIns="0">
            <a:normAutofit/>
          </a:bodyPr>
          <a:lstStyle/>
          <a:p>
            <a:pPr algn="ctr"/>
            <a:r>
              <a:rPr sz="1800" b="1">
                <a:solidFill>
                  <a:srgbClr val="2563EB"/>
                </a:solidFill>
                <a:latin typeface="Noto Sans SC"/>
              </a:rPr>
              <a:t>一次融合生成统一嵌入，多任务持续复用。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84048"/>
            <a:ext cx="384048" cy="201168"/>
          </a:xfrm>
          <a:prstGeom prst="rect">
            <a:avLst/>
          </a:prstGeom>
          <a:noFill/>
        </p:spPr>
        <p:txBody>
          <a:bodyPr wrap="square" anchor="ctr" lIns="0" rIns="0" tIns="0" bIns="0">
            <a:normAutofit/>
          </a:bodyPr>
          <a:lstStyle/>
          <a:p>
            <a:pPr algn="l"/>
            <a:r>
              <a:rPr sz="800" b="1">
                <a:solidFill>
                  <a:srgbClr val="0EA5E9"/>
                </a:solidFill>
                <a:latin typeface="Noto Sans SC"/>
              </a:rPr>
              <a:t>03</a:t>
            </a:r>
          </a:p>
        </p:txBody>
      </p:sp>
      <p:sp>
        <p:nvSpPr>
          <p:cNvPr id="3" name="TextBox 2"/>
          <p:cNvSpPr txBox="1"/>
          <p:nvPr/>
        </p:nvSpPr>
        <p:spPr>
          <a:xfrm>
            <a:off x="950976" y="256032"/>
            <a:ext cx="10424160" cy="566928"/>
          </a:xfrm>
          <a:prstGeom prst="rect">
            <a:avLst/>
          </a:prstGeom>
          <a:noFill/>
        </p:spPr>
        <p:txBody>
          <a:bodyPr wrap="square" anchor="ctr" lIns="0" rIns="0" tIns="0" bIns="0">
            <a:normAutofit/>
          </a:bodyPr>
          <a:lstStyle/>
          <a:p>
            <a:pPr algn="l"/>
            <a:r>
              <a:rPr sz="2400" b="1">
                <a:solidFill>
                  <a:srgbClr val="0F172A"/>
                </a:solidFill>
                <a:latin typeface="Noto Sans SC"/>
              </a:rPr>
              <a:t>卫星越多，理解地球的方式反而越碎片化</a:t>
            </a:r>
          </a:p>
        </p:txBody>
      </p:sp>
      <p:sp>
        <p:nvSpPr>
          <p:cNvPr id="4" name="Rounded Rectangle 3"/>
          <p:cNvSpPr/>
          <p:nvPr/>
        </p:nvSpPr>
        <p:spPr>
          <a:xfrm>
            <a:off x="841248" y="1188720"/>
            <a:ext cx="5577840" cy="4224528"/>
          </a:xfrm>
          <a:prstGeom prst="round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70632" y="1444752"/>
            <a:ext cx="1572768" cy="201168"/>
          </a:xfrm>
          <a:prstGeom prst="rect">
            <a:avLst/>
          </a:prstGeom>
          <a:noFill/>
        </p:spPr>
        <p:txBody>
          <a:bodyPr wrap="square" anchor="ctr" lIns="0" rIns="0" tIns="0" bIns="0">
            <a:normAutofit/>
          </a:bodyPr>
          <a:lstStyle/>
          <a:p>
            <a:pPr algn="ctr"/>
            <a:r>
              <a:rPr sz="1100" b="1">
                <a:solidFill>
                  <a:srgbClr val="0F172A"/>
                </a:solidFill>
                <a:latin typeface="Noto Sans SC"/>
              </a:rPr>
              <a:t>同一地理位置</a:t>
            </a:r>
          </a:p>
        </p:txBody>
      </p:sp>
      <p:sp>
        <p:nvSpPr>
          <p:cNvPr id="6" name="Oval 5"/>
          <p:cNvSpPr/>
          <p:nvPr/>
        </p:nvSpPr>
        <p:spPr>
          <a:xfrm>
            <a:off x="2999232" y="1938528"/>
            <a:ext cx="1170432" cy="1170432"/>
          </a:xfrm>
          <a:prstGeom prst="ellipse">
            <a:avLst/>
          </a:prstGeom>
          <a:solidFill>
            <a:srgbClr val="ECFDF5"/>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90672" y="2176272"/>
            <a:ext cx="987552" cy="310896"/>
          </a:xfrm>
          <a:prstGeom prst="rect">
            <a:avLst/>
          </a:prstGeom>
          <a:noFill/>
        </p:spPr>
        <p:txBody>
          <a:bodyPr wrap="square" anchor="ctr" lIns="0" rIns="0" tIns="0" bIns="0">
            <a:normAutofit/>
          </a:bodyPr>
          <a:lstStyle/>
          <a:p>
            <a:pPr algn="ctr"/>
            <a:r>
              <a:rPr sz="1200" b="1">
                <a:solidFill>
                  <a:srgbClr val="10B981"/>
                </a:solidFill>
                <a:latin typeface="Noto Sans SC"/>
              </a:rPr>
              <a:t>同一
地块</a:t>
            </a:r>
          </a:p>
        </p:txBody>
      </p:sp>
      <p:sp>
        <p:nvSpPr>
          <p:cNvPr id="8" name="Rounded Rectangle 7"/>
          <p:cNvSpPr/>
          <p:nvPr/>
        </p:nvSpPr>
        <p:spPr>
          <a:xfrm>
            <a:off x="1097280" y="1645920"/>
            <a:ext cx="1325880" cy="1097280"/>
          </a:xfrm>
          <a:prstGeom prst="round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patch_000339_s2_2025-04_1750.png"/>
          <p:cNvPicPr>
            <a:picLocks noChangeAspect="1"/>
          </p:cNvPicPr>
          <p:nvPr/>
        </p:nvPicPr>
        <p:blipFill>
          <a:blip r:embed="rId2"/>
          <a:stretch>
            <a:fillRect/>
          </a:stretch>
        </p:blipFill>
        <p:spPr>
          <a:xfrm>
            <a:off x="1152144" y="1700784"/>
            <a:ext cx="1216152" cy="694944"/>
          </a:xfrm>
          <a:prstGeom prst="rect">
            <a:avLst/>
          </a:prstGeom>
        </p:spPr>
      </p:pic>
      <p:sp>
        <p:nvSpPr>
          <p:cNvPr id="10" name="TextBox 9"/>
          <p:cNvSpPr txBox="1"/>
          <p:nvPr/>
        </p:nvSpPr>
        <p:spPr>
          <a:xfrm>
            <a:off x="1170432" y="2468880"/>
            <a:ext cx="1179576" cy="182880"/>
          </a:xfrm>
          <a:prstGeom prst="rect">
            <a:avLst/>
          </a:prstGeom>
          <a:noFill/>
        </p:spPr>
        <p:txBody>
          <a:bodyPr wrap="square" anchor="ctr" lIns="0" rIns="0" tIns="0" bIns="0">
            <a:normAutofit/>
          </a:bodyPr>
          <a:lstStyle/>
          <a:p>
            <a:pPr algn="ctr"/>
            <a:r>
              <a:rPr sz="800" b="1">
                <a:solidFill>
                  <a:srgbClr val="334155"/>
                </a:solidFill>
                <a:latin typeface="Noto Sans SC"/>
              </a:rPr>
              <a:t>哨兵二号</a:t>
            </a:r>
          </a:p>
        </p:txBody>
      </p:sp>
      <p:cxnSp>
        <p:nvCxnSpPr>
          <p:cNvPr id="11" name="Connector 10"/>
          <p:cNvCxnSpPr/>
          <p:nvPr/>
        </p:nvCxnSpPr>
        <p:spPr>
          <a:xfrm>
            <a:off x="1773936" y="2194560"/>
            <a:ext cx="1810512" cy="329184"/>
          </a:xfrm>
          <a:prstGeom prst="line">
            <a:avLst/>
          </a:prstGeom>
          <a:ln w="13970">
            <a:solidFill>
              <a:srgbClr val="E2E8F0"/>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590288" y="1645920"/>
            <a:ext cx="1325880" cy="1097280"/>
          </a:xfrm>
          <a:prstGeom prst="round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patch_000339_s2_hr_2025-04_1750.png"/>
          <p:cNvPicPr>
            <a:picLocks noChangeAspect="1"/>
          </p:cNvPicPr>
          <p:nvPr/>
        </p:nvPicPr>
        <p:blipFill>
          <a:blip r:embed="rId3"/>
          <a:stretch>
            <a:fillRect/>
          </a:stretch>
        </p:blipFill>
        <p:spPr>
          <a:xfrm>
            <a:off x="4645151" y="1700784"/>
            <a:ext cx="1216152" cy="694944"/>
          </a:xfrm>
          <a:prstGeom prst="rect">
            <a:avLst/>
          </a:prstGeom>
        </p:spPr>
      </p:pic>
      <p:sp>
        <p:nvSpPr>
          <p:cNvPr id="14" name="TextBox 13"/>
          <p:cNvSpPr txBox="1"/>
          <p:nvPr/>
        </p:nvSpPr>
        <p:spPr>
          <a:xfrm>
            <a:off x="4663440" y="2468880"/>
            <a:ext cx="1179576" cy="182880"/>
          </a:xfrm>
          <a:prstGeom prst="rect">
            <a:avLst/>
          </a:prstGeom>
          <a:noFill/>
        </p:spPr>
        <p:txBody>
          <a:bodyPr wrap="square" anchor="ctr" lIns="0" rIns="0" tIns="0" bIns="0">
            <a:normAutofit/>
          </a:bodyPr>
          <a:lstStyle/>
          <a:p>
            <a:pPr algn="ctr"/>
            <a:r>
              <a:rPr sz="800" b="1">
                <a:solidFill>
                  <a:srgbClr val="334155"/>
                </a:solidFill>
                <a:latin typeface="Noto Sans SC"/>
              </a:rPr>
              <a:t>高分光学</a:t>
            </a:r>
          </a:p>
        </p:txBody>
      </p:sp>
      <p:cxnSp>
        <p:nvCxnSpPr>
          <p:cNvPr id="15" name="Connector 14"/>
          <p:cNvCxnSpPr/>
          <p:nvPr/>
        </p:nvCxnSpPr>
        <p:spPr>
          <a:xfrm flipH="1">
            <a:off x="3584448" y="2194560"/>
            <a:ext cx="1682496" cy="329184"/>
          </a:xfrm>
          <a:prstGeom prst="line">
            <a:avLst/>
          </a:prstGeom>
          <a:ln w="13970">
            <a:solidFill>
              <a:srgbClr val="E2E8F0"/>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1097280" y="3794760"/>
            <a:ext cx="1325880" cy="1097280"/>
          </a:xfrm>
          <a:prstGeom prst="round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patch_000339_s1_2025-04_1750.png"/>
          <p:cNvPicPr>
            <a:picLocks noChangeAspect="1"/>
          </p:cNvPicPr>
          <p:nvPr/>
        </p:nvPicPr>
        <p:blipFill>
          <a:blip r:embed="rId4"/>
          <a:stretch>
            <a:fillRect/>
          </a:stretch>
        </p:blipFill>
        <p:spPr>
          <a:xfrm>
            <a:off x="1152144" y="3849624"/>
            <a:ext cx="1216152" cy="694944"/>
          </a:xfrm>
          <a:prstGeom prst="rect">
            <a:avLst/>
          </a:prstGeom>
        </p:spPr>
      </p:pic>
      <p:sp>
        <p:nvSpPr>
          <p:cNvPr id="18" name="TextBox 17"/>
          <p:cNvSpPr txBox="1"/>
          <p:nvPr/>
        </p:nvSpPr>
        <p:spPr>
          <a:xfrm>
            <a:off x="1170432" y="4617720"/>
            <a:ext cx="1179576" cy="182880"/>
          </a:xfrm>
          <a:prstGeom prst="rect">
            <a:avLst/>
          </a:prstGeom>
          <a:noFill/>
        </p:spPr>
        <p:txBody>
          <a:bodyPr wrap="square" anchor="ctr" lIns="0" rIns="0" tIns="0" bIns="0">
            <a:normAutofit/>
          </a:bodyPr>
          <a:lstStyle/>
          <a:p>
            <a:pPr algn="ctr"/>
            <a:r>
              <a:rPr sz="800" b="1">
                <a:solidFill>
                  <a:srgbClr val="334155"/>
                </a:solidFill>
                <a:latin typeface="Noto Sans SC"/>
              </a:rPr>
              <a:t>雷达卫星</a:t>
            </a:r>
          </a:p>
        </p:txBody>
      </p:sp>
      <p:cxnSp>
        <p:nvCxnSpPr>
          <p:cNvPr id="19" name="Connector 18"/>
          <p:cNvCxnSpPr/>
          <p:nvPr/>
        </p:nvCxnSpPr>
        <p:spPr>
          <a:xfrm flipV="1">
            <a:off x="1773936" y="2523744"/>
            <a:ext cx="1810512" cy="1819656"/>
          </a:xfrm>
          <a:prstGeom prst="line">
            <a:avLst/>
          </a:prstGeom>
          <a:ln w="13970">
            <a:solidFill>
              <a:srgbClr val="E2E8F0"/>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590288" y="3794760"/>
            <a:ext cx="1325880" cy="1097280"/>
          </a:xfrm>
          <a:prstGeom prst="round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patch_000339_landsat_2025-04_1750.png"/>
          <p:cNvPicPr>
            <a:picLocks noChangeAspect="1"/>
          </p:cNvPicPr>
          <p:nvPr/>
        </p:nvPicPr>
        <p:blipFill>
          <a:blip r:embed="rId5"/>
          <a:stretch>
            <a:fillRect/>
          </a:stretch>
        </p:blipFill>
        <p:spPr>
          <a:xfrm>
            <a:off x="4645151" y="3849624"/>
            <a:ext cx="1216152" cy="694944"/>
          </a:xfrm>
          <a:prstGeom prst="rect">
            <a:avLst/>
          </a:prstGeom>
        </p:spPr>
      </p:pic>
      <p:sp>
        <p:nvSpPr>
          <p:cNvPr id="22" name="TextBox 21"/>
          <p:cNvSpPr txBox="1"/>
          <p:nvPr/>
        </p:nvSpPr>
        <p:spPr>
          <a:xfrm>
            <a:off x="4663440" y="4617720"/>
            <a:ext cx="1179576" cy="182880"/>
          </a:xfrm>
          <a:prstGeom prst="rect">
            <a:avLst/>
          </a:prstGeom>
          <a:noFill/>
        </p:spPr>
        <p:txBody>
          <a:bodyPr wrap="square" anchor="ctr" lIns="0" rIns="0" tIns="0" bIns="0">
            <a:normAutofit/>
          </a:bodyPr>
          <a:lstStyle/>
          <a:p>
            <a:pPr algn="ctr"/>
            <a:r>
              <a:rPr sz="800" b="1">
                <a:solidFill>
                  <a:srgbClr val="334155"/>
                </a:solidFill>
                <a:latin typeface="Noto Sans SC"/>
              </a:rPr>
              <a:t>陆地卫星</a:t>
            </a:r>
          </a:p>
        </p:txBody>
      </p:sp>
      <p:cxnSp>
        <p:nvCxnSpPr>
          <p:cNvPr id="23" name="Connector 22"/>
          <p:cNvCxnSpPr/>
          <p:nvPr/>
        </p:nvCxnSpPr>
        <p:spPr>
          <a:xfrm flipH="1" flipV="1">
            <a:off x="3584448" y="2523744"/>
            <a:ext cx="1682496" cy="1819656"/>
          </a:xfrm>
          <a:prstGeom prst="line">
            <a:avLst/>
          </a:prstGeom>
          <a:ln w="13970">
            <a:solidFill>
              <a:srgbClr val="E2E8F0"/>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967728" y="1408176"/>
            <a:ext cx="4617720" cy="841248"/>
          </a:xfrm>
          <a:prstGeom prst="roundRect">
            <a:avLst/>
          </a:prstGeom>
          <a:solidFill>
            <a:srgbClr val="EFF6FF"/>
          </a:solidFill>
          <a:ln w="1016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rc 24"/>
          <p:cNvSpPr/>
          <p:nvPr/>
        </p:nvSpPr>
        <p:spPr>
          <a:xfrm>
            <a:off x="7168896" y="1591056"/>
            <a:ext cx="530352" cy="530352"/>
          </a:xfrm>
          <a:prstGeom prst="arc">
            <a:avLst/>
          </a:prstGeom>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60336" y="1655064"/>
            <a:ext cx="347472" cy="274320"/>
          </a:xfrm>
          <a:prstGeom prst="rect">
            <a:avLst/>
          </a:prstGeom>
          <a:noFill/>
        </p:spPr>
        <p:txBody>
          <a:bodyPr wrap="square" anchor="ctr" lIns="0" rIns="0" tIns="0" bIns="0">
            <a:normAutofit/>
          </a:bodyPr>
          <a:lstStyle/>
          <a:p>
            <a:pPr algn="ctr"/>
            <a:r>
              <a:rPr sz="1700" b="1">
                <a:solidFill>
                  <a:srgbClr val="2563EB"/>
                </a:solidFill>
                <a:latin typeface="Noto Sans SC"/>
              </a:rPr>
              <a:t>↻</a:t>
            </a:r>
          </a:p>
        </p:txBody>
      </p:sp>
      <p:sp>
        <p:nvSpPr>
          <p:cNvPr id="27" name="TextBox 26"/>
          <p:cNvSpPr txBox="1"/>
          <p:nvPr/>
        </p:nvSpPr>
        <p:spPr>
          <a:xfrm>
            <a:off x="7754112" y="1554480"/>
            <a:ext cx="1325880" cy="182880"/>
          </a:xfrm>
          <a:prstGeom prst="rect">
            <a:avLst/>
          </a:prstGeom>
          <a:noFill/>
        </p:spPr>
        <p:txBody>
          <a:bodyPr wrap="square" anchor="ctr" lIns="0" rIns="0" tIns="0" bIns="0">
            <a:normAutofit/>
          </a:bodyPr>
          <a:lstStyle/>
          <a:p>
            <a:pPr algn="l"/>
            <a:r>
              <a:rPr sz="1100" b="1">
                <a:solidFill>
                  <a:srgbClr val="0F172A"/>
                </a:solidFill>
                <a:latin typeface="Noto Sans SC"/>
              </a:rPr>
              <a:t>重复造轮子</a:t>
            </a:r>
          </a:p>
        </p:txBody>
      </p:sp>
      <p:sp>
        <p:nvSpPr>
          <p:cNvPr id="28" name="TextBox 27"/>
          <p:cNvSpPr txBox="1"/>
          <p:nvPr/>
        </p:nvSpPr>
        <p:spPr>
          <a:xfrm>
            <a:off x="8842248" y="1536192"/>
            <a:ext cx="2542032" cy="420624"/>
          </a:xfrm>
          <a:prstGeom prst="rect">
            <a:avLst/>
          </a:prstGeom>
          <a:noFill/>
        </p:spPr>
        <p:txBody>
          <a:bodyPr wrap="square" anchor="ctr" lIns="0" rIns="0" tIns="0" bIns="0">
            <a:normAutofit/>
          </a:bodyPr>
          <a:lstStyle/>
          <a:p>
            <a:pPr algn="l"/>
            <a:r>
              <a:rPr sz="900" b="0">
                <a:solidFill>
                  <a:srgbClr val="334155"/>
                </a:solidFill>
                <a:latin typeface="Noto Sans SC"/>
              </a:rPr>
              <a:t>每个任务都重新找数据、清洗、标注、训练。</a:t>
            </a:r>
          </a:p>
        </p:txBody>
      </p:sp>
      <p:sp>
        <p:nvSpPr>
          <p:cNvPr id="29" name="Rounded Rectangle 28"/>
          <p:cNvSpPr/>
          <p:nvPr/>
        </p:nvSpPr>
        <p:spPr>
          <a:xfrm>
            <a:off x="6967728" y="2633472"/>
            <a:ext cx="4617720" cy="841248"/>
          </a:xfrm>
          <a:prstGeom prst="roundRect">
            <a:avLst/>
          </a:prstGeom>
          <a:solidFill>
            <a:srgbClr val="ECFDF5"/>
          </a:solidFill>
          <a:ln w="1016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an 29"/>
          <p:cNvSpPr/>
          <p:nvPr/>
        </p:nvSpPr>
        <p:spPr>
          <a:xfrm>
            <a:off x="7168896" y="2816352"/>
            <a:ext cx="329184" cy="310896"/>
          </a:xfrm>
          <a:prstGeom prst="can">
            <a:avLst/>
          </a:prstGeom>
          <a:solidFill>
            <a:srgbClr val="FFFFF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an 30"/>
          <p:cNvSpPr/>
          <p:nvPr/>
        </p:nvSpPr>
        <p:spPr>
          <a:xfrm>
            <a:off x="7168896" y="2935224"/>
            <a:ext cx="329184" cy="310896"/>
          </a:xfrm>
          <a:prstGeom prst="can">
            <a:avLst/>
          </a:prstGeom>
          <a:solidFill>
            <a:srgbClr val="FFFFF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an 31"/>
          <p:cNvSpPr/>
          <p:nvPr/>
        </p:nvSpPr>
        <p:spPr>
          <a:xfrm>
            <a:off x="7168896" y="3054096"/>
            <a:ext cx="329184" cy="310896"/>
          </a:xfrm>
          <a:prstGeom prst="can">
            <a:avLst/>
          </a:prstGeom>
          <a:solidFill>
            <a:srgbClr val="FFFFF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54112" y="2779776"/>
            <a:ext cx="1325880" cy="182880"/>
          </a:xfrm>
          <a:prstGeom prst="rect">
            <a:avLst/>
          </a:prstGeom>
          <a:noFill/>
        </p:spPr>
        <p:txBody>
          <a:bodyPr wrap="square" anchor="ctr" lIns="0" rIns="0" tIns="0" bIns="0">
            <a:normAutofit/>
          </a:bodyPr>
          <a:lstStyle/>
          <a:p>
            <a:pPr algn="l"/>
            <a:r>
              <a:rPr sz="1100" b="1">
                <a:solidFill>
                  <a:srgbClr val="0F172A"/>
                </a:solidFill>
                <a:latin typeface="Noto Sans SC"/>
              </a:rPr>
              <a:t>数据孤岛</a:t>
            </a:r>
          </a:p>
        </p:txBody>
      </p:sp>
      <p:sp>
        <p:nvSpPr>
          <p:cNvPr id="34" name="TextBox 33"/>
          <p:cNvSpPr txBox="1"/>
          <p:nvPr/>
        </p:nvSpPr>
        <p:spPr>
          <a:xfrm>
            <a:off x="8842248" y="2761488"/>
            <a:ext cx="2542032" cy="420624"/>
          </a:xfrm>
          <a:prstGeom prst="rect">
            <a:avLst/>
          </a:prstGeom>
          <a:noFill/>
        </p:spPr>
        <p:txBody>
          <a:bodyPr wrap="square" anchor="ctr" lIns="0" rIns="0" tIns="0" bIns="0">
            <a:normAutofit/>
          </a:bodyPr>
          <a:lstStyle/>
          <a:p>
            <a:pPr algn="l"/>
            <a:r>
              <a:rPr sz="900" b="0">
                <a:solidFill>
                  <a:srgbClr val="334155"/>
                </a:solidFill>
                <a:latin typeface="Noto Sans SC"/>
              </a:rPr>
              <a:t>光学、雷达、高程、气象各自成体系，难复用。</a:t>
            </a:r>
          </a:p>
        </p:txBody>
      </p:sp>
      <p:sp>
        <p:nvSpPr>
          <p:cNvPr id="35" name="Rounded Rectangle 34"/>
          <p:cNvSpPr/>
          <p:nvPr/>
        </p:nvSpPr>
        <p:spPr>
          <a:xfrm>
            <a:off x="6967728" y="3858768"/>
            <a:ext cx="4617720" cy="841248"/>
          </a:xfrm>
          <a:prstGeom prst="roundRect">
            <a:avLst/>
          </a:prstGeom>
          <a:solidFill>
            <a:srgbClr val="F5F3FF"/>
          </a:solidFill>
          <a:ln w="101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168896" y="4041648"/>
            <a:ext cx="420624" cy="237744"/>
          </a:xfrm>
          <a:prstGeom prst="rect">
            <a:avLst/>
          </a:prstGeom>
          <a:solidFill>
            <a:srgbClr val="FFFFFF"/>
          </a:solidFill>
          <a:ln w="101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242048" y="4133087"/>
            <a:ext cx="420624" cy="237744"/>
          </a:xfrm>
          <a:prstGeom prst="rect">
            <a:avLst/>
          </a:prstGeom>
          <a:solidFill>
            <a:srgbClr val="FFFFFF"/>
          </a:solidFill>
          <a:ln w="101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315200" y="4224528"/>
            <a:ext cx="420624" cy="237744"/>
          </a:xfrm>
          <a:prstGeom prst="rect">
            <a:avLst/>
          </a:prstGeom>
          <a:solidFill>
            <a:srgbClr val="FFFFFF"/>
          </a:solidFill>
          <a:ln w="101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54112" y="4005072"/>
            <a:ext cx="1325880" cy="182880"/>
          </a:xfrm>
          <a:prstGeom prst="rect">
            <a:avLst/>
          </a:prstGeom>
          <a:noFill/>
        </p:spPr>
        <p:txBody>
          <a:bodyPr wrap="square" anchor="ctr" lIns="0" rIns="0" tIns="0" bIns="0">
            <a:normAutofit/>
          </a:bodyPr>
          <a:lstStyle/>
          <a:p>
            <a:pPr algn="l"/>
            <a:r>
              <a:rPr sz="1100" b="1">
                <a:solidFill>
                  <a:srgbClr val="0F172A"/>
                </a:solidFill>
                <a:latin typeface="Noto Sans SC"/>
              </a:rPr>
              <a:t>结果难复用</a:t>
            </a:r>
          </a:p>
        </p:txBody>
      </p:sp>
      <p:sp>
        <p:nvSpPr>
          <p:cNvPr id="40" name="TextBox 39"/>
          <p:cNvSpPr txBox="1"/>
          <p:nvPr/>
        </p:nvSpPr>
        <p:spPr>
          <a:xfrm>
            <a:off x="8842248" y="3986783"/>
            <a:ext cx="2542032" cy="420624"/>
          </a:xfrm>
          <a:prstGeom prst="rect">
            <a:avLst/>
          </a:prstGeom>
          <a:noFill/>
        </p:spPr>
        <p:txBody>
          <a:bodyPr wrap="square" anchor="ctr" lIns="0" rIns="0" tIns="0" bIns="0">
            <a:normAutofit/>
          </a:bodyPr>
          <a:lstStyle/>
          <a:p>
            <a:pPr algn="l"/>
            <a:r>
              <a:rPr sz="900" b="0">
                <a:solidFill>
                  <a:srgbClr val="334155"/>
                </a:solidFill>
                <a:latin typeface="Noto Sans SC"/>
              </a:rPr>
              <a:t>一个项目一个结果，难沉淀成下次可调用的资产。</a:t>
            </a:r>
          </a:p>
        </p:txBody>
      </p:sp>
      <p:sp>
        <p:nvSpPr>
          <p:cNvPr id="41" name="TextBox 40"/>
          <p:cNvSpPr txBox="1"/>
          <p:nvPr/>
        </p:nvSpPr>
        <p:spPr>
          <a:xfrm>
            <a:off x="786384" y="5669280"/>
            <a:ext cx="10607040" cy="384048"/>
          </a:xfrm>
          <a:prstGeom prst="rect">
            <a:avLst/>
          </a:prstGeom>
          <a:noFill/>
        </p:spPr>
        <p:txBody>
          <a:bodyPr wrap="square" anchor="ctr" lIns="0" rIns="0" tIns="0" bIns="0">
            <a:normAutofit/>
          </a:bodyPr>
          <a:lstStyle/>
          <a:p>
            <a:pPr algn="ctr"/>
            <a:r>
              <a:rPr sz="1800" b="1">
                <a:solidFill>
                  <a:srgbClr val="0F172A"/>
                </a:solidFill>
                <a:latin typeface="Noto Sans SC"/>
              </a:rPr>
              <a:t>真正缺的不是更多影像，而是把同一块地连续、统一理解的能力。</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84048"/>
            <a:ext cx="384048" cy="201168"/>
          </a:xfrm>
          <a:prstGeom prst="rect">
            <a:avLst/>
          </a:prstGeom>
          <a:noFill/>
        </p:spPr>
        <p:txBody>
          <a:bodyPr wrap="square" anchor="ctr" lIns="0" rIns="0" tIns="0" bIns="0">
            <a:normAutofit/>
          </a:bodyPr>
          <a:lstStyle/>
          <a:p>
            <a:pPr algn="l"/>
            <a:r>
              <a:rPr sz="800" b="1">
                <a:solidFill>
                  <a:srgbClr val="0EA5E9"/>
                </a:solidFill>
                <a:latin typeface="Noto Sans SC"/>
              </a:rPr>
              <a:t>04</a:t>
            </a:r>
          </a:p>
        </p:txBody>
      </p:sp>
      <p:sp>
        <p:nvSpPr>
          <p:cNvPr id="3" name="TextBox 2"/>
          <p:cNvSpPr txBox="1"/>
          <p:nvPr/>
        </p:nvSpPr>
        <p:spPr>
          <a:xfrm>
            <a:off x="950976" y="256032"/>
            <a:ext cx="10424160" cy="566928"/>
          </a:xfrm>
          <a:prstGeom prst="rect">
            <a:avLst/>
          </a:prstGeom>
          <a:noFill/>
        </p:spPr>
        <p:txBody>
          <a:bodyPr wrap="square" anchor="ctr" lIns="0" rIns="0" tIns="0" bIns="0">
            <a:normAutofit/>
          </a:bodyPr>
          <a:lstStyle/>
          <a:p>
            <a:pPr algn="l"/>
            <a:r>
              <a:rPr sz="2400" b="1">
                <a:solidFill>
                  <a:srgbClr val="0F172A"/>
                </a:solidFill>
                <a:latin typeface="Noto Sans SC"/>
              </a:rPr>
              <a:t>谷歌已经验证地理嵌入方向，中国需要本土版本</a:t>
            </a:r>
          </a:p>
        </p:txBody>
      </p:sp>
      <p:sp>
        <p:nvSpPr>
          <p:cNvPr id="4" name="Rounded Rectangle 3"/>
          <p:cNvSpPr/>
          <p:nvPr/>
        </p:nvSpPr>
        <p:spPr>
          <a:xfrm>
            <a:off x="859536" y="1188720"/>
            <a:ext cx="5074920" cy="4251960"/>
          </a:xfrm>
          <a:prstGeom prst="round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52144" y="1572768"/>
            <a:ext cx="4297680" cy="256032"/>
          </a:xfrm>
          <a:prstGeom prst="rect">
            <a:avLst/>
          </a:prstGeom>
          <a:noFill/>
        </p:spPr>
        <p:txBody>
          <a:bodyPr wrap="square" anchor="ctr" lIns="0" rIns="0" tIns="0" bIns="0">
            <a:normAutofit/>
          </a:bodyPr>
          <a:lstStyle/>
          <a:p>
            <a:pPr algn="ctr"/>
            <a:r>
              <a:rPr sz="1600" b="1">
                <a:solidFill>
                  <a:srgbClr val="0F172A"/>
                </a:solidFill>
                <a:latin typeface="Noto Sans SC"/>
              </a:rPr>
              <a:t>谷歌卫星嵌入</a:t>
            </a:r>
          </a:p>
        </p:txBody>
      </p:sp>
      <p:sp>
        <p:nvSpPr>
          <p:cNvPr id="6" name="Rounded Rectangle 5"/>
          <p:cNvSpPr/>
          <p:nvPr/>
        </p:nvSpPr>
        <p:spPr>
          <a:xfrm>
            <a:off x="1188720" y="2176272"/>
            <a:ext cx="1170432" cy="914400"/>
          </a:xfrm>
          <a:prstGeom prst="roundRect">
            <a:avLst/>
          </a:prstGeom>
          <a:solidFill>
            <a:srgbClr val="EFF6FF"/>
          </a:solidFill>
          <a:ln w="1016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53312" y="2295144"/>
            <a:ext cx="841248" cy="274320"/>
          </a:xfrm>
          <a:prstGeom prst="rect">
            <a:avLst/>
          </a:prstGeom>
          <a:noFill/>
        </p:spPr>
        <p:txBody>
          <a:bodyPr wrap="square" anchor="ctr" lIns="0" rIns="0" tIns="0" bIns="0">
            <a:normAutofit/>
          </a:bodyPr>
          <a:lstStyle/>
          <a:p>
            <a:pPr algn="ctr"/>
            <a:r>
              <a:rPr sz="1800" b="1">
                <a:solidFill>
                  <a:srgbClr val="2563EB"/>
                </a:solidFill>
                <a:latin typeface="Noto Sans SC"/>
              </a:rPr>
              <a:t>10 米</a:t>
            </a:r>
          </a:p>
        </p:txBody>
      </p:sp>
      <p:sp>
        <p:nvSpPr>
          <p:cNvPr id="8" name="TextBox 7"/>
          <p:cNvSpPr txBox="1"/>
          <p:nvPr/>
        </p:nvSpPr>
        <p:spPr>
          <a:xfrm>
            <a:off x="1335024" y="2706624"/>
            <a:ext cx="877824" cy="201168"/>
          </a:xfrm>
          <a:prstGeom prst="rect">
            <a:avLst/>
          </a:prstGeom>
          <a:noFill/>
        </p:spPr>
        <p:txBody>
          <a:bodyPr wrap="square" anchor="ctr" lIns="0" rIns="0" tIns="0" bIns="0">
            <a:normAutofit/>
          </a:bodyPr>
          <a:lstStyle/>
          <a:p>
            <a:pPr algn="ctr"/>
            <a:r>
              <a:rPr sz="800" b="0">
                <a:solidFill>
                  <a:srgbClr val="334155"/>
                </a:solidFill>
                <a:latin typeface="Noto Sans SC"/>
              </a:rPr>
              <a:t>全球年度嵌入</a:t>
            </a:r>
          </a:p>
        </p:txBody>
      </p:sp>
      <p:sp>
        <p:nvSpPr>
          <p:cNvPr id="9" name="Rounded Rectangle 8"/>
          <p:cNvSpPr/>
          <p:nvPr/>
        </p:nvSpPr>
        <p:spPr>
          <a:xfrm>
            <a:off x="2560320" y="2176272"/>
            <a:ext cx="1170432" cy="914400"/>
          </a:xfrm>
          <a:prstGeom prst="roundRect">
            <a:avLst/>
          </a:prstGeom>
          <a:solidFill>
            <a:srgbClr val="ECFDF5"/>
          </a:solidFill>
          <a:ln w="1016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24912" y="2295144"/>
            <a:ext cx="841248" cy="274320"/>
          </a:xfrm>
          <a:prstGeom prst="rect">
            <a:avLst/>
          </a:prstGeom>
          <a:noFill/>
        </p:spPr>
        <p:txBody>
          <a:bodyPr wrap="square" anchor="ctr" lIns="0" rIns="0" tIns="0" bIns="0">
            <a:normAutofit/>
          </a:bodyPr>
          <a:lstStyle/>
          <a:p>
            <a:pPr algn="ctr"/>
            <a:r>
              <a:rPr sz="1800" b="1">
                <a:solidFill>
                  <a:srgbClr val="10B981"/>
                </a:solidFill>
                <a:latin typeface="Noto Sans SC"/>
              </a:rPr>
              <a:t>64 维</a:t>
            </a:r>
          </a:p>
        </p:txBody>
      </p:sp>
      <p:sp>
        <p:nvSpPr>
          <p:cNvPr id="11" name="TextBox 10"/>
          <p:cNvSpPr txBox="1"/>
          <p:nvPr/>
        </p:nvSpPr>
        <p:spPr>
          <a:xfrm>
            <a:off x="2706624" y="2706624"/>
            <a:ext cx="877824" cy="201168"/>
          </a:xfrm>
          <a:prstGeom prst="rect">
            <a:avLst/>
          </a:prstGeom>
          <a:noFill/>
        </p:spPr>
        <p:txBody>
          <a:bodyPr wrap="square" anchor="ctr" lIns="0" rIns="0" tIns="0" bIns="0">
            <a:normAutofit/>
          </a:bodyPr>
          <a:lstStyle/>
          <a:p>
            <a:pPr algn="ctr"/>
            <a:r>
              <a:rPr sz="800" b="0">
                <a:solidFill>
                  <a:srgbClr val="334155"/>
                </a:solidFill>
                <a:latin typeface="Noto Sans SC"/>
              </a:rPr>
              <a:t>机器可调用表征</a:t>
            </a:r>
          </a:p>
        </p:txBody>
      </p:sp>
      <p:sp>
        <p:nvSpPr>
          <p:cNvPr id="12" name="Rounded Rectangle 11"/>
          <p:cNvSpPr/>
          <p:nvPr/>
        </p:nvSpPr>
        <p:spPr>
          <a:xfrm>
            <a:off x="3931920" y="2176272"/>
            <a:ext cx="1261872" cy="914400"/>
          </a:xfrm>
          <a:prstGeom prst="roundRect">
            <a:avLst/>
          </a:prstGeom>
          <a:solidFill>
            <a:srgbClr val="F5F3FF"/>
          </a:solidFill>
          <a:ln w="101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6511" y="2295144"/>
            <a:ext cx="932688" cy="274320"/>
          </a:xfrm>
          <a:prstGeom prst="rect">
            <a:avLst/>
          </a:prstGeom>
          <a:noFill/>
        </p:spPr>
        <p:txBody>
          <a:bodyPr wrap="square" anchor="ctr" lIns="0" rIns="0" tIns="0" bIns="0">
            <a:normAutofit/>
          </a:bodyPr>
          <a:lstStyle/>
          <a:p>
            <a:pPr algn="ctr"/>
            <a:r>
              <a:rPr sz="1800" b="1">
                <a:solidFill>
                  <a:srgbClr val="7C3AED"/>
                </a:solidFill>
                <a:latin typeface="Noto Sans SC"/>
              </a:rPr>
              <a:t>八年</a:t>
            </a:r>
          </a:p>
        </p:txBody>
      </p:sp>
      <p:sp>
        <p:nvSpPr>
          <p:cNvPr id="14" name="TextBox 13"/>
          <p:cNvSpPr txBox="1"/>
          <p:nvPr/>
        </p:nvSpPr>
        <p:spPr>
          <a:xfrm>
            <a:off x="4078224" y="2706624"/>
            <a:ext cx="969263" cy="201168"/>
          </a:xfrm>
          <a:prstGeom prst="rect">
            <a:avLst/>
          </a:prstGeom>
          <a:noFill/>
        </p:spPr>
        <p:txBody>
          <a:bodyPr wrap="square" anchor="ctr" lIns="0" rIns="0" tIns="0" bIns="0">
            <a:normAutofit/>
          </a:bodyPr>
          <a:lstStyle/>
          <a:p>
            <a:pPr algn="ctr"/>
            <a:r>
              <a:rPr sz="800" b="0">
                <a:solidFill>
                  <a:srgbClr val="334155"/>
                </a:solidFill>
                <a:latin typeface="Noto Sans SC"/>
              </a:rPr>
              <a:t>连续年度覆盖</a:t>
            </a:r>
          </a:p>
        </p:txBody>
      </p:sp>
      <p:sp>
        <p:nvSpPr>
          <p:cNvPr id="15" name="TextBox 14"/>
          <p:cNvSpPr txBox="1"/>
          <p:nvPr/>
        </p:nvSpPr>
        <p:spPr>
          <a:xfrm>
            <a:off x="1152144" y="3703320"/>
            <a:ext cx="4389120" cy="384048"/>
          </a:xfrm>
          <a:prstGeom prst="rect">
            <a:avLst/>
          </a:prstGeom>
          <a:noFill/>
        </p:spPr>
        <p:txBody>
          <a:bodyPr wrap="square" anchor="ctr" lIns="0" rIns="0" tIns="0" bIns="0">
            <a:normAutofit/>
          </a:bodyPr>
          <a:lstStyle/>
          <a:p>
            <a:pPr algn="ctr"/>
            <a:r>
              <a:rPr sz="1300" b="1">
                <a:solidFill>
                  <a:srgbClr val="334155"/>
                </a:solidFill>
                <a:latin typeface="Noto Sans SC"/>
              </a:rPr>
              <a:t>海外头部公司已将卫星影像从图像资产升级为机器可调用的基础表征。</a:t>
            </a:r>
          </a:p>
        </p:txBody>
      </p:sp>
      <p:sp>
        <p:nvSpPr>
          <p:cNvPr id="16" name="Rounded Rectangle 15"/>
          <p:cNvSpPr/>
          <p:nvPr/>
        </p:nvSpPr>
        <p:spPr>
          <a:xfrm>
            <a:off x="6254496" y="1188720"/>
            <a:ext cx="5074920" cy="4251960"/>
          </a:xfrm>
          <a:prstGeom prst="roundRect">
            <a:avLst/>
          </a:prstGeom>
          <a:solidFill>
            <a:srgbClr val="FFFFFF"/>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47104" y="1572768"/>
            <a:ext cx="4297680" cy="256032"/>
          </a:xfrm>
          <a:prstGeom prst="rect">
            <a:avLst/>
          </a:prstGeom>
          <a:noFill/>
        </p:spPr>
        <p:txBody>
          <a:bodyPr wrap="square" anchor="ctr" lIns="0" rIns="0" tIns="0" bIns="0">
            <a:normAutofit/>
          </a:bodyPr>
          <a:lstStyle/>
          <a:p>
            <a:pPr algn="ctr"/>
            <a:r>
              <a:rPr sz="1600" b="1">
                <a:solidFill>
                  <a:srgbClr val="0F172A"/>
                </a:solidFill>
                <a:latin typeface="Noto Sans SC"/>
              </a:rPr>
              <a:t>玄女的中国路径</a:t>
            </a:r>
          </a:p>
        </p:txBody>
      </p:sp>
      <p:sp>
        <p:nvSpPr>
          <p:cNvPr id="18" name="Rounded Rectangle 17"/>
          <p:cNvSpPr/>
          <p:nvPr/>
        </p:nvSpPr>
        <p:spPr>
          <a:xfrm>
            <a:off x="6583680" y="2176272"/>
            <a:ext cx="1170432" cy="914400"/>
          </a:xfrm>
          <a:prstGeom prst="roundRect">
            <a:avLst/>
          </a:prstGeom>
          <a:solidFill>
            <a:srgbClr val="EFF6FF"/>
          </a:solidFill>
          <a:ln w="1016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48272" y="2295144"/>
            <a:ext cx="841248" cy="274320"/>
          </a:xfrm>
          <a:prstGeom prst="rect">
            <a:avLst/>
          </a:prstGeom>
          <a:noFill/>
        </p:spPr>
        <p:txBody>
          <a:bodyPr wrap="square" anchor="ctr" lIns="0" rIns="0" tIns="0" bIns="0">
            <a:normAutofit/>
          </a:bodyPr>
          <a:lstStyle/>
          <a:p>
            <a:pPr algn="ctr"/>
            <a:r>
              <a:rPr sz="1800" b="1">
                <a:solidFill>
                  <a:srgbClr val="0EA5E9"/>
                </a:solidFill>
                <a:latin typeface="Noto Sans SC"/>
              </a:rPr>
              <a:t>11 天</a:t>
            </a:r>
          </a:p>
        </p:txBody>
      </p:sp>
      <p:sp>
        <p:nvSpPr>
          <p:cNvPr id="20" name="TextBox 19"/>
          <p:cNvSpPr txBox="1"/>
          <p:nvPr/>
        </p:nvSpPr>
        <p:spPr>
          <a:xfrm>
            <a:off x="6729984" y="2706624"/>
            <a:ext cx="877824" cy="201168"/>
          </a:xfrm>
          <a:prstGeom prst="rect">
            <a:avLst/>
          </a:prstGeom>
          <a:noFill/>
        </p:spPr>
        <p:txBody>
          <a:bodyPr wrap="square" anchor="ctr" lIns="0" rIns="0" tIns="0" bIns="0">
            <a:normAutofit/>
          </a:bodyPr>
          <a:lstStyle/>
          <a:p>
            <a:pPr algn="ctr"/>
            <a:r>
              <a:rPr sz="800" b="0">
                <a:solidFill>
                  <a:srgbClr val="334155"/>
                </a:solidFill>
                <a:latin typeface="Noto Sans SC"/>
              </a:rPr>
              <a:t>支持高频巡查</a:t>
            </a:r>
          </a:p>
        </p:txBody>
      </p:sp>
      <p:sp>
        <p:nvSpPr>
          <p:cNvPr id="21" name="Rounded Rectangle 20"/>
          <p:cNvSpPr/>
          <p:nvPr/>
        </p:nvSpPr>
        <p:spPr>
          <a:xfrm>
            <a:off x="7955279" y="2176272"/>
            <a:ext cx="1170432" cy="914400"/>
          </a:xfrm>
          <a:prstGeom prst="roundRect">
            <a:avLst/>
          </a:prstGeom>
          <a:solidFill>
            <a:srgbClr val="ECFDF5"/>
          </a:solidFill>
          <a:ln w="1016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9871" y="2295144"/>
            <a:ext cx="841248" cy="274320"/>
          </a:xfrm>
          <a:prstGeom prst="rect">
            <a:avLst/>
          </a:prstGeom>
          <a:noFill/>
        </p:spPr>
        <p:txBody>
          <a:bodyPr wrap="square" anchor="ctr" lIns="0" rIns="0" tIns="0" bIns="0">
            <a:normAutofit/>
          </a:bodyPr>
          <a:lstStyle/>
          <a:p>
            <a:pPr algn="ctr"/>
            <a:r>
              <a:rPr sz="1800" b="1">
                <a:solidFill>
                  <a:srgbClr val="10B981"/>
                </a:solidFill>
                <a:latin typeface="Noto Sans SC"/>
              </a:rPr>
              <a:t>高分</a:t>
            </a:r>
          </a:p>
        </p:txBody>
      </p:sp>
      <p:sp>
        <p:nvSpPr>
          <p:cNvPr id="23" name="TextBox 22"/>
          <p:cNvSpPr txBox="1"/>
          <p:nvPr/>
        </p:nvSpPr>
        <p:spPr>
          <a:xfrm>
            <a:off x="8101583" y="2706624"/>
            <a:ext cx="877824" cy="201168"/>
          </a:xfrm>
          <a:prstGeom prst="rect">
            <a:avLst/>
          </a:prstGeom>
          <a:noFill/>
        </p:spPr>
        <p:txBody>
          <a:bodyPr wrap="square" anchor="ctr" lIns="0" rIns="0" tIns="0" bIns="0">
            <a:normAutofit/>
          </a:bodyPr>
          <a:lstStyle/>
          <a:p>
            <a:pPr algn="ctr"/>
            <a:r>
              <a:rPr sz="800" b="0">
                <a:solidFill>
                  <a:srgbClr val="334155"/>
                </a:solidFill>
                <a:latin typeface="Noto Sans SC"/>
              </a:rPr>
              <a:t>看清城市小目标</a:t>
            </a:r>
          </a:p>
        </p:txBody>
      </p:sp>
      <p:sp>
        <p:nvSpPr>
          <p:cNvPr id="24" name="Rounded Rectangle 23"/>
          <p:cNvSpPr/>
          <p:nvPr/>
        </p:nvSpPr>
        <p:spPr>
          <a:xfrm>
            <a:off x="9326880" y="2176272"/>
            <a:ext cx="1261872" cy="914400"/>
          </a:xfrm>
          <a:prstGeom prst="roundRect">
            <a:avLst/>
          </a:prstGeom>
          <a:solidFill>
            <a:srgbClr val="F5F3FF"/>
          </a:solidFill>
          <a:ln w="101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91472" y="2295144"/>
            <a:ext cx="932688" cy="274320"/>
          </a:xfrm>
          <a:prstGeom prst="rect">
            <a:avLst/>
          </a:prstGeom>
          <a:noFill/>
        </p:spPr>
        <p:txBody>
          <a:bodyPr wrap="square" anchor="ctr" lIns="0" rIns="0" tIns="0" bIns="0">
            <a:normAutofit/>
          </a:bodyPr>
          <a:lstStyle/>
          <a:p>
            <a:pPr algn="ctr"/>
            <a:r>
              <a:rPr sz="1800" b="1">
                <a:solidFill>
                  <a:srgbClr val="7C3AED"/>
                </a:solidFill>
                <a:latin typeface="Noto Sans SC"/>
              </a:rPr>
              <a:t>国产算力</a:t>
            </a:r>
          </a:p>
        </p:txBody>
      </p:sp>
      <p:sp>
        <p:nvSpPr>
          <p:cNvPr id="26" name="TextBox 25"/>
          <p:cNvSpPr txBox="1"/>
          <p:nvPr/>
        </p:nvSpPr>
        <p:spPr>
          <a:xfrm>
            <a:off x="9473184" y="2706624"/>
            <a:ext cx="969263" cy="201168"/>
          </a:xfrm>
          <a:prstGeom prst="rect">
            <a:avLst/>
          </a:prstGeom>
          <a:noFill/>
        </p:spPr>
        <p:txBody>
          <a:bodyPr wrap="square" anchor="ctr" lIns="0" rIns="0" tIns="0" bIns="0">
            <a:normAutofit/>
          </a:bodyPr>
          <a:lstStyle/>
          <a:p>
            <a:pPr algn="ctr"/>
            <a:r>
              <a:rPr sz="800" b="0">
                <a:solidFill>
                  <a:srgbClr val="334155"/>
                </a:solidFill>
                <a:latin typeface="Noto Sans SC"/>
              </a:rPr>
              <a:t>可进入本土部署</a:t>
            </a:r>
          </a:p>
        </p:txBody>
      </p:sp>
      <p:sp>
        <p:nvSpPr>
          <p:cNvPr id="27" name="TextBox 26"/>
          <p:cNvSpPr txBox="1"/>
          <p:nvPr/>
        </p:nvSpPr>
        <p:spPr>
          <a:xfrm>
            <a:off x="6547104" y="3703320"/>
            <a:ext cx="4389120" cy="420624"/>
          </a:xfrm>
          <a:prstGeom prst="rect">
            <a:avLst/>
          </a:prstGeom>
          <a:noFill/>
        </p:spPr>
        <p:txBody>
          <a:bodyPr wrap="square" anchor="ctr" lIns="0" rIns="0" tIns="0" bIns="0">
            <a:normAutofit/>
          </a:bodyPr>
          <a:lstStyle/>
          <a:p>
            <a:pPr algn="ctr"/>
            <a:r>
              <a:rPr sz="1300" b="1">
                <a:solidFill>
                  <a:srgbClr val="334155"/>
                </a:solidFill>
                <a:latin typeface="Noto Sans SC"/>
              </a:rPr>
              <a:t>中国客户需要本土数据、本土算力、本土业务流程里的地理智能底座。</a:t>
            </a:r>
          </a:p>
        </p:txBody>
      </p:sp>
      <p:sp>
        <p:nvSpPr>
          <p:cNvPr id="28" name="TextBox 27"/>
          <p:cNvSpPr txBox="1"/>
          <p:nvPr/>
        </p:nvSpPr>
        <p:spPr>
          <a:xfrm>
            <a:off x="786384" y="5715000"/>
            <a:ext cx="10607040" cy="384048"/>
          </a:xfrm>
          <a:prstGeom prst="rect">
            <a:avLst/>
          </a:prstGeom>
          <a:noFill/>
        </p:spPr>
        <p:txBody>
          <a:bodyPr wrap="square" anchor="ctr" lIns="0" rIns="0" tIns="0" bIns="0">
            <a:normAutofit/>
          </a:bodyPr>
          <a:lstStyle/>
          <a:p>
            <a:pPr algn="ctr"/>
            <a:r>
              <a:rPr sz="1800" b="1">
                <a:solidFill>
                  <a:srgbClr val="2563EB"/>
                </a:solidFill>
                <a:latin typeface="Noto Sans SC"/>
              </a:rPr>
              <a:t>商业航天解决“看见地球”，地理嵌入解决“理解地球”。</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84048"/>
            <a:ext cx="384048" cy="201168"/>
          </a:xfrm>
          <a:prstGeom prst="rect">
            <a:avLst/>
          </a:prstGeom>
          <a:noFill/>
        </p:spPr>
        <p:txBody>
          <a:bodyPr wrap="square" anchor="ctr" lIns="0" rIns="0" tIns="0" bIns="0">
            <a:normAutofit/>
          </a:bodyPr>
          <a:lstStyle/>
          <a:p>
            <a:pPr algn="l"/>
            <a:r>
              <a:rPr sz="800" b="1">
                <a:solidFill>
                  <a:srgbClr val="0EA5E9"/>
                </a:solidFill>
                <a:latin typeface="Noto Sans SC"/>
              </a:rPr>
              <a:t>05</a:t>
            </a:r>
          </a:p>
        </p:txBody>
      </p:sp>
      <p:sp>
        <p:nvSpPr>
          <p:cNvPr id="3" name="TextBox 2"/>
          <p:cNvSpPr txBox="1"/>
          <p:nvPr/>
        </p:nvSpPr>
        <p:spPr>
          <a:xfrm>
            <a:off x="950976" y="256032"/>
            <a:ext cx="10424160" cy="566928"/>
          </a:xfrm>
          <a:prstGeom prst="rect">
            <a:avLst/>
          </a:prstGeom>
          <a:noFill/>
        </p:spPr>
        <p:txBody>
          <a:bodyPr wrap="square" anchor="ctr" lIns="0" rIns="0" tIns="0" bIns="0">
            <a:normAutofit/>
          </a:bodyPr>
          <a:lstStyle/>
          <a:p>
            <a:pPr algn="l"/>
            <a:r>
              <a:rPr sz="2400" b="1">
                <a:solidFill>
                  <a:srgbClr val="0F172A"/>
                </a:solidFill>
                <a:latin typeface="Noto Sans SC"/>
              </a:rPr>
              <a:t>商业航天把数据推向爆发，遥感应用还卡在重流程</a:t>
            </a:r>
          </a:p>
        </p:txBody>
      </p:sp>
      <p:sp>
        <p:nvSpPr>
          <p:cNvPr id="4" name="Rounded Rectangle 3"/>
          <p:cNvSpPr/>
          <p:nvPr/>
        </p:nvSpPr>
        <p:spPr>
          <a:xfrm>
            <a:off x="841248" y="1627632"/>
            <a:ext cx="1152144" cy="658368"/>
          </a:xfrm>
          <a:prstGeom prst="roundRect">
            <a:avLst/>
          </a:prstGeom>
          <a:solidFill>
            <a:srgbClr val="EFF6FF"/>
          </a:solidFill>
          <a:ln w="1016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783080"/>
            <a:ext cx="1152144" cy="182880"/>
          </a:xfrm>
          <a:prstGeom prst="rect">
            <a:avLst/>
          </a:prstGeom>
          <a:noFill/>
        </p:spPr>
        <p:txBody>
          <a:bodyPr wrap="square" anchor="ctr" lIns="0" rIns="0" tIns="0" bIns="0">
            <a:normAutofit/>
          </a:bodyPr>
          <a:lstStyle/>
          <a:p>
            <a:pPr algn="ctr"/>
            <a:r>
              <a:rPr sz="1100" b="1">
                <a:solidFill>
                  <a:srgbClr val="2563EB"/>
                </a:solidFill>
                <a:latin typeface="Noto Sans SC"/>
              </a:rPr>
              <a:t>制造</a:t>
            </a:r>
          </a:p>
        </p:txBody>
      </p:sp>
      <p:cxnSp>
        <p:nvCxnSpPr>
          <p:cNvPr id="6" name="Connector 5"/>
          <p:cNvCxnSpPr/>
          <p:nvPr/>
        </p:nvCxnSpPr>
        <p:spPr>
          <a:xfrm>
            <a:off x="2011680" y="1956816"/>
            <a:ext cx="402336" cy="0"/>
          </a:xfrm>
          <a:prstGeom prst="line">
            <a:avLst/>
          </a:prstGeom>
          <a:ln w="13970">
            <a:solidFill>
              <a:srgbClr val="E2E8F0"/>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560320" y="1627632"/>
            <a:ext cx="1152144" cy="658368"/>
          </a:xfrm>
          <a:prstGeom prst="roundRect">
            <a:avLst/>
          </a:prstGeom>
          <a:solidFill>
            <a:srgbClr val="EFF6FF"/>
          </a:solidFill>
          <a:ln w="1016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60320" y="1783080"/>
            <a:ext cx="1152144" cy="182880"/>
          </a:xfrm>
          <a:prstGeom prst="rect">
            <a:avLst/>
          </a:prstGeom>
          <a:noFill/>
        </p:spPr>
        <p:txBody>
          <a:bodyPr wrap="square" anchor="ctr" lIns="0" rIns="0" tIns="0" bIns="0">
            <a:normAutofit/>
          </a:bodyPr>
          <a:lstStyle/>
          <a:p>
            <a:pPr algn="ctr"/>
            <a:r>
              <a:rPr sz="1100" b="1">
                <a:solidFill>
                  <a:srgbClr val="0EA5E9"/>
                </a:solidFill>
                <a:latin typeface="Noto Sans SC"/>
              </a:rPr>
              <a:t>发射</a:t>
            </a:r>
          </a:p>
        </p:txBody>
      </p:sp>
      <p:cxnSp>
        <p:nvCxnSpPr>
          <p:cNvPr id="9" name="Connector 8"/>
          <p:cNvCxnSpPr/>
          <p:nvPr/>
        </p:nvCxnSpPr>
        <p:spPr>
          <a:xfrm>
            <a:off x="3730752" y="1956816"/>
            <a:ext cx="402335" cy="0"/>
          </a:xfrm>
          <a:prstGeom prst="line">
            <a:avLst/>
          </a:prstGeom>
          <a:ln w="13970">
            <a:solidFill>
              <a:srgbClr val="E2E8F0"/>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279392" y="1627632"/>
            <a:ext cx="1152144" cy="658368"/>
          </a:xfrm>
          <a:prstGeom prst="roundRect">
            <a:avLst/>
          </a:prstGeom>
          <a:solidFill>
            <a:srgbClr val="ECFDF5"/>
          </a:solidFill>
          <a:ln w="1016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79392" y="1783080"/>
            <a:ext cx="1152144" cy="182880"/>
          </a:xfrm>
          <a:prstGeom prst="rect">
            <a:avLst/>
          </a:prstGeom>
          <a:noFill/>
        </p:spPr>
        <p:txBody>
          <a:bodyPr wrap="square" anchor="ctr" lIns="0" rIns="0" tIns="0" bIns="0">
            <a:normAutofit/>
          </a:bodyPr>
          <a:lstStyle/>
          <a:p>
            <a:pPr algn="ctr"/>
            <a:r>
              <a:rPr sz="1100" b="1">
                <a:solidFill>
                  <a:srgbClr val="10B981"/>
                </a:solidFill>
                <a:latin typeface="Noto Sans SC"/>
              </a:rPr>
              <a:t>组网</a:t>
            </a:r>
          </a:p>
        </p:txBody>
      </p:sp>
      <p:cxnSp>
        <p:nvCxnSpPr>
          <p:cNvPr id="12" name="Connector 11"/>
          <p:cNvCxnSpPr/>
          <p:nvPr/>
        </p:nvCxnSpPr>
        <p:spPr>
          <a:xfrm>
            <a:off x="5449824" y="1956816"/>
            <a:ext cx="402335" cy="0"/>
          </a:xfrm>
          <a:prstGeom prst="line">
            <a:avLst/>
          </a:prstGeom>
          <a:ln w="13970">
            <a:solidFill>
              <a:srgbClr val="E2E8F0"/>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998464" y="1627632"/>
            <a:ext cx="1152144" cy="658368"/>
          </a:xfrm>
          <a:prstGeom prst="roundRect">
            <a:avLst/>
          </a:prstGeom>
          <a:solidFill>
            <a:srgbClr val="ECFDF5"/>
          </a:solidFill>
          <a:ln w="1016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98464" y="1783080"/>
            <a:ext cx="1152144" cy="182880"/>
          </a:xfrm>
          <a:prstGeom prst="rect">
            <a:avLst/>
          </a:prstGeom>
          <a:noFill/>
        </p:spPr>
        <p:txBody>
          <a:bodyPr wrap="square" anchor="ctr" lIns="0" rIns="0" tIns="0" bIns="0">
            <a:normAutofit/>
          </a:bodyPr>
          <a:lstStyle/>
          <a:p>
            <a:pPr algn="ctr"/>
            <a:r>
              <a:rPr sz="1100" b="1">
                <a:solidFill>
                  <a:srgbClr val="10B981"/>
                </a:solidFill>
                <a:latin typeface="Noto Sans SC"/>
              </a:rPr>
              <a:t>下行</a:t>
            </a:r>
          </a:p>
        </p:txBody>
      </p:sp>
      <p:cxnSp>
        <p:nvCxnSpPr>
          <p:cNvPr id="15" name="Connector 14"/>
          <p:cNvCxnSpPr/>
          <p:nvPr/>
        </p:nvCxnSpPr>
        <p:spPr>
          <a:xfrm>
            <a:off x="7168896" y="1956816"/>
            <a:ext cx="402335" cy="0"/>
          </a:xfrm>
          <a:prstGeom prst="line">
            <a:avLst/>
          </a:prstGeom>
          <a:ln w="13970">
            <a:solidFill>
              <a:srgbClr val="E2E8F0"/>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17536" y="1627632"/>
            <a:ext cx="1152144" cy="658368"/>
          </a:xfrm>
          <a:prstGeom prst="roundRect">
            <a:avLst/>
          </a:prstGeom>
          <a:solidFill>
            <a:srgbClr val="FFFBEB"/>
          </a:solidFill>
          <a:ln w="1016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17536" y="1783080"/>
            <a:ext cx="1152144" cy="182880"/>
          </a:xfrm>
          <a:prstGeom prst="rect">
            <a:avLst/>
          </a:prstGeom>
          <a:noFill/>
        </p:spPr>
        <p:txBody>
          <a:bodyPr wrap="square" anchor="ctr" lIns="0" rIns="0" tIns="0" bIns="0">
            <a:normAutofit/>
          </a:bodyPr>
          <a:lstStyle/>
          <a:p>
            <a:pPr algn="ctr"/>
            <a:r>
              <a:rPr sz="1100" b="1">
                <a:solidFill>
                  <a:srgbClr val="F59E0B"/>
                </a:solidFill>
                <a:latin typeface="Noto Sans SC"/>
              </a:rPr>
              <a:t>处理</a:t>
            </a:r>
          </a:p>
        </p:txBody>
      </p:sp>
      <p:cxnSp>
        <p:nvCxnSpPr>
          <p:cNvPr id="18" name="Connector 17"/>
          <p:cNvCxnSpPr/>
          <p:nvPr/>
        </p:nvCxnSpPr>
        <p:spPr>
          <a:xfrm>
            <a:off x="8887967" y="1956816"/>
            <a:ext cx="402337" cy="0"/>
          </a:xfrm>
          <a:prstGeom prst="line">
            <a:avLst/>
          </a:prstGeom>
          <a:ln w="13970">
            <a:solidFill>
              <a:srgbClr val="E2E8F0"/>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436607" y="1627632"/>
            <a:ext cx="1152144" cy="658368"/>
          </a:xfrm>
          <a:prstGeom prst="roundRect">
            <a:avLst/>
          </a:prstGeom>
          <a:solidFill>
            <a:srgbClr val="F5F3FF"/>
          </a:solidFill>
          <a:ln w="101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36607" y="1783080"/>
            <a:ext cx="1152144" cy="182880"/>
          </a:xfrm>
          <a:prstGeom prst="rect">
            <a:avLst/>
          </a:prstGeom>
          <a:noFill/>
        </p:spPr>
        <p:txBody>
          <a:bodyPr wrap="square" anchor="ctr" lIns="0" rIns="0" tIns="0" bIns="0">
            <a:normAutofit/>
          </a:bodyPr>
          <a:lstStyle/>
          <a:p>
            <a:pPr algn="ctr"/>
            <a:r>
              <a:rPr sz="1100" b="1">
                <a:solidFill>
                  <a:srgbClr val="7C3AED"/>
                </a:solidFill>
                <a:latin typeface="Noto Sans SC"/>
              </a:rPr>
              <a:t>应用</a:t>
            </a:r>
          </a:p>
        </p:txBody>
      </p:sp>
      <p:sp>
        <p:nvSpPr>
          <p:cNvPr id="21" name="Rounded Rectangle 20"/>
          <p:cNvSpPr/>
          <p:nvPr/>
        </p:nvSpPr>
        <p:spPr>
          <a:xfrm>
            <a:off x="7754112" y="2596896"/>
            <a:ext cx="3273552" cy="877824"/>
          </a:xfrm>
          <a:prstGeom prst="roundRect">
            <a:avLst/>
          </a:prstGeom>
          <a:solidFill>
            <a:srgbClr val="FFF7ED"/>
          </a:solidFill>
          <a:ln w="1016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28431" y="2788920"/>
            <a:ext cx="2724912" cy="201168"/>
          </a:xfrm>
          <a:prstGeom prst="rect">
            <a:avLst/>
          </a:prstGeom>
          <a:noFill/>
        </p:spPr>
        <p:txBody>
          <a:bodyPr wrap="square" anchor="ctr" lIns="0" rIns="0" tIns="0" bIns="0">
            <a:normAutofit/>
          </a:bodyPr>
          <a:lstStyle/>
          <a:p>
            <a:pPr algn="ctr"/>
            <a:r>
              <a:rPr sz="1200" b="1">
                <a:solidFill>
                  <a:srgbClr val="F59E0B"/>
                </a:solidFill>
                <a:latin typeface="Noto Sans SC"/>
              </a:rPr>
              <a:t>真正卡住商业化的是应用层</a:t>
            </a:r>
          </a:p>
        </p:txBody>
      </p:sp>
      <p:sp>
        <p:nvSpPr>
          <p:cNvPr id="23" name="TextBox 22"/>
          <p:cNvSpPr txBox="1"/>
          <p:nvPr/>
        </p:nvSpPr>
        <p:spPr>
          <a:xfrm>
            <a:off x="8028431" y="3127248"/>
            <a:ext cx="2724912" cy="182880"/>
          </a:xfrm>
          <a:prstGeom prst="rect">
            <a:avLst/>
          </a:prstGeom>
          <a:noFill/>
        </p:spPr>
        <p:txBody>
          <a:bodyPr wrap="square" anchor="ctr" lIns="0" rIns="0" tIns="0" bIns="0">
            <a:normAutofit/>
          </a:bodyPr>
          <a:lstStyle/>
          <a:p>
            <a:pPr algn="ctr"/>
            <a:r>
              <a:rPr sz="900" b="1">
                <a:solidFill>
                  <a:srgbClr val="334155"/>
                </a:solidFill>
                <a:latin typeface="Noto Sans SC"/>
              </a:rPr>
              <a:t>处理、标注、建模、核查仍重度项目制</a:t>
            </a:r>
          </a:p>
        </p:txBody>
      </p:sp>
      <p:pic>
        <p:nvPicPr>
          <p:cNvPr id="24" name="Picture 23" descr="harbin_migration_frame_1514.png"/>
          <p:cNvPicPr>
            <a:picLocks noChangeAspect="1"/>
          </p:cNvPicPr>
          <p:nvPr/>
        </p:nvPicPr>
        <p:blipFill>
          <a:blip r:embed="rId2"/>
          <a:stretch>
            <a:fillRect/>
          </a:stretch>
        </p:blipFill>
        <p:spPr>
          <a:xfrm>
            <a:off x="841248" y="2907792"/>
            <a:ext cx="2880360" cy="1901952"/>
          </a:xfrm>
          <a:prstGeom prst="rect">
            <a:avLst/>
          </a:prstGeom>
        </p:spPr>
      </p:pic>
      <p:pic>
        <p:nvPicPr>
          <p:cNvPr id="25" name="Picture 24" descr="patch_000339_dynamic_world_2025-04_detail_1514.png"/>
          <p:cNvPicPr>
            <a:picLocks noChangeAspect="1"/>
          </p:cNvPicPr>
          <p:nvPr/>
        </p:nvPicPr>
        <p:blipFill>
          <a:blip r:embed="rId3"/>
          <a:stretch>
            <a:fillRect/>
          </a:stretch>
        </p:blipFill>
        <p:spPr>
          <a:xfrm>
            <a:off x="3931920" y="2907792"/>
            <a:ext cx="2880360" cy="1901952"/>
          </a:xfrm>
          <a:prstGeom prst="rect">
            <a:avLst/>
          </a:prstGeom>
        </p:spPr>
      </p:pic>
      <p:pic>
        <p:nvPicPr>
          <p:cNvPr id="26" name="Picture 25" descr="patch_000146_2025-06_vs_2025-08_detail_2962.png"/>
          <p:cNvPicPr>
            <a:picLocks noChangeAspect="1"/>
          </p:cNvPicPr>
          <p:nvPr/>
        </p:nvPicPr>
        <p:blipFill>
          <a:blip r:embed="rId4"/>
          <a:stretch>
            <a:fillRect/>
          </a:stretch>
        </p:blipFill>
        <p:spPr>
          <a:xfrm>
            <a:off x="7443216" y="3895344"/>
            <a:ext cx="2926080" cy="987552"/>
          </a:xfrm>
          <a:prstGeom prst="rect">
            <a:avLst/>
          </a:prstGeom>
        </p:spPr>
      </p:pic>
      <p:sp>
        <p:nvSpPr>
          <p:cNvPr id="27" name="TextBox 26"/>
          <p:cNvSpPr txBox="1"/>
          <p:nvPr/>
        </p:nvSpPr>
        <p:spPr>
          <a:xfrm>
            <a:off x="841248" y="4956048"/>
            <a:ext cx="2880360" cy="182880"/>
          </a:xfrm>
          <a:prstGeom prst="rect">
            <a:avLst/>
          </a:prstGeom>
          <a:noFill/>
        </p:spPr>
        <p:txBody>
          <a:bodyPr wrap="square" anchor="ctr" lIns="0" rIns="0" tIns="0" bIns="0">
            <a:normAutofit/>
          </a:bodyPr>
          <a:lstStyle/>
          <a:p>
            <a:pPr algn="ctr"/>
            <a:r>
              <a:rPr sz="900" b="1">
                <a:solidFill>
                  <a:srgbClr val="334155"/>
                </a:solidFill>
                <a:latin typeface="Noto Sans SC"/>
              </a:rPr>
              <a:t>新区级连续监测</a:t>
            </a:r>
          </a:p>
        </p:txBody>
      </p:sp>
      <p:sp>
        <p:nvSpPr>
          <p:cNvPr id="28" name="TextBox 27"/>
          <p:cNvSpPr txBox="1"/>
          <p:nvPr/>
        </p:nvSpPr>
        <p:spPr>
          <a:xfrm>
            <a:off x="3931920" y="4956048"/>
            <a:ext cx="2880360" cy="182880"/>
          </a:xfrm>
          <a:prstGeom prst="rect">
            <a:avLst/>
          </a:prstGeom>
          <a:noFill/>
        </p:spPr>
        <p:txBody>
          <a:bodyPr wrap="square" anchor="ctr" lIns="0" rIns="0" tIns="0" bIns="0">
            <a:normAutofit/>
          </a:bodyPr>
          <a:lstStyle/>
          <a:p>
            <a:pPr algn="ctr"/>
            <a:r>
              <a:rPr sz="900" b="1">
                <a:solidFill>
                  <a:srgbClr val="334155"/>
                </a:solidFill>
                <a:latin typeface="Noto Sans SC"/>
              </a:rPr>
              <a:t>多任务结果复用</a:t>
            </a:r>
          </a:p>
        </p:txBody>
      </p:sp>
      <p:sp>
        <p:nvSpPr>
          <p:cNvPr id="29" name="TextBox 28"/>
          <p:cNvSpPr txBox="1"/>
          <p:nvPr/>
        </p:nvSpPr>
        <p:spPr>
          <a:xfrm>
            <a:off x="7443216" y="5029200"/>
            <a:ext cx="2926080" cy="182880"/>
          </a:xfrm>
          <a:prstGeom prst="rect">
            <a:avLst/>
          </a:prstGeom>
          <a:noFill/>
        </p:spPr>
        <p:txBody>
          <a:bodyPr wrap="square" anchor="ctr" lIns="0" rIns="0" tIns="0" bIns="0">
            <a:normAutofit/>
          </a:bodyPr>
          <a:lstStyle/>
          <a:p>
            <a:pPr algn="ctr"/>
            <a:r>
              <a:rPr sz="900" b="1">
                <a:solidFill>
                  <a:srgbClr val="334155"/>
                </a:solidFill>
                <a:latin typeface="Noto Sans SC"/>
              </a:rPr>
              <a:t>云遮挡与缺失模态</a:t>
            </a:r>
          </a:p>
        </p:txBody>
      </p:sp>
      <p:sp>
        <p:nvSpPr>
          <p:cNvPr id="30" name="TextBox 29"/>
          <p:cNvSpPr txBox="1"/>
          <p:nvPr/>
        </p:nvSpPr>
        <p:spPr>
          <a:xfrm>
            <a:off x="786384" y="5687568"/>
            <a:ext cx="10607040" cy="384048"/>
          </a:xfrm>
          <a:prstGeom prst="rect">
            <a:avLst/>
          </a:prstGeom>
          <a:noFill/>
        </p:spPr>
        <p:txBody>
          <a:bodyPr wrap="square" anchor="ctr" lIns="0" rIns="0" tIns="0" bIns="0">
            <a:normAutofit/>
          </a:bodyPr>
          <a:lstStyle/>
          <a:p>
            <a:pPr algn="ctr"/>
            <a:r>
              <a:rPr sz="1800" b="1">
                <a:solidFill>
                  <a:srgbClr val="0F172A"/>
                </a:solidFill>
                <a:latin typeface="Noto Sans SC"/>
              </a:rPr>
              <a:t>窗口期的核心机会：更低成本、更快交付、更高频更新。</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84048"/>
            <a:ext cx="384048" cy="201168"/>
          </a:xfrm>
          <a:prstGeom prst="rect">
            <a:avLst/>
          </a:prstGeom>
          <a:noFill/>
        </p:spPr>
        <p:txBody>
          <a:bodyPr wrap="square" anchor="ctr" lIns="0" rIns="0" tIns="0" bIns="0">
            <a:normAutofit/>
          </a:bodyPr>
          <a:lstStyle/>
          <a:p>
            <a:pPr algn="l"/>
            <a:r>
              <a:rPr sz="800" b="1">
                <a:solidFill>
                  <a:srgbClr val="0EA5E9"/>
                </a:solidFill>
                <a:latin typeface="Noto Sans SC"/>
              </a:rPr>
              <a:t>06</a:t>
            </a:r>
          </a:p>
        </p:txBody>
      </p:sp>
      <p:sp>
        <p:nvSpPr>
          <p:cNvPr id="3" name="TextBox 2"/>
          <p:cNvSpPr txBox="1"/>
          <p:nvPr/>
        </p:nvSpPr>
        <p:spPr>
          <a:xfrm>
            <a:off x="950976" y="256032"/>
            <a:ext cx="10424160" cy="566928"/>
          </a:xfrm>
          <a:prstGeom prst="rect">
            <a:avLst/>
          </a:prstGeom>
          <a:noFill/>
        </p:spPr>
        <p:txBody>
          <a:bodyPr wrap="square" anchor="ctr" lIns="0" rIns="0" tIns="0" bIns="0">
            <a:normAutofit/>
          </a:bodyPr>
          <a:lstStyle/>
          <a:p>
            <a:pPr algn="l"/>
            <a:r>
              <a:rPr sz="2400" b="1">
                <a:solidFill>
                  <a:srgbClr val="0F172A"/>
                </a:solidFill>
                <a:latin typeface="Noto Sans SC"/>
              </a:rPr>
              <a:t>遥感应用没有大规模爆发：用不起、用不好、用不快</a:t>
            </a:r>
          </a:p>
        </p:txBody>
      </p:sp>
      <p:sp>
        <p:nvSpPr>
          <p:cNvPr id="4" name="Rounded Rectangle 3"/>
          <p:cNvSpPr/>
          <p:nvPr/>
        </p:nvSpPr>
        <p:spPr>
          <a:xfrm>
            <a:off x="859536" y="1371600"/>
            <a:ext cx="3154680" cy="1225296"/>
          </a:xfrm>
          <a:prstGeom prst="roundRect">
            <a:avLst/>
          </a:prstGeom>
          <a:solidFill>
            <a:srgbClr val="EFF6FF"/>
          </a:solidFill>
          <a:ln w="1016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0704" y="1618488"/>
            <a:ext cx="2761488" cy="256032"/>
          </a:xfrm>
          <a:prstGeom prst="rect">
            <a:avLst/>
          </a:prstGeom>
          <a:noFill/>
        </p:spPr>
        <p:txBody>
          <a:bodyPr wrap="square" anchor="ctr" lIns="0" rIns="0" tIns="0" bIns="0">
            <a:normAutofit/>
          </a:bodyPr>
          <a:lstStyle/>
          <a:p>
            <a:pPr algn="ctr"/>
            <a:r>
              <a:rPr sz="1800" b="1">
                <a:solidFill>
                  <a:srgbClr val="2563EB"/>
                </a:solidFill>
                <a:latin typeface="Noto Sans SC"/>
              </a:rPr>
              <a:t>用不起</a:t>
            </a:r>
          </a:p>
        </p:txBody>
      </p:sp>
      <p:sp>
        <p:nvSpPr>
          <p:cNvPr id="6" name="TextBox 5"/>
          <p:cNvSpPr txBox="1"/>
          <p:nvPr/>
        </p:nvSpPr>
        <p:spPr>
          <a:xfrm>
            <a:off x="1115568" y="2048256"/>
            <a:ext cx="2651760" cy="292608"/>
          </a:xfrm>
          <a:prstGeom prst="rect">
            <a:avLst/>
          </a:prstGeom>
          <a:noFill/>
        </p:spPr>
        <p:txBody>
          <a:bodyPr wrap="square" anchor="ctr" lIns="0" rIns="0" tIns="0" bIns="0">
            <a:normAutofit/>
          </a:bodyPr>
          <a:lstStyle/>
          <a:p>
            <a:pPr algn="ctr"/>
            <a:r>
              <a:rPr sz="900" b="0">
                <a:solidFill>
                  <a:srgbClr val="334155"/>
                </a:solidFill>
                <a:latin typeface="Noto Sans SC"/>
              </a:rPr>
              <a:t>项目制、专家制、标注贵，任务越多成本越高。</a:t>
            </a:r>
          </a:p>
        </p:txBody>
      </p:sp>
      <p:sp>
        <p:nvSpPr>
          <p:cNvPr id="7" name="Rounded Rectangle 6"/>
          <p:cNvSpPr/>
          <p:nvPr/>
        </p:nvSpPr>
        <p:spPr>
          <a:xfrm>
            <a:off x="4636008" y="1371600"/>
            <a:ext cx="3154680" cy="1225296"/>
          </a:xfrm>
          <a:prstGeom prst="roundRect">
            <a:avLst/>
          </a:prstGeom>
          <a:solidFill>
            <a:srgbClr val="ECFDF5"/>
          </a:solidFill>
          <a:ln w="1016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37176" y="1618488"/>
            <a:ext cx="2761488" cy="256032"/>
          </a:xfrm>
          <a:prstGeom prst="rect">
            <a:avLst/>
          </a:prstGeom>
          <a:noFill/>
        </p:spPr>
        <p:txBody>
          <a:bodyPr wrap="square" anchor="ctr" lIns="0" rIns="0" tIns="0" bIns="0">
            <a:normAutofit/>
          </a:bodyPr>
          <a:lstStyle/>
          <a:p>
            <a:pPr algn="ctr"/>
            <a:r>
              <a:rPr sz="1800" b="1">
                <a:solidFill>
                  <a:srgbClr val="10B981"/>
                </a:solidFill>
                <a:latin typeface="Noto Sans SC"/>
              </a:rPr>
              <a:t>用不好</a:t>
            </a:r>
          </a:p>
        </p:txBody>
      </p:sp>
      <p:sp>
        <p:nvSpPr>
          <p:cNvPr id="9" name="TextBox 8"/>
          <p:cNvSpPr txBox="1"/>
          <p:nvPr/>
        </p:nvSpPr>
        <p:spPr>
          <a:xfrm>
            <a:off x="4892040" y="2048256"/>
            <a:ext cx="2651760" cy="292608"/>
          </a:xfrm>
          <a:prstGeom prst="rect">
            <a:avLst/>
          </a:prstGeom>
          <a:noFill/>
        </p:spPr>
        <p:txBody>
          <a:bodyPr wrap="square" anchor="ctr" lIns="0" rIns="0" tIns="0" bIns="0">
            <a:normAutofit/>
          </a:bodyPr>
          <a:lstStyle/>
          <a:p>
            <a:pPr algn="ctr"/>
            <a:r>
              <a:rPr sz="900" b="0">
                <a:solidFill>
                  <a:srgbClr val="334155"/>
                </a:solidFill>
                <a:latin typeface="Noto Sans SC"/>
              </a:rPr>
              <a:t>换区域、换地物、换传感器，模型泛化就变差。</a:t>
            </a:r>
          </a:p>
        </p:txBody>
      </p:sp>
      <p:sp>
        <p:nvSpPr>
          <p:cNvPr id="10" name="Rounded Rectangle 9"/>
          <p:cNvSpPr/>
          <p:nvPr/>
        </p:nvSpPr>
        <p:spPr>
          <a:xfrm>
            <a:off x="8412480" y="1371600"/>
            <a:ext cx="3154680" cy="1225296"/>
          </a:xfrm>
          <a:prstGeom prst="roundRect">
            <a:avLst/>
          </a:prstGeom>
          <a:solidFill>
            <a:srgbClr val="F5F3FF"/>
          </a:solidFill>
          <a:ln w="101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13648" y="1618488"/>
            <a:ext cx="2761488" cy="256032"/>
          </a:xfrm>
          <a:prstGeom prst="rect">
            <a:avLst/>
          </a:prstGeom>
          <a:noFill/>
        </p:spPr>
        <p:txBody>
          <a:bodyPr wrap="square" anchor="ctr" lIns="0" rIns="0" tIns="0" bIns="0">
            <a:normAutofit/>
          </a:bodyPr>
          <a:lstStyle/>
          <a:p>
            <a:pPr algn="ctr"/>
            <a:r>
              <a:rPr sz="1800" b="1">
                <a:solidFill>
                  <a:srgbClr val="7C3AED"/>
                </a:solidFill>
                <a:latin typeface="Noto Sans SC"/>
              </a:rPr>
              <a:t>用不快</a:t>
            </a:r>
          </a:p>
        </p:txBody>
      </p:sp>
      <p:sp>
        <p:nvSpPr>
          <p:cNvPr id="12" name="TextBox 11"/>
          <p:cNvSpPr txBox="1"/>
          <p:nvPr/>
        </p:nvSpPr>
        <p:spPr>
          <a:xfrm>
            <a:off x="8668511" y="2048256"/>
            <a:ext cx="2651760" cy="292608"/>
          </a:xfrm>
          <a:prstGeom prst="rect">
            <a:avLst/>
          </a:prstGeom>
          <a:noFill/>
        </p:spPr>
        <p:txBody>
          <a:bodyPr wrap="square" anchor="ctr" lIns="0" rIns="0" tIns="0" bIns="0">
            <a:normAutofit/>
          </a:bodyPr>
          <a:lstStyle/>
          <a:p>
            <a:pPr algn="ctr"/>
            <a:r>
              <a:rPr sz="900" b="0">
                <a:solidFill>
                  <a:srgbClr val="334155"/>
                </a:solidFill>
                <a:latin typeface="Noto Sans SC"/>
              </a:rPr>
              <a:t>从需求到交付链条长，结果常常错过决策窗口。</a:t>
            </a:r>
          </a:p>
        </p:txBody>
      </p:sp>
      <p:sp>
        <p:nvSpPr>
          <p:cNvPr id="13" name="TextBox 12"/>
          <p:cNvSpPr txBox="1"/>
          <p:nvPr/>
        </p:nvSpPr>
        <p:spPr>
          <a:xfrm>
            <a:off x="987552" y="3337560"/>
            <a:ext cx="1005840" cy="201168"/>
          </a:xfrm>
          <a:prstGeom prst="rect">
            <a:avLst/>
          </a:prstGeom>
          <a:noFill/>
        </p:spPr>
        <p:txBody>
          <a:bodyPr wrap="square" anchor="ctr" lIns="0" rIns="0" tIns="0" bIns="0">
            <a:normAutofit/>
          </a:bodyPr>
          <a:lstStyle/>
          <a:p>
            <a:pPr algn="l"/>
            <a:r>
              <a:rPr sz="1100" b="1">
                <a:solidFill>
                  <a:srgbClr val="64748B"/>
                </a:solidFill>
                <a:latin typeface="Noto Sans SC"/>
              </a:rPr>
              <a:t>传统流程</a:t>
            </a:r>
          </a:p>
        </p:txBody>
      </p:sp>
      <p:sp>
        <p:nvSpPr>
          <p:cNvPr id="14" name="Rounded Rectangle 13"/>
          <p:cNvSpPr/>
          <p:nvPr/>
        </p:nvSpPr>
        <p:spPr>
          <a:xfrm>
            <a:off x="1883664" y="3200400"/>
            <a:ext cx="676656" cy="438912"/>
          </a:xfrm>
          <a:prstGeom prst="round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883664" y="3310128"/>
            <a:ext cx="676656" cy="146304"/>
          </a:xfrm>
          <a:prstGeom prst="rect">
            <a:avLst/>
          </a:prstGeom>
          <a:noFill/>
        </p:spPr>
        <p:txBody>
          <a:bodyPr wrap="square" anchor="ctr" lIns="0" rIns="0" tIns="0" bIns="0">
            <a:normAutofit/>
          </a:bodyPr>
          <a:lstStyle/>
          <a:p>
            <a:pPr algn="ctr"/>
            <a:r>
              <a:rPr sz="800" b="1">
                <a:solidFill>
                  <a:srgbClr val="334155"/>
                </a:solidFill>
                <a:latin typeface="Noto Sans SC"/>
              </a:rPr>
              <a:t>采购</a:t>
            </a:r>
          </a:p>
        </p:txBody>
      </p:sp>
      <p:cxnSp>
        <p:nvCxnSpPr>
          <p:cNvPr id="16" name="Connector 15"/>
          <p:cNvCxnSpPr/>
          <p:nvPr/>
        </p:nvCxnSpPr>
        <p:spPr>
          <a:xfrm>
            <a:off x="2578608" y="3419856"/>
            <a:ext cx="146304" cy="0"/>
          </a:xfrm>
          <a:prstGeom prst="line">
            <a:avLst/>
          </a:prstGeom>
          <a:ln w="11430">
            <a:solidFill>
              <a:srgbClr val="E2E8F0"/>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779776" y="3200400"/>
            <a:ext cx="676656" cy="438912"/>
          </a:xfrm>
          <a:prstGeom prst="round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79776" y="3310128"/>
            <a:ext cx="676656" cy="146304"/>
          </a:xfrm>
          <a:prstGeom prst="rect">
            <a:avLst/>
          </a:prstGeom>
          <a:noFill/>
        </p:spPr>
        <p:txBody>
          <a:bodyPr wrap="square" anchor="ctr" lIns="0" rIns="0" tIns="0" bIns="0">
            <a:normAutofit/>
          </a:bodyPr>
          <a:lstStyle/>
          <a:p>
            <a:pPr algn="ctr"/>
            <a:r>
              <a:rPr sz="800" b="1">
                <a:solidFill>
                  <a:srgbClr val="334155"/>
                </a:solidFill>
                <a:latin typeface="Noto Sans SC"/>
              </a:rPr>
              <a:t>预处理</a:t>
            </a:r>
          </a:p>
        </p:txBody>
      </p:sp>
      <p:cxnSp>
        <p:nvCxnSpPr>
          <p:cNvPr id="19" name="Connector 18"/>
          <p:cNvCxnSpPr/>
          <p:nvPr/>
        </p:nvCxnSpPr>
        <p:spPr>
          <a:xfrm>
            <a:off x="3474720" y="3419856"/>
            <a:ext cx="146304" cy="0"/>
          </a:xfrm>
          <a:prstGeom prst="line">
            <a:avLst/>
          </a:prstGeom>
          <a:ln w="11430">
            <a:solidFill>
              <a:srgbClr val="E2E8F0"/>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675887" y="3200400"/>
            <a:ext cx="676656" cy="438912"/>
          </a:xfrm>
          <a:prstGeom prst="round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75887" y="3310128"/>
            <a:ext cx="676656" cy="146304"/>
          </a:xfrm>
          <a:prstGeom prst="rect">
            <a:avLst/>
          </a:prstGeom>
          <a:noFill/>
        </p:spPr>
        <p:txBody>
          <a:bodyPr wrap="square" anchor="ctr" lIns="0" rIns="0" tIns="0" bIns="0">
            <a:normAutofit/>
          </a:bodyPr>
          <a:lstStyle/>
          <a:p>
            <a:pPr algn="ctr"/>
            <a:r>
              <a:rPr sz="800" b="1">
                <a:solidFill>
                  <a:srgbClr val="334155"/>
                </a:solidFill>
                <a:latin typeface="Noto Sans SC"/>
              </a:rPr>
              <a:t>标注</a:t>
            </a:r>
          </a:p>
        </p:txBody>
      </p:sp>
      <p:cxnSp>
        <p:nvCxnSpPr>
          <p:cNvPr id="22" name="Connector 21"/>
          <p:cNvCxnSpPr/>
          <p:nvPr/>
        </p:nvCxnSpPr>
        <p:spPr>
          <a:xfrm>
            <a:off x="4370831" y="3419856"/>
            <a:ext cx="146305" cy="0"/>
          </a:xfrm>
          <a:prstGeom prst="line">
            <a:avLst/>
          </a:prstGeom>
          <a:ln w="11430">
            <a:solidFill>
              <a:srgbClr val="E2E8F0"/>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572000" y="3200400"/>
            <a:ext cx="676656" cy="438912"/>
          </a:xfrm>
          <a:prstGeom prst="round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0" y="3310128"/>
            <a:ext cx="676656" cy="146304"/>
          </a:xfrm>
          <a:prstGeom prst="rect">
            <a:avLst/>
          </a:prstGeom>
          <a:noFill/>
        </p:spPr>
        <p:txBody>
          <a:bodyPr wrap="square" anchor="ctr" lIns="0" rIns="0" tIns="0" bIns="0">
            <a:normAutofit/>
          </a:bodyPr>
          <a:lstStyle/>
          <a:p>
            <a:pPr algn="ctr"/>
            <a:r>
              <a:rPr sz="800" b="1">
                <a:solidFill>
                  <a:srgbClr val="334155"/>
                </a:solidFill>
                <a:latin typeface="Noto Sans SC"/>
              </a:rPr>
              <a:t>训练</a:t>
            </a:r>
          </a:p>
        </p:txBody>
      </p:sp>
      <p:cxnSp>
        <p:nvCxnSpPr>
          <p:cNvPr id="25" name="Connector 24"/>
          <p:cNvCxnSpPr/>
          <p:nvPr/>
        </p:nvCxnSpPr>
        <p:spPr>
          <a:xfrm>
            <a:off x="5266944" y="3419856"/>
            <a:ext cx="146304" cy="0"/>
          </a:xfrm>
          <a:prstGeom prst="line">
            <a:avLst/>
          </a:prstGeom>
          <a:ln w="11430">
            <a:solidFill>
              <a:srgbClr val="E2E8F0"/>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468112" y="3200400"/>
            <a:ext cx="676656" cy="438912"/>
          </a:xfrm>
          <a:prstGeom prst="round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68112" y="3310128"/>
            <a:ext cx="676656" cy="146304"/>
          </a:xfrm>
          <a:prstGeom prst="rect">
            <a:avLst/>
          </a:prstGeom>
          <a:noFill/>
        </p:spPr>
        <p:txBody>
          <a:bodyPr wrap="square" anchor="ctr" lIns="0" rIns="0" tIns="0" bIns="0">
            <a:normAutofit/>
          </a:bodyPr>
          <a:lstStyle/>
          <a:p>
            <a:pPr algn="ctr"/>
            <a:r>
              <a:rPr sz="800" b="1">
                <a:solidFill>
                  <a:srgbClr val="334155"/>
                </a:solidFill>
                <a:latin typeface="Noto Sans SC"/>
              </a:rPr>
              <a:t>核查</a:t>
            </a:r>
          </a:p>
        </p:txBody>
      </p:sp>
      <p:cxnSp>
        <p:nvCxnSpPr>
          <p:cNvPr id="28" name="Connector 27"/>
          <p:cNvCxnSpPr/>
          <p:nvPr/>
        </p:nvCxnSpPr>
        <p:spPr>
          <a:xfrm>
            <a:off x="6163056" y="3419856"/>
            <a:ext cx="146304" cy="0"/>
          </a:xfrm>
          <a:prstGeom prst="line">
            <a:avLst/>
          </a:prstGeom>
          <a:ln w="11430">
            <a:solidFill>
              <a:srgbClr val="E2E8F0"/>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364224" y="3200400"/>
            <a:ext cx="676656" cy="438912"/>
          </a:xfrm>
          <a:prstGeom prst="round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64224" y="3310128"/>
            <a:ext cx="676656" cy="146304"/>
          </a:xfrm>
          <a:prstGeom prst="rect">
            <a:avLst/>
          </a:prstGeom>
          <a:noFill/>
        </p:spPr>
        <p:txBody>
          <a:bodyPr wrap="square" anchor="ctr" lIns="0" rIns="0" tIns="0" bIns="0">
            <a:normAutofit/>
          </a:bodyPr>
          <a:lstStyle/>
          <a:p>
            <a:pPr algn="ctr"/>
            <a:r>
              <a:rPr sz="800" b="1">
                <a:solidFill>
                  <a:srgbClr val="334155"/>
                </a:solidFill>
                <a:latin typeface="Noto Sans SC"/>
              </a:rPr>
              <a:t>报告</a:t>
            </a:r>
          </a:p>
        </p:txBody>
      </p:sp>
      <p:sp>
        <p:nvSpPr>
          <p:cNvPr id="31" name="TextBox 30"/>
          <p:cNvSpPr txBox="1"/>
          <p:nvPr/>
        </p:nvSpPr>
        <p:spPr>
          <a:xfrm>
            <a:off x="987552" y="4389120"/>
            <a:ext cx="1005840" cy="201168"/>
          </a:xfrm>
          <a:prstGeom prst="rect">
            <a:avLst/>
          </a:prstGeom>
          <a:noFill/>
        </p:spPr>
        <p:txBody>
          <a:bodyPr wrap="square" anchor="ctr" lIns="0" rIns="0" tIns="0" bIns="0">
            <a:normAutofit/>
          </a:bodyPr>
          <a:lstStyle/>
          <a:p>
            <a:pPr algn="l"/>
            <a:r>
              <a:rPr sz="1100" b="1">
                <a:solidFill>
                  <a:srgbClr val="10B981"/>
                </a:solidFill>
                <a:latin typeface="Noto Sans SC"/>
              </a:rPr>
              <a:t>玄女流程</a:t>
            </a:r>
          </a:p>
        </p:txBody>
      </p:sp>
      <p:sp>
        <p:nvSpPr>
          <p:cNvPr id="32" name="Rounded Rectangle 31"/>
          <p:cNvSpPr/>
          <p:nvPr/>
        </p:nvSpPr>
        <p:spPr>
          <a:xfrm>
            <a:off x="1883664" y="4251960"/>
            <a:ext cx="914400" cy="438912"/>
          </a:xfrm>
          <a:prstGeom prst="roundRect">
            <a:avLst/>
          </a:prstGeom>
          <a:solidFill>
            <a:srgbClr val="ECFDF5"/>
          </a:solidFill>
          <a:ln w="1016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883664" y="4361688"/>
            <a:ext cx="914400" cy="146304"/>
          </a:xfrm>
          <a:prstGeom prst="rect">
            <a:avLst/>
          </a:prstGeom>
          <a:noFill/>
        </p:spPr>
        <p:txBody>
          <a:bodyPr wrap="square" anchor="ctr" lIns="0" rIns="0" tIns="0" bIns="0">
            <a:normAutofit/>
          </a:bodyPr>
          <a:lstStyle/>
          <a:p>
            <a:pPr algn="ctr"/>
            <a:r>
              <a:rPr sz="800" b="1">
                <a:solidFill>
                  <a:srgbClr val="10B981"/>
                </a:solidFill>
                <a:latin typeface="Noto Sans SC"/>
              </a:rPr>
              <a:t>地理嵌入</a:t>
            </a:r>
          </a:p>
        </p:txBody>
      </p:sp>
      <p:cxnSp>
        <p:nvCxnSpPr>
          <p:cNvPr id="34" name="Connector 33"/>
          <p:cNvCxnSpPr/>
          <p:nvPr/>
        </p:nvCxnSpPr>
        <p:spPr>
          <a:xfrm>
            <a:off x="2816352" y="4471416"/>
            <a:ext cx="182880" cy="0"/>
          </a:xfrm>
          <a:prstGeom prst="line">
            <a:avLst/>
          </a:prstGeom>
          <a:ln w="12700">
            <a:solidFill>
              <a:srgbClr val="10B981"/>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3054096" y="4251960"/>
            <a:ext cx="914400" cy="438912"/>
          </a:xfrm>
          <a:prstGeom prst="roundRect">
            <a:avLst/>
          </a:prstGeom>
          <a:solidFill>
            <a:srgbClr val="ECFDF5"/>
          </a:solidFill>
          <a:ln w="1016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054096" y="4361688"/>
            <a:ext cx="914400" cy="146304"/>
          </a:xfrm>
          <a:prstGeom prst="rect">
            <a:avLst/>
          </a:prstGeom>
          <a:noFill/>
        </p:spPr>
        <p:txBody>
          <a:bodyPr wrap="square" anchor="ctr" lIns="0" rIns="0" tIns="0" bIns="0">
            <a:normAutofit/>
          </a:bodyPr>
          <a:lstStyle/>
          <a:p>
            <a:pPr algn="ctr"/>
            <a:r>
              <a:rPr sz="800" b="1">
                <a:solidFill>
                  <a:srgbClr val="10B981"/>
                </a:solidFill>
                <a:latin typeface="Noto Sans SC"/>
              </a:rPr>
              <a:t>任务适配</a:t>
            </a:r>
          </a:p>
        </p:txBody>
      </p:sp>
      <p:cxnSp>
        <p:nvCxnSpPr>
          <p:cNvPr id="37" name="Connector 36"/>
          <p:cNvCxnSpPr/>
          <p:nvPr/>
        </p:nvCxnSpPr>
        <p:spPr>
          <a:xfrm>
            <a:off x="3986783" y="4471416"/>
            <a:ext cx="182880" cy="0"/>
          </a:xfrm>
          <a:prstGeom prst="line">
            <a:avLst/>
          </a:prstGeom>
          <a:ln w="12700">
            <a:solidFill>
              <a:srgbClr val="10B981"/>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4224528" y="4251960"/>
            <a:ext cx="914400" cy="438912"/>
          </a:xfrm>
          <a:prstGeom prst="roundRect">
            <a:avLst/>
          </a:prstGeom>
          <a:solidFill>
            <a:srgbClr val="ECFDF5"/>
          </a:solidFill>
          <a:ln w="1016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24528" y="4361688"/>
            <a:ext cx="914400" cy="146304"/>
          </a:xfrm>
          <a:prstGeom prst="rect">
            <a:avLst/>
          </a:prstGeom>
          <a:noFill/>
        </p:spPr>
        <p:txBody>
          <a:bodyPr wrap="square" anchor="ctr" lIns="0" rIns="0" tIns="0" bIns="0">
            <a:normAutofit/>
          </a:bodyPr>
          <a:lstStyle/>
          <a:p>
            <a:pPr algn="ctr"/>
            <a:r>
              <a:rPr sz="800" b="1">
                <a:solidFill>
                  <a:srgbClr val="10B981"/>
                </a:solidFill>
                <a:latin typeface="Noto Sans SC"/>
              </a:rPr>
              <a:t>候选图斑</a:t>
            </a:r>
          </a:p>
        </p:txBody>
      </p:sp>
      <p:cxnSp>
        <p:nvCxnSpPr>
          <p:cNvPr id="40" name="Connector 39"/>
          <p:cNvCxnSpPr/>
          <p:nvPr/>
        </p:nvCxnSpPr>
        <p:spPr>
          <a:xfrm>
            <a:off x="5157216" y="4471416"/>
            <a:ext cx="182880" cy="0"/>
          </a:xfrm>
          <a:prstGeom prst="line">
            <a:avLst/>
          </a:prstGeom>
          <a:ln w="12700">
            <a:solidFill>
              <a:srgbClr val="10B981"/>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5394960" y="4251960"/>
            <a:ext cx="914400" cy="438912"/>
          </a:xfrm>
          <a:prstGeom prst="roundRect">
            <a:avLst/>
          </a:prstGeom>
          <a:solidFill>
            <a:srgbClr val="ECFDF5"/>
          </a:solidFill>
          <a:ln w="1016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394960" y="4361688"/>
            <a:ext cx="914400" cy="146304"/>
          </a:xfrm>
          <a:prstGeom prst="rect">
            <a:avLst/>
          </a:prstGeom>
          <a:noFill/>
        </p:spPr>
        <p:txBody>
          <a:bodyPr wrap="square" anchor="ctr" lIns="0" rIns="0" tIns="0" bIns="0">
            <a:normAutofit/>
          </a:bodyPr>
          <a:lstStyle/>
          <a:p>
            <a:pPr algn="ctr"/>
            <a:r>
              <a:rPr sz="800" b="1">
                <a:solidFill>
                  <a:srgbClr val="10B981"/>
                </a:solidFill>
                <a:latin typeface="Noto Sans SC"/>
              </a:rPr>
              <a:t>证据包</a:t>
            </a:r>
          </a:p>
        </p:txBody>
      </p:sp>
      <p:pic>
        <p:nvPicPr>
          <p:cNvPr id="43" name="Picture 42" descr="patch_000217_construction_2025-08_vs_2025-09_detail_3442.png"/>
          <p:cNvPicPr>
            <a:picLocks noChangeAspect="1"/>
          </p:cNvPicPr>
          <p:nvPr/>
        </p:nvPicPr>
        <p:blipFill>
          <a:blip r:embed="rId2"/>
          <a:stretch>
            <a:fillRect/>
          </a:stretch>
        </p:blipFill>
        <p:spPr>
          <a:xfrm>
            <a:off x="7571231" y="3035808"/>
            <a:ext cx="3273552" cy="950976"/>
          </a:xfrm>
          <a:prstGeom prst="rect">
            <a:avLst/>
          </a:prstGeom>
        </p:spPr>
      </p:pic>
      <p:pic>
        <p:nvPicPr>
          <p:cNvPr id="44" name="Picture 43" descr="patch_000217_land_conversion_2025-08_vs_2025-09_detail_3442.png"/>
          <p:cNvPicPr>
            <a:picLocks noChangeAspect="1"/>
          </p:cNvPicPr>
          <p:nvPr/>
        </p:nvPicPr>
        <p:blipFill>
          <a:blip r:embed="rId3"/>
          <a:stretch>
            <a:fillRect/>
          </a:stretch>
        </p:blipFill>
        <p:spPr>
          <a:xfrm>
            <a:off x="7571231" y="4261104"/>
            <a:ext cx="3273552" cy="950976"/>
          </a:xfrm>
          <a:prstGeom prst="rect">
            <a:avLst/>
          </a:prstGeom>
        </p:spPr>
      </p:pic>
      <p:sp>
        <p:nvSpPr>
          <p:cNvPr id="45" name="TextBox 44"/>
          <p:cNvSpPr txBox="1"/>
          <p:nvPr/>
        </p:nvSpPr>
        <p:spPr>
          <a:xfrm>
            <a:off x="786384" y="5650992"/>
            <a:ext cx="10607040" cy="384048"/>
          </a:xfrm>
          <a:prstGeom prst="rect">
            <a:avLst/>
          </a:prstGeom>
          <a:noFill/>
        </p:spPr>
        <p:txBody>
          <a:bodyPr wrap="square" anchor="ctr" lIns="0" rIns="0" tIns="0" bIns="0">
            <a:normAutofit/>
          </a:bodyPr>
          <a:lstStyle/>
          <a:p>
            <a:pPr algn="ctr"/>
            <a:r>
              <a:rPr sz="1800" b="1">
                <a:solidFill>
                  <a:srgbClr val="0F172A"/>
                </a:solidFill>
                <a:latin typeface="Noto Sans SC"/>
              </a:rPr>
              <a:t>玄女要做的，是把一次性项目流程变成可复用的地理智能流水线。</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84048"/>
            <a:ext cx="384048" cy="201168"/>
          </a:xfrm>
          <a:prstGeom prst="rect">
            <a:avLst/>
          </a:prstGeom>
          <a:noFill/>
        </p:spPr>
        <p:txBody>
          <a:bodyPr wrap="square" anchor="ctr" lIns="0" rIns="0" tIns="0" bIns="0">
            <a:normAutofit/>
          </a:bodyPr>
          <a:lstStyle/>
          <a:p>
            <a:pPr algn="l"/>
            <a:r>
              <a:rPr sz="800" b="1">
                <a:solidFill>
                  <a:srgbClr val="0EA5E9"/>
                </a:solidFill>
                <a:latin typeface="Noto Sans SC"/>
              </a:rPr>
              <a:t>07</a:t>
            </a:r>
          </a:p>
        </p:txBody>
      </p:sp>
      <p:sp>
        <p:nvSpPr>
          <p:cNvPr id="3" name="TextBox 2"/>
          <p:cNvSpPr txBox="1"/>
          <p:nvPr/>
        </p:nvSpPr>
        <p:spPr>
          <a:xfrm>
            <a:off x="950976" y="256032"/>
            <a:ext cx="10424160" cy="566928"/>
          </a:xfrm>
          <a:prstGeom prst="rect">
            <a:avLst/>
          </a:prstGeom>
          <a:noFill/>
        </p:spPr>
        <p:txBody>
          <a:bodyPr wrap="square" anchor="ctr" lIns="0" rIns="0" tIns="0" bIns="0">
            <a:normAutofit/>
          </a:bodyPr>
          <a:lstStyle/>
          <a:p>
            <a:pPr algn="l"/>
            <a:r>
              <a:rPr sz="2400" b="1">
                <a:solidFill>
                  <a:srgbClr val="0F172A"/>
                </a:solidFill>
                <a:latin typeface="Noto Sans SC"/>
              </a:rPr>
              <a:t>天使用户：政府、企业、高校，痛点都指向同一件事</a:t>
            </a:r>
          </a:p>
        </p:txBody>
      </p:sp>
      <p:sp>
        <p:nvSpPr>
          <p:cNvPr id="4" name="Rounded Rectangle 3"/>
          <p:cNvSpPr/>
          <p:nvPr/>
        </p:nvSpPr>
        <p:spPr>
          <a:xfrm>
            <a:off x="822960" y="1280160"/>
            <a:ext cx="3246120" cy="2743200"/>
          </a:xfrm>
          <a:prstGeom prst="roundRect">
            <a:avLst/>
          </a:prstGeom>
          <a:solidFill>
            <a:srgbClr val="EFF6FF"/>
          </a:solidFill>
          <a:ln w="1016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ersona_government_v2_996.png"/>
          <p:cNvPicPr>
            <a:picLocks noChangeAspect="1"/>
          </p:cNvPicPr>
          <p:nvPr/>
        </p:nvPicPr>
        <p:blipFill>
          <a:blip r:embed="rId2"/>
          <a:stretch>
            <a:fillRect/>
          </a:stretch>
        </p:blipFill>
        <p:spPr>
          <a:xfrm>
            <a:off x="1207008" y="1481328"/>
            <a:ext cx="2478024" cy="2487168"/>
          </a:xfrm>
          <a:prstGeom prst="rect">
            <a:avLst/>
          </a:prstGeom>
        </p:spPr>
      </p:pic>
      <p:sp>
        <p:nvSpPr>
          <p:cNvPr id="6" name="TextBox 5"/>
          <p:cNvSpPr txBox="1"/>
          <p:nvPr/>
        </p:nvSpPr>
        <p:spPr>
          <a:xfrm>
            <a:off x="969264" y="4187952"/>
            <a:ext cx="2953512" cy="219456"/>
          </a:xfrm>
          <a:prstGeom prst="rect">
            <a:avLst/>
          </a:prstGeom>
          <a:noFill/>
        </p:spPr>
        <p:txBody>
          <a:bodyPr wrap="square" anchor="ctr" lIns="0" rIns="0" tIns="0" bIns="0">
            <a:normAutofit/>
          </a:bodyPr>
          <a:lstStyle/>
          <a:p>
            <a:pPr algn="ctr"/>
            <a:r>
              <a:rPr sz="1600" b="1">
                <a:solidFill>
                  <a:srgbClr val="0F172A"/>
                </a:solidFill>
                <a:latin typeface="Noto Sans SC"/>
              </a:rPr>
              <a:t>政府部门</a:t>
            </a:r>
          </a:p>
        </p:txBody>
      </p:sp>
      <p:sp>
        <p:nvSpPr>
          <p:cNvPr id="7" name="TextBox 6"/>
          <p:cNvSpPr txBox="1"/>
          <p:nvPr/>
        </p:nvSpPr>
        <p:spPr>
          <a:xfrm>
            <a:off x="1024128" y="4645152"/>
            <a:ext cx="2834640" cy="182880"/>
          </a:xfrm>
          <a:prstGeom prst="rect">
            <a:avLst/>
          </a:prstGeom>
          <a:noFill/>
        </p:spPr>
        <p:txBody>
          <a:bodyPr wrap="square" anchor="ctr" lIns="0" rIns="0" tIns="0" bIns="0">
            <a:normAutofit/>
          </a:bodyPr>
          <a:lstStyle/>
          <a:p>
            <a:pPr algn="ctr"/>
            <a:r>
              <a:rPr sz="1100" b="1">
                <a:solidFill>
                  <a:srgbClr val="2563EB"/>
                </a:solidFill>
                <a:latin typeface="Noto Sans SC"/>
              </a:rPr>
              <a:t>变化图斑太多</a:t>
            </a:r>
          </a:p>
        </p:txBody>
      </p:sp>
      <p:sp>
        <p:nvSpPr>
          <p:cNvPr id="8" name="TextBox 7"/>
          <p:cNvSpPr txBox="1"/>
          <p:nvPr/>
        </p:nvSpPr>
        <p:spPr>
          <a:xfrm>
            <a:off x="1133856" y="5010912"/>
            <a:ext cx="2615184" cy="310896"/>
          </a:xfrm>
          <a:prstGeom prst="rect">
            <a:avLst/>
          </a:prstGeom>
          <a:noFill/>
        </p:spPr>
        <p:txBody>
          <a:bodyPr wrap="square" anchor="ctr" lIns="0" rIns="0" tIns="0" bIns="0">
            <a:normAutofit/>
          </a:bodyPr>
          <a:lstStyle/>
          <a:p>
            <a:pPr algn="ctr"/>
            <a:r>
              <a:rPr sz="900" b="0">
                <a:solidFill>
                  <a:srgbClr val="334155"/>
                </a:solidFill>
                <a:latin typeface="Noto Sans SC"/>
              </a:rPr>
              <a:t>需要证据链、优先级、核查闭环</a:t>
            </a:r>
          </a:p>
        </p:txBody>
      </p:sp>
      <p:sp>
        <p:nvSpPr>
          <p:cNvPr id="9" name="Rounded Rectangle 8"/>
          <p:cNvSpPr/>
          <p:nvPr/>
        </p:nvSpPr>
        <p:spPr>
          <a:xfrm>
            <a:off x="4626864" y="1280160"/>
            <a:ext cx="3246120" cy="2743200"/>
          </a:xfrm>
          <a:prstGeom prst="roundRect">
            <a:avLst/>
          </a:prstGeom>
          <a:solidFill>
            <a:srgbClr val="ECFDF5"/>
          </a:solidFill>
          <a:ln w="1016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persona_enterprise_v2_996.png"/>
          <p:cNvPicPr>
            <a:picLocks noChangeAspect="1"/>
          </p:cNvPicPr>
          <p:nvPr/>
        </p:nvPicPr>
        <p:blipFill>
          <a:blip r:embed="rId3"/>
          <a:stretch>
            <a:fillRect/>
          </a:stretch>
        </p:blipFill>
        <p:spPr>
          <a:xfrm>
            <a:off x="5010912" y="1481328"/>
            <a:ext cx="2478024" cy="2487168"/>
          </a:xfrm>
          <a:prstGeom prst="rect">
            <a:avLst/>
          </a:prstGeom>
        </p:spPr>
      </p:pic>
      <p:sp>
        <p:nvSpPr>
          <p:cNvPr id="11" name="TextBox 10"/>
          <p:cNvSpPr txBox="1"/>
          <p:nvPr/>
        </p:nvSpPr>
        <p:spPr>
          <a:xfrm>
            <a:off x="4773168" y="4187952"/>
            <a:ext cx="2953512" cy="219456"/>
          </a:xfrm>
          <a:prstGeom prst="rect">
            <a:avLst/>
          </a:prstGeom>
          <a:noFill/>
        </p:spPr>
        <p:txBody>
          <a:bodyPr wrap="square" anchor="ctr" lIns="0" rIns="0" tIns="0" bIns="0">
            <a:normAutofit/>
          </a:bodyPr>
          <a:lstStyle/>
          <a:p>
            <a:pPr algn="ctr"/>
            <a:r>
              <a:rPr sz="1600" b="1">
                <a:solidFill>
                  <a:srgbClr val="0F172A"/>
                </a:solidFill>
                <a:latin typeface="Noto Sans SC"/>
              </a:rPr>
              <a:t>遥感企业</a:t>
            </a:r>
          </a:p>
        </p:txBody>
      </p:sp>
      <p:sp>
        <p:nvSpPr>
          <p:cNvPr id="12" name="TextBox 11"/>
          <p:cNvSpPr txBox="1"/>
          <p:nvPr/>
        </p:nvSpPr>
        <p:spPr>
          <a:xfrm>
            <a:off x="4828032" y="4645152"/>
            <a:ext cx="2834640" cy="182880"/>
          </a:xfrm>
          <a:prstGeom prst="rect">
            <a:avLst/>
          </a:prstGeom>
          <a:noFill/>
        </p:spPr>
        <p:txBody>
          <a:bodyPr wrap="square" anchor="ctr" lIns="0" rIns="0" tIns="0" bIns="0">
            <a:normAutofit/>
          </a:bodyPr>
          <a:lstStyle/>
          <a:p>
            <a:pPr algn="ctr"/>
            <a:r>
              <a:rPr sz="1100" b="1">
                <a:solidFill>
                  <a:srgbClr val="10B981"/>
                </a:solidFill>
                <a:latin typeface="Noto Sans SC"/>
              </a:rPr>
              <a:t>项目越多越重</a:t>
            </a:r>
          </a:p>
        </p:txBody>
      </p:sp>
      <p:sp>
        <p:nvSpPr>
          <p:cNvPr id="13" name="TextBox 12"/>
          <p:cNvSpPr txBox="1"/>
          <p:nvPr/>
        </p:nvSpPr>
        <p:spPr>
          <a:xfrm>
            <a:off x="4937760" y="5010912"/>
            <a:ext cx="2615184" cy="310896"/>
          </a:xfrm>
          <a:prstGeom prst="rect">
            <a:avLst/>
          </a:prstGeom>
          <a:noFill/>
        </p:spPr>
        <p:txBody>
          <a:bodyPr wrap="square" anchor="ctr" lIns="0" rIns="0" tIns="0" bIns="0">
            <a:normAutofit/>
          </a:bodyPr>
          <a:lstStyle/>
          <a:p>
            <a:pPr algn="ctr"/>
            <a:r>
              <a:rPr sz="900" b="0">
                <a:solidFill>
                  <a:srgbClr val="334155"/>
                </a:solidFill>
                <a:latin typeface="Noto Sans SC"/>
              </a:rPr>
              <a:t>需要复用底座、少样本适配、降低人力</a:t>
            </a:r>
          </a:p>
        </p:txBody>
      </p:sp>
      <p:sp>
        <p:nvSpPr>
          <p:cNvPr id="14" name="Rounded Rectangle 13"/>
          <p:cNvSpPr/>
          <p:nvPr/>
        </p:nvSpPr>
        <p:spPr>
          <a:xfrm>
            <a:off x="8430768" y="1280160"/>
            <a:ext cx="3246120" cy="2743200"/>
          </a:xfrm>
          <a:prstGeom prst="roundRect">
            <a:avLst/>
          </a:prstGeom>
          <a:solidFill>
            <a:srgbClr val="F5F3FF"/>
          </a:solidFill>
          <a:ln w="101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persona_university_v2_996.png"/>
          <p:cNvPicPr>
            <a:picLocks noChangeAspect="1"/>
          </p:cNvPicPr>
          <p:nvPr/>
        </p:nvPicPr>
        <p:blipFill>
          <a:blip r:embed="rId4"/>
          <a:stretch>
            <a:fillRect/>
          </a:stretch>
        </p:blipFill>
        <p:spPr>
          <a:xfrm>
            <a:off x="8814816" y="1481328"/>
            <a:ext cx="2478024" cy="2487168"/>
          </a:xfrm>
          <a:prstGeom prst="rect">
            <a:avLst/>
          </a:prstGeom>
        </p:spPr>
      </p:pic>
      <p:sp>
        <p:nvSpPr>
          <p:cNvPr id="16" name="TextBox 15"/>
          <p:cNvSpPr txBox="1"/>
          <p:nvPr/>
        </p:nvSpPr>
        <p:spPr>
          <a:xfrm>
            <a:off x="8577072" y="4187952"/>
            <a:ext cx="2953512" cy="219456"/>
          </a:xfrm>
          <a:prstGeom prst="rect">
            <a:avLst/>
          </a:prstGeom>
          <a:noFill/>
        </p:spPr>
        <p:txBody>
          <a:bodyPr wrap="square" anchor="ctr" lIns="0" rIns="0" tIns="0" bIns="0">
            <a:normAutofit/>
          </a:bodyPr>
          <a:lstStyle/>
          <a:p>
            <a:pPr algn="ctr"/>
            <a:r>
              <a:rPr sz="1600" b="1">
                <a:solidFill>
                  <a:srgbClr val="0F172A"/>
                </a:solidFill>
                <a:latin typeface="Noto Sans SC"/>
              </a:rPr>
              <a:t>高校团队</a:t>
            </a:r>
          </a:p>
        </p:txBody>
      </p:sp>
      <p:sp>
        <p:nvSpPr>
          <p:cNvPr id="17" name="TextBox 16"/>
          <p:cNvSpPr txBox="1"/>
          <p:nvPr/>
        </p:nvSpPr>
        <p:spPr>
          <a:xfrm>
            <a:off x="8631936" y="4645152"/>
            <a:ext cx="2834640" cy="182880"/>
          </a:xfrm>
          <a:prstGeom prst="rect">
            <a:avLst/>
          </a:prstGeom>
          <a:noFill/>
        </p:spPr>
        <p:txBody>
          <a:bodyPr wrap="square" anchor="ctr" lIns="0" rIns="0" tIns="0" bIns="0">
            <a:normAutofit/>
          </a:bodyPr>
          <a:lstStyle/>
          <a:p>
            <a:pPr algn="ctr"/>
            <a:r>
              <a:rPr sz="1100" b="1">
                <a:solidFill>
                  <a:srgbClr val="7C3AED"/>
                </a:solidFill>
                <a:latin typeface="Noto Sans SC"/>
              </a:rPr>
              <a:t>数据工程太重</a:t>
            </a:r>
          </a:p>
        </p:txBody>
      </p:sp>
      <p:sp>
        <p:nvSpPr>
          <p:cNvPr id="18" name="TextBox 17"/>
          <p:cNvSpPr txBox="1"/>
          <p:nvPr/>
        </p:nvSpPr>
        <p:spPr>
          <a:xfrm>
            <a:off x="8741664" y="5010912"/>
            <a:ext cx="2615184" cy="310896"/>
          </a:xfrm>
          <a:prstGeom prst="rect">
            <a:avLst/>
          </a:prstGeom>
          <a:noFill/>
        </p:spPr>
        <p:txBody>
          <a:bodyPr wrap="square" anchor="ctr" lIns="0" rIns="0" tIns="0" bIns="0">
            <a:normAutofit/>
          </a:bodyPr>
          <a:lstStyle/>
          <a:p>
            <a:pPr algn="ctr"/>
            <a:r>
              <a:rPr sz="900" b="0">
                <a:solidFill>
                  <a:srgbClr val="334155"/>
                </a:solidFill>
                <a:latin typeface="Noto Sans SC"/>
              </a:rPr>
              <a:t>需要现成嵌入、预标注、难例检索</a:t>
            </a:r>
          </a:p>
        </p:txBody>
      </p:sp>
      <p:sp>
        <p:nvSpPr>
          <p:cNvPr id="19" name="TextBox 18"/>
          <p:cNvSpPr txBox="1"/>
          <p:nvPr/>
        </p:nvSpPr>
        <p:spPr>
          <a:xfrm>
            <a:off x="786384" y="5696712"/>
            <a:ext cx="10607040" cy="384048"/>
          </a:xfrm>
          <a:prstGeom prst="rect">
            <a:avLst/>
          </a:prstGeom>
          <a:noFill/>
        </p:spPr>
        <p:txBody>
          <a:bodyPr wrap="square" anchor="ctr" lIns="0" rIns="0" tIns="0" bIns="0">
            <a:normAutofit/>
          </a:bodyPr>
          <a:lstStyle/>
          <a:p>
            <a:pPr algn="ctr"/>
            <a:r>
              <a:rPr sz="1800" b="1">
                <a:solidFill>
                  <a:srgbClr val="0F172A"/>
                </a:solidFill>
                <a:latin typeface="Noto Sans SC"/>
              </a:rPr>
              <a:t>三类用户表面不同，本质都是：不要每个任务重做一次遥感工程。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84048"/>
            <a:ext cx="384048" cy="201168"/>
          </a:xfrm>
          <a:prstGeom prst="rect">
            <a:avLst/>
          </a:prstGeom>
          <a:noFill/>
        </p:spPr>
        <p:txBody>
          <a:bodyPr wrap="square" anchor="ctr" lIns="0" rIns="0" tIns="0" bIns="0">
            <a:normAutofit/>
          </a:bodyPr>
          <a:lstStyle/>
          <a:p>
            <a:pPr algn="l"/>
            <a:r>
              <a:rPr sz="800" b="1">
                <a:solidFill>
                  <a:srgbClr val="0EA5E9"/>
                </a:solidFill>
                <a:latin typeface="Noto Sans SC"/>
              </a:rPr>
              <a:t>08</a:t>
            </a:r>
          </a:p>
        </p:txBody>
      </p:sp>
      <p:sp>
        <p:nvSpPr>
          <p:cNvPr id="3" name="TextBox 2"/>
          <p:cNvSpPr txBox="1"/>
          <p:nvPr/>
        </p:nvSpPr>
        <p:spPr>
          <a:xfrm>
            <a:off x="950976" y="256032"/>
            <a:ext cx="10424160" cy="566928"/>
          </a:xfrm>
          <a:prstGeom prst="rect">
            <a:avLst/>
          </a:prstGeom>
          <a:noFill/>
        </p:spPr>
        <p:txBody>
          <a:bodyPr wrap="square" anchor="ctr" lIns="0" rIns="0" tIns="0" bIns="0">
            <a:normAutofit/>
          </a:bodyPr>
          <a:lstStyle/>
          <a:p>
            <a:pPr algn="l"/>
            <a:r>
              <a:rPr sz="2400" b="1">
                <a:solidFill>
                  <a:srgbClr val="0F172A"/>
                </a:solidFill>
                <a:latin typeface="Noto Sans SC"/>
              </a:rPr>
              <a:t>我们的答案：把地球观测转成地理智能底座</a:t>
            </a:r>
          </a:p>
        </p:txBody>
      </p:sp>
      <p:sp>
        <p:nvSpPr>
          <p:cNvPr id="4" name="TextBox 3"/>
          <p:cNvSpPr txBox="1"/>
          <p:nvPr/>
        </p:nvSpPr>
        <p:spPr>
          <a:xfrm>
            <a:off x="950976" y="1188720"/>
            <a:ext cx="10287000" cy="877824"/>
          </a:xfrm>
          <a:prstGeom prst="rect">
            <a:avLst/>
          </a:prstGeom>
          <a:noFill/>
        </p:spPr>
        <p:txBody>
          <a:bodyPr wrap="square" anchor="ctr" lIns="0" rIns="0" tIns="0" bIns="0">
            <a:normAutofit/>
          </a:bodyPr>
          <a:lstStyle/>
          <a:p>
            <a:pPr algn="ctr"/>
            <a:r>
              <a:rPr sz="2400" b="1">
                <a:solidFill>
                  <a:srgbClr val="0F172A"/>
                </a:solidFill>
                <a:latin typeface="Noto Sans SC"/>
              </a:rPr>
              <a:t>我们如何把爆发式增长的地球观测数据转化为可复用的地理智能底座，
让不同用户不再为每个遥感任务重复采购、标注、建模和计算？</a:t>
            </a:r>
          </a:p>
        </p:txBody>
      </p:sp>
      <p:sp>
        <p:nvSpPr>
          <p:cNvPr id="5" name="Rounded Rectangle 4"/>
          <p:cNvSpPr/>
          <p:nvPr/>
        </p:nvSpPr>
        <p:spPr>
          <a:xfrm>
            <a:off x="1188720" y="2944368"/>
            <a:ext cx="4343400" cy="1261872"/>
          </a:xfrm>
          <a:prstGeom prst="roundRect">
            <a:avLst/>
          </a:prstGeom>
          <a:solidFill>
            <a:srgbClr val="EFF6FF"/>
          </a:solidFill>
          <a:ln w="1016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81328" y="3182112"/>
            <a:ext cx="3749039" cy="219456"/>
          </a:xfrm>
          <a:prstGeom prst="rect">
            <a:avLst/>
          </a:prstGeom>
          <a:noFill/>
        </p:spPr>
        <p:txBody>
          <a:bodyPr wrap="square" anchor="ctr" lIns="0" rIns="0" tIns="0" bIns="0">
            <a:normAutofit/>
          </a:bodyPr>
          <a:lstStyle/>
          <a:p>
            <a:pPr algn="ctr"/>
            <a:r>
              <a:rPr sz="1400" b="1">
                <a:solidFill>
                  <a:srgbClr val="2563EB"/>
                </a:solidFill>
                <a:latin typeface="Noto Sans SC"/>
              </a:rPr>
              <a:t>文本智能</a:t>
            </a:r>
          </a:p>
        </p:txBody>
      </p:sp>
      <p:sp>
        <p:nvSpPr>
          <p:cNvPr id="7" name="TextBox 6"/>
          <p:cNvSpPr txBox="1"/>
          <p:nvPr/>
        </p:nvSpPr>
        <p:spPr>
          <a:xfrm>
            <a:off x="1481328" y="3602736"/>
            <a:ext cx="3749039" cy="219456"/>
          </a:xfrm>
          <a:prstGeom prst="rect">
            <a:avLst/>
          </a:prstGeom>
          <a:noFill/>
        </p:spPr>
        <p:txBody>
          <a:bodyPr wrap="square" anchor="ctr" lIns="0" rIns="0" tIns="0" bIns="0">
            <a:normAutofit/>
          </a:bodyPr>
          <a:lstStyle/>
          <a:p>
            <a:pPr algn="ctr"/>
            <a:r>
              <a:rPr sz="1100" b="1">
                <a:solidFill>
                  <a:srgbClr val="334155"/>
                </a:solidFill>
                <a:latin typeface="Noto Sans SC"/>
              </a:rPr>
              <a:t>文本 → 语义单元 → 理解 / 检索 / 生成</a:t>
            </a:r>
          </a:p>
        </p:txBody>
      </p:sp>
      <p:sp>
        <p:nvSpPr>
          <p:cNvPr id="8" name="Rounded Rectangle 7"/>
          <p:cNvSpPr/>
          <p:nvPr/>
        </p:nvSpPr>
        <p:spPr>
          <a:xfrm>
            <a:off x="6656832" y="2944368"/>
            <a:ext cx="4343400" cy="1261872"/>
          </a:xfrm>
          <a:prstGeom prst="roundRect">
            <a:avLst/>
          </a:prstGeom>
          <a:solidFill>
            <a:srgbClr val="ECFDF5"/>
          </a:solidFill>
          <a:ln w="1016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0" y="3182112"/>
            <a:ext cx="3749039" cy="219456"/>
          </a:xfrm>
          <a:prstGeom prst="rect">
            <a:avLst/>
          </a:prstGeom>
          <a:noFill/>
        </p:spPr>
        <p:txBody>
          <a:bodyPr wrap="square" anchor="ctr" lIns="0" rIns="0" tIns="0" bIns="0">
            <a:normAutofit/>
          </a:bodyPr>
          <a:lstStyle/>
          <a:p>
            <a:pPr algn="ctr"/>
            <a:r>
              <a:rPr sz="1400" b="1">
                <a:solidFill>
                  <a:srgbClr val="10B981"/>
                </a:solidFill>
                <a:latin typeface="Noto Sans SC"/>
              </a:rPr>
              <a:t>地球智能</a:t>
            </a:r>
          </a:p>
        </p:txBody>
      </p:sp>
      <p:sp>
        <p:nvSpPr>
          <p:cNvPr id="10" name="TextBox 9"/>
          <p:cNvSpPr txBox="1"/>
          <p:nvPr/>
        </p:nvSpPr>
        <p:spPr>
          <a:xfrm>
            <a:off x="6949440" y="3602736"/>
            <a:ext cx="3749039" cy="219456"/>
          </a:xfrm>
          <a:prstGeom prst="rect">
            <a:avLst/>
          </a:prstGeom>
          <a:noFill/>
        </p:spPr>
        <p:txBody>
          <a:bodyPr wrap="square" anchor="ctr" lIns="0" rIns="0" tIns="0" bIns="0">
            <a:normAutofit/>
          </a:bodyPr>
          <a:lstStyle/>
          <a:p>
            <a:pPr algn="ctr"/>
            <a:r>
              <a:rPr sz="1000" b="1">
                <a:solidFill>
                  <a:srgbClr val="334155"/>
                </a:solidFill>
                <a:latin typeface="Noto Sans SC"/>
              </a:rPr>
              <a:t>地球观测 → 地理嵌入 → 监测 / 核查 / 预警 / 决策</a:t>
            </a:r>
          </a:p>
        </p:txBody>
      </p:sp>
      <p:cxnSp>
        <p:nvCxnSpPr>
          <p:cNvPr id="11" name="Connector 10"/>
          <p:cNvCxnSpPr/>
          <p:nvPr/>
        </p:nvCxnSpPr>
        <p:spPr>
          <a:xfrm>
            <a:off x="5650992" y="3584448"/>
            <a:ext cx="795528" cy="0"/>
          </a:xfrm>
          <a:prstGeom prst="line">
            <a:avLst/>
          </a:prstGeom>
          <a:ln w="17780">
            <a:solidFill>
              <a:srgbClr val="E2E8F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060704" y="4983480"/>
            <a:ext cx="10058400" cy="530352"/>
          </a:xfrm>
          <a:prstGeom prst="rect">
            <a:avLst/>
          </a:prstGeom>
          <a:noFill/>
        </p:spPr>
        <p:txBody>
          <a:bodyPr wrap="square" anchor="ctr" lIns="0" rIns="0" tIns="0" bIns="0">
            <a:normAutofit/>
          </a:bodyPr>
          <a:lstStyle/>
          <a:p>
            <a:pPr algn="ctr"/>
            <a:r>
              <a:rPr sz="1500" b="1">
                <a:solidFill>
                  <a:srgbClr val="2563EB"/>
                </a:solidFill>
                <a:latin typeface="Noto Sans SC"/>
              </a:rPr>
              <a:t>大模型先把文本转成语义单元，才能进行理解、检索、生成；
玄女先把地球观测转成地理嵌入，才能进行监测、核查、预警和决策。</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