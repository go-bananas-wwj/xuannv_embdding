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地球观测，一次表征，多任务复用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让中国拥有自己的地理智能底座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60704"/>
            <a:ext cx="7955279" cy="329184"/>
          </a:xfrm>
          <a:prstGeom prst="rect">
            <a:avLst/>
          </a:prstGeom>
          <a:noFill/>
        </p:spPr>
        <p:txBody>
          <a:bodyPr wrap="square" anchor="ctr" lIns="0" rIns="0" tIns="0" bIns="0">
            <a:normAutofit/>
          </a:bodyPr>
          <a:lstStyle/>
          <a:p>
            <a:pPr algn="l"/>
            <a:r>
              <a:rPr sz="1700" b="1">
                <a:solidFill>
                  <a:srgbClr val="0F172A"/>
                </a:solidFill>
                <a:latin typeface="Noto Sans SC"/>
              </a:rPr>
              <a:t>玄女科技是一家面向地球空间智能的人工智能基础底座公司。</a:t>
            </a:r>
          </a:p>
        </p:txBody>
      </p:sp>
      <p:sp>
        <p:nvSpPr>
          <p:cNvPr id="5" name="TextBox 4"/>
          <p:cNvSpPr txBox="1"/>
          <p:nvPr/>
        </p:nvSpPr>
        <p:spPr>
          <a:xfrm>
            <a:off x="950976" y="1481328"/>
            <a:ext cx="9875520" cy="384048"/>
          </a:xfrm>
          <a:prstGeom prst="rect">
            <a:avLst/>
          </a:prstGeom>
          <a:noFill/>
        </p:spPr>
        <p:txBody>
          <a:bodyPr wrap="square" anchor="ctr" lIns="0" rIns="0" tIns="0" bIns="0">
            <a:normAutofit/>
          </a:bodyPr>
          <a:lstStyle/>
          <a:p>
            <a:pPr algn="l"/>
            <a:r>
              <a:rPr sz="1200" b="0">
                <a:solidFill>
                  <a:srgbClr val="334155"/>
                </a:solidFill>
                <a:latin typeface="Noto Sans SC"/>
              </a:rPr>
              <a:t>面向政府、遥感企业和行业客户，把遥感项目制交付沉淀成可复用的地理智能能力。</a:t>
            </a:r>
          </a:p>
        </p:txBody>
      </p:sp>
      <p:sp>
        <p:nvSpPr>
          <p:cNvPr id="6" name="Rounded Rectangle 5"/>
          <p:cNvSpPr/>
          <p:nvPr/>
        </p:nvSpPr>
        <p:spPr>
          <a:xfrm>
            <a:off x="896112" y="2249424"/>
            <a:ext cx="10378440" cy="28803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25296" y="2542032"/>
            <a:ext cx="1005840" cy="3108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71016" y="2560320"/>
            <a:ext cx="914400" cy="274320"/>
          </a:xfrm>
          <a:prstGeom prst="rect">
            <a:avLst/>
          </a:prstGeom>
          <a:noFill/>
        </p:spPr>
        <p:txBody>
          <a:bodyPr wrap="square" anchor="ctr" lIns="0" rIns="0" tIns="0" bIns="0">
            <a:normAutofit/>
          </a:bodyPr>
          <a:lstStyle/>
          <a:p>
            <a:pPr algn="ctr"/>
            <a:r>
              <a:rPr sz="800" b="1">
                <a:solidFill>
                  <a:srgbClr val="2563EB"/>
                </a:solidFill>
                <a:latin typeface="Noto Sans SC"/>
              </a:rPr>
              <a:t>多源观测</a:t>
            </a:r>
          </a:p>
        </p:txBody>
      </p:sp>
      <p:sp>
        <p:nvSpPr>
          <p:cNvPr id="9" name="Rounded Rectangle 8"/>
          <p:cNvSpPr/>
          <p:nvPr/>
        </p:nvSpPr>
        <p:spPr>
          <a:xfrm>
            <a:off x="5230368" y="2542032"/>
            <a:ext cx="1005840" cy="3108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76088" y="2560320"/>
            <a:ext cx="914400" cy="274320"/>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sp>
        <p:nvSpPr>
          <p:cNvPr id="11" name="Rounded Rectangle 10"/>
          <p:cNvSpPr/>
          <p:nvPr/>
        </p:nvSpPr>
        <p:spPr>
          <a:xfrm>
            <a:off x="8887968" y="2542032"/>
            <a:ext cx="1005840" cy="3108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33688" y="2560320"/>
            <a:ext cx="914400" cy="274320"/>
          </a:xfrm>
          <a:prstGeom prst="rect">
            <a:avLst/>
          </a:prstGeom>
          <a:noFill/>
        </p:spPr>
        <p:txBody>
          <a:bodyPr wrap="square" anchor="ctr" lIns="0" rIns="0" tIns="0" bIns="0">
            <a:normAutofit/>
          </a:bodyPr>
          <a:lstStyle/>
          <a:p>
            <a:pPr algn="ctr"/>
            <a:r>
              <a:rPr sz="800" b="1">
                <a:solidFill>
                  <a:srgbClr val="7C3AED"/>
                </a:solidFill>
                <a:latin typeface="Noto Sans SC"/>
              </a:rPr>
              <a:t>下游任务</a:t>
            </a:r>
          </a:p>
        </p:txBody>
      </p:sp>
      <p:sp>
        <p:nvSpPr>
          <p:cNvPr id="13" name="Rounded Rectangle 12"/>
          <p:cNvSpPr/>
          <p:nvPr/>
        </p:nvSpPr>
        <p:spPr>
          <a:xfrm>
            <a:off x="1097280" y="2926080"/>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tch_000339_s2_2025-04_2086.png"/>
          <p:cNvPicPr>
            <a:picLocks noChangeAspect="1"/>
          </p:cNvPicPr>
          <p:nvPr/>
        </p:nvPicPr>
        <p:blipFill>
          <a:blip r:embed="rId2"/>
          <a:stretch>
            <a:fillRect/>
          </a:stretch>
        </p:blipFill>
        <p:spPr>
          <a:xfrm>
            <a:off x="1152144" y="2980944"/>
            <a:ext cx="877824" cy="420624"/>
          </a:xfrm>
          <a:prstGeom prst="rect">
            <a:avLst/>
          </a:prstGeom>
        </p:spPr>
      </p:pic>
      <p:sp>
        <p:nvSpPr>
          <p:cNvPr id="15" name="TextBox 14"/>
          <p:cNvSpPr txBox="1"/>
          <p:nvPr/>
        </p:nvSpPr>
        <p:spPr>
          <a:xfrm>
            <a:off x="1170432" y="3474720"/>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sp>
        <p:nvSpPr>
          <p:cNvPr id="16" name="Rounded Rectangle 15"/>
          <p:cNvSpPr/>
          <p:nvPr/>
        </p:nvSpPr>
        <p:spPr>
          <a:xfrm>
            <a:off x="2249424" y="2926080"/>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2086.png"/>
          <p:cNvPicPr>
            <a:picLocks noChangeAspect="1"/>
          </p:cNvPicPr>
          <p:nvPr/>
        </p:nvPicPr>
        <p:blipFill>
          <a:blip r:embed="rId3"/>
          <a:stretch>
            <a:fillRect/>
          </a:stretch>
        </p:blipFill>
        <p:spPr>
          <a:xfrm>
            <a:off x="2304288" y="2980944"/>
            <a:ext cx="877824" cy="420624"/>
          </a:xfrm>
          <a:prstGeom prst="rect">
            <a:avLst/>
          </a:prstGeom>
        </p:spPr>
      </p:pic>
      <p:sp>
        <p:nvSpPr>
          <p:cNvPr id="18" name="TextBox 17"/>
          <p:cNvSpPr txBox="1"/>
          <p:nvPr/>
        </p:nvSpPr>
        <p:spPr>
          <a:xfrm>
            <a:off x="2322576" y="3474720"/>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雷达影像</a:t>
            </a:r>
          </a:p>
        </p:txBody>
      </p:sp>
      <p:sp>
        <p:nvSpPr>
          <p:cNvPr id="19" name="Rounded Rectangle 18"/>
          <p:cNvSpPr/>
          <p:nvPr/>
        </p:nvSpPr>
        <p:spPr>
          <a:xfrm>
            <a:off x="1097280" y="3867912"/>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atch_000339_landsat_2025-04_2086.png"/>
          <p:cNvPicPr>
            <a:picLocks noChangeAspect="1"/>
          </p:cNvPicPr>
          <p:nvPr/>
        </p:nvPicPr>
        <p:blipFill>
          <a:blip r:embed="rId4"/>
          <a:stretch>
            <a:fillRect/>
          </a:stretch>
        </p:blipFill>
        <p:spPr>
          <a:xfrm>
            <a:off x="1152144" y="3922776"/>
            <a:ext cx="877824" cy="420624"/>
          </a:xfrm>
          <a:prstGeom prst="rect">
            <a:avLst/>
          </a:prstGeom>
        </p:spPr>
      </p:pic>
      <p:sp>
        <p:nvSpPr>
          <p:cNvPr id="21" name="TextBox 20"/>
          <p:cNvSpPr txBox="1"/>
          <p:nvPr/>
        </p:nvSpPr>
        <p:spPr>
          <a:xfrm>
            <a:off x="1170432" y="4416552"/>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sp>
        <p:nvSpPr>
          <p:cNvPr id="22" name="Rounded Rectangle 21"/>
          <p:cNvSpPr/>
          <p:nvPr/>
        </p:nvSpPr>
        <p:spPr>
          <a:xfrm>
            <a:off x="2249424" y="3867912"/>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tch_000339_dem_2086.png"/>
          <p:cNvPicPr>
            <a:picLocks noChangeAspect="1"/>
          </p:cNvPicPr>
          <p:nvPr/>
        </p:nvPicPr>
        <p:blipFill>
          <a:blip r:embed="rId5"/>
          <a:stretch>
            <a:fillRect/>
          </a:stretch>
        </p:blipFill>
        <p:spPr>
          <a:xfrm>
            <a:off x="2304288" y="3922776"/>
            <a:ext cx="877824" cy="420624"/>
          </a:xfrm>
          <a:prstGeom prst="rect">
            <a:avLst/>
          </a:prstGeom>
        </p:spPr>
      </p:pic>
      <p:sp>
        <p:nvSpPr>
          <p:cNvPr id="24" name="TextBox 23"/>
          <p:cNvSpPr txBox="1"/>
          <p:nvPr/>
        </p:nvSpPr>
        <p:spPr>
          <a:xfrm>
            <a:off x="2322576" y="4416552"/>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高程数据</a:t>
            </a:r>
          </a:p>
        </p:txBody>
      </p:sp>
      <p:cxnSp>
        <p:nvCxnSpPr>
          <p:cNvPr id="25" name="Connector 24"/>
          <p:cNvCxnSpPr/>
          <p:nvPr/>
        </p:nvCxnSpPr>
        <p:spPr>
          <a:xfrm>
            <a:off x="3401568" y="3675887"/>
            <a:ext cx="1261872"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6" name="Picture 25" descr="harbin_semantic_preset_frame_1375.png"/>
          <p:cNvPicPr>
            <a:picLocks noChangeAspect="1"/>
          </p:cNvPicPr>
          <p:nvPr/>
        </p:nvPicPr>
        <p:blipFill>
          <a:blip r:embed="rId6"/>
          <a:stretch>
            <a:fillRect/>
          </a:stretch>
        </p:blipFill>
        <p:spPr>
          <a:xfrm>
            <a:off x="4626864" y="2907792"/>
            <a:ext cx="2615184" cy="1901952"/>
          </a:xfrm>
          <a:prstGeom prst="rect">
            <a:avLst/>
          </a:prstGeom>
        </p:spPr>
      </p:pic>
      <p:cxnSp>
        <p:nvCxnSpPr>
          <p:cNvPr id="27" name="Connector 26"/>
          <p:cNvCxnSpPr/>
          <p:nvPr/>
        </p:nvCxnSpPr>
        <p:spPr>
          <a:xfrm>
            <a:off x="7223760" y="3675887"/>
            <a:ext cx="1152144"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321040" y="2816352"/>
            <a:ext cx="2615184" cy="822960"/>
          </a:xfrm>
          <a:prstGeom prst="round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atch_000217_construction_2025-08_vs_2025-09_detail_5956.png"/>
          <p:cNvPicPr>
            <a:picLocks noChangeAspect="1"/>
          </p:cNvPicPr>
          <p:nvPr/>
        </p:nvPicPr>
        <p:blipFill>
          <a:blip r:embed="rId7"/>
          <a:stretch>
            <a:fillRect/>
          </a:stretch>
        </p:blipFill>
        <p:spPr>
          <a:xfrm>
            <a:off x="8375904" y="2871216"/>
            <a:ext cx="2505456" cy="420624"/>
          </a:xfrm>
          <a:prstGeom prst="rect">
            <a:avLst/>
          </a:prstGeom>
        </p:spPr>
      </p:pic>
      <p:sp>
        <p:nvSpPr>
          <p:cNvPr id="30" name="TextBox 29"/>
          <p:cNvSpPr txBox="1"/>
          <p:nvPr/>
        </p:nvSpPr>
        <p:spPr>
          <a:xfrm>
            <a:off x="8394192" y="3364992"/>
            <a:ext cx="2468879" cy="182880"/>
          </a:xfrm>
          <a:prstGeom prst="rect">
            <a:avLst/>
          </a:prstGeom>
          <a:noFill/>
        </p:spPr>
        <p:txBody>
          <a:bodyPr wrap="square" anchor="ctr" lIns="0" rIns="0" tIns="0" bIns="0">
            <a:normAutofit/>
          </a:bodyPr>
          <a:lstStyle/>
          <a:p>
            <a:pPr algn="ctr"/>
            <a:r>
              <a:rPr sz="800" b="1">
                <a:solidFill>
                  <a:srgbClr val="334155"/>
                </a:solidFill>
                <a:latin typeface="Noto Sans SC"/>
              </a:rPr>
              <a:t>施工变化</a:t>
            </a:r>
          </a:p>
        </p:txBody>
      </p:sp>
      <p:sp>
        <p:nvSpPr>
          <p:cNvPr id="31" name="Rounded Rectangle 30"/>
          <p:cNvSpPr/>
          <p:nvPr/>
        </p:nvSpPr>
        <p:spPr>
          <a:xfrm>
            <a:off x="8321040" y="3803904"/>
            <a:ext cx="2615184" cy="822960"/>
          </a:xfrm>
          <a:prstGeom prst="round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patch_000354_building_extraction_2025-04_detail_5956.png"/>
          <p:cNvPicPr>
            <a:picLocks noChangeAspect="1"/>
          </p:cNvPicPr>
          <p:nvPr/>
        </p:nvPicPr>
        <p:blipFill>
          <a:blip r:embed="rId8"/>
          <a:stretch>
            <a:fillRect/>
          </a:stretch>
        </p:blipFill>
        <p:spPr>
          <a:xfrm>
            <a:off x="8375904" y="3858768"/>
            <a:ext cx="2505456" cy="420624"/>
          </a:xfrm>
          <a:prstGeom prst="rect">
            <a:avLst/>
          </a:prstGeom>
        </p:spPr>
      </p:pic>
      <p:sp>
        <p:nvSpPr>
          <p:cNvPr id="33" name="TextBox 32"/>
          <p:cNvSpPr txBox="1"/>
          <p:nvPr/>
        </p:nvSpPr>
        <p:spPr>
          <a:xfrm>
            <a:off x="8394192" y="4352544"/>
            <a:ext cx="2468879" cy="182880"/>
          </a:xfrm>
          <a:prstGeom prst="rect">
            <a:avLst/>
          </a:prstGeom>
          <a:noFill/>
        </p:spPr>
        <p:txBody>
          <a:bodyPr wrap="square" anchor="ctr" lIns="0" rIns="0" tIns="0" bIns="0">
            <a:normAutofit/>
          </a:bodyPr>
          <a:lstStyle/>
          <a:p>
            <a:pPr algn="ctr"/>
            <a:r>
              <a:rPr sz="800" b="1">
                <a:solidFill>
                  <a:srgbClr val="334155"/>
                </a:solidFill>
                <a:latin typeface="Noto Sans SC"/>
              </a:rPr>
              <a:t>建筑提取</a:t>
            </a:r>
          </a:p>
        </p:txBody>
      </p:sp>
      <p:sp>
        <p:nvSpPr>
          <p:cNvPr id="34" name="TextBox 33"/>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不是接一个项目做一个模型，而是沉淀一套可复用的地理智能基础设施。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