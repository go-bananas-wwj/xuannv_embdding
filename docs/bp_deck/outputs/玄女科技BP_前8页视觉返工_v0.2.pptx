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200" b="1">
                <a:solidFill>
                  <a:srgbClr val="2563EB"/>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200" b="1">
                <a:solidFill>
                  <a:srgbClr val="10B981"/>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200" b="1">
                <a:solidFill>
                  <a:srgbClr val="7C3AED"/>
                </a:solidFill>
                <a:latin typeface="Noto Sans SC"/>
              </a:rPr>
              <a:t>下游任务</a:t>
            </a:r>
          </a:p>
        </p:txBody>
      </p:sp>
      <p:sp>
        <p:nvSpPr>
          <p:cNvPr id="9" name="Diamond 8"/>
          <p:cNvSpPr/>
          <p:nvPr/>
        </p:nvSpPr>
        <p:spPr>
          <a:xfrm>
            <a:off x="932688" y="2926080"/>
            <a:ext cx="1170432" cy="768096"/>
          </a:xfrm>
          <a:prstGeom prst="diamond">
            <a:avLst/>
          </a:prstGeom>
          <a:solidFill>
            <a:srgbClr val="EFF6FF"/>
          </a:solidFill>
          <a:ln w="1270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3200400"/>
            <a:ext cx="804672" cy="146304"/>
          </a:xfrm>
          <a:prstGeom prst="rect">
            <a:avLst/>
          </a:prstGeom>
          <a:noFill/>
        </p:spPr>
        <p:txBody>
          <a:bodyPr wrap="square" anchor="ctr" lIns="0" rIns="0" tIns="0" bIns="0">
            <a:normAutofit/>
          </a:bodyPr>
          <a:lstStyle/>
          <a:p>
            <a:pPr algn="ctr"/>
            <a:r>
              <a:rPr sz="700" b="1">
                <a:solidFill>
                  <a:srgbClr val="0F172A"/>
                </a:solidFill>
                <a:latin typeface="Noto Sans SC"/>
              </a:rPr>
              <a:t>光学</a:t>
            </a:r>
          </a:p>
        </p:txBody>
      </p:sp>
      <p:sp>
        <p:nvSpPr>
          <p:cNvPr id="11" name="Diamond 10"/>
          <p:cNvSpPr/>
          <p:nvPr/>
        </p:nvSpPr>
        <p:spPr>
          <a:xfrm>
            <a:off x="1170432" y="3200400"/>
            <a:ext cx="1170432" cy="768096"/>
          </a:xfrm>
          <a:prstGeom prst="diamond">
            <a:avLst/>
          </a:prstGeom>
          <a:solidFill>
            <a:srgbClr val="ECFDF5"/>
          </a:solidFill>
          <a:ln w="1270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53312" y="3474720"/>
            <a:ext cx="804672" cy="146304"/>
          </a:xfrm>
          <a:prstGeom prst="rect">
            <a:avLst/>
          </a:prstGeom>
          <a:noFill/>
        </p:spPr>
        <p:txBody>
          <a:bodyPr wrap="square" anchor="ctr" lIns="0" rIns="0" tIns="0" bIns="0">
            <a:normAutofit/>
          </a:bodyPr>
          <a:lstStyle/>
          <a:p>
            <a:pPr algn="ctr"/>
            <a:r>
              <a:rPr sz="700" b="1">
                <a:solidFill>
                  <a:srgbClr val="0F172A"/>
                </a:solidFill>
                <a:latin typeface="Noto Sans SC"/>
              </a:rPr>
              <a:t>雷达</a:t>
            </a:r>
          </a:p>
        </p:txBody>
      </p:sp>
      <p:sp>
        <p:nvSpPr>
          <p:cNvPr id="13" name="Diamond 12"/>
          <p:cNvSpPr/>
          <p:nvPr/>
        </p:nvSpPr>
        <p:spPr>
          <a:xfrm>
            <a:off x="1408176" y="3474720"/>
            <a:ext cx="1170432" cy="768096"/>
          </a:xfrm>
          <a:prstGeom prst="diamond">
            <a:avLst/>
          </a:prstGeom>
          <a:solidFill>
            <a:srgbClr val="F5F3FF"/>
          </a:solidFill>
          <a:ln w="1270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91056" y="3749040"/>
            <a:ext cx="804672" cy="146304"/>
          </a:xfrm>
          <a:prstGeom prst="rect">
            <a:avLst/>
          </a:prstGeom>
          <a:noFill/>
        </p:spPr>
        <p:txBody>
          <a:bodyPr wrap="square" anchor="ctr" lIns="0" rIns="0" tIns="0" bIns="0">
            <a:normAutofit/>
          </a:bodyPr>
          <a:lstStyle/>
          <a:p>
            <a:pPr algn="ctr"/>
            <a:r>
              <a:rPr sz="700" b="1">
                <a:solidFill>
                  <a:srgbClr val="0F172A"/>
                </a:solidFill>
                <a:latin typeface="Noto Sans SC"/>
              </a:rPr>
              <a:t>高分</a:t>
            </a:r>
          </a:p>
        </p:txBody>
      </p:sp>
      <p:sp>
        <p:nvSpPr>
          <p:cNvPr id="15" name="Diamond 14"/>
          <p:cNvSpPr/>
          <p:nvPr/>
        </p:nvSpPr>
        <p:spPr>
          <a:xfrm>
            <a:off x="1645920" y="3749039"/>
            <a:ext cx="1170432" cy="768096"/>
          </a:xfrm>
          <a:prstGeom prst="diamond">
            <a:avLst/>
          </a:prstGeom>
          <a:solidFill>
            <a:srgbClr val="FFFBEB"/>
          </a:solidFill>
          <a:ln w="12700">
            <a:solidFill>
              <a:srgbClr val="FFFB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0" y="4023359"/>
            <a:ext cx="804672" cy="146304"/>
          </a:xfrm>
          <a:prstGeom prst="rect">
            <a:avLst/>
          </a:prstGeom>
          <a:noFill/>
        </p:spPr>
        <p:txBody>
          <a:bodyPr wrap="square" anchor="ctr" lIns="0" rIns="0" tIns="0" bIns="0">
            <a:normAutofit/>
          </a:bodyPr>
          <a:lstStyle/>
          <a:p>
            <a:pPr algn="ctr"/>
            <a:r>
              <a:rPr sz="700" b="1">
                <a:solidFill>
                  <a:srgbClr val="0F172A"/>
                </a:solidFill>
                <a:latin typeface="Noto Sans SC"/>
              </a:rPr>
              <a:t>高程</a:t>
            </a:r>
          </a:p>
        </p:txBody>
      </p:sp>
      <p:sp>
        <p:nvSpPr>
          <p:cNvPr id="17" name="Diamond 16"/>
          <p:cNvSpPr/>
          <p:nvPr/>
        </p:nvSpPr>
        <p:spPr>
          <a:xfrm>
            <a:off x="1883664" y="4023360"/>
            <a:ext cx="1170432" cy="768096"/>
          </a:xfrm>
          <a:prstGeom prst="diamond">
            <a:avLst/>
          </a:prstGeom>
          <a:solidFill>
            <a:srgbClr val="F0FDFA"/>
          </a:solidFill>
          <a:ln w="12700">
            <a:solidFill>
              <a:srgbClr val="F0FD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66544" y="4297680"/>
            <a:ext cx="804672" cy="146304"/>
          </a:xfrm>
          <a:prstGeom prst="rect">
            <a:avLst/>
          </a:prstGeom>
          <a:noFill/>
        </p:spPr>
        <p:txBody>
          <a:bodyPr wrap="square" anchor="ctr" lIns="0" rIns="0" tIns="0" bIns="0">
            <a:normAutofit/>
          </a:bodyPr>
          <a:lstStyle/>
          <a:p>
            <a:pPr algn="ctr"/>
            <a:r>
              <a:rPr sz="700" b="1">
                <a:solidFill>
                  <a:srgbClr val="0F172A"/>
                </a:solidFill>
                <a:latin typeface="Noto Sans SC"/>
              </a:rPr>
              <a:t>时序</a:t>
            </a:r>
          </a:p>
        </p:txBody>
      </p:sp>
      <p:cxnSp>
        <p:nvCxnSpPr>
          <p:cNvPr id="19" name="Connector 18"/>
          <p:cNvCxnSpPr/>
          <p:nvPr/>
        </p:nvCxnSpPr>
        <p:spPr>
          <a:xfrm>
            <a:off x="3218688" y="3749039"/>
            <a:ext cx="1124712"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0" name="Picture 19" descr="harbin_migration_frame_1359.png"/>
          <p:cNvPicPr>
            <a:picLocks noChangeAspect="1"/>
          </p:cNvPicPr>
          <p:nvPr/>
        </p:nvPicPr>
        <p:blipFill>
          <a:blip r:embed="rId2"/>
          <a:stretch>
            <a:fillRect/>
          </a:stretch>
        </p:blipFill>
        <p:spPr>
          <a:xfrm>
            <a:off x="4389120" y="2788920"/>
            <a:ext cx="2834640" cy="2084831"/>
          </a:xfrm>
          <a:prstGeom prst="rect">
            <a:avLst/>
          </a:prstGeom>
        </p:spPr>
      </p:pic>
      <p:cxnSp>
        <p:nvCxnSpPr>
          <p:cNvPr id="21" name="Connector 20"/>
          <p:cNvCxnSpPr/>
          <p:nvPr/>
        </p:nvCxnSpPr>
        <p:spPr>
          <a:xfrm>
            <a:off x="7388352" y="3749039"/>
            <a:ext cx="886968"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2" name="Picture 21" descr="image4_1234.png"/>
          <p:cNvPicPr>
            <a:picLocks noChangeAspect="1"/>
          </p:cNvPicPr>
          <p:nvPr/>
        </p:nvPicPr>
        <p:blipFill>
          <a:blip r:embed="rId3"/>
          <a:stretch>
            <a:fillRect/>
          </a:stretch>
        </p:blipFill>
        <p:spPr>
          <a:xfrm>
            <a:off x="8339327" y="2761488"/>
            <a:ext cx="1298448" cy="1051560"/>
          </a:xfrm>
          <a:prstGeom prst="rect">
            <a:avLst/>
          </a:prstGeom>
        </p:spPr>
      </p:pic>
      <p:pic>
        <p:nvPicPr>
          <p:cNvPr id="23" name="Picture 22" descr="image5_1234.png"/>
          <p:cNvPicPr>
            <a:picLocks noChangeAspect="1"/>
          </p:cNvPicPr>
          <p:nvPr/>
        </p:nvPicPr>
        <p:blipFill>
          <a:blip r:embed="rId4"/>
          <a:stretch>
            <a:fillRect/>
          </a:stretch>
        </p:blipFill>
        <p:spPr>
          <a:xfrm>
            <a:off x="9747504" y="2761488"/>
            <a:ext cx="1298448" cy="1051560"/>
          </a:xfrm>
          <a:prstGeom prst="rect">
            <a:avLst/>
          </a:prstGeom>
        </p:spPr>
      </p:pic>
      <p:pic>
        <p:nvPicPr>
          <p:cNvPr id="24" name="Picture 23" descr="image7_1310.png"/>
          <p:cNvPicPr>
            <a:picLocks noChangeAspect="1"/>
          </p:cNvPicPr>
          <p:nvPr/>
        </p:nvPicPr>
        <p:blipFill>
          <a:blip r:embed="rId5"/>
          <a:stretch>
            <a:fillRect/>
          </a:stretch>
        </p:blipFill>
        <p:spPr>
          <a:xfrm>
            <a:off x="9015984" y="3931920"/>
            <a:ext cx="1389888" cy="1060704"/>
          </a:xfrm>
          <a:prstGeom prst="rect">
            <a:avLst/>
          </a:prstGeom>
        </p:spPr>
      </p:pic>
      <p:sp>
        <p:nvSpPr>
          <p:cNvPr id="25" name="TextBox 24"/>
          <p:cNvSpPr txBox="1"/>
          <p:nvPr/>
        </p:nvSpPr>
        <p:spPr>
          <a:xfrm>
            <a:off x="8339327" y="3840480"/>
            <a:ext cx="1298448" cy="146304"/>
          </a:xfrm>
          <a:prstGeom prst="rect">
            <a:avLst/>
          </a:prstGeom>
          <a:noFill/>
        </p:spPr>
        <p:txBody>
          <a:bodyPr wrap="square" anchor="ctr" lIns="0" rIns="0" tIns="0" bIns="0">
            <a:normAutofit/>
          </a:bodyPr>
          <a:lstStyle/>
          <a:p>
            <a:pPr algn="ctr"/>
            <a:r>
              <a:rPr sz="700" b="1">
                <a:solidFill>
                  <a:srgbClr val="334155"/>
                </a:solidFill>
                <a:latin typeface="Noto Sans SC"/>
              </a:rPr>
              <a:t>区域表征</a:t>
            </a:r>
          </a:p>
        </p:txBody>
      </p:sp>
      <p:sp>
        <p:nvSpPr>
          <p:cNvPr id="26" name="TextBox 25"/>
          <p:cNvSpPr txBox="1"/>
          <p:nvPr/>
        </p:nvSpPr>
        <p:spPr>
          <a:xfrm>
            <a:off x="9747504" y="3840480"/>
            <a:ext cx="1298448" cy="146304"/>
          </a:xfrm>
          <a:prstGeom prst="rect">
            <a:avLst/>
          </a:prstGeom>
          <a:noFill/>
        </p:spPr>
        <p:txBody>
          <a:bodyPr wrap="square" anchor="ctr" lIns="0" rIns="0" tIns="0" bIns="0">
            <a:normAutofit/>
          </a:bodyPr>
          <a:lstStyle/>
          <a:p>
            <a:pPr algn="ctr"/>
            <a:r>
              <a:rPr sz="700" b="1">
                <a:solidFill>
                  <a:srgbClr val="334155"/>
                </a:solidFill>
                <a:latin typeface="Noto Sans SC"/>
              </a:rPr>
              <a:t>任务识别</a:t>
            </a:r>
          </a:p>
        </p:txBody>
      </p:sp>
      <p:sp>
        <p:nvSpPr>
          <p:cNvPr id="27" name="TextBox 26"/>
          <p:cNvSpPr txBox="1"/>
          <p:nvPr/>
        </p:nvSpPr>
        <p:spPr>
          <a:xfrm>
            <a:off x="9015984" y="5010912"/>
            <a:ext cx="1389888" cy="146304"/>
          </a:xfrm>
          <a:prstGeom prst="rect">
            <a:avLst/>
          </a:prstGeom>
          <a:noFill/>
        </p:spPr>
        <p:txBody>
          <a:bodyPr wrap="square" anchor="ctr" lIns="0" rIns="0" tIns="0" bIns="0">
            <a:normAutofit/>
          </a:bodyPr>
          <a:lstStyle/>
          <a:p>
            <a:pPr algn="ctr"/>
            <a:r>
              <a:rPr sz="700" b="1">
                <a:solidFill>
                  <a:srgbClr val="334155"/>
                </a:solidFill>
                <a:latin typeface="Noto Sans SC"/>
              </a:rPr>
              <a:t>多源底图</a:t>
            </a:r>
          </a:p>
        </p:txBody>
      </p:sp>
      <p:sp>
        <p:nvSpPr>
          <p:cNvPr id="28" name="TextBox 27"/>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以区域级通用表征替代任务级重复建模，形成可持续复用的地理智能基础设施。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